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4" r:id="rId9"/>
    <p:sldId id="262"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3" r:id="rId27"/>
    <p:sldId id="281" r:id="rId28"/>
    <p:sldId id="284" r:id="rId29"/>
    <p:sldId id="282"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51F62E-F8EE-4EFA-AAB5-915FA3B631FB}" v="22" dt="2026-01-06T12:41:47.5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5" d="100"/>
          <a:sy n="55" d="100"/>
        </p:scale>
        <p:origin x="1072"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KSHI UPADHYAY" userId="62903daba79aa21d" providerId="LiveId" clId="{6ECF829F-8CB3-4682-87EE-E76EBA6CAE12}"/>
    <pc:docChg chg="undo custSel addSld modSld sldOrd">
      <pc:chgData name="SAKSHI UPADHYAY" userId="62903daba79aa21d" providerId="LiveId" clId="{6ECF829F-8CB3-4682-87EE-E76EBA6CAE12}" dt="2026-01-06T12:42:43.949" v="1037" actId="14100"/>
      <pc:docMkLst>
        <pc:docMk/>
      </pc:docMkLst>
      <pc:sldChg chg="delSp modSp new mod">
        <pc:chgData name="SAKSHI UPADHYAY" userId="62903daba79aa21d" providerId="LiveId" clId="{6ECF829F-8CB3-4682-87EE-E76EBA6CAE12}" dt="2025-12-24T03:36:31.059" v="312" actId="20577"/>
        <pc:sldMkLst>
          <pc:docMk/>
          <pc:sldMk cId="4051189690" sldId="256"/>
        </pc:sldMkLst>
        <pc:spChg chg="mod">
          <ac:chgData name="SAKSHI UPADHYAY" userId="62903daba79aa21d" providerId="LiveId" clId="{6ECF829F-8CB3-4682-87EE-E76EBA6CAE12}" dt="2025-12-24T03:36:31.059" v="312" actId="20577"/>
          <ac:spMkLst>
            <pc:docMk/>
            <pc:sldMk cId="4051189690" sldId="256"/>
            <ac:spMk id="2" creationId="{D9632F4F-CBD9-FDE6-1CEA-FFFD761909A0}"/>
          </ac:spMkLst>
        </pc:spChg>
      </pc:sldChg>
      <pc:sldChg chg="modSp new mod">
        <pc:chgData name="SAKSHI UPADHYAY" userId="62903daba79aa21d" providerId="LiveId" clId="{6ECF829F-8CB3-4682-87EE-E76EBA6CAE12}" dt="2025-12-23T05:09:03.414" v="40" actId="14100"/>
        <pc:sldMkLst>
          <pc:docMk/>
          <pc:sldMk cId="2077704960" sldId="257"/>
        </pc:sldMkLst>
        <pc:spChg chg="mod">
          <ac:chgData name="SAKSHI UPADHYAY" userId="62903daba79aa21d" providerId="LiveId" clId="{6ECF829F-8CB3-4682-87EE-E76EBA6CAE12}" dt="2025-12-23T05:08:13.163" v="27" actId="14100"/>
          <ac:spMkLst>
            <pc:docMk/>
            <pc:sldMk cId="2077704960" sldId="257"/>
            <ac:spMk id="2" creationId="{14D05E5B-BD90-645D-C502-39DA245AB645}"/>
          </ac:spMkLst>
        </pc:spChg>
        <pc:spChg chg="mod">
          <ac:chgData name="SAKSHI UPADHYAY" userId="62903daba79aa21d" providerId="LiveId" clId="{6ECF829F-8CB3-4682-87EE-E76EBA6CAE12}" dt="2025-12-23T05:09:03.414" v="40" actId="14100"/>
          <ac:spMkLst>
            <pc:docMk/>
            <pc:sldMk cId="2077704960" sldId="257"/>
            <ac:spMk id="3" creationId="{0816D8BE-B440-614A-9289-CE20877B6250}"/>
          </ac:spMkLst>
        </pc:spChg>
      </pc:sldChg>
      <pc:sldChg chg="modSp new mod">
        <pc:chgData name="SAKSHI UPADHYAY" userId="62903daba79aa21d" providerId="LiveId" clId="{6ECF829F-8CB3-4682-87EE-E76EBA6CAE12}" dt="2025-12-23T05:22:04.450" v="93" actId="20577"/>
        <pc:sldMkLst>
          <pc:docMk/>
          <pc:sldMk cId="2910212842" sldId="258"/>
        </pc:sldMkLst>
        <pc:spChg chg="mod">
          <ac:chgData name="SAKSHI UPADHYAY" userId="62903daba79aa21d" providerId="LiveId" clId="{6ECF829F-8CB3-4682-87EE-E76EBA6CAE12}" dt="2025-12-23T05:13:31.783" v="50" actId="14100"/>
          <ac:spMkLst>
            <pc:docMk/>
            <pc:sldMk cId="2910212842" sldId="258"/>
            <ac:spMk id="2" creationId="{2F53B92D-D89C-8238-0190-6D5129DAC651}"/>
          </ac:spMkLst>
        </pc:spChg>
        <pc:spChg chg="mod">
          <ac:chgData name="SAKSHI UPADHYAY" userId="62903daba79aa21d" providerId="LiveId" clId="{6ECF829F-8CB3-4682-87EE-E76EBA6CAE12}" dt="2025-12-23T05:22:04.450" v="93" actId="20577"/>
          <ac:spMkLst>
            <pc:docMk/>
            <pc:sldMk cId="2910212842" sldId="258"/>
            <ac:spMk id="3" creationId="{A376F2BC-E9FA-6E52-D86C-8571B0458E50}"/>
          </ac:spMkLst>
        </pc:spChg>
      </pc:sldChg>
      <pc:sldChg chg="addSp modSp new mod">
        <pc:chgData name="SAKSHI UPADHYAY" userId="62903daba79aa21d" providerId="LiveId" clId="{6ECF829F-8CB3-4682-87EE-E76EBA6CAE12}" dt="2025-12-23T05:20:02.045" v="89" actId="14100"/>
        <pc:sldMkLst>
          <pc:docMk/>
          <pc:sldMk cId="4224685087" sldId="259"/>
        </pc:sldMkLst>
        <pc:spChg chg="add mod">
          <ac:chgData name="SAKSHI UPADHYAY" userId="62903daba79aa21d" providerId="LiveId" clId="{6ECF829F-8CB3-4682-87EE-E76EBA6CAE12}" dt="2025-12-23T05:19:52.121" v="86" actId="20577"/>
          <ac:spMkLst>
            <pc:docMk/>
            <pc:sldMk cId="4224685087" sldId="259"/>
            <ac:spMk id="3" creationId="{0EF3A848-4F9B-814C-4798-1455A73D08A3}"/>
          </ac:spMkLst>
        </pc:spChg>
        <pc:spChg chg="add mod">
          <ac:chgData name="SAKSHI UPADHYAY" userId="62903daba79aa21d" providerId="LiveId" clId="{6ECF829F-8CB3-4682-87EE-E76EBA6CAE12}" dt="2025-12-23T05:19:01.871" v="79" actId="20577"/>
          <ac:spMkLst>
            <pc:docMk/>
            <pc:sldMk cId="4224685087" sldId="259"/>
            <ac:spMk id="6" creationId="{E765AF62-C99B-DFFB-632F-372B9E247EAF}"/>
          </ac:spMkLst>
        </pc:spChg>
        <pc:graphicFrameChg chg="add mod modGraphic">
          <ac:chgData name="SAKSHI UPADHYAY" userId="62903daba79aa21d" providerId="LiveId" clId="{6ECF829F-8CB3-4682-87EE-E76EBA6CAE12}" dt="2025-12-23T05:20:02.045" v="89" actId="14100"/>
          <ac:graphicFrameMkLst>
            <pc:docMk/>
            <pc:sldMk cId="4224685087" sldId="259"/>
            <ac:graphicFrameMk id="4" creationId="{14F6C686-4B17-32A1-8341-CEC388970AAB}"/>
          </ac:graphicFrameMkLst>
        </pc:graphicFrameChg>
      </pc:sldChg>
      <pc:sldChg chg="modSp new mod">
        <pc:chgData name="SAKSHI UPADHYAY" userId="62903daba79aa21d" providerId="LiveId" clId="{6ECF829F-8CB3-4682-87EE-E76EBA6CAE12}" dt="2025-12-23T05:34:02.080" v="187" actId="113"/>
        <pc:sldMkLst>
          <pc:docMk/>
          <pc:sldMk cId="641921815" sldId="260"/>
        </pc:sldMkLst>
        <pc:spChg chg="mod">
          <ac:chgData name="SAKSHI UPADHYAY" userId="62903daba79aa21d" providerId="LiveId" clId="{6ECF829F-8CB3-4682-87EE-E76EBA6CAE12}" dt="2025-12-23T05:23:33.698" v="100" actId="27636"/>
          <ac:spMkLst>
            <pc:docMk/>
            <pc:sldMk cId="641921815" sldId="260"/>
            <ac:spMk id="2" creationId="{8B3CD113-4AB1-21BE-0A50-AE7F924F512C}"/>
          </ac:spMkLst>
        </pc:spChg>
        <pc:spChg chg="mod">
          <ac:chgData name="SAKSHI UPADHYAY" userId="62903daba79aa21d" providerId="LiveId" clId="{6ECF829F-8CB3-4682-87EE-E76EBA6CAE12}" dt="2025-12-23T05:34:02.080" v="187" actId="113"/>
          <ac:spMkLst>
            <pc:docMk/>
            <pc:sldMk cId="641921815" sldId="260"/>
            <ac:spMk id="3" creationId="{E199DC1D-DB42-6FF5-A5BC-3D5A8BFA75D6}"/>
          </ac:spMkLst>
        </pc:spChg>
      </pc:sldChg>
      <pc:sldChg chg="addSp delSp modSp new mod">
        <pc:chgData name="SAKSHI UPADHYAY" userId="62903daba79aa21d" providerId="LiveId" clId="{6ECF829F-8CB3-4682-87EE-E76EBA6CAE12}" dt="2025-12-23T05:34:46.940" v="194" actId="14100"/>
        <pc:sldMkLst>
          <pc:docMk/>
          <pc:sldMk cId="2398847579" sldId="261"/>
        </pc:sldMkLst>
        <pc:spChg chg="add mod">
          <ac:chgData name="SAKSHI UPADHYAY" userId="62903daba79aa21d" providerId="LiveId" clId="{6ECF829F-8CB3-4682-87EE-E76EBA6CAE12}" dt="2025-12-23T05:34:30.348" v="190" actId="20577"/>
          <ac:spMkLst>
            <pc:docMk/>
            <pc:sldMk cId="2398847579" sldId="261"/>
            <ac:spMk id="3" creationId="{C6BD3642-ADF3-C914-E274-B70046B644BD}"/>
          </ac:spMkLst>
        </pc:spChg>
        <pc:spChg chg="add mod">
          <ac:chgData name="SAKSHI UPADHYAY" userId="62903daba79aa21d" providerId="LiveId" clId="{6ECF829F-8CB3-4682-87EE-E76EBA6CAE12}" dt="2025-12-23T05:34:46.940" v="194" actId="14100"/>
          <ac:spMkLst>
            <pc:docMk/>
            <pc:sldMk cId="2398847579" sldId="261"/>
            <ac:spMk id="9" creationId="{FEB0356B-A0D7-D7FC-8643-CEE2F59D7236}"/>
          </ac:spMkLst>
        </pc:spChg>
        <pc:graphicFrameChg chg="add mod modGraphic">
          <ac:chgData name="SAKSHI UPADHYAY" userId="62903daba79aa21d" providerId="LiveId" clId="{6ECF829F-8CB3-4682-87EE-E76EBA6CAE12}" dt="2025-12-23T05:32:03.443" v="164" actId="20577"/>
          <ac:graphicFrameMkLst>
            <pc:docMk/>
            <pc:sldMk cId="2398847579" sldId="261"/>
            <ac:graphicFrameMk id="4" creationId="{ABE19C58-2CB5-45FD-3947-616F07A11C0B}"/>
          </ac:graphicFrameMkLst>
        </pc:graphicFrameChg>
      </pc:sldChg>
      <pc:sldChg chg="addSp modSp new mod ord">
        <pc:chgData name="SAKSHI UPADHYAY" userId="62903daba79aa21d" providerId="LiveId" clId="{6ECF829F-8CB3-4682-87EE-E76EBA6CAE12}" dt="2025-12-23T06:23:36.515" v="307" actId="20577"/>
        <pc:sldMkLst>
          <pc:docMk/>
          <pc:sldMk cId="3324758734" sldId="262"/>
        </pc:sldMkLst>
        <pc:spChg chg="mod">
          <ac:chgData name="SAKSHI UPADHYAY" userId="62903daba79aa21d" providerId="LiveId" clId="{6ECF829F-8CB3-4682-87EE-E76EBA6CAE12}" dt="2025-12-23T06:07:43.389" v="239" actId="27636"/>
          <ac:spMkLst>
            <pc:docMk/>
            <pc:sldMk cId="3324758734" sldId="262"/>
            <ac:spMk id="2" creationId="{90642C48-E612-038A-22FA-448FE539F68A}"/>
          </ac:spMkLst>
        </pc:spChg>
        <pc:spChg chg="mod">
          <ac:chgData name="SAKSHI UPADHYAY" userId="62903daba79aa21d" providerId="LiveId" clId="{6ECF829F-8CB3-4682-87EE-E76EBA6CAE12}" dt="2025-12-23T06:23:10.734" v="295"/>
          <ac:spMkLst>
            <pc:docMk/>
            <pc:sldMk cId="3324758734" sldId="262"/>
            <ac:spMk id="3" creationId="{BFD8E36C-A531-C726-4F74-54EB82FCD2EE}"/>
          </ac:spMkLst>
        </pc:spChg>
        <pc:spChg chg="add mod">
          <ac:chgData name="SAKSHI UPADHYAY" userId="62903daba79aa21d" providerId="LiveId" clId="{6ECF829F-8CB3-4682-87EE-E76EBA6CAE12}" dt="2025-12-23T06:22:56.691" v="291" actId="14100"/>
          <ac:spMkLst>
            <pc:docMk/>
            <pc:sldMk cId="3324758734" sldId="262"/>
            <ac:spMk id="5" creationId="{712989B2-C26E-6595-EFE6-86845D21C3D4}"/>
          </ac:spMkLst>
        </pc:spChg>
        <pc:spChg chg="add mod">
          <ac:chgData name="SAKSHI UPADHYAY" userId="62903daba79aa21d" providerId="LiveId" clId="{6ECF829F-8CB3-4682-87EE-E76EBA6CAE12}" dt="2025-12-23T06:23:36.515" v="307" actId="20577"/>
          <ac:spMkLst>
            <pc:docMk/>
            <pc:sldMk cId="3324758734" sldId="262"/>
            <ac:spMk id="7" creationId="{D58099B8-AFFB-FFC6-2B09-F5D54436B36B}"/>
          </ac:spMkLst>
        </pc:spChg>
      </pc:sldChg>
      <pc:sldChg chg="addSp modSp new mod">
        <pc:chgData name="SAKSHI UPADHYAY" userId="62903daba79aa21d" providerId="LiveId" clId="{6ECF829F-8CB3-4682-87EE-E76EBA6CAE12}" dt="2025-12-23T05:36:52.346" v="209" actId="20577"/>
        <pc:sldMkLst>
          <pc:docMk/>
          <pc:sldMk cId="3365412516" sldId="263"/>
        </pc:sldMkLst>
        <pc:spChg chg="add mod">
          <ac:chgData name="SAKSHI UPADHYAY" userId="62903daba79aa21d" providerId="LiveId" clId="{6ECF829F-8CB3-4682-87EE-E76EBA6CAE12}" dt="2025-12-23T05:36:52.346" v="209" actId="20577"/>
          <ac:spMkLst>
            <pc:docMk/>
            <pc:sldMk cId="3365412516" sldId="263"/>
            <ac:spMk id="3" creationId="{A95C318C-CEF0-693E-824E-25A3B1754247}"/>
          </ac:spMkLst>
        </pc:spChg>
      </pc:sldChg>
      <pc:sldChg chg="addSp modSp new mod ord">
        <pc:chgData name="SAKSHI UPADHYAY" userId="62903daba79aa21d" providerId="LiveId" clId="{6ECF829F-8CB3-4682-87EE-E76EBA6CAE12}" dt="2025-12-23T05:46:30.445" v="231"/>
        <pc:sldMkLst>
          <pc:docMk/>
          <pc:sldMk cId="2223850134" sldId="264"/>
        </pc:sldMkLst>
        <pc:spChg chg="add mod">
          <ac:chgData name="SAKSHI UPADHYAY" userId="62903daba79aa21d" providerId="LiveId" clId="{6ECF829F-8CB3-4682-87EE-E76EBA6CAE12}" dt="2025-12-23T05:46:25.980" v="229" actId="20577"/>
          <ac:spMkLst>
            <pc:docMk/>
            <pc:sldMk cId="2223850134" sldId="264"/>
            <ac:spMk id="3" creationId="{2425BF3D-AB83-0EC5-E68D-C692505A43A2}"/>
          </ac:spMkLst>
        </pc:spChg>
      </pc:sldChg>
      <pc:sldChg chg="addSp delSp modSp new mod">
        <pc:chgData name="SAKSHI UPADHYAY" userId="62903daba79aa21d" providerId="LiveId" clId="{6ECF829F-8CB3-4682-87EE-E76EBA6CAE12}" dt="2025-12-24T05:18:37.212" v="426" actId="20577"/>
        <pc:sldMkLst>
          <pc:docMk/>
          <pc:sldMk cId="2824548672" sldId="265"/>
        </pc:sldMkLst>
        <pc:spChg chg="mod">
          <ac:chgData name="SAKSHI UPADHYAY" userId="62903daba79aa21d" providerId="LiveId" clId="{6ECF829F-8CB3-4682-87EE-E76EBA6CAE12}" dt="2025-12-24T05:00:08.442" v="317" actId="27636"/>
          <ac:spMkLst>
            <pc:docMk/>
            <pc:sldMk cId="2824548672" sldId="265"/>
            <ac:spMk id="2" creationId="{B52EB51B-B4C7-E949-4224-4F626F37740C}"/>
          </ac:spMkLst>
        </pc:spChg>
        <pc:spChg chg="mod">
          <ac:chgData name="SAKSHI UPADHYAY" userId="62903daba79aa21d" providerId="LiveId" clId="{6ECF829F-8CB3-4682-87EE-E76EBA6CAE12}" dt="2025-12-24T05:18:37.212" v="426" actId="20577"/>
          <ac:spMkLst>
            <pc:docMk/>
            <pc:sldMk cId="2824548672" sldId="265"/>
            <ac:spMk id="3" creationId="{2EF0A00E-A2DC-7BE4-211B-B3EE6AE47F07}"/>
          </ac:spMkLst>
        </pc:spChg>
      </pc:sldChg>
      <pc:sldChg chg="addSp modSp new mod">
        <pc:chgData name="SAKSHI UPADHYAY" userId="62903daba79aa21d" providerId="LiveId" clId="{6ECF829F-8CB3-4682-87EE-E76EBA6CAE12}" dt="2025-12-24T05:18:23.812" v="418" actId="14100"/>
        <pc:sldMkLst>
          <pc:docMk/>
          <pc:sldMk cId="1033644272" sldId="266"/>
        </pc:sldMkLst>
        <pc:spChg chg="add mod">
          <ac:chgData name="SAKSHI UPADHYAY" userId="62903daba79aa21d" providerId="LiveId" clId="{6ECF829F-8CB3-4682-87EE-E76EBA6CAE12}" dt="2025-12-24T05:13:20.471" v="390"/>
          <ac:spMkLst>
            <pc:docMk/>
            <pc:sldMk cId="1033644272" sldId="266"/>
            <ac:spMk id="3" creationId="{B8A907D4-A716-4D0F-425B-8FB836DB0E60}"/>
          </ac:spMkLst>
        </pc:spChg>
        <pc:spChg chg="add mod">
          <ac:chgData name="SAKSHI UPADHYAY" userId="62903daba79aa21d" providerId="LiveId" clId="{6ECF829F-8CB3-4682-87EE-E76EBA6CAE12}" dt="2025-12-24T05:18:23.812" v="418" actId="14100"/>
          <ac:spMkLst>
            <pc:docMk/>
            <pc:sldMk cId="1033644272" sldId="266"/>
            <ac:spMk id="5" creationId="{ABCAEFCA-DD58-4203-4BC3-05830457EAC4}"/>
          </ac:spMkLst>
        </pc:spChg>
      </pc:sldChg>
      <pc:sldChg chg="modSp new mod">
        <pc:chgData name="SAKSHI UPADHYAY" userId="62903daba79aa21d" providerId="LiveId" clId="{6ECF829F-8CB3-4682-87EE-E76EBA6CAE12}" dt="2025-12-24T05:23:31.190" v="483" actId="14100"/>
        <pc:sldMkLst>
          <pc:docMk/>
          <pc:sldMk cId="625602677" sldId="267"/>
        </pc:sldMkLst>
        <pc:spChg chg="mod">
          <ac:chgData name="SAKSHI UPADHYAY" userId="62903daba79aa21d" providerId="LiveId" clId="{6ECF829F-8CB3-4682-87EE-E76EBA6CAE12}" dt="2025-12-24T05:23:31.190" v="483" actId="14100"/>
          <ac:spMkLst>
            <pc:docMk/>
            <pc:sldMk cId="625602677" sldId="267"/>
            <ac:spMk id="2" creationId="{6E54FD7F-42DF-1C4F-580E-63E28A99DA2D}"/>
          </ac:spMkLst>
        </pc:spChg>
        <pc:spChg chg="mod">
          <ac:chgData name="SAKSHI UPADHYAY" userId="62903daba79aa21d" providerId="LiveId" clId="{6ECF829F-8CB3-4682-87EE-E76EBA6CAE12}" dt="2025-12-24T05:23:03.400" v="481" actId="5793"/>
          <ac:spMkLst>
            <pc:docMk/>
            <pc:sldMk cId="625602677" sldId="267"/>
            <ac:spMk id="3" creationId="{53D4170F-5B92-DD87-B335-58009E441FB3}"/>
          </ac:spMkLst>
        </pc:spChg>
      </pc:sldChg>
      <pc:sldChg chg="addSp modSp new mod">
        <pc:chgData name="SAKSHI UPADHYAY" userId="62903daba79aa21d" providerId="LiveId" clId="{6ECF829F-8CB3-4682-87EE-E76EBA6CAE12}" dt="2025-12-24T05:37:21.725" v="537" actId="5793"/>
        <pc:sldMkLst>
          <pc:docMk/>
          <pc:sldMk cId="3059579997" sldId="268"/>
        </pc:sldMkLst>
        <pc:spChg chg="mod">
          <ac:chgData name="SAKSHI UPADHYAY" userId="62903daba79aa21d" providerId="LiveId" clId="{6ECF829F-8CB3-4682-87EE-E76EBA6CAE12}" dt="2025-12-24T05:24:46.263" v="492" actId="14100"/>
          <ac:spMkLst>
            <pc:docMk/>
            <pc:sldMk cId="3059579997" sldId="268"/>
            <ac:spMk id="2" creationId="{E1A8443B-1974-8BB0-C3AB-91E870E680D8}"/>
          </ac:spMkLst>
        </pc:spChg>
        <pc:spChg chg="mod">
          <ac:chgData name="SAKSHI UPADHYAY" userId="62903daba79aa21d" providerId="LiveId" clId="{6ECF829F-8CB3-4682-87EE-E76EBA6CAE12}" dt="2025-12-24T05:37:21.725" v="537" actId="5793"/>
          <ac:spMkLst>
            <pc:docMk/>
            <pc:sldMk cId="3059579997" sldId="268"/>
            <ac:spMk id="3" creationId="{0DC2D3E7-9510-3483-2F45-A15158C8DD7F}"/>
          </ac:spMkLst>
        </pc:spChg>
        <pc:spChg chg="add mod">
          <ac:chgData name="SAKSHI UPADHYAY" userId="62903daba79aa21d" providerId="LiveId" clId="{6ECF829F-8CB3-4682-87EE-E76EBA6CAE12}" dt="2025-12-24T05:37:13.902" v="536" actId="14100"/>
          <ac:spMkLst>
            <pc:docMk/>
            <pc:sldMk cId="3059579997" sldId="268"/>
            <ac:spMk id="5" creationId="{4D95E53F-DE6C-12FC-B466-57CCC7F040E2}"/>
          </ac:spMkLst>
        </pc:spChg>
      </pc:sldChg>
      <pc:sldChg chg="addSp modSp new mod">
        <pc:chgData name="SAKSHI UPADHYAY" userId="62903daba79aa21d" providerId="LiveId" clId="{6ECF829F-8CB3-4682-87EE-E76EBA6CAE12}" dt="2025-12-24T05:40:27.487" v="564" actId="14100"/>
        <pc:sldMkLst>
          <pc:docMk/>
          <pc:sldMk cId="2092904693" sldId="269"/>
        </pc:sldMkLst>
        <pc:spChg chg="add mod">
          <ac:chgData name="SAKSHI UPADHYAY" userId="62903daba79aa21d" providerId="LiveId" clId="{6ECF829F-8CB3-4682-87EE-E76EBA6CAE12}" dt="2025-12-24T05:39:29.771" v="562" actId="5793"/>
          <ac:spMkLst>
            <pc:docMk/>
            <pc:sldMk cId="2092904693" sldId="269"/>
            <ac:spMk id="3" creationId="{6586A31D-FA3B-FE22-BE04-B4F472523F71}"/>
          </ac:spMkLst>
        </pc:spChg>
        <pc:spChg chg="add mod">
          <ac:chgData name="SAKSHI UPADHYAY" userId="62903daba79aa21d" providerId="LiveId" clId="{6ECF829F-8CB3-4682-87EE-E76EBA6CAE12}" dt="2025-12-24T05:40:27.487" v="564" actId="14100"/>
          <ac:spMkLst>
            <pc:docMk/>
            <pc:sldMk cId="2092904693" sldId="269"/>
            <ac:spMk id="5" creationId="{95E91EC4-05FB-CCF0-8C2B-4A5CB35D0F8C}"/>
          </ac:spMkLst>
        </pc:spChg>
        <pc:graphicFrameChg chg="add mod modGraphic">
          <ac:chgData name="SAKSHI UPADHYAY" userId="62903daba79aa21d" providerId="LiveId" clId="{6ECF829F-8CB3-4682-87EE-E76EBA6CAE12}" dt="2025-12-24T05:38:52.558" v="553" actId="14100"/>
          <ac:graphicFrameMkLst>
            <pc:docMk/>
            <pc:sldMk cId="2092904693" sldId="269"/>
            <ac:graphicFrameMk id="4" creationId="{79B38905-3202-FAEB-C581-6FD0F6E1A2F8}"/>
          </ac:graphicFrameMkLst>
        </pc:graphicFrameChg>
      </pc:sldChg>
      <pc:sldChg chg="addSp modSp new mod">
        <pc:chgData name="SAKSHI UPADHYAY" userId="62903daba79aa21d" providerId="LiveId" clId="{6ECF829F-8CB3-4682-87EE-E76EBA6CAE12}" dt="2025-12-26T04:45:29.218" v="591" actId="20577"/>
        <pc:sldMkLst>
          <pc:docMk/>
          <pc:sldMk cId="2460927816" sldId="270"/>
        </pc:sldMkLst>
        <pc:spChg chg="add mod">
          <ac:chgData name="SAKSHI UPADHYAY" userId="62903daba79aa21d" providerId="LiveId" clId="{6ECF829F-8CB3-4682-87EE-E76EBA6CAE12}" dt="2025-12-26T04:45:29.218" v="591" actId="20577"/>
          <ac:spMkLst>
            <pc:docMk/>
            <pc:sldMk cId="2460927816" sldId="270"/>
            <ac:spMk id="3" creationId="{5A724E56-B6BE-2C48-65DB-BCB8DD3B2A77}"/>
          </ac:spMkLst>
        </pc:spChg>
        <pc:spChg chg="add mod">
          <ac:chgData name="SAKSHI UPADHYAY" userId="62903daba79aa21d" providerId="LiveId" clId="{6ECF829F-8CB3-4682-87EE-E76EBA6CAE12}" dt="2025-12-26T04:45:26.037" v="590" actId="14100"/>
          <ac:spMkLst>
            <pc:docMk/>
            <pc:sldMk cId="2460927816" sldId="270"/>
            <ac:spMk id="5" creationId="{E6C4718F-E4B0-D866-F35C-C1539F2631F1}"/>
          </ac:spMkLst>
        </pc:spChg>
      </pc:sldChg>
      <pc:sldChg chg="addSp delSp modSp new mod">
        <pc:chgData name="SAKSHI UPADHYAY" userId="62903daba79aa21d" providerId="LiveId" clId="{6ECF829F-8CB3-4682-87EE-E76EBA6CAE12}" dt="2025-12-26T04:47:50.143" v="603" actId="14100"/>
        <pc:sldMkLst>
          <pc:docMk/>
          <pc:sldMk cId="3195840194" sldId="271"/>
        </pc:sldMkLst>
        <pc:spChg chg="add mod">
          <ac:chgData name="SAKSHI UPADHYAY" userId="62903daba79aa21d" providerId="LiveId" clId="{6ECF829F-8CB3-4682-87EE-E76EBA6CAE12}" dt="2025-12-26T04:47:08.222" v="597" actId="14100"/>
          <ac:spMkLst>
            <pc:docMk/>
            <pc:sldMk cId="3195840194" sldId="271"/>
            <ac:spMk id="7" creationId="{4DD979DF-72AF-4153-4B58-6C202127E6F0}"/>
          </ac:spMkLst>
        </pc:spChg>
        <pc:spChg chg="add mod">
          <ac:chgData name="SAKSHI UPADHYAY" userId="62903daba79aa21d" providerId="LiveId" clId="{6ECF829F-8CB3-4682-87EE-E76EBA6CAE12}" dt="2025-12-26T04:47:50.143" v="603" actId="14100"/>
          <ac:spMkLst>
            <pc:docMk/>
            <pc:sldMk cId="3195840194" sldId="271"/>
            <ac:spMk id="9" creationId="{C0230D07-7232-2ADD-B603-4D046C80B259}"/>
          </ac:spMkLst>
        </pc:spChg>
        <pc:graphicFrameChg chg="add mod">
          <ac:chgData name="SAKSHI UPADHYAY" userId="62903daba79aa21d" providerId="LiveId" clId="{6ECF829F-8CB3-4682-87EE-E76EBA6CAE12}" dt="2025-12-26T04:47:50.143" v="603" actId="14100"/>
          <ac:graphicFrameMkLst>
            <pc:docMk/>
            <pc:sldMk cId="3195840194" sldId="271"/>
            <ac:graphicFrameMk id="8" creationId="{9BCFC0FF-298D-56E3-BABE-28AD37652705}"/>
          </ac:graphicFrameMkLst>
        </pc:graphicFrameChg>
      </pc:sldChg>
      <pc:sldChg chg="addSp modSp new mod">
        <pc:chgData name="SAKSHI UPADHYAY" userId="62903daba79aa21d" providerId="LiveId" clId="{6ECF829F-8CB3-4682-87EE-E76EBA6CAE12}" dt="2025-12-26T05:09:53.600" v="681" actId="14100"/>
        <pc:sldMkLst>
          <pc:docMk/>
          <pc:sldMk cId="729954363" sldId="272"/>
        </pc:sldMkLst>
        <pc:spChg chg="add mod">
          <ac:chgData name="SAKSHI UPADHYAY" userId="62903daba79aa21d" providerId="LiveId" clId="{6ECF829F-8CB3-4682-87EE-E76EBA6CAE12}" dt="2025-12-26T05:09:53.600" v="681" actId="14100"/>
          <ac:spMkLst>
            <pc:docMk/>
            <pc:sldMk cId="729954363" sldId="272"/>
            <ac:spMk id="3" creationId="{8188F95B-AFB0-B784-A0D4-6EF7C237E03D}"/>
          </ac:spMkLst>
        </pc:spChg>
      </pc:sldChg>
      <pc:sldChg chg="addSp modSp new mod">
        <pc:chgData name="SAKSHI UPADHYAY" userId="62903daba79aa21d" providerId="LiveId" clId="{6ECF829F-8CB3-4682-87EE-E76EBA6CAE12}" dt="2025-12-26T05:07:49.186" v="673" actId="14100"/>
        <pc:sldMkLst>
          <pc:docMk/>
          <pc:sldMk cId="579217669" sldId="273"/>
        </pc:sldMkLst>
        <pc:spChg chg="add mod">
          <ac:chgData name="SAKSHI UPADHYAY" userId="62903daba79aa21d" providerId="LiveId" clId="{6ECF829F-8CB3-4682-87EE-E76EBA6CAE12}" dt="2025-12-26T05:07:00.149" v="664" actId="255"/>
          <ac:spMkLst>
            <pc:docMk/>
            <pc:sldMk cId="579217669" sldId="273"/>
            <ac:spMk id="3" creationId="{E676907B-F5F2-863D-F4FC-1DC36BAE39D5}"/>
          </ac:spMkLst>
        </pc:spChg>
        <pc:spChg chg="add mod">
          <ac:chgData name="SAKSHI UPADHYAY" userId="62903daba79aa21d" providerId="LiveId" clId="{6ECF829F-8CB3-4682-87EE-E76EBA6CAE12}" dt="2025-12-26T05:07:49.186" v="673" actId="14100"/>
          <ac:spMkLst>
            <pc:docMk/>
            <pc:sldMk cId="579217669" sldId="273"/>
            <ac:spMk id="5" creationId="{AD0376C9-D43F-FCE1-64E3-B278BDF90A44}"/>
          </ac:spMkLst>
        </pc:spChg>
        <pc:graphicFrameChg chg="add mod modGraphic">
          <ac:chgData name="SAKSHI UPADHYAY" userId="62903daba79aa21d" providerId="LiveId" clId="{6ECF829F-8CB3-4682-87EE-E76EBA6CAE12}" dt="2025-12-26T05:06:48.710" v="661" actId="14100"/>
          <ac:graphicFrameMkLst>
            <pc:docMk/>
            <pc:sldMk cId="579217669" sldId="273"/>
            <ac:graphicFrameMk id="2" creationId="{0574FB5C-BA67-D986-D3EB-95A25DF08319}"/>
          </ac:graphicFrameMkLst>
        </pc:graphicFrameChg>
      </pc:sldChg>
      <pc:sldChg chg="addSp modSp new mod">
        <pc:chgData name="SAKSHI UPADHYAY" userId="62903daba79aa21d" providerId="LiveId" clId="{6ECF829F-8CB3-4682-87EE-E76EBA6CAE12}" dt="2025-12-26T05:14:02.624" v="693" actId="113"/>
        <pc:sldMkLst>
          <pc:docMk/>
          <pc:sldMk cId="1166806882" sldId="274"/>
        </pc:sldMkLst>
        <pc:spChg chg="add mod">
          <ac:chgData name="SAKSHI UPADHYAY" userId="62903daba79aa21d" providerId="LiveId" clId="{6ECF829F-8CB3-4682-87EE-E76EBA6CAE12}" dt="2025-12-26T05:14:02.624" v="693" actId="113"/>
          <ac:spMkLst>
            <pc:docMk/>
            <pc:sldMk cId="1166806882" sldId="274"/>
            <ac:spMk id="3" creationId="{8402742F-BB61-28F0-08B0-2AAE6C351C53}"/>
          </ac:spMkLst>
        </pc:spChg>
      </pc:sldChg>
      <pc:sldChg chg="addSp modSp new mod">
        <pc:chgData name="SAKSHI UPADHYAY" userId="62903daba79aa21d" providerId="LiveId" clId="{6ECF829F-8CB3-4682-87EE-E76EBA6CAE12}" dt="2026-01-06T11:55:27.044" v="934"/>
        <pc:sldMkLst>
          <pc:docMk/>
          <pc:sldMk cId="2021124016" sldId="275"/>
        </pc:sldMkLst>
        <pc:spChg chg="add mod">
          <ac:chgData name="SAKSHI UPADHYAY" userId="62903daba79aa21d" providerId="LiveId" clId="{6ECF829F-8CB3-4682-87EE-E76EBA6CAE12}" dt="2026-01-06T11:55:27.044" v="934"/>
          <ac:spMkLst>
            <pc:docMk/>
            <pc:sldMk cId="2021124016" sldId="275"/>
            <ac:spMk id="3" creationId="{19F79DA9-3160-9484-B026-BE9F11242850}"/>
          </ac:spMkLst>
        </pc:spChg>
        <pc:spChg chg="add mod">
          <ac:chgData name="SAKSHI UPADHYAY" userId="62903daba79aa21d" providerId="LiveId" clId="{6ECF829F-8CB3-4682-87EE-E76EBA6CAE12}" dt="2026-01-06T11:53:24.103" v="932" actId="14100"/>
          <ac:spMkLst>
            <pc:docMk/>
            <pc:sldMk cId="2021124016" sldId="275"/>
            <ac:spMk id="4" creationId="{57355CFD-4272-40E8-C138-02F21DCF4BD9}"/>
          </ac:spMkLst>
        </pc:spChg>
      </pc:sldChg>
      <pc:sldChg chg="addSp modSp new mod">
        <pc:chgData name="SAKSHI UPADHYAY" userId="62903daba79aa21d" providerId="LiveId" clId="{6ECF829F-8CB3-4682-87EE-E76EBA6CAE12}" dt="2025-12-27T04:36:20.373" v="752"/>
        <pc:sldMkLst>
          <pc:docMk/>
          <pc:sldMk cId="969766072" sldId="276"/>
        </pc:sldMkLst>
        <pc:spChg chg="add mod">
          <ac:chgData name="SAKSHI UPADHYAY" userId="62903daba79aa21d" providerId="LiveId" clId="{6ECF829F-8CB3-4682-87EE-E76EBA6CAE12}" dt="2025-12-27T04:35:25.999" v="748" actId="14100"/>
          <ac:spMkLst>
            <pc:docMk/>
            <pc:sldMk cId="969766072" sldId="276"/>
            <ac:spMk id="3" creationId="{21EDC3DE-6AD9-3EDB-3874-CF67367144C0}"/>
          </ac:spMkLst>
        </pc:spChg>
        <pc:spChg chg="add mod">
          <ac:chgData name="SAKSHI UPADHYAY" userId="62903daba79aa21d" providerId="LiveId" clId="{6ECF829F-8CB3-4682-87EE-E76EBA6CAE12}" dt="2025-12-27T04:36:20.373" v="752"/>
          <ac:spMkLst>
            <pc:docMk/>
            <pc:sldMk cId="969766072" sldId="276"/>
            <ac:spMk id="5" creationId="{A1A619A5-6D57-BA72-BAFF-4DCE971C6067}"/>
          </ac:spMkLst>
        </pc:spChg>
      </pc:sldChg>
      <pc:sldChg chg="addSp modSp new mod">
        <pc:chgData name="SAKSHI UPADHYAY" userId="62903daba79aa21d" providerId="LiveId" clId="{6ECF829F-8CB3-4682-87EE-E76EBA6CAE12}" dt="2025-12-27T04:41:17.817" v="761" actId="20577"/>
        <pc:sldMkLst>
          <pc:docMk/>
          <pc:sldMk cId="1043354670" sldId="277"/>
        </pc:sldMkLst>
        <pc:spChg chg="add mod">
          <ac:chgData name="SAKSHI UPADHYAY" userId="62903daba79aa21d" providerId="LiveId" clId="{6ECF829F-8CB3-4682-87EE-E76EBA6CAE12}" dt="2025-12-27T04:41:17.817" v="761" actId="20577"/>
          <ac:spMkLst>
            <pc:docMk/>
            <pc:sldMk cId="1043354670" sldId="277"/>
            <ac:spMk id="4" creationId="{5EB3AAC7-9A83-BF10-1585-1E6B70A2D107}"/>
          </ac:spMkLst>
        </pc:spChg>
        <pc:graphicFrameChg chg="add mod modGraphic">
          <ac:chgData name="SAKSHI UPADHYAY" userId="62903daba79aa21d" providerId="LiveId" clId="{6ECF829F-8CB3-4682-87EE-E76EBA6CAE12}" dt="2025-12-27T04:40:52.595" v="757" actId="14100"/>
          <ac:graphicFrameMkLst>
            <pc:docMk/>
            <pc:sldMk cId="1043354670" sldId="277"/>
            <ac:graphicFrameMk id="2" creationId="{D5B9A9AB-6113-DA11-340D-2795BBA96997}"/>
          </ac:graphicFrameMkLst>
        </pc:graphicFrameChg>
      </pc:sldChg>
      <pc:sldChg chg="addSp modSp new mod">
        <pc:chgData name="SAKSHI UPADHYAY" userId="62903daba79aa21d" providerId="LiveId" clId="{6ECF829F-8CB3-4682-87EE-E76EBA6CAE12}" dt="2025-12-27T05:44:38.339" v="812" actId="14100"/>
        <pc:sldMkLst>
          <pc:docMk/>
          <pc:sldMk cId="1222710590" sldId="278"/>
        </pc:sldMkLst>
        <pc:spChg chg="add mod">
          <ac:chgData name="SAKSHI UPADHYAY" userId="62903daba79aa21d" providerId="LiveId" clId="{6ECF829F-8CB3-4682-87EE-E76EBA6CAE12}" dt="2025-12-27T05:40:22.928" v="801" actId="20577"/>
          <ac:spMkLst>
            <pc:docMk/>
            <pc:sldMk cId="1222710590" sldId="278"/>
            <ac:spMk id="3" creationId="{97BF1309-D261-1C02-F0B7-19E3B1BE2843}"/>
          </ac:spMkLst>
        </pc:spChg>
        <pc:spChg chg="add mod">
          <ac:chgData name="SAKSHI UPADHYAY" userId="62903daba79aa21d" providerId="LiveId" clId="{6ECF829F-8CB3-4682-87EE-E76EBA6CAE12}" dt="2025-12-27T05:44:38.339" v="812" actId="14100"/>
          <ac:spMkLst>
            <pc:docMk/>
            <pc:sldMk cId="1222710590" sldId="278"/>
            <ac:spMk id="5" creationId="{88C0EE59-D7F4-01D0-9001-EA3D6E15A2A6}"/>
          </ac:spMkLst>
        </pc:spChg>
      </pc:sldChg>
      <pc:sldChg chg="addSp modSp new mod">
        <pc:chgData name="SAKSHI UPADHYAY" userId="62903daba79aa21d" providerId="LiveId" clId="{6ECF829F-8CB3-4682-87EE-E76EBA6CAE12}" dt="2026-01-06T11:57:42.196" v="936" actId="14100"/>
        <pc:sldMkLst>
          <pc:docMk/>
          <pc:sldMk cId="3004100927" sldId="279"/>
        </pc:sldMkLst>
        <pc:spChg chg="add mod">
          <ac:chgData name="SAKSHI UPADHYAY" userId="62903daba79aa21d" providerId="LiveId" clId="{6ECF829F-8CB3-4682-87EE-E76EBA6CAE12}" dt="2026-01-06T11:57:42.196" v="936" actId="14100"/>
          <ac:spMkLst>
            <pc:docMk/>
            <pc:sldMk cId="3004100927" sldId="279"/>
            <ac:spMk id="3" creationId="{2BD2B83D-CFAB-7442-5E49-4E6AFD1D0C28}"/>
          </ac:spMkLst>
        </pc:spChg>
      </pc:sldChg>
      <pc:sldChg chg="addSp modSp new mod">
        <pc:chgData name="SAKSHI UPADHYAY" userId="62903daba79aa21d" providerId="LiveId" clId="{6ECF829F-8CB3-4682-87EE-E76EBA6CAE12}" dt="2026-01-06T12:09:32.509" v="941"/>
        <pc:sldMkLst>
          <pc:docMk/>
          <pc:sldMk cId="1596830872" sldId="280"/>
        </pc:sldMkLst>
        <pc:spChg chg="add mod">
          <ac:chgData name="SAKSHI UPADHYAY" userId="62903daba79aa21d" providerId="LiveId" clId="{6ECF829F-8CB3-4682-87EE-E76EBA6CAE12}" dt="2026-01-06T12:09:32.509" v="941"/>
          <ac:spMkLst>
            <pc:docMk/>
            <pc:sldMk cId="1596830872" sldId="280"/>
            <ac:spMk id="3" creationId="{91B7319F-D294-D64D-B2BE-2E4F22F796ED}"/>
          </ac:spMkLst>
        </pc:spChg>
      </pc:sldChg>
      <pc:sldChg chg="addSp delSp modSp new mod">
        <pc:chgData name="SAKSHI UPADHYAY" userId="62903daba79aa21d" providerId="LiveId" clId="{6ECF829F-8CB3-4682-87EE-E76EBA6CAE12}" dt="2026-01-06T12:36:18.714" v="997" actId="20577"/>
        <pc:sldMkLst>
          <pc:docMk/>
          <pc:sldMk cId="3006447202" sldId="281"/>
        </pc:sldMkLst>
        <pc:spChg chg="add mod">
          <ac:chgData name="SAKSHI UPADHYAY" userId="62903daba79aa21d" providerId="LiveId" clId="{6ECF829F-8CB3-4682-87EE-E76EBA6CAE12}" dt="2026-01-06T12:35:54.637" v="994"/>
          <ac:spMkLst>
            <pc:docMk/>
            <pc:sldMk cId="3006447202" sldId="281"/>
            <ac:spMk id="3" creationId="{BBC86A51-C444-BAF3-1A8C-9C86242402AB}"/>
          </ac:spMkLst>
        </pc:spChg>
        <pc:spChg chg="add del mod">
          <ac:chgData name="SAKSHI UPADHYAY" userId="62903daba79aa21d" providerId="LiveId" clId="{6ECF829F-8CB3-4682-87EE-E76EBA6CAE12}" dt="2026-01-06T12:33:08.725" v="974"/>
          <ac:spMkLst>
            <pc:docMk/>
            <pc:sldMk cId="3006447202" sldId="281"/>
            <ac:spMk id="5" creationId="{D9C76EB7-83A7-9D47-9BED-ADC538B486A3}"/>
          </ac:spMkLst>
        </pc:spChg>
        <pc:spChg chg="add mod">
          <ac:chgData name="SAKSHI UPADHYAY" userId="62903daba79aa21d" providerId="LiveId" clId="{6ECF829F-8CB3-4682-87EE-E76EBA6CAE12}" dt="2026-01-06T12:36:18.714" v="997" actId="20577"/>
          <ac:spMkLst>
            <pc:docMk/>
            <pc:sldMk cId="3006447202" sldId="281"/>
            <ac:spMk id="7" creationId="{64327D9E-29D4-024B-56BF-436683501A20}"/>
          </ac:spMkLst>
        </pc:spChg>
      </pc:sldChg>
      <pc:sldChg chg="new">
        <pc:chgData name="SAKSHI UPADHYAY" userId="62903daba79aa21d" providerId="LiveId" clId="{6ECF829F-8CB3-4682-87EE-E76EBA6CAE12}" dt="2026-01-06T04:47:05.723" v="905" actId="680"/>
        <pc:sldMkLst>
          <pc:docMk/>
          <pc:sldMk cId="3092415065" sldId="282"/>
        </pc:sldMkLst>
      </pc:sldChg>
      <pc:sldChg chg="addSp modSp new mod">
        <pc:chgData name="SAKSHI UPADHYAY" userId="62903daba79aa21d" providerId="LiveId" clId="{6ECF829F-8CB3-4682-87EE-E76EBA6CAE12}" dt="2026-01-06T12:13:47.414" v="960" actId="113"/>
        <pc:sldMkLst>
          <pc:docMk/>
          <pc:sldMk cId="2381480692" sldId="283"/>
        </pc:sldMkLst>
        <pc:spChg chg="add mod">
          <ac:chgData name="SAKSHI UPADHYAY" userId="62903daba79aa21d" providerId="LiveId" clId="{6ECF829F-8CB3-4682-87EE-E76EBA6CAE12}" dt="2026-01-06T12:13:47.414" v="960" actId="113"/>
          <ac:spMkLst>
            <pc:docMk/>
            <pc:sldMk cId="2381480692" sldId="283"/>
            <ac:spMk id="3" creationId="{40763E81-B381-E34A-2C35-45C06803B2A2}"/>
          </ac:spMkLst>
        </pc:spChg>
      </pc:sldChg>
      <pc:sldChg chg="addSp modSp new mod">
        <pc:chgData name="SAKSHI UPADHYAY" userId="62903daba79aa21d" providerId="LiveId" clId="{6ECF829F-8CB3-4682-87EE-E76EBA6CAE12}" dt="2026-01-06T12:42:43.949" v="1037" actId="14100"/>
        <pc:sldMkLst>
          <pc:docMk/>
          <pc:sldMk cId="2601866766" sldId="284"/>
        </pc:sldMkLst>
        <pc:spChg chg="add mod">
          <ac:chgData name="SAKSHI UPADHYAY" userId="62903daba79aa21d" providerId="LiveId" clId="{6ECF829F-8CB3-4682-87EE-E76EBA6CAE12}" dt="2026-01-06T12:42:43.949" v="1037" actId="14100"/>
          <ac:spMkLst>
            <pc:docMk/>
            <pc:sldMk cId="2601866766" sldId="284"/>
            <ac:spMk id="3" creationId="{2937415C-2B3A-F752-7BEC-015909A6877F}"/>
          </ac:spMkLst>
        </pc:spChg>
        <pc:spChg chg="add mod">
          <ac:chgData name="SAKSHI UPADHYAY" userId="62903daba79aa21d" providerId="LiveId" clId="{6ECF829F-8CB3-4682-87EE-E76EBA6CAE12}" dt="2026-01-06T12:42:36.238" v="1034" actId="20577"/>
          <ac:spMkLst>
            <pc:docMk/>
            <pc:sldMk cId="2601866766" sldId="284"/>
            <ac:spMk id="5" creationId="{669E82B4-6BDA-31AF-184E-59383A9B780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E5DDC-8E4A-7F78-FD38-1381FADF16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8106B6D-99AA-54D0-19BB-640018F1BB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2794A23-2A05-75AB-6A57-039F71227EBB}"/>
              </a:ext>
            </a:extLst>
          </p:cNvPr>
          <p:cNvSpPr>
            <a:spLocks noGrp="1"/>
          </p:cNvSpPr>
          <p:nvPr>
            <p:ph type="dt" sz="half" idx="10"/>
          </p:nvPr>
        </p:nvSpPr>
        <p:spPr/>
        <p:txBody>
          <a:bodyPr/>
          <a:lstStyle/>
          <a:p>
            <a:fld id="{B955DD55-6477-4E9F-9079-4E128795FF10}" type="datetimeFigureOut">
              <a:rPr lang="en-IN" smtClean="0"/>
              <a:t>06-01-2026</a:t>
            </a:fld>
            <a:endParaRPr lang="en-IN"/>
          </a:p>
        </p:txBody>
      </p:sp>
      <p:sp>
        <p:nvSpPr>
          <p:cNvPr id="5" name="Footer Placeholder 4">
            <a:extLst>
              <a:ext uri="{FF2B5EF4-FFF2-40B4-BE49-F238E27FC236}">
                <a16:creationId xmlns:a16="http://schemas.microsoft.com/office/drawing/2014/main" id="{881F6419-2E9D-3378-88CF-D293FCEDA0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A53B5D-9728-BE48-9632-E2528639B103}"/>
              </a:ext>
            </a:extLst>
          </p:cNvPr>
          <p:cNvSpPr>
            <a:spLocks noGrp="1"/>
          </p:cNvSpPr>
          <p:nvPr>
            <p:ph type="sldNum" sz="quarter" idx="12"/>
          </p:nvPr>
        </p:nvSpPr>
        <p:spPr/>
        <p:txBody>
          <a:bodyPr/>
          <a:lstStyle/>
          <a:p>
            <a:fld id="{AEFBB9DB-8802-4D77-8D7E-7029FC313EDF}" type="slidenum">
              <a:rPr lang="en-IN" smtClean="0"/>
              <a:t>‹#›</a:t>
            </a:fld>
            <a:endParaRPr lang="en-IN"/>
          </a:p>
        </p:txBody>
      </p:sp>
    </p:spTree>
    <p:extLst>
      <p:ext uri="{BB962C8B-B14F-4D97-AF65-F5344CB8AC3E}">
        <p14:creationId xmlns:p14="http://schemas.microsoft.com/office/powerpoint/2010/main" val="5522767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4997B-8A6E-36EC-530A-EA503DFAC51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A9479E8-FECB-BB29-7371-B60AB984E1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B8252D-704C-84E7-4B33-B6B8330E5F4D}"/>
              </a:ext>
            </a:extLst>
          </p:cNvPr>
          <p:cNvSpPr>
            <a:spLocks noGrp="1"/>
          </p:cNvSpPr>
          <p:nvPr>
            <p:ph type="dt" sz="half" idx="10"/>
          </p:nvPr>
        </p:nvSpPr>
        <p:spPr/>
        <p:txBody>
          <a:bodyPr/>
          <a:lstStyle/>
          <a:p>
            <a:fld id="{B955DD55-6477-4E9F-9079-4E128795FF10}" type="datetimeFigureOut">
              <a:rPr lang="en-IN" smtClean="0"/>
              <a:t>06-01-2026</a:t>
            </a:fld>
            <a:endParaRPr lang="en-IN"/>
          </a:p>
        </p:txBody>
      </p:sp>
      <p:sp>
        <p:nvSpPr>
          <p:cNvPr id="5" name="Footer Placeholder 4">
            <a:extLst>
              <a:ext uri="{FF2B5EF4-FFF2-40B4-BE49-F238E27FC236}">
                <a16:creationId xmlns:a16="http://schemas.microsoft.com/office/drawing/2014/main" id="{0929B1A6-344F-2D72-2F28-117DE93AC4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1C32DB-7412-36EA-EFD9-86091764018A}"/>
              </a:ext>
            </a:extLst>
          </p:cNvPr>
          <p:cNvSpPr>
            <a:spLocks noGrp="1"/>
          </p:cNvSpPr>
          <p:nvPr>
            <p:ph type="sldNum" sz="quarter" idx="12"/>
          </p:nvPr>
        </p:nvSpPr>
        <p:spPr/>
        <p:txBody>
          <a:bodyPr/>
          <a:lstStyle/>
          <a:p>
            <a:fld id="{AEFBB9DB-8802-4D77-8D7E-7029FC313EDF}" type="slidenum">
              <a:rPr lang="en-IN" smtClean="0"/>
              <a:t>‹#›</a:t>
            </a:fld>
            <a:endParaRPr lang="en-IN"/>
          </a:p>
        </p:txBody>
      </p:sp>
    </p:spTree>
    <p:extLst>
      <p:ext uri="{BB962C8B-B14F-4D97-AF65-F5344CB8AC3E}">
        <p14:creationId xmlns:p14="http://schemas.microsoft.com/office/powerpoint/2010/main" val="3017155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0E7D8-3859-7056-AE03-356ADF2772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86B3173-D3A4-DE2C-8D76-DFA01899D4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85BABE-728D-083E-C196-607E72FD2929}"/>
              </a:ext>
            </a:extLst>
          </p:cNvPr>
          <p:cNvSpPr>
            <a:spLocks noGrp="1"/>
          </p:cNvSpPr>
          <p:nvPr>
            <p:ph type="dt" sz="half" idx="10"/>
          </p:nvPr>
        </p:nvSpPr>
        <p:spPr/>
        <p:txBody>
          <a:bodyPr/>
          <a:lstStyle/>
          <a:p>
            <a:fld id="{B955DD55-6477-4E9F-9079-4E128795FF10}" type="datetimeFigureOut">
              <a:rPr lang="en-IN" smtClean="0"/>
              <a:t>06-01-2026</a:t>
            </a:fld>
            <a:endParaRPr lang="en-IN"/>
          </a:p>
        </p:txBody>
      </p:sp>
      <p:sp>
        <p:nvSpPr>
          <p:cNvPr id="5" name="Footer Placeholder 4">
            <a:extLst>
              <a:ext uri="{FF2B5EF4-FFF2-40B4-BE49-F238E27FC236}">
                <a16:creationId xmlns:a16="http://schemas.microsoft.com/office/drawing/2014/main" id="{3B595BD4-228C-65C8-1E8F-4289FA97D3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512DE2-3EED-BD07-F7E8-ECCA56E354E6}"/>
              </a:ext>
            </a:extLst>
          </p:cNvPr>
          <p:cNvSpPr>
            <a:spLocks noGrp="1"/>
          </p:cNvSpPr>
          <p:nvPr>
            <p:ph type="sldNum" sz="quarter" idx="12"/>
          </p:nvPr>
        </p:nvSpPr>
        <p:spPr/>
        <p:txBody>
          <a:bodyPr/>
          <a:lstStyle/>
          <a:p>
            <a:fld id="{AEFBB9DB-8802-4D77-8D7E-7029FC313EDF}" type="slidenum">
              <a:rPr lang="en-IN" smtClean="0"/>
              <a:t>‹#›</a:t>
            </a:fld>
            <a:endParaRPr lang="en-IN"/>
          </a:p>
        </p:txBody>
      </p:sp>
    </p:spTree>
    <p:extLst>
      <p:ext uri="{BB962C8B-B14F-4D97-AF65-F5344CB8AC3E}">
        <p14:creationId xmlns:p14="http://schemas.microsoft.com/office/powerpoint/2010/main" val="2944699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902EE-B386-FA75-EB6F-341E87C45A7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9B09668-F6C3-D818-CB45-1E6DCCC9D2C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BD0D058-83E7-D9EE-964C-0E4C852D45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4D26420-8972-EED6-211E-EA7F47089998}"/>
              </a:ext>
            </a:extLst>
          </p:cNvPr>
          <p:cNvSpPr>
            <a:spLocks noGrp="1"/>
          </p:cNvSpPr>
          <p:nvPr>
            <p:ph type="dt" sz="half" idx="10"/>
          </p:nvPr>
        </p:nvSpPr>
        <p:spPr/>
        <p:txBody>
          <a:bodyPr/>
          <a:lstStyle/>
          <a:p>
            <a:fld id="{B955DD55-6477-4E9F-9079-4E128795FF10}" type="datetimeFigureOut">
              <a:rPr lang="en-IN" smtClean="0"/>
              <a:t>06-01-2026</a:t>
            </a:fld>
            <a:endParaRPr lang="en-IN"/>
          </a:p>
        </p:txBody>
      </p:sp>
      <p:sp>
        <p:nvSpPr>
          <p:cNvPr id="6" name="Footer Placeholder 5">
            <a:extLst>
              <a:ext uri="{FF2B5EF4-FFF2-40B4-BE49-F238E27FC236}">
                <a16:creationId xmlns:a16="http://schemas.microsoft.com/office/drawing/2014/main" id="{4D3130B8-255D-1307-EFCC-156F032539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00DE76-9453-523D-E6D7-07AAE9A8B726}"/>
              </a:ext>
            </a:extLst>
          </p:cNvPr>
          <p:cNvSpPr>
            <a:spLocks noGrp="1"/>
          </p:cNvSpPr>
          <p:nvPr>
            <p:ph type="sldNum" sz="quarter" idx="12"/>
          </p:nvPr>
        </p:nvSpPr>
        <p:spPr/>
        <p:txBody>
          <a:bodyPr/>
          <a:lstStyle/>
          <a:p>
            <a:fld id="{AEFBB9DB-8802-4D77-8D7E-7029FC313EDF}" type="slidenum">
              <a:rPr lang="en-IN" smtClean="0"/>
              <a:t>‹#›</a:t>
            </a:fld>
            <a:endParaRPr lang="en-IN"/>
          </a:p>
        </p:txBody>
      </p:sp>
    </p:spTree>
    <p:extLst>
      <p:ext uri="{BB962C8B-B14F-4D97-AF65-F5344CB8AC3E}">
        <p14:creationId xmlns:p14="http://schemas.microsoft.com/office/powerpoint/2010/main" val="2296446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02E07-CA28-6533-4662-D760A4370F9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0C2142C-D509-437B-4B3C-8E90AFCEFC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E35FFB-42AF-251B-D093-0E0D428B8D6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5ED70B8-86F4-CE92-D4F9-4793730B0C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B2DC73-3D3F-8408-A52B-02E70A789B2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5479FE-FB8C-C070-DCF7-A098074E5FCA}"/>
              </a:ext>
            </a:extLst>
          </p:cNvPr>
          <p:cNvSpPr>
            <a:spLocks noGrp="1"/>
          </p:cNvSpPr>
          <p:nvPr>
            <p:ph type="dt" sz="half" idx="10"/>
          </p:nvPr>
        </p:nvSpPr>
        <p:spPr/>
        <p:txBody>
          <a:bodyPr/>
          <a:lstStyle/>
          <a:p>
            <a:fld id="{B955DD55-6477-4E9F-9079-4E128795FF10}" type="datetimeFigureOut">
              <a:rPr lang="en-IN" smtClean="0"/>
              <a:t>06-01-2026</a:t>
            </a:fld>
            <a:endParaRPr lang="en-IN"/>
          </a:p>
        </p:txBody>
      </p:sp>
      <p:sp>
        <p:nvSpPr>
          <p:cNvPr id="8" name="Footer Placeholder 7">
            <a:extLst>
              <a:ext uri="{FF2B5EF4-FFF2-40B4-BE49-F238E27FC236}">
                <a16:creationId xmlns:a16="http://schemas.microsoft.com/office/drawing/2014/main" id="{A08719CF-A1F8-1457-6AE2-692747CFD18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B4B4A22-0BE4-520F-6724-F76D4B0DC87C}"/>
              </a:ext>
            </a:extLst>
          </p:cNvPr>
          <p:cNvSpPr>
            <a:spLocks noGrp="1"/>
          </p:cNvSpPr>
          <p:nvPr>
            <p:ph type="sldNum" sz="quarter" idx="12"/>
          </p:nvPr>
        </p:nvSpPr>
        <p:spPr/>
        <p:txBody>
          <a:bodyPr/>
          <a:lstStyle/>
          <a:p>
            <a:fld id="{AEFBB9DB-8802-4D77-8D7E-7029FC313EDF}" type="slidenum">
              <a:rPr lang="en-IN" smtClean="0"/>
              <a:t>‹#›</a:t>
            </a:fld>
            <a:endParaRPr lang="en-IN"/>
          </a:p>
        </p:txBody>
      </p:sp>
    </p:spTree>
    <p:extLst>
      <p:ext uri="{BB962C8B-B14F-4D97-AF65-F5344CB8AC3E}">
        <p14:creationId xmlns:p14="http://schemas.microsoft.com/office/powerpoint/2010/main" val="239015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34329-79FF-09CE-804C-87403FA712F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3B03D09-AA99-924B-3A78-7530383D2AA9}"/>
              </a:ext>
            </a:extLst>
          </p:cNvPr>
          <p:cNvSpPr>
            <a:spLocks noGrp="1"/>
          </p:cNvSpPr>
          <p:nvPr>
            <p:ph type="dt" sz="half" idx="10"/>
          </p:nvPr>
        </p:nvSpPr>
        <p:spPr/>
        <p:txBody>
          <a:bodyPr/>
          <a:lstStyle/>
          <a:p>
            <a:fld id="{B955DD55-6477-4E9F-9079-4E128795FF10}" type="datetimeFigureOut">
              <a:rPr lang="en-IN" smtClean="0"/>
              <a:t>06-01-2026</a:t>
            </a:fld>
            <a:endParaRPr lang="en-IN"/>
          </a:p>
        </p:txBody>
      </p:sp>
      <p:sp>
        <p:nvSpPr>
          <p:cNvPr id="4" name="Footer Placeholder 3">
            <a:extLst>
              <a:ext uri="{FF2B5EF4-FFF2-40B4-BE49-F238E27FC236}">
                <a16:creationId xmlns:a16="http://schemas.microsoft.com/office/drawing/2014/main" id="{39821C32-B917-8F54-4B36-EBA7E8EE9FF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B945FA8-5E48-DD28-8E8C-8F617434E000}"/>
              </a:ext>
            </a:extLst>
          </p:cNvPr>
          <p:cNvSpPr>
            <a:spLocks noGrp="1"/>
          </p:cNvSpPr>
          <p:nvPr>
            <p:ph type="sldNum" sz="quarter" idx="12"/>
          </p:nvPr>
        </p:nvSpPr>
        <p:spPr/>
        <p:txBody>
          <a:bodyPr/>
          <a:lstStyle/>
          <a:p>
            <a:fld id="{AEFBB9DB-8802-4D77-8D7E-7029FC313EDF}" type="slidenum">
              <a:rPr lang="en-IN" smtClean="0"/>
              <a:t>‹#›</a:t>
            </a:fld>
            <a:endParaRPr lang="en-IN"/>
          </a:p>
        </p:txBody>
      </p:sp>
    </p:spTree>
    <p:extLst>
      <p:ext uri="{BB962C8B-B14F-4D97-AF65-F5344CB8AC3E}">
        <p14:creationId xmlns:p14="http://schemas.microsoft.com/office/powerpoint/2010/main" val="877737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BC8C46-677C-C2A2-7E22-71FF31AA4A5E}"/>
              </a:ext>
            </a:extLst>
          </p:cNvPr>
          <p:cNvSpPr>
            <a:spLocks noGrp="1"/>
          </p:cNvSpPr>
          <p:nvPr>
            <p:ph type="dt" sz="half" idx="10"/>
          </p:nvPr>
        </p:nvSpPr>
        <p:spPr/>
        <p:txBody>
          <a:bodyPr/>
          <a:lstStyle/>
          <a:p>
            <a:fld id="{B955DD55-6477-4E9F-9079-4E128795FF10}" type="datetimeFigureOut">
              <a:rPr lang="en-IN" smtClean="0"/>
              <a:t>06-01-2026</a:t>
            </a:fld>
            <a:endParaRPr lang="en-IN"/>
          </a:p>
        </p:txBody>
      </p:sp>
      <p:sp>
        <p:nvSpPr>
          <p:cNvPr id="3" name="Footer Placeholder 2">
            <a:extLst>
              <a:ext uri="{FF2B5EF4-FFF2-40B4-BE49-F238E27FC236}">
                <a16:creationId xmlns:a16="http://schemas.microsoft.com/office/drawing/2014/main" id="{B9F64B10-97C3-EC19-8535-8E56ADB58C5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BD871A6-9AF8-D29D-2847-B7DBB0A5D389}"/>
              </a:ext>
            </a:extLst>
          </p:cNvPr>
          <p:cNvSpPr>
            <a:spLocks noGrp="1"/>
          </p:cNvSpPr>
          <p:nvPr>
            <p:ph type="sldNum" sz="quarter" idx="12"/>
          </p:nvPr>
        </p:nvSpPr>
        <p:spPr/>
        <p:txBody>
          <a:bodyPr/>
          <a:lstStyle/>
          <a:p>
            <a:fld id="{AEFBB9DB-8802-4D77-8D7E-7029FC313EDF}" type="slidenum">
              <a:rPr lang="en-IN" smtClean="0"/>
              <a:t>‹#›</a:t>
            </a:fld>
            <a:endParaRPr lang="en-IN"/>
          </a:p>
        </p:txBody>
      </p:sp>
    </p:spTree>
    <p:extLst>
      <p:ext uri="{BB962C8B-B14F-4D97-AF65-F5344CB8AC3E}">
        <p14:creationId xmlns:p14="http://schemas.microsoft.com/office/powerpoint/2010/main" val="3891044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E99D4F-C2C9-A973-213F-4301003E25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4DC91FF-E45C-8E53-F3B9-C63CEBC8998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2E43E67-8FCA-AE39-CD41-0EAE6F4D8D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4785A8-93C2-8DFA-CCA3-6460301DD81E}"/>
              </a:ext>
            </a:extLst>
          </p:cNvPr>
          <p:cNvSpPr>
            <a:spLocks noGrp="1"/>
          </p:cNvSpPr>
          <p:nvPr>
            <p:ph type="dt" sz="half" idx="10"/>
          </p:nvPr>
        </p:nvSpPr>
        <p:spPr/>
        <p:txBody>
          <a:bodyPr/>
          <a:lstStyle/>
          <a:p>
            <a:fld id="{B955DD55-6477-4E9F-9079-4E128795FF10}" type="datetimeFigureOut">
              <a:rPr lang="en-IN" smtClean="0"/>
              <a:t>06-01-2026</a:t>
            </a:fld>
            <a:endParaRPr lang="en-IN"/>
          </a:p>
        </p:txBody>
      </p:sp>
      <p:sp>
        <p:nvSpPr>
          <p:cNvPr id="6" name="Footer Placeholder 5">
            <a:extLst>
              <a:ext uri="{FF2B5EF4-FFF2-40B4-BE49-F238E27FC236}">
                <a16:creationId xmlns:a16="http://schemas.microsoft.com/office/drawing/2014/main" id="{F2E7303B-352A-6F52-028C-E37CE53F90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9E28BD-CC22-6FA2-7BBE-4DB2821C9340}"/>
              </a:ext>
            </a:extLst>
          </p:cNvPr>
          <p:cNvSpPr>
            <a:spLocks noGrp="1"/>
          </p:cNvSpPr>
          <p:nvPr>
            <p:ph type="sldNum" sz="quarter" idx="12"/>
          </p:nvPr>
        </p:nvSpPr>
        <p:spPr/>
        <p:txBody>
          <a:bodyPr/>
          <a:lstStyle/>
          <a:p>
            <a:fld id="{AEFBB9DB-8802-4D77-8D7E-7029FC313EDF}" type="slidenum">
              <a:rPr lang="en-IN" smtClean="0"/>
              <a:t>‹#›</a:t>
            </a:fld>
            <a:endParaRPr lang="en-IN"/>
          </a:p>
        </p:txBody>
      </p:sp>
    </p:spTree>
    <p:extLst>
      <p:ext uri="{BB962C8B-B14F-4D97-AF65-F5344CB8AC3E}">
        <p14:creationId xmlns:p14="http://schemas.microsoft.com/office/powerpoint/2010/main" val="3536851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0334C-4E62-F95F-EA8C-148357D9081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D5B2617-85CE-A592-7A6B-5F12EF715AD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9233515-C1F3-4DBD-A508-3D5E608887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D37309-3A23-ED97-3CA7-9964E9139BC3}"/>
              </a:ext>
            </a:extLst>
          </p:cNvPr>
          <p:cNvSpPr>
            <a:spLocks noGrp="1"/>
          </p:cNvSpPr>
          <p:nvPr>
            <p:ph type="dt" sz="half" idx="10"/>
          </p:nvPr>
        </p:nvSpPr>
        <p:spPr/>
        <p:txBody>
          <a:bodyPr/>
          <a:lstStyle/>
          <a:p>
            <a:fld id="{B955DD55-6477-4E9F-9079-4E128795FF10}" type="datetimeFigureOut">
              <a:rPr lang="en-IN" smtClean="0"/>
              <a:t>06-01-2026</a:t>
            </a:fld>
            <a:endParaRPr lang="en-IN"/>
          </a:p>
        </p:txBody>
      </p:sp>
      <p:sp>
        <p:nvSpPr>
          <p:cNvPr id="6" name="Footer Placeholder 5">
            <a:extLst>
              <a:ext uri="{FF2B5EF4-FFF2-40B4-BE49-F238E27FC236}">
                <a16:creationId xmlns:a16="http://schemas.microsoft.com/office/drawing/2014/main" id="{C3A31BA2-29D1-7090-85F7-5A6C29A5A05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3740399-D269-F631-8304-90C1C6987815}"/>
              </a:ext>
            </a:extLst>
          </p:cNvPr>
          <p:cNvSpPr>
            <a:spLocks noGrp="1"/>
          </p:cNvSpPr>
          <p:nvPr>
            <p:ph type="sldNum" sz="quarter" idx="12"/>
          </p:nvPr>
        </p:nvSpPr>
        <p:spPr/>
        <p:txBody>
          <a:bodyPr/>
          <a:lstStyle/>
          <a:p>
            <a:fld id="{AEFBB9DB-8802-4D77-8D7E-7029FC313EDF}" type="slidenum">
              <a:rPr lang="en-IN" smtClean="0"/>
              <a:t>‹#›</a:t>
            </a:fld>
            <a:endParaRPr lang="en-IN"/>
          </a:p>
        </p:txBody>
      </p:sp>
    </p:spTree>
    <p:extLst>
      <p:ext uri="{BB962C8B-B14F-4D97-AF65-F5344CB8AC3E}">
        <p14:creationId xmlns:p14="http://schemas.microsoft.com/office/powerpoint/2010/main" val="1806068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45078-09F4-6B01-991C-DEB41547748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E9E753-136D-C35E-D23B-D0BE10B744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54219D2-9835-3498-C406-DCF24A6D8663}"/>
              </a:ext>
            </a:extLst>
          </p:cNvPr>
          <p:cNvSpPr>
            <a:spLocks noGrp="1"/>
          </p:cNvSpPr>
          <p:nvPr>
            <p:ph type="dt" sz="half" idx="10"/>
          </p:nvPr>
        </p:nvSpPr>
        <p:spPr/>
        <p:txBody>
          <a:bodyPr/>
          <a:lstStyle/>
          <a:p>
            <a:fld id="{B955DD55-6477-4E9F-9079-4E128795FF10}" type="datetimeFigureOut">
              <a:rPr lang="en-IN" smtClean="0"/>
              <a:t>06-01-2026</a:t>
            </a:fld>
            <a:endParaRPr lang="en-IN"/>
          </a:p>
        </p:txBody>
      </p:sp>
      <p:sp>
        <p:nvSpPr>
          <p:cNvPr id="5" name="Footer Placeholder 4">
            <a:extLst>
              <a:ext uri="{FF2B5EF4-FFF2-40B4-BE49-F238E27FC236}">
                <a16:creationId xmlns:a16="http://schemas.microsoft.com/office/drawing/2014/main" id="{59E12C57-A349-C6BF-818D-5FCC935388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202C43-7733-52D3-3509-A6837840A078}"/>
              </a:ext>
            </a:extLst>
          </p:cNvPr>
          <p:cNvSpPr>
            <a:spLocks noGrp="1"/>
          </p:cNvSpPr>
          <p:nvPr>
            <p:ph type="sldNum" sz="quarter" idx="12"/>
          </p:nvPr>
        </p:nvSpPr>
        <p:spPr/>
        <p:txBody>
          <a:bodyPr/>
          <a:lstStyle/>
          <a:p>
            <a:fld id="{AEFBB9DB-8802-4D77-8D7E-7029FC313EDF}" type="slidenum">
              <a:rPr lang="en-IN" smtClean="0"/>
              <a:t>‹#›</a:t>
            </a:fld>
            <a:endParaRPr lang="en-IN"/>
          </a:p>
        </p:txBody>
      </p:sp>
    </p:spTree>
    <p:extLst>
      <p:ext uri="{BB962C8B-B14F-4D97-AF65-F5344CB8AC3E}">
        <p14:creationId xmlns:p14="http://schemas.microsoft.com/office/powerpoint/2010/main" val="1388098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88F27F-FBFD-8DC2-5A6D-1951A68FDFB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2445C31-0CA1-2BE6-2025-8B2E87C35F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92336B-E898-71F0-5E3E-A1CC91FB042B}"/>
              </a:ext>
            </a:extLst>
          </p:cNvPr>
          <p:cNvSpPr>
            <a:spLocks noGrp="1"/>
          </p:cNvSpPr>
          <p:nvPr>
            <p:ph type="dt" sz="half" idx="10"/>
          </p:nvPr>
        </p:nvSpPr>
        <p:spPr/>
        <p:txBody>
          <a:bodyPr/>
          <a:lstStyle/>
          <a:p>
            <a:fld id="{B955DD55-6477-4E9F-9079-4E128795FF10}" type="datetimeFigureOut">
              <a:rPr lang="en-IN" smtClean="0"/>
              <a:t>06-01-2026</a:t>
            </a:fld>
            <a:endParaRPr lang="en-IN"/>
          </a:p>
        </p:txBody>
      </p:sp>
      <p:sp>
        <p:nvSpPr>
          <p:cNvPr id="5" name="Footer Placeholder 4">
            <a:extLst>
              <a:ext uri="{FF2B5EF4-FFF2-40B4-BE49-F238E27FC236}">
                <a16:creationId xmlns:a16="http://schemas.microsoft.com/office/drawing/2014/main" id="{53D8CCE4-E602-D19F-EC42-D4C112BC08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EA2FBB-3E4E-BD5D-CE69-713F865C094B}"/>
              </a:ext>
            </a:extLst>
          </p:cNvPr>
          <p:cNvSpPr>
            <a:spLocks noGrp="1"/>
          </p:cNvSpPr>
          <p:nvPr>
            <p:ph type="sldNum" sz="quarter" idx="12"/>
          </p:nvPr>
        </p:nvSpPr>
        <p:spPr/>
        <p:txBody>
          <a:bodyPr/>
          <a:lstStyle/>
          <a:p>
            <a:fld id="{AEFBB9DB-8802-4D77-8D7E-7029FC313EDF}" type="slidenum">
              <a:rPr lang="en-IN" smtClean="0"/>
              <a:t>‹#›</a:t>
            </a:fld>
            <a:endParaRPr lang="en-IN"/>
          </a:p>
        </p:txBody>
      </p:sp>
    </p:spTree>
    <p:extLst>
      <p:ext uri="{BB962C8B-B14F-4D97-AF65-F5344CB8AC3E}">
        <p14:creationId xmlns:p14="http://schemas.microsoft.com/office/powerpoint/2010/main" val="2230575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8D6B28-5CD1-0AEE-E0E0-0240EABD38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730D13C-F4B6-097D-915B-DC702E33CB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B46E1B-65D2-0A4F-2C24-9A48DBF97C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55DD55-6477-4E9F-9079-4E128795FF10}" type="datetimeFigureOut">
              <a:rPr lang="en-IN" smtClean="0"/>
              <a:t>06-01-2026</a:t>
            </a:fld>
            <a:endParaRPr lang="en-IN"/>
          </a:p>
        </p:txBody>
      </p:sp>
      <p:sp>
        <p:nvSpPr>
          <p:cNvPr id="5" name="Footer Placeholder 4">
            <a:extLst>
              <a:ext uri="{FF2B5EF4-FFF2-40B4-BE49-F238E27FC236}">
                <a16:creationId xmlns:a16="http://schemas.microsoft.com/office/drawing/2014/main" id="{79DB61CB-1D6B-DCAF-621A-05154F5360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A0FB975-A3F2-6B31-C19D-24AA79E3CFB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EFBB9DB-8802-4D77-8D7E-7029FC313EDF}" type="slidenum">
              <a:rPr lang="en-IN" smtClean="0"/>
              <a:t>‹#›</a:t>
            </a:fld>
            <a:endParaRPr lang="en-IN"/>
          </a:p>
        </p:txBody>
      </p:sp>
    </p:spTree>
    <p:extLst>
      <p:ext uri="{BB962C8B-B14F-4D97-AF65-F5344CB8AC3E}">
        <p14:creationId xmlns:p14="http://schemas.microsoft.com/office/powerpoint/2010/main" val="23737472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32F4F-CBD9-FDE6-1CEA-FFFD761909A0}"/>
              </a:ext>
            </a:extLst>
          </p:cNvPr>
          <p:cNvSpPr>
            <a:spLocks noGrp="1"/>
          </p:cNvSpPr>
          <p:nvPr>
            <p:ph type="ctrTitle"/>
          </p:nvPr>
        </p:nvSpPr>
        <p:spPr/>
        <p:txBody>
          <a:bodyPr/>
          <a:lstStyle/>
          <a:p>
            <a:r>
              <a:rPr lang="en-IN" dirty="0"/>
              <a:t>INTER-PROCESS COMMUNICATION</a:t>
            </a:r>
          </a:p>
        </p:txBody>
      </p:sp>
    </p:spTree>
    <p:extLst>
      <p:ext uri="{BB962C8B-B14F-4D97-AF65-F5344CB8AC3E}">
        <p14:creationId xmlns:p14="http://schemas.microsoft.com/office/powerpoint/2010/main" val="4051189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05E5B-BD90-645D-C502-39DA245AB645}"/>
              </a:ext>
            </a:extLst>
          </p:cNvPr>
          <p:cNvSpPr>
            <a:spLocks noGrp="1"/>
          </p:cNvSpPr>
          <p:nvPr>
            <p:ph type="title"/>
          </p:nvPr>
        </p:nvSpPr>
        <p:spPr>
          <a:xfrm>
            <a:off x="598714" y="365126"/>
            <a:ext cx="10755086" cy="745218"/>
          </a:xfrm>
        </p:spPr>
        <p:txBody>
          <a:bodyPr/>
          <a:lstStyle/>
          <a:p>
            <a:r>
              <a:rPr lang="en-US" b="1" dirty="0"/>
              <a:t>Critical section</a:t>
            </a:r>
            <a:endParaRPr lang="en-IN" dirty="0"/>
          </a:p>
        </p:txBody>
      </p:sp>
      <p:sp>
        <p:nvSpPr>
          <p:cNvPr id="3" name="Content Placeholder 2">
            <a:extLst>
              <a:ext uri="{FF2B5EF4-FFF2-40B4-BE49-F238E27FC236}">
                <a16:creationId xmlns:a16="http://schemas.microsoft.com/office/drawing/2014/main" id="{0816D8BE-B440-614A-9289-CE20877B6250}"/>
              </a:ext>
            </a:extLst>
          </p:cNvPr>
          <p:cNvSpPr>
            <a:spLocks noGrp="1"/>
          </p:cNvSpPr>
          <p:nvPr>
            <p:ph idx="1"/>
          </p:nvPr>
        </p:nvSpPr>
        <p:spPr>
          <a:xfrm>
            <a:off x="598714" y="1251858"/>
            <a:ext cx="11212285" cy="4925106"/>
          </a:xfrm>
        </p:spPr>
        <p:txBody>
          <a:bodyPr>
            <a:normAutofit lnSpcReduction="10000"/>
          </a:bodyPr>
          <a:lstStyle/>
          <a:p>
            <a:pPr marL="0" indent="0">
              <a:buNone/>
            </a:pPr>
            <a:r>
              <a:rPr lang="en-US" sz="2000" dirty="0"/>
              <a:t>A </a:t>
            </a:r>
            <a:r>
              <a:rPr lang="en-US" sz="2000" b="1" dirty="0"/>
              <a:t>critical section</a:t>
            </a:r>
            <a:r>
              <a:rPr lang="en-US" sz="2000" dirty="0"/>
              <a:t> is the part of a program where a </a:t>
            </a:r>
            <a:r>
              <a:rPr lang="en-US" sz="2000" b="1" dirty="0"/>
              <a:t>shared resource</a:t>
            </a:r>
            <a:r>
              <a:rPr lang="en-US" sz="2000" dirty="0"/>
              <a:t> (variable, file, memory, database, printer, etc.) is </a:t>
            </a:r>
            <a:r>
              <a:rPr lang="en-US" sz="2000" b="1" dirty="0"/>
              <a:t>accessed or modified</a:t>
            </a:r>
            <a:r>
              <a:rPr lang="en-US" sz="2000" dirty="0"/>
              <a:t>.</a:t>
            </a:r>
          </a:p>
          <a:p>
            <a:pPr marL="0" indent="0">
              <a:buNone/>
            </a:pPr>
            <a:r>
              <a:rPr lang="en-US" sz="2000" dirty="0"/>
              <a:t>Only </a:t>
            </a:r>
            <a:r>
              <a:rPr lang="en-US" sz="2000" b="1" dirty="0"/>
              <a:t>one process/thread</a:t>
            </a:r>
            <a:r>
              <a:rPr lang="en-US" sz="2000" dirty="0"/>
              <a:t> should be in its critical section at a time.</a:t>
            </a:r>
          </a:p>
          <a:p>
            <a:pPr marL="0" indent="0">
              <a:buNone/>
            </a:pPr>
            <a:r>
              <a:rPr lang="en-US" sz="2000" dirty="0"/>
              <a:t>Why?</a:t>
            </a:r>
          </a:p>
          <a:p>
            <a:pPr marL="0" indent="0">
              <a:buNone/>
            </a:pPr>
            <a:r>
              <a:rPr lang="en-US" sz="2000" dirty="0"/>
              <a:t>When multiple processes access shared resources (files, memory, databases) at the same time without coordination, it can cause data inconsistency, lost updates, and system corruption. This issue—called the </a:t>
            </a:r>
            <a:r>
              <a:rPr lang="en-US" sz="2000" i="1" dirty="0"/>
              <a:t>critical section problem</a:t>
            </a:r>
            <a:r>
              <a:rPr lang="en-US" sz="2000" dirty="0"/>
              <a:t>—occurs in all concurrent systems. Proper synchronization is essential to ensure safe and reliable execution.</a:t>
            </a:r>
          </a:p>
          <a:p>
            <a:pPr marL="0" indent="0">
              <a:buNone/>
            </a:pPr>
            <a:r>
              <a:rPr lang="en-IN" sz="2000" b="1" dirty="0"/>
              <a:t>Example:</a:t>
            </a:r>
            <a:endParaRPr lang="en-US" sz="2000" b="1" dirty="0"/>
          </a:p>
          <a:p>
            <a:pPr marL="0" indent="0">
              <a:buNone/>
            </a:pPr>
            <a:r>
              <a:rPr lang="en-US" sz="2000" dirty="0"/>
              <a:t>In a bank account system, the balance is ₹10,000.</a:t>
            </a:r>
            <a:br>
              <a:rPr lang="en-US" sz="2000" dirty="0"/>
            </a:br>
            <a:r>
              <a:rPr lang="en-US" sz="2000" dirty="0"/>
              <a:t>Two transactions occur simultaneously:</a:t>
            </a:r>
          </a:p>
          <a:p>
            <a:r>
              <a:rPr lang="en-US" sz="2000" dirty="0"/>
              <a:t>Process A withdraws ₹2,000</a:t>
            </a:r>
          </a:p>
          <a:p>
            <a:r>
              <a:rPr lang="en-US" sz="2000" dirty="0"/>
              <a:t>Process B deposits ₹1,000</a:t>
            </a:r>
          </a:p>
          <a:p>
            <a:r>
              <a:rPr lang="en-US" sz="2000" dirty="0"/>
              <a:t>If updates are not synchronized, the final balance may be incorrect (e.g., still ₹10,000).</a:t>
            </a:r>
            <a:br>
              <a:rPr lang="en-US" sz="2000" dirty="0"/>
            </a:br>
            <a:r>
              <a:rPr lang="en-US" sz="2000" dirty="0"/>
              <a:t>With proper synchronization, the correct balance becomes </a:t>
            </a:r>
            <a:r>
              <a:rPr lang="en-US" sz="2000" b="1" dirty="0"/>
              <a:t>₹9,000</a:t>
            </a:r>
            <a:r>
              <a:rPr lang="en-US" sz="2000" dirty="0"/>
              <a:t>, ensuring data consistency.</a:t>
            </a:r>
          </a:p>
          <a:p>
            <a:pPr marL="0" indent="0">
              <a:buNone/>
            </a:pPr>
            <a:endParaRPr lang="en-IN" sz="2000" dirty="0"/>
          </a:p>
        </p:txBody>
      </p:sp>
    </p:spTree>
    <p:extLst>
      <p:ext uri="{BB962C8B-B14F-4D97-AF65-F5344CB8AC3E}">
        <p14:creationId xmlns:p14="http://schemas.microsoft.com/office/powerpoint/2010/main" val="2077704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3B92D-D89C-8238-0190-6D5129DAC651}"/>
              </a:ext>
            </a:extLst>
          </p:cNvPr>
          <p:cNvSpPr>
            <a:spLocks noGrp="1"/>
          </p:cNvSpPr>
          <p:nvPr>
            <p:ph type="title"/>
          </p:nvPr>
        </p:nvSpPr>
        <p:spPr>
          <a:xfrm>
            <a:off x="838200" y="365125"/>
            <a:ext cx="10515600" cy="788761"/>
          </a:xfrm>
        </p:spPr>
        <p:txBody>
          <a:bodyPr/>
          <a:lstStyle/>
          <a:p>
            <a:r>
              <a:rPr lang="en-US" b="1" dirty="0"/>
              <a:t>Race condition</a:t>
            </a:r>
            <a:endParaRPr lang="en-IN" dirty="0"/>
          </a:p>
        </p:txBody>
      </p:sp>
      <p:sp>
        <p:nvSpPr>
          <p:cNvPr id="3" name="Content Placeholder 2">
            <a:extLst>
              <a:ext uri="{FF2B5EF4-FFF2-40B4-BE49-F238E27FC236}">
                <a16:creationId xmlns:a16="http://schemas.microsoft.com/office/drawing/2014/main" id="{A376F2BC-E9FA-6E52-D86C-8571B0458E50}"/>
              </a:ext>
            </a:extLst>
          </p:cNvPr>
          <p:cNvSpPr>
            <a:spLocks noGrp="1"/>
          </p:cNvSpPr>
          <p:nvPr>
            <p:ph idx="1"/>
          </p:nvPr>
        </p:nvSpPr>
        <p:spPr>
          <a:xfrm>
            <a:off x="696686" y="1317171"/>
            <a:ext cx="10657114" cy="4859792"/>
          </a:xfrm>
        </p:spPr>
        <p:txBody>
          <a:bodyPr/>
          <a:lstStyle/>
          <a:p>
            <a:pPr marL="0" indent="0">
              <a:buNone/>
            </a:pPr>
            <a:r>
              <a:rPr lang="en-US" sz="2000" dirty="0"/>
              <a:t>In a multitasking system, </a:t>
            </a:r>
            <a:r>
              <a:rPr lang="en-US" sz="2000" b="1" dirty="0"/>
              <a:t>shared data</a:t>
            </a:r>
            <a:r>
              <a:rPr lang="en-US" sz="2000" dirty="0"/>
              <a:t> means information like variables, files, or database records that </a:t>
            </a:r>
            <a:r>
              <a:rPr lang="en-US" sz="2000" b="1" dirty="0"/>
              <a:t>more than one process can use</a:t>
            </a:r>
            <a:r>
              <a:rPr lang="en-US" sz="2000" dirty="0"/>
              <a:t>.</a:t>
            </a:r>
          </a:p>
          <a:p>
            <a:pPr marL="0" indent="0">
              <a:buNone/>
            </a:pPr>
            <a:r>
              <a:rPr lang="en-US" sz="2000" dirty="0"/>
              <a:t>A </a:t>
            </a:r>
            <a:r>
              <a:rPr lang="en-US" sz="2000" b="1" dirty="0"/>
              <a:t>process</a:t>
            </a:r>
            <a:r>
              <a:rPr lang="en-US" sz="2000" dirty="0"/>
              <a:t> is a running program. Many processes can run </a:t>
            </a:r>
            <a:r>
              <a:rPr lang="en-US" sz="2000" b="1" dirty="0"/>
              <a:t>at the same time</a:t>
            </a:r>
            <a:r>
              <a:rPr lang="en-US" sz="2000" dirty="0"/>
              <a:t> in the system.</a:t>
            </a:r>
          </a:p>
          <a:p>
            <a:pPr marL="0" indent="0">
              <a:buNone/>
            </a:pPr>
            <a:r>
              <a:rPr lang="en-US" sz="2000" dirty="0"/>
              <a:t>When two or more processes try to </a:t>
            </a:r>
            <a:r>
              <a:rPr lang="en-US" sz="2000" b="1" dirty="0"/>
              <a:t>read or change the same shared data at the same time</a:t>
            </a:r>
            <a:r>
              <a:rPr lang="en-US" sz="2000" dirty="0"/>
              <a:t>, it is called </a:t>
            </a:r>
            <a:r>
              <a:rPr lang="en-US" sz="2000" b="1" dirty="0"/>
              <a:t>concurrent access</a:t>
            </a:r>
            <a:r>
              <a:rPr lang="en-US" sz="2000" dirty="0"/>
              <a:t>.</a:t>
            </a:r>
          </a:p>
          <a:p>
            <a:pPr marL="0" indent="0">
              <a:buNone/>
            </a:pPr>
            <a:br>
              <a:rPr lang="en-US" sz="2000" dirty="0"/>
            </a:br>
            <a:r>
              <a:rPr lang="en-US" sz="2000" dirty="0"/>
              <a:t>This can cause a </a:t>
            </a:r>
            <a:r>
              <a:rPr lang="en-US" sz="2000" b="1" dirty="0"/>
              <a:t>race condition</a:t>
            </a:r>
            <a:r>
              <a:rPr lang="en-US" sz="2000" dirty="0"/>
              <a:t>, where the </a:t>
            </a:r>
            <a:r>
              <a:rPr lang="en-US" sz="2000" b="1" dirty="0"/>
              <a:t>final result depends on which process runs first</a:t>
            </a:r>
            <a:r>
              <a:rPr lang="en-US" sz="2000" dirty="0"/>
              <a:t>. Because of this, the result may be </a:t>
            </a:r>
            <a:r>
              <a:rPr lang="en-US" sz="2000" b="1" dirty="0"/>
              <a:t>wrong or unpredictable</a:t>
            </a:r>
            <a:r>
              <a:rPr lang="en-US" sz="2000" dirty="0"/>
              <a:t>.</a:t>
            </a:r>
          </a:p>
          <a:p>
            <a:pPr marL="0" indent="0">
              <a:buNone/>
            </a:pPr>
            <a:endParaRPr lang="en-US" sz="2000" dirty="0"/>
          </a:p>
          <a:p>
            <a:pPr marL="0" indent="0">
              <a:buNone/>
            </a:pPr>
            <a:r>
              <a:rPr lang="en-US" b="1" dirty="0"/>
              <a:t>Race Condition:</a:t>
            </a:r>
            <a:br>
              <a:rPr lang="en-US" dirty="0"/>
            </a:br>
            <a:r>
              <a:rPr lang="en-US" sz="2400" b="1" i="1" dirty="0"/>
              <a:t>When two processes access shared data at the same time and the result depends on execution order.</a:t>
            </a:r>
            <a:endParaRPr lang="en-IN" sz="2400" b="1" dirty="0"/>
          </a:p>
        </p:txBody>
      </p:sp>
    </p:spTree>
    <p:extLst>
      <p:ext uri="{BB962C8B-B14F-4D97-AF65-F5344CB8AC3E}">
        <p14:creationId xmlns:p14="http://schemas.microsoft.com/office/powerpoint/2010/main" val="2910212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F3A848-4F9B-814C-4798-1455A73D08A3}"/>
              </a:ext>
            </a:extLst>
          </p:cNvPr>
          <p:cNvSpPr txBox="1"/>
          <p:nvPr/>
        </p:nvSpPr>
        <p:spPr>
          <a:xfrm>
            <a:off x="598714" y="250371"/>
            <a:ext cx="5769430" cy="3416320"/>
          </a:xfrm>
          <a:prstGeom prst="rect">
            <a:avLst/>
          </a:prstGeom>
          <a:noFill/>
        </p:spPr>
        <p:txBody>
          <a:bodyPr wrap="square">
            <a:spAutoFit/>
          </a:bodyPr>
          <a:lstStyle/>
          <a:p>
            <a:pPr>
              <a:buNone/>
            </a:pPr>
            <a:r>
              <a:rPr lang="en-US" b="1" dirty="0"/>
              <a:t>Bank Example of Race Condition</a:t>
            </a:r>
          </a:p>
          <a:p>
            <a:pPr>
              <a:buNone/>
            </a:pPr>
            <a:r>
              <a:rPr lang="en-US" b="1" dirty="0"/>
              <a:t>Scenario</a:t>
            </a:r>
          </a:p>
          <a:p>
            <a:pPr>
              <a:buNone/>
            </a:pPr>
            <a:r>
              <a:rPr lang="en-US" dirty="0"/>
              <a:t>A bank account has a balance of </a:t>
            </a:r>
            <a:r>
              <a:rPr lang="en-US" b="1" dirty="0"/>
              <a:t>₹1000</a:t>
            </a:r>
            <a:r>
              <a:rPr lang="en-US" dirty="0"/>
              <a:t>.</a:t>
            </a:r>
            <a:br>
              <a:rPr lang="en-US" dirty="0"/>
            </a:br>
            <a:r>
              <a:rPr lang="en-US" dirty="0"/>
              <a:t>Two processes access the same account </a:t>
            </a:r>
            <a:r>
              <a:rPr lang="en-US" b="1" dirty="0"/>
              <a:t>at the same time</a:t>
            </a:r>
            <a:r>
              <a:rPr lang="en-US" dirty="0"/>
              <a:t>.</a:t>
            </a:r>
          </a:p>
          <a:p>
            <a:pPr>
              <a:buFont typeface="Arial" panose="020B0604020202020204" pitchFamily="34" charset="0"/>
              <a:buChar char="•"/>
            </a:pPr>
            <a:r>
              <a:rPr lang="en-US" b="1" dirty="0"/>
              <a:t>Process A:</a:t>
            </a:r>
            <a:r>
              <a:rPr lang="en-US" dirty="0"/>
              <a:t> Deposit ₹100</a:t>
            </a:r>
          </a:p>
          <a:p>
            <a:pPr>
              <a:buFont typeface="Arial" panose="020B0604020202020204" pitchFamily="34" charset="0"/>
              <a:buChar char="•"/>
            </a:pPr>
            <a:r>
              <a:rPr lang="en-US" b="1" dirty="0"/>
              <a:t>Process B:</a:t>
            </a:r>
            <a:r>
              <a:rPr lang="en-US" dirty="0"/>
              <a:t> Withdraw ₹50</a:t>
            </a:r>
          </a:p>
          <a:p>
            <a:pPr>
              <a:buNone/>
            </a:pPr>
            <a:r>
              <a:rPr lang="en-US" b="1" dirty="0"/>
              <a:t>What Should Happen?</a:t>
            </a:r>
          </a:p>
          <a:p>
            <a:pPr>
              <a:buNone/>
            </a:pPr>
            <a:r>
              <a:rPr lang="en-US" dirty="0"/>
              <a:t>If operations run one after another:</a:t>
            </a:r>
          </a:p>
          <a:p>
            <a:pPr rtl="0">
              <a:buNone/>
            </a:pPr>
            <a:r>
              <a:rPr lang="en-US" dirty="0">
                <a:latin typeface="Courier New" panose="02070309020205020404" pitchFamily="49" charset="0"/>
              </a:rPr>
              <a:t>1000 + 100 − 50 = 1050</a:t>
            </a:r>
          </a:p>
          <a:p>
            <a:pPr>
              <a:buNone/>
            </a:pPr>
            <a:r>
              <a:rPr lang="en-US" dirty="0"/>
              <a:t>Final balance should be </a:t>
            </a:r>
            <a:r>
              <a:rPr lang="en-US" b="1" dirty="0"/>
              <a:t>₹1050</a:t>
            </a:r>
            <a:r>
              <a:rPr lang="en-US" dirty="0"/>
              <a:t>.</a:t>
            </a:r>
          </a:p>
          <a:p>
            <a:pPr>
              <a:buNone/>
            </a:pPr>
            <a:endParaRPr lang="en-US" dirty="0"/>
          </a:p>
          <a:p>
            <a:pPr>
              <a:buNone/>
            </a:pPr>
            <a:r>
              <a:rPr lang="en-US" b="1" dirty="0"/>
              <a:t>What Actually Happens (Race Condition)</a:t>
            </a:r>
          </a:p>
        </p:txBody>
      </p:sp>
      <p:graphicFrame>
        <p:nvGraphicFramePr>
          <p:cNvPr id="4" name="Table 3">
            <a:extLst>
              <a:ext uri="{FF2B5EF4-FFF2-40B4-BE49-F238E27FC236}">
                <a16:creationId xmlns:a16="http://schemas.microsoft.com/office/drawing/2014/main" id="{14F6C686-4B17-32A1-8341-CEC388970AAB}"/>
              </a:ext>
            </a:extLst>
          </p:cNvPr>
          <p:cNvGraphicFramePr>
            <a:graphicFrameLocks noGrp="1"/>
          </p:cNvGraphicFramePr>
          <p:nvPr>
            <p:extLst>
              <p:ext uri="{D42A27DB-BD31-4B8C-83A1-F6EECF244321}">
                <p14:modId xmlns:p14="http://schemas.microsoft.com/office/powerpoint/2010/main" val="161655113"/>
              </p:ext>
            </p:extLst>
          </p:nvPr>
        </p:nvGraphicFramePr>
        <p:xfrm>
          <a:off x="598713" y="3744686"/>
          <a:ext cx="9024260" cy="2579913"/>
        </p:xfrm>
        <a:graphic>
          <a:graphicData uri="http://schemas.openxmlformats.org/drawingml/2006/table">
            <a:tbl>
              <a:tblPr/>
              <a:tblGrid>
                <a:gridCol w="2256065">
                  <a:extLst>
                    <a:ext uri="{9D8B030D-6E8A-4147-A177-3AD203B41FA5}">
                      <a16:colId xmlns:a16="http://schemas.microsoft.com/office/drawing/2014/main" val="3844766678"/>
                    </a:ext>
                  </a:extLst>
                </a:gridCol>
                <a:gridCol w="2256065">
                  <a:extLst>
                    <a:ext uri="{9D8B030D-6E8A-4147-A177-3AD203B41FA5}">
                      <a16:colId xmlns:a16="http://schemas.microsoft.com/office/drawing/2014/main" val="2574145536"/>
                    </a:ext>
                  </a:extLst>
                </a:gridCol>
                <a:gridCol w="2256065">
                  <a:extLst>
                    <a:ext uri="{9D8B030D-6E8A-4147-A177-3AD203B41FA5}">
                      <a16:colId xmlns:a16="http://schemas.microsoft.com/office/drawing/2014/main" val="2411653082"/>
                    </a:ext>
                  </a:extLst>
                </a:gridCol>
                <a:gridCol w="2256065">
                  <a:extLst>
                    <a:ext uri="{9D8B030D-6E8A-4147-A177-3AD203B41FA5}">
                      <a16:colId xmlns:a16="http://schemas.microsoft.com/office/drawing/2014/main" val="1771846289"/>
                    </a:ext>
                  </a:extLst>
                </a:gridCol>
              </a:tblGrid>
              <a:tr h="368559">
                <a:tc>
                  <a:txBody>
                    <a:bodyPr/>
                    <a:lstStyle/>
                    <a:p>
                      <a:pPr>
                        <a:buNone/>
                      </a:pPr>
                      <a:r>
                        <a:rPr lang="en-IN"/>
                        <a:t>Step</a:t>
                      </a:r>
                    </a:p>
                  </a:txBody>
                  <a:tcPr anchor="ctr">
                    <a:lnL>
                      <a:noFill/>
                    </a:lnL>
                    <a:lnR>
                      <a:noFill/>
                    </a:lnR>
                    <a:lnT>
                      <a:noFill/>
                    </a:lnT>
                    <a:lnB>
                      <a:noFill/>
                    </a:lnB>
                    <a:noFill/>
                  </a:tcPr>
                </a:tc>
                <a:tc>
                  <a:txBody>
                    <a:bodyPr/>
                    <a:lstStyle/>
                    <a:p>
                      <a:pPr>
                        <a:buNone/>
                      </a:pPr>
                      <a:r>
                        <a:rPr lang="en-IN"/>
                        <a:t>Process A</a:t>
                      </a:r>
                    </a:p>
                  </a:txBody>
                  <a:tcPr anchor="ctr">
                    <a:lnL>
                      <a:noFill/>
                    </a:lnL>
                    <a:lnR>
                      <a:noFill/>
                    </a:lnR>
                    <a:lnT>
                      <a:noFill/>
                    </a:lnT>
                    <a:lnB>
                      <a:noFill/>
                    </a:lnB>
                    <a:noFill/>
                  </a:tcPr>
                </a:tc>
                <a:tc>
                  <a:txBody>
                    <a:bodyPr/>
                    <a:lstStyle/>
                    <a:p>
                      <a:pPr>
                        <a:buNone/>
                      </a:pPr>
                      <a:r>
                        <a:rPr lang="en-IN"/>
                        <a:t>Process B</a:t>
                      </a:r>
                    </a:p>
                  </a:txBody>
                  <a:tcPr anchor="ctr">
                    <a:lnL>
                      <a:noFill/>
                    </a:lnL>
                    <a:lnR>
                      <a:noFill/>
                    </a:lnR>
                    <a:lnT>
                      <a:noFill/>
                    </a:lnT>
                    <a:lnB>
                      <a:noFill/>
                    </a:lnB>
                    <a:noFill/>
                  </a:tcPr>
                </a:tc>
                <a:tc>
                  <a:txBody>
                    <a:bodyPr/>
                    <a:lstStyle/>
                    <a:p>
                      <a:pPr>
                        <a:buNone/>
                      </a:pPr>
                      <a:r>
                        <a:rPr lang="en-IN"/>
                        <a:t>Balance</a:t>
                      </a:r>
                    </a:p>
                  </a:txBody>
                  <a:tcPr anchor="ctr">
                    <a:lnL>
                      <a:noFill/>
                    </a:lnL>
                    <a:lnR>
                      <a:noFill/>
                    </a:lnR>
                    <a:lnT>
                      <a:noFill/>
                    </a:lnT>
                    <a:lnB>
                      <a:noFill/>
                    </a:lnB>
                    <a:noFill/>
                  </a:tcPr>
                </a:tc>
                <a:extLst>
                  <a:ext uri="{0D108BD9-81ED-4DB2-BD59-A6C34878D82A}">
                    <a16:rowId xmlns:a16="http://schemas.microsoft.com/office/drawing/2014/main" val="3615414163"/>
                  </a:ext>
                </a:extLst>
              </a:tr>
              <a:tr h="368559">
                <a:tc>
                  <a:txBody>
                    <a:bodyPr/>
                    <a:lstStyle/>
                    <a:p>
                      <a:pPr>
                        <a:buNone/>
                      </a:pPr>
                      <a:r>
                        <a:rPr lang="en-IN"/>
                        <a:t>1</a:t>
                      </a:r>
                    </a:p>
                  </a:txBody>
                  <a:tcPr anchor="ctr">
                    <a:lnL>
                      <a:noFill/>
                    </a:lnL>
                    <a:lnR>
                      <a:noFill/>
                    </a:lnR>
                    <a:lnT>
                      <a:noFill/>
                    </a:lnT>
                    <a:lnB>
                      <a:noFill/>
                    </a:lnB>
                    <a:noFill/>
                  </a:tcPr>
                </a:tc>
                <a:tc>
                  <a:txBody>
                    <a:bodyPr/>
                    <a:lstStyle/>
                    <a:p>
                      <a:pPr>
                        <a:buNone/>
                      </a:pPr>
                      <a:r>
                        <a:rPr lang="en-IN"/>
                        <a:t>Read balance (1000)</a:t>
                      </a:r>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r>
                        <a:rPr lang="en-IN"/>
                        <a:t>1000</a:t>
                      </a:r>
                    </a:p>
                  </a:txBody>
                  <a:tcPr anchor="ctr">
                    <a:lnL>
                      <a:noFill/>
                    </a:lnL>
                    <a:lnR>
                      <a:noFill/>
                    </a:lnR>
                    <a:lnT>
                      <a:noFill/>
                    </a:lnT>
                    <a:lnB>
                      <a:noFill/>
                    </a:lnB>
                    <a:noFill/>
                  </a:tcPr>
                </a:tc>
                <a:extLst>
                  <a:ext uri="{0D108BD9-81ED-4DB2-BD59-A6C34878D82A}">
                    <a16:rowId xmlns:a16="http://schemas.microsoft.com/office/drawing/2014/main" val="3364906804"/>
                  </a:ext>
                </a:extLst>
              </a:tr>
              <a:tr h="368559">
                <a:tc>
                  <a:txBody>
                    <a:bodyPr/>
                    <a:lstStyle/>
                    <a:p>
                      <a:pPr>
                        <a:buNone/>
                      </a:pPr>
                      <a:r>
                        <a:rPr lang="en-IN" dirty="0"/>
                        <a:t>2</a:t>
                      </a:r>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r>
                        <a:rPr lang="en-IN"/>
                        <a:t>Read balance (1000)</a:t>
                      </a:r>
                    </a:p>
                  </a:txBody>
                  <a:tcPr anchor="ctr">
                    <a:lnL>
                      <a:noFill/>
                    </a:lnL>
                    <a:lnR>
                      <a:noFill/>
                    </a:lnR>
                    <a:lnT>
                      <a:noFill/>
                    </a:lnT>
                    <a:lnB>
                      <a:noFill/>
                    </a:lnB>
                    <a:noFill/>
                  </a:tcPr>
                </a:tc>
                <a:tc>
                  <a:txBody>
                    <a:bodyPr/>
                    <a:lstStyle/>
                    <a:p>
                      <a:pPr>
                        <a:buNone/>
                      </a:pPr>
                      <a:r>
                        <a:rPr lang="en-IN"/>
                        <a:t>1000</a:t>
                      </a:r>
                    </a:p>
                  </a:txBody>
                  <a:tcPr anchor="ctr">
                    <a:lnL>
                      <a:noFill/>
                    </a:lnL>
                    <a:lnR>
                      <a:noFill/>
                    </a:lnR>
                    <a:lnT>
                      <a:noFill/>
                    </a:lnT>
                    <a:lnB>
                      <a:noFill/>
                    </a:lnB>
                    <a:noFill/>
                  </a:tcPr>
                </a:tc>
                <a:extLst>
                  <a:ext uri="{0D108BD9-81ED-4DB2-BD59-A6C34878D82A}">
                    <a16:rowId xmlns:a16="http://schemas.microsoft.com/office/drawing/2014/main" val="1767651943"/>
                  </a:ext>
                </a:extLst>
              </a:tr>
              <a:tr h="368559">
                <a:tc>
                  <a:txBody>
                    <a:bodyPr/>
                    <a:lstStyle/>
                    <a:p>
                      <a:pPr>
                        <a:buNone/>
                      </a:pPr>
                      <a:r>
                        <a:rPr lang="en-IN"/>
                        <a:t>3</a:t>
                      </a:r>
                    </a:p>
                  </a:txBody>
                  <a:tcPr anchor="ctr">
                    <a:lnL>
                      <a:noFill/>
                    </a:lnL>
                    <a:lnR>
                      <a:noFill/>
                    </a:lnR>
                    <a:lnT>
                      <a:noFill/>
                    </a:lnT>
                    <a:lnB>
                      <a:noFill/>
                    </a:lnB>
                    <a:noFill/>
                  </a:tcPr>
                </a:tc>
                <a:tc>
                  <a:txBody>
                    <a:bodyPr/>
                    <a:lstStyle/>
                    <a:p>
                      <a:pPr>
                        <a:buNone/>
                      </a:pPr>
                      <a:r>
                        <a:rPr lang="en-IN"/>
                        <a:t>Add ₹100 → 1100</a:t>
                      </a:r>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1063189049"/>
                  </a:ext>
                </a:extLst>
              </a:tr>
              <a:tr h="368559">
                <a:tc>
                  <a:txBody>
                    <a:bodyPr/>
                    <a:lstStyle/>
                    <a:p>
                      <a:pPr>
                        <a:buNone/>
                      </a:pPr>
                      <a:r>
                        <a:rPr lang="en-IN"/>
                        <a:t>4</a:t>
                      </a:r>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r>
                        <a:rPr lang="en-IN"/>
                        <a:t>Subtract ₹50 → 950</a:t>
                      </a:r>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extLst>
                  <a:ext uri="{0D108BD9-81ED-4DB2-BD59-A6C34878D82A}">
                    <a16:rowId xmlns:a16="http://schemas.microsoft.com/office/drawing/2014/main" val="431474760"/>
                  </a:ext>
                </a:extLst>
              </a:tr>
              <a:tr h="368559">
                <a:tc>
                  <a:txBody>
                    <a:bodyPr/>
                    <a:lstStyle/>
                    <a:p>
                      <a:pPr>
                        <a:buNone/>
                      </a:pPr>
                      <a:r>
                        <a:rPr lang="en-IN"/>
                        <a:t>5</a:t>
                      </a:r>
                    </a:p>
                  </a:txBody>
                  <a:tcPr anchor="ctr">
                    <a:lnL>
                      <a:noFill/>
                    </a:lnL>
                    <a:lnR>
                      <a:noFill/>
                    </a:lnR>
                    <a:lnT>
                      <a:noFill/>
                    </a:lnT>
                    <a:lnB>
                      <a:noFill/>
                    </a:lnB>
                    <a:noFill/>
                  </a:tcPr>
                </a:tc>
                <a:tc>
                  <a:txBody>
                    <a:bodyPr/>
                    <a:lstStyle/>
                    <a:p>
                      <a:pPr>
                        <a:buNone/>
                      </a:pPr>
                      <a:r>
                        <a:rPr lang="en-IN"/>
                        <a:t>Write 1100</a:t>
                      </a:r>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r>
                        <a:rPr lang="en-IN"/>
                        <a:t>1100</a:t>
                      </a:r>
                    </a:p>
                  </a:txBody>
                  <a:tcPr anchor="ctr">
                    <a:lnL>
                      <a:noFill/>
                    </a:lnL>
                    <a:lnR>
                      <a:noFill/>
                    </a:lnR>
                    <a:lnT>
                      <a:noFill/>
                    </a:lnT>
                    <a:lnB>
                      <a:noFill/>
                    </a:lnB>
                    <a:noFill/>
                  </a:tcPr>
                </a:tc>
                <a:extLst>
                  <a:ext uri="{0D108BD9-81ED-4DB2-BD59-A6C34878D82A}">
                    <a16:rowId xmlns:a16="http://schemas.microsoft.com/office/drawing/2014/main" val="4213726862"/>
                  </a:ext>
                </a:extLst>
              </a:tr>
              <a:tr h="368559">
                <a:tc>
                  <a:txBody>
                    <a:bodyPr/>
                    <a:lstStyle/>
                    <a:p>
                      <a:pPr>
                        <a:buNone/>
                      </a:pPr>
                      <a:r>
                        <a:rPr lang="en-IN"/>
                        <a:t>6</a:t>
                      </a:r>
                    </a:p>
                  </a:txBody>
                  <a:tcPr anchor="ctr">
                    <a:lnL>
                      <a:noFill/>
                    </a:lnL>
                    <a:lnR>
                      <a:noFill/>
                    </a:lnR>
                    <a:lnT>
                      <a:noFill/>
                    </a:lnT>
                    <a:lnB>
                      <a:noFill/>
                    </a:lnB>
                    <a:noFill/>
                  </a:tcPr>
                </a:tc>
                <a:tc>
                  <a:txBody>
                    <a:bodyPr/>
                    <a:lstStyle/>
                    <a:p>
                      <a:pPr>
                        <a:buNone/>
                      </a:pPr>
                      <a:endParaRPr lang="en-IN"/>
                    </a:p>
                  </a:txBody>
                  <a:tcPr anchor="ctr">
                    <a:lnL>
                      <a:noFill/>
                    </a:lnL>
                    <a:lnR>
                      <a:noFill/>
                    </a:lnR>
                    <a:lnT>
                      <a:noFill/>
                    </a:lnT>
                    <a:lnB>
                      <a:noFill/>
                    </a:lnB>
                    <a:noFill/>
                  </a:tcPr>
                </a:tc>
                <a:tc>
                  <a:txBody>
                    <a:bodyPr/>
                    <a:lstStyle/>
                    <a:p>
                      <a:pPr>
                        <a:buNone/>
                      </a:pPr>
                      <a:r>
                        <a:rPr lang="en-IN"/>
                        <a:t>Write 950</a:t>
                      </a:r>
                    </a:p>
                  </a:txBody>
                  <a:tcPr anchor="ctr">
                    <a:lnL>
                      <a:noFill/>
                    </a:lnL>
                    <a:lnR>
                      <a:noFill/>
                    </a:lnR>
                    <a:lnT>
                      <a:noFill/>
                    </a:lnT>
                    <a:lnB>
                      <a:noFill/>
                    </a:lnB>
                    <a:noFill/>
                  </a:tcPr>
                </a:tc>
                <a:tc>
                  <a:txBody>
                    <a:bodyPr/>
                    <a:lstStyle/>
                    <a:p>
                      <a:pPr>
                        <a:buNone/>
                      </a:pPr>
                      <a:r>
                        <a:rPr lang="en-IN" b="1" dirty="0"/>
                        <a:t>950</a:t>
                      </a:r>
                      <a:endParaRPr lang="en-IN" dirty="0"/>
                    </a:p>
                  </a:txBody>
                  <a:tcPr anchor="ctr">
                    <a:lnL>
                      <a:noFill/>
                    </a:lnL>
                    <a:lnR>
                      <a:noFill/>
                    </a:lnR>
                    <a:lnT>
                      <a:noFill/>
                    </a:lnT>
                    <a:lnB>
                      <a:noFill/>
                    </a:lnB>
                    <a:noFill/>
                  </a:tcPr>
                </a:tc>
                <a:extLst>
                  <a:ext uri="{0D108BD9-81ED-4DB2-BD59-A6C34878D82A}">
                    <a16:rowId xmlns:a16="http://schemas.microsoft.com/office/drawing/2014/main" val="3559105432"/>
                  </a:ext>
                </a:extLst>
              </a:tr>
            </a:tbl>
          </a:graphicData>
        </a:graphic>
      </p:graphicFrame>
      <p:sp>
        <p:nvSpPr>
          <p:cNvPr id="6" name="TextBox 5">
            <a:extLst>
              <a:ext uri="{FF2B5EF4-FFF2-40B4-BE49-F238E27FC236}">
                <a16:creationId xmlns:a16="http://schemas.microsoft.com/office/drawing/2014/main" id="{E765AF62-C99B-DFFB-632F-372B9E247EAF}"/>
              </a:ext>
            </a:extLst>
          </p:cNvPr>
          <p:cNvSpPr txBox="1"/>
          <p:nvPr/>
        </p:nvSpPr>
        <p:spPr>
          <a:xfrm>
            <a:off x="6596742" y="424543"/>
            <a:ext cx="4865915" cy="2308324"/>
          </a:xfrm>
          <a:prstGeom prst="rect">
            <a:avLst/>
          </a:prstGeom>
          <a:noFill/>
        </p:spPr>
        <p:txBody>
          <a:bodyPr wrap="square">
            <a:spAutoFit/>
          </a:bodyPr>
          <a:lstStyle/>
          <a:p>
            <a:pPr>
              <a:buNone/>
            </a:pPr>
            <a:r>
              <a:rPr lang="en-US" b="1" dirty="0"/>
              <a:t>Final Balance = ₹950 </a:t>
            </a:r>
          </a:p>
          <a:p>
            <a:pPr>
              <a:buNone/>
            </a:pPr>
            <a:r>
              <a:rPr lang="en-US" dirty="0"/>
              <a:t>The deposit of </a:t>
            </a:r>
            <a:r>
              <a:rPr lang="en-US" b="1" dirty="0"/>
              <a:t>₹100 is lost</a:t>
            </a:r>
            <a:r>
              <a:rPr lang="en-US" dirty="0"/>
              <a:t>.</a:t>
            </a:r>
          </a:p>
          <a:p>
            <a:pPr>
              <a:buNone/>
            </a:pPr>
            <a:br>
              <a:rPr lang="en-US" dirty="0"/>
            </a:br>
            <a:endParaRPr lang="en-US" dirty="0"/>
          </a:p>
          <a:p>
            <a:pPr>
              <a:buNone/>
            </a:pPr>
            <a:r>
              <a:rPr lang="en-US" b="1" dirty="0"/>
              <a:t>Why This Happens</a:t>
            </a:r>
          </a:p>
          <a:p>
            <a:pPr>
              <a:buFont typeface="Arial" panose="020B0604020202020204" pitchFamily="34" charset="0"/>
              <a:buChar char="•"/>
            </a:pPr>
            <a:r>
              <a:rPr lang="en-US" dirty="0"/>
              <a:t>Both processes read the </a:t>
            </a:r>
            <a:r>
              <a:rPr lang="en-US" b="1" dirty="0"/>
              <a:t>same old balance</a:t>
            </a:r>
            <a:endParaRPr lang="en-US" dirty="0"/>
          </a:p>
          <a:p>
            <a:pPr>
              <a:buFont typeface="Arial" panose="020B0604020202020204" pitchFamily="34" charset="0"/>
              <a:buChar char="•"/>
            </a:pPr>
            <a:r>
              <a:rPr lang="en-US" dirty="0"/>
              <a:t>They update it </a:t>
            </a:r>
            <a:r>
              <a:rPr lang="en-US" b="1" dirty="0"/>
              <a:t>without coordination</a:t>
            </a:r>
            <a:endParaRPr lang="en-US" dirty="0"/>
          </a:p>
          <a:p>
            <a:pPr>
              <a:buFont typeface="Arial" panose="020B0604020202020204" pitchFamily="34" charset="0"/>
              <a:buChar char="•"/>
            </a:pPr>
            <a:r>
              <a:rPr lang="en-US" dirty="0"/>
              <a:t>The </a:t>
            </a:r>
            <a:r>
              <a:rPr lang="en-US" b="1" dirty="0"/>
              <a:t>last write overwrites</a:t>
            </a:r>
            <a:r>
              <a:rPr lang="en-US" dirty="0"/>
              <a:t> the earlier one</a:t>
            </a:r>
          </a:p>
        </p:txBody>
      </p:sp>
    </p:spTree>
    <p:extLst>
      <p:ext uri="{BB962C8B-B14F-4D97-AF65-F5344CB8AC3E}">
        <p14:creationId xmlns:p14="http://schemas.microsoft.com/office/powerpoint/2010/main" val="42246850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CD113-4AB1-21BE-0A50-AE7F924F512C}"/>
              </a:ext>
            </a:extLst>
          </p:cNvPr>
          <p:cNvSpPr>
            <a:spLocks noGrp="1"/>
          </p:cNvSpPr>
          <p:nvPr>
            <p:ph type="title"/>
          </p:nvPr>
        </p:nvSpPr>
        <p:spPr>
          <a:xfrm>
            <a:off x="566057" y="365126"/>
            <a:ext cx="10787743" cy="886732"/>
          </a:xfrm>
        </p:spPr>
        <p:txBody>
          <a:bodyPr>
            <a:normAutofit fontScale="90000"/>
          </a:bodyPr>
          <a:lstStyle/>
          <a:p>
            <a:r>
              <a:rPr lang="en-US" b="1" dirty="0"/>
              <a:t>Mutual Exclusion</a:t>
            </a:r>
            <a:br>
              <a:rPr lang="en-US" b="1" dirty="0"/>
            </a:br>
            <a:endParaRPr lang="en-IN" dirty="0"/>
          </a:p>
        </p:txBody>
      </p:sp>
      <p:sp>
        <p:nvSpPr>
          <p:cNvPr id="3" name="Content Placeholder 2">
            <a:extLst>
              <a:ext uri="{FF2B5EF4-FFF2-40B4-BE49-F238E27FC236}">
                <a16:creationId xmlns:a16="http://schemas.microsoft.com/office/drawing/2014/main" id="{E199DC1D-DB42-6FF5-A5BC-3D5A8BFA75D6}"/>
              </a:ext>
            </a:extLst>
          </p:cNvPr>
          <p:cNvSpPr>
            <a:spLocks noGrp="1"/>
          </p:cNvSpPr>
          <p:nvPr>
            <p:ph idx="1"/>
          </p:nvPr>
        </p:nvSpPr>
        <p:spPr>
          <a:xfrm>
            <a:off x="424543" y="1088571"/>
            <a:ext cx="10929257" cy="5088392"/>
          </a:xfrm>
        </p:spPr>
        <p:txBody>
          <a:bodyPr/>
          <a:lstStyle/>
          <a:p>
            <a:pPr marL="0" indent="0">
              <a:buNone/>
            </a:pPr>
            <a:r>
              <a:rPr lang="en-US" sz="2400" b="1" dirty="0"/>
              <a:t>Mutual Exclusion</a:t>
            </a:r>
            <a:r>
              <a:rPr lang="en-US" sz="2400" dirty="0"/>
              <a:t> ensures that:</a:t>
            </a:r>
          </a:p>
          <a:p>
            <a:pPr marL="0" indent="0">
              <a:buNone/>
            </a:pPr>
            <a:r>
              <a:rPr lang="en-US" sz="2400" b="1" dirty="0"/>
              <a:t>Only one process at a time</a:t>
            </a:r>
            <a:r>
              <a:rPr lang="en-US" sz="2400" dirty="0"/>
              <a:t> can execute in the critical section.</a:t>
            </a:r>
          </a:p>
          <a:p>
            <a:pPr marL="0" indent="0">
              <a:buNone/>
            </a:pPr>
            <a:r>
              <a:rPr lang="en-US" sz="2400" dirty="0"/>
              <a:t>To avoid the rare condition, a </a:t>
            </a:r>
            <a:r>
              <a:rPr lang="en-US" sz="2400" b="1" dirty="0"/>
              <a:t>critical section</a:t>
            </a:r>
            <a:r>
              <a:rPr lang="en-US" sz="2400" dirty="0"/>
              <a:t> is used.</a:t>
            </a:r>
            <a:br>
              <a:rPr lang="en-US" sz="2400" dirty="0"/>
            </a:br>
            <a:r>
              <a:rPr lang="en-US" sz="2400" dirty="0"/>
              <a:t>A critical section is a </a:t>
            </a:r>
            <a:r>
              <a:rPr lang="en-US" sz="2400" b="1" dirty="0"/>
              <a:t>part of the program where shared data is accessed</a:t>
            </a:r>
            <a:r>
              <a:rPr lang="en-US" sz="2400" dirty="0"/>
              <a:t>.</a:t>
            </a:r>
          </a:p>
          <a:p>
            <a:pPr marL="0" indent="0">
              <a:buNone/>
            </a:pPr>
            <a:r>
              <a:rPr lang="en-US" sz="2400" dirty="0"/>
              <a:t>Only </a:t>
            </a:r>
            <a:r>
              <a:rPr lang="en-US" sz="2400" b="1" dirty="0"/>
              <a:t>one process is allowed inside the critical section at a time</a:t>
            </a:r>
            <a:r>
              <a:rPr lang="en-US" sz="2400" dirty="0"/>
              <a:t>.</a:t>
            </a:r>
            <a:br>
              <a:rPr lang="en-US" sz="2400" dirty="0"/>
            </a:br>
            <a:r>
              <a:rPr lang="en-US" sz="2400" dirty="0"/>
              <a:t>This rule is called </a:t>
            </a:r>
            <a:r>
              <a:rPr lang="en-US" sz="2400" b="1" dirty="0"/>
              <a:t>mutual exclusion</a:t>
            </a:r>
            <a:r>
              <a:rPr lang="en-US" sz="2400" dirty="0"/>
              <a:t>.</a:t>
            </a:r>
          </a:p>
          <a:p>
            <a:pPr marL="0" indent="0">
              <a:buNone/>
            </a:pPr>
            <a:r>
              <a:rPr lang="en-US" sz="2400" b="1" dirty="0"/>
              <a:t>Mutual exclusion ensures safe and correct access to shared data</a:t>
            </a:r>
            <a:r>
              <a:rPr lang="en-US" sz="2400" dirty="0"/>
              <a:t> by allowing only one process to execute its critical section at any moment.</a:t>
            </a:r>
          </a:p>
          <a:p>
            <a:pPr marL="0" indent="0">
              <a:buNone/>
            </a:pPr>
            <a:r>
              <a:rPr lang="en-US" sz="2400" b="1" dirty="0"/>
              <a:t>Mutual Exclusion:</a:t>
            </a:r>
            <a:br>
              <a:rPr lang="en-US" sz="2400" b="1" dirty="0"/>
            </a:br>
            <a:r>
              <a:rPr lang="en-US" sz="2400" b="1" i="1" dirty="0"/>
              <a:t>A condition where only one process can execute its critical section at any time.</a:t>
            </a:r>
            <a:endParaRPr lang="en-US" sz="2400" b="1" dirty="0"/>
          </a:p>
          <a:p>
            <a:pPr marL="0" indent="0">
              <a:buNone/>
            </a:pPr>
            <a:endParaRPr lang="en-US" sz="2400" b="1" dirty="0"/>
          </a:p>
          <a:p>
            <a:endParaRPr lang="en-IN" dirty="0"/>
          </a:p>
        </p:txBody>
      </p:sp>
    </p:spTree>
    <p:extLst>
      <p:ext uri="{BB962C8B-B14F-4D97-AF65-F5344CB8AC3E}">
        <p14:creationId xmlns:p14="http://schemas.microsoft.com/office/powerpoint/2010/main" val="641921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BD3642-ADF3-C914-E274-B70046B644BD}"/>
              </a:ext>
            </a:extLst>
          </p:cNvPr>
          <p:cNvSpPr txBox="1"/>
          <p:nvPr/>
        </p:nvSpPr>
        <p:spPr>
          <a:xfrm>
            <a:off x="304799" y="217714"/>
            <a:ext cx="9546771" cy="1754326"/>
          </a:xfrm>
          <a:prstGeom prst="rect">
            <a:avLst/>
          </a:prstGeom>
          <a:noFill/>
        </p:spPr>
        <p:txBody>
          <a:bodyPr wrap="square">
            <a:spAutoFit/>
          </a:bodyPr>
          <a:lstStyle/>
          <a:p>
            <a:pPr>
              <a:buNone/>
            </a:pPr>
            <a:r>
              <a:rPr lang="en-US" b="1" dirty="0"/>
              <a:t>Solution : Mutual Exclusion</a:t>
            </a:r>
          </a:p>
          <a:p>
            <a:pPr>
              <a:buNone/>
            </a:pPr>
            <a:r>
              <a:rPr lang="en-US" b="1" dirty="0"/>
              <a:t>Mutual Exclusion</a:t>
            </a:r>
            <a:r>
              <a:rPr lang="en-US" dirty="0"/>
              <a:t> means </a:t>
            </a:r>
            <a:r>
              <a:rPr lang="en-US" b="1" dirty="0"/>
              <a:t>only one process is allowed to enter the critical section at a time</a:t>
            </a:r>
            <a:r>
              <a:rPr lang="en-US" dirty="0"/>
              <a:t>.</a:t>
            </a:r>
          </a:p>
          <a:p>
            <a:pPr>
              <a:buNone/>
            </a:pPr>
            <a:r>
              <a:rPr lang="en-US" dirty="0"/>
              <a:t>If </a:t>
            </a:r>
            <a:r>
              <a:rPr lang="en-US" b="1" dirty="0"/>
              <a:t>Process A</a:t>
            </a:r>
            <a:r>
              <a:rPr lang="en-US" dirty="0"/>
              <a:t> is using the shared data, </a:t>
            </a:r>
            <a:r>
              <a:rPr lang="en-US" b="1" dirty="0"/>
              <a:t>Process B must wait</a:t>
            </a:r>
            <a:r>
              <a:rPr lang="en-US" dirty="0"/>
              <a:t> until A finishes.</a:t>
            </a:r>
          </a:p>
          <a:p>
            <a:pPr>
              <a:buNone/>
            </a:pPr>
            <a:r>
              <a:rPr lang="en-US" dirty="0"/>
              <a:t>This prevents </a:t>
            </a:r>
            <a:r>
              <a:rPr lang="en-US" b="1" dirty="0"/>
              <a:t>wrong updates</a:t>
            </a:r>
            <a:r>
              <a:rPr lang="en-US" dirty="0"/>
              <a:t> to shared data.</a:t>
            </a:r>
          </a:p>
          <a:p>
            <a:r>
              <a:rPr lang="en-US" b="1" dirty="0"/>
              <a:t>Bank Example (Using Mutual Exclusion) :Initial Balance = ₹1000</a:t>
            </a:r>
          </a:p>
          <a:p>
            <a:pPr>
              <a:buNone/>
            </a:pPr>
            <a:endParaRPr lang="en-US" dirty="0"/>
          </a:p>
        </p:txBody>
      </p:sp>
      <p:graphicFrame>
        <p:nvGraphicFramePr>
          <p:cNvPr id="4" name="Table 3">
            <a:extLst>
              <a:ext uri="{FF2B5EF4-FFF2-40B4-BE49-F238E27FC236}">
                <a16:creationId xmlns:a16="http://schemas.microsoft.com/office/drawing/2014/main" id="{ABE19C58-2CB5-45FD-3947-616F07A11C0B}"/>
              </a:ext>
            </a:extLst>
          </p:cNvPr>
          <p:cNvGraphicFramePr>
            <a:graphicFrameLocks noGrp="1"/>
          </p:cNvGraphicFramePr>
          <p:nvPr>
            <p:extLst>
              <p:ext uri="{D42A27DB-BD31-4B8C-83A1-F6EECF244321}">
                <p14:modId xmlns:p14="http://schemas.microsoft.com/office/powerpoint/2010/main" val="3251418720"/>
              </p:ext>
            </p:extLst>
          </p:nvPr>
        </p:nvGraphicFramePr>
        <p:xfrm>
          <a:off x="402771" y="1926771"/>
          <a:ext cx="8088086" cy="4405872"/>
        </p:xfrm>
        <a:graphic>
          <a:graphicData uri="http://schemas.openxmlformats.org/drawingml/2006/table">
            <a:tbl>
              <a:tblPr/>
              <a:tblGrid>
                <a:gridCol w="4044043">
                  <a:extLst>
                    <a:ext uri="{9D8B030D-6E8A-4147-A177-3AD203B41FA5}">
                      <a16:colId xmlns:a16="http://schemas.microsoft.com/office/drawing/2014/main" val="727917304"/>
                    </a:ext>
                  </a:extLst>
                </a:gridCol>
                <a:gridCol w="4044043">
                  <a:extLst>
                    <a:ext uri="{9D8B030D-6E8A-4147-A177-3AD203B41FA5}">
                      <a16:colId xmlns:a16="http://schemas.microsoft.com/office/drawing/2014/main" val="3671403121"/>
                    </a:ext>
                  </a:extLst>
                </a:gridCol>
              </a:tblGrid>
              <a:tr h="367156">
                <a:tc>
                  <a:txBody>
                    <a:bodyPr/>
                    <a:lstStyle/>
                    <a:p>
                      <a:pPr>
                        <a:buNone/>
                      </a:pPr>
                      <a:r>
                        <a:rPr lang="en-IN" sz="1800"/>
                        <a:t>Time</a:t>
                      </a:r>
                    </a:p>
                  </a:txBody>
                  <a:tcPr marL="90653" marR="90653" marT="45326" marB="45326" anchor="ctr">
                    <a:lnL>
                      <a:noFill/>
                    </a:lnL>
                    <a:lnR>
                      <a:noFill/>
                    </a:lnR>
                    <a:lnT>
                      <a:noFill/>
                    </a:lnT>
                    <a:lnB>
                      <a:noFill/>
                    </a:lnB>
                    <a:noFill/>
                  </a:tcPr>
                </a:tc>
                <a:tc>
                  <a:txBody>
                    <a:bodyPr/>
                    <a:lstStyle/>
                    <a:p>
                      <a:pPr>
                        <a:buNone/>
                      </a:pPr>
                      <a:r>
                        <a:rPr lang="en-IN" sz="1800"/>
                        <a:t>What Happens</a:t>
                      </a:r>
                    </a:p>
                  </a:txBody>
                  <a:tcPr marL="90653" marR="90653" marT="45326" marB="45326" anchor="ctr">
                    <a:lnL>
                      <a:noFill/>
                    </a:lnL>
                    <a:lnR>
                      <a:noFill/>
                    </a:lnR>
                    <a:lnT>
                      <a:noFill/>
                    </a:lnT>
                    <a:lnB>
                      <a:noFill/>
                    </a:lnB>
                    <a:noFill/>
                  </a:tcPr>
                </a:tc>
                <a:extLst>
                  <a:ext uri="{0D108BD9-81ED-4DB2-BD59-A6C34878D82A}">
                    <a16:rowId xmlns:a16="http://schemas.microsoft.com/office/drawing/2014/main" val="3254006537"/>
                  </a:ext>
                </a:extLst>
              </a:tr>
              <a:tr h="367156">
                <a:tc>
                  <a:txBody>
                    <a:bodyPr/>
                    <a:lstStyle/>
                    <a:p>
                      <a:pPr>
                        <a:buNone/>
                      </a:pPr>
                      <a:r>
                        <a:rPr lang="en-IN" sz="1800"/>
                        <a:t>1</a:t>
                      </a:r>
                    </a:p>
                  </a:txBody>
                  <a:tcPr marL="90653" marR="90653" marT="45326" marB="45326" anchor="ctr">
                    <a:lnL>
                      <a:noFill/>
                    </a:lnL>
                    <a:lnR>
                      <a:noFill/>
                    </a:lnR>
                    <a:lnT>
                      <a:noFill/>
                    </a:lnT>
                    <a:lnB>
                      <a:noFill/>
                    </a:lnB>
                    <a:noFill/>
                  </a:tcPr>
                </a:tc>
                <a:tc>
                  <a:txBody>
                    <a:bodyPr/>
                    <a:lstStyle/>
                    <a:p>
                      <a:pPr>
                        <a:buNone/>
                      </a:pPr>
                      <a:r>
                        <a:rPr lang="en-US" sz="1800"/>
                        <a:t>Process A enters critical section</a:t>
                      </a:r>
                    </a:p>
                  </a:txBody>
                  <a:tcPr marL="90653" marR="90653" marT="45326" marB="45326" anchor="ctr">
                    <a:lnL>
                      <a:noFill/>
                    </a:lnL>
                    <a:lnR>
                      <a:noFill/>
                    </a:lnR>
                    <a:lnT>
                      <a:noFill/>
                    </a:lnT>
                    <a:lnB>
                      <a:noFill/>
                    </a:lnB>
                    <a:noFill/>
                  </a:tcPr>
                </a:tc>
                <a:extLst>
                  <a:ext uri="{0D108BD9-81ED-4DB2-BD59-A6C34878D82A}">
                    <a16:rowId xmlns:a16="http://schemas.microsoft.com/office/drawing/2014/main" val="3367618324"/>
                  </a:ext>
                </a:extLst>
              </a:tr>
              <a:tr h="367156">
                <a:tc>
                  <a:txBody>
                    <a:bodyPr/>
                    <a:lstStyle/>
                    <a:p>
                      <a:pPr>
                        <a:buNone/>
                      </a:pPr>
                      <a:r>
                        <a:rPr lang="en-IN" sz="1800" dirty="0"/>
                        <a:t>2</a:t>
                      </a:r>
                    </a:p>
                  </a:txBody>
                  <a:tcPr marL="90653" marR="90653" marT="45326" marB="45326" anchor="ctr">
                    <a:lnL>
                      <a:noFill/>
                    </a:lnL>
                    <a:lnR>
                      <a:noFill/>
                    </a:lnR>
                    <a:lnT>
                      <a:noFill/>
                    </a:lnT>
                    <a:lnB>
                      <a:noFill/>
                    </a:lnB>
                    <a:noFill/>
                  </a:tcPr>
                </a:tc>
                <a:tc>
                  <a:txBody>
                    <a:bodyPr/>
                    <a:lstStyle/>
                    <a:p>
                      <a:pPr>
                        <a:buNone/>
                      </a:pPr>
                      <a:r>
                        <a:rPr lang="en-US" sz="1800"/>
                        <a:t>Process B tries to enter but must wait</a:t>
                      </a:r>
                    </a:p>
                  </a:txBody>
                  <a:tcPr marL="90653" marR="90653" marT="45326" marB="45326" anchor="ctr">
                    <a:lnL>
                      <a:noFill/>
                    </a:lnL>
                    <a:lnR>
                      <a:noFill/>
                    </a:lnR>
                    <a:lnT>
                      <a:noFill/>
                    </a:lnT>
                    <a:lnB>
                      <a:noFill/>
                    </a:lnB>
                    <a:noFill/>
                  </a:tcPr>
                </a:tc>
                <a:extLst>
                  <a:ext uri="{0D108BD9-81ED-4DB2-BD59-A6C34878D82A}">
                    <a16:rowId xmlns:a16="http://schemas.microsoft.com/office/drawing/2014/main" val="408667894"/>
                  </a:ext>
                </a:extLst>
              </a:tr>
              <a:tr h="367156">
                <a:tc>
                  <a:txBody>
                    <a:bodyPr/>
                    <a:lstStyle/>
                    <a:p>
                      <a:pPr>
                        <a:buNone/>
                      </a:pPr>
                      <a:r>
                        <a:rPr lang="en-IN" sz="1800"/>
                        <a:t>3</a:t>
                      </a:r>
                    </a:p>
                  </a:txBody>
                  <a:tcPr marL="90653" marR="90653" marT="45326" marB="45326" anchor="ctr">
                    <a:lnL>
                      <a:noFill/>
                    </a:lnL>
                    <a:lnR>
                      <a:noFill/>
                    </a:lnR>
                    <a:lnT>
                      <a:noFill/>
                    </a:lnT>
                    <a:lnB>
                      <a:noFill/>
                    </a:lnB>
                    <a:noFill/>
                  </a:tcPr>
                </a:tc>
                <a:tc>
                  <a:txBody>
                    <a:bodyPr/>
                    <a:lstStyle/>
                    <a:p>
                      <a:pPr>
                        <a:buNone/>
                      </a:pPr>
                      <a:r>
                        <a:rPr lang="en-IN" sz="1800"/>
                        <a:t>A reads balance = 1000</a:t>
                      </a:r>
                    </a:p>
                  </a:txBody>
                  <a:tcPr marL="90653" marR="90653" marT="45326" marB="45326" anchor="ctr">
                    <a:lnL>
                      <a:noFill/>
                    </a:lnL>
                    <a:lnR>
                      <a:noFill/>
                    </a:lnR>
                    <a:lnT>
                      <a:noFill/>
                    </a:lnT>
                    <a:lnB>
                      <a:noFill/>
                    </a:lnB>
                    <a:noFill/>
                  </a:tcPr>
                </a:tc>
                <a:extLst>
                  <a:ext uri="{0D108BD9-81ED-4DB2-BD59-A6C34878D82A}">
                    <a16:rowId xmlns:a16="http://schemas.microsoft.com/office/drawing/2014/main" val="4013321371"/>
                  </a:ext>
                </a:extLst>
              </a:tr>
              <a:tr h="367156">
                <a:tc>
                  <a:txBody>
                    <a:bodyPr/>
                    <a:lstStyle/>
                    <a:p>
                      <a:pPr>
                        <a:buNone/>
                      </a:pPr>
                      <a:r>
                        <a:rPr lang="en-IN" sz="1800" dirty="0"/>
                        <a:t>4</a:t>
                      </a:r>
                    </a:p>
                  </a:txBody>
                  <a:tcPr marL="90653" marR="90653" marT="45326" marB="45326" anchor="ctr">
                    <a:lnL>
                      <a:noFill/>
                    </a:lnL>
                    <a:lnR>
                      <a:noFill/>
                    </a:lnR>
                    <a:lnT>
                      <a:noFill/>
                    </a:lnT>
                    <a:lnB>
                      <a:noFill/>
                    </a:lnB>
                    <a:noFill/>
                  </a:tcPr>
                </a:tc>
                <a:tc>
                  <a:txBody>
                    <a:bodyPr/>
                    <a:lstStyle/>
                    <a:p>
                      <a:pPr>
                        <a:buNone/>
                      </a:pPr>
                      <a:r>
                        <a:rPr lang="en-IN" sz="1800"/>
                        <a:t>A adds ₹100 → 1100</a:t>
                      </a:r>
                    </a:p>
                  </a:txBody>
                  <a:tcPr marL="90653" marR="90653" marT="45326" marB="45326" anchor="ctr">
                    <a:lnL>
                      <a:noFill/>
                    </a:lnL>
                    <a:lnR>
                      <a:noFill/>
                    </a:lnR>
                    <a:lnT>
                      <a:noFill/>
                    </a:lnT>
                    <a:lnB>
                      <a:noFill/>
                    </a:lnB>
                    <a:noFill/>
                  </a:tcPr>
                </a:tc>
                <a:extLst>
                  <a:ext uri="{0D108BD9-81ED-4DB2-BD59-A6C34878D82A}">
                    <a16:rowId xmlns:a16="http://schemas.microsoft.com/office/drawing/2014/main" val="2597526206"/>
                  </a:ext>
                </a:extLst>
              </a:tr>
              <a:tr h="367156">
                <a:tc>
                  <a:txBody>
                    <a:bodyPr/>
                    <a:lstStyle/>
                    <a:p>
                      <a:pPr>
                        <a:buNone/>
                      </a:pPr>
                      <a:r>
                        <a:rPr lang="en-IN" sz="1800"/>
                        <a:t>5</a:t>
                      </a:r>
                    </a:p>
                  </a:txBody>
                  <a:tcPr marL="90653" marR="90653" marT="45326" marB="45326" anchor="ctr">
                    <a:lnL>
                      <a:noFill/>
                    </a:lnL>
                    <a:lnR>
                      <a:noFill/>
                    </a:lnR>
                    <a:lnT>
                      <a:noFill/>
                    </a:lnT>
                    <a:lnB>
                      <a:noFill/>
                    </a:lnB>
                    <a:noFill/>
                  </a:tcPr>
                </a:tc>
                <a:tc>
                  <a:txBody>
                    <a:bodyPr/>
                    <a:lstStyle/>
                    <a:p>
                      <a:pPr>
                        <a:buNone/>
                      </a:pPr>
                      <a:r>
                        <a:rPr lang="en-IN" sz="1800"/>
                        <a:t>A writes balance = 1100</a:t>
                      </a:r>
                    </a:p>
                  </a:txBody>
                  <a:tcPr marL="90653" marR="90653" marT="45326" marB="45326" anchor="ctr">
                    <a:lnL>
                      <a:noFill/>
                    </a:lnL>
                    <a:lnR>
                      <a:noFill/>
                    </a:lnR>
                    <a:lnT>
                      <a:noFill/>
                    </a:lnT>
                    <a:lnB>
                      <a:noFill/>
                    </a:lnB>
                    <a:noFill/>
                  </a:tcPr>
                </a:tc>
                <a:extLst>
                  <a:ext uri="{0D108BD9-81ED-4DB2-BD59-A6C34878D82A}">
                    <a16:rowId xmlns:a16="http://schemas.microsoft.com/office/drawing/2014/main" val="3278307479"/>
                  </a:ext>
                </a:extLst>
              </a:tr>
              <a:tr h="367156">
                <a:tc>
                  <a:txBody>
                    <a:bodyPr/>
                    <a:lstStyle/>
                    <a:p>
                      <a:pPr>
                        <a:buNone/>
                      </a:pPr>
                      <a:r>
                        <a:rPr lang="en-IN" sz="1800"/>
                        <a:t>6</a:t>
                      </a:r>
                    </a:p>
                  </a:txBody>
                  <a:tcPr marL="90653" marR="90653" marT="45326" marB="45326" anchor="ctr">
                    <a:lnL>
                      <a:noFill/>
                    </a:lnL>
                    <a:lnR>
                      <a:noFill/>
                    </a:lnR>
                    <a:lnT>
                      <a:noFill/>
                    </a:lnT>
                    <a:lnB>
                      <a:noFill/>
                    </a:lnB>
                    <a:noFill/>
                  </a:tcPr>
                </a:tc>
                <a:tc>
                  <a:txBody>
                    <a:bodyPr/>
                    <a:lstStyle/>
                    <a:p>
                      <a:pPr>
                        <a:buNone/>
                      </a:pPr>
                      <a:r>
                        <a:rPr lang="en-IN" sz="1800"/>
                        <a:t>A exits critical section</a:t>
                      </a:r>
                    </a:p>
                  </a:txBody>
                  <a:tcPr marL="90653" marR="90653" marT="45326" marB="45326" anchor="ctr">
                    <a:lnL>
                      <a:noFill/>
                    </a:lnL>
                    <a:lnR>
                      <a:noFill/>
                    </a:lnR>
                    <a:lnT>
                      <a:noFill/>
                    </a:lnT>
                    <a:lnB>
                      <a:noFill/>
                    </a:lnB>
                    <a:noFill/>
                  </a:tcPr>
                </a:tc>
                <a:extLst>
                  <a:ext uri="{0D108BD9-81ED-4DB2-BD59-A6C34878D82A}">
                    <a16:rowId xmlns:a16="http://schemas.microsoft.com/office/drawing/2014/main" val="251371742"/>
                  </a:ext>
                </a:extLst>
              </a:tr>
              <a:tr h="367156">
                <a:tc>
                  <a:txBody>
                    <a:bodyPr/>
                    <a:lstStyle/>
                    <a:p>
                      <a:pPr>
                        <a:buNone/>
                      </a:pPr>
                      <a:r>
                        <a:rPr lang="en-IN" sz="1800"/>
                        <a:t>7</a:t>
                      </a:r>
                    </a:p>
                  </a:txBody>
                  <a:tcPr marL="90653" marR="90653" marT="45326" marB="45326" anchor="ctr">
                    <a:lnL>
                      <a:noFill/>
                    </a:lnL>
                    <a:lnR>
                      <a:noFill/>
                    </a:lnR>
                    <a:lnT>
                      <a:noFill/>
                    </a:lnT>
                    <a:lnB>
                      <a:noFill/>
                    </a:lnB>
                    <a:noFill/>
                  </a:tcPr>
                </a:tc>
                <a:tc>
                  <a:txBody>
                    <a:bodyPr/>
                    <a:lstStyle/>
                    <a:p>
                      <a:pPr>
                        <a:buNone/>
                      </a:pPr>
                      <a:r>
                        <a:rPr lang="en-US" sz="1800"/>
                        <a:t>Process B enters critical section</a:t>
                      </a:r>
                    </a:p>
                  </a:txBody>
                  <a:tcPr marL="90653" marR="90653" marT="45326" marB="45326" anchor="ctr">
                    <a:lnL>
                      <a:noFill/>
                    </a:lnL>
                    <a:lnR>
                      <a:noFill/>
                    </a:lnR>
                    <a:lnT>
                      <a:noFill/>
                    </a:lnT>
                    <a:lnB>
                      <a:noFill/>
                    </a:lnB>
                    <a:noFill/>
                  </a:tcPr>
                </a:tc>
                <a:extLst>
                  <a:ext uri="{0D108BD9-81ED-4DB2-BD59-A6C34878D82A}">
                    <a16:rowId xmlns:a16="http://schemas.microsoft.com/office/drawing/2014/main" val="2066101928"/>
                  </a:ext>
                </a:extLst>
              </a:tr>
              <a:tr h="367156">
                <a:tc>
                  <a:txBody>
                    <a:bodyPr/>
                    <a:lstStyle/>
                    <a:p>
                      <a:pPr>
                        <a:buNone/>
                      </a:pPr>
                      <a:r>
                        <a:rPr lang="en-IN" sz="1800"/>
                        <a:t>8</a:t>
                      </a:r>
                    </a:p>
                  </a:txBody>
                  <a:tcPr marL="90653" marR="90653" marT="45326" marB="45326" anchor="ctr">
                    <a:lnL>
                      <a:noFill/>
                    </a:lnL>
                    <a:lnR>
                      <a:noFill/>
                    </a:lnR>
                    <a:lnT>
                      <a:noFill/>
                    </a:lnT>
                    <a:lnB>
                      <a:noFill/>
                    </a:lnB>
                    <a:noFill/>
                  </a:tcPr>
                </a:tc>
                <a:tc>
                  <a:txBody>
                    <a:bodyPr/>
                    <a:lstStyle/>
                    <a:p>
                      <a:pPr>
                        <a:buNone/>
                      </a:pPr>
                      <a:r>
                        <a:rPr lang="en-IN" sz="1800"/>
                        <a:t>B reads balance = 1100</a:t>
                      </a:r>
                    </a:p>
                  </a:txBody>
                  <a:tcPr marL="90653" marR="90653" marT="45326" marB="45326" anchor="ctr">
                    <a:lnL>
                      <a:noFill/>
                    </a:lnL>
                    <a:lnR>
                      <a:noFill/>
                    </a:lnR>
                    <a:lnT>
                      <a:noFill/>
                    </a:lnT>
                    <a:lnB>
                      <a:noFill/>
                    </a:lnB>
                    <a:noFill/>
                  </a:tcPr>
                </a:tc>
                <a:extLst>
                  <a:ext uri="{0D108BD9-81ED-4DB2-BD59-A6C34878D82A}">
                    <a16:rowId xmlns:a16="http://schemas.microsoft.com/office/drawing/2014/main" val="1332707472"/>
                  </a:ext>
                </a:extLst>
              </a:tr>
              <a:tr h="367156">
                <a:tc>
                  <a:txBody>
                    <a:bodyPr/>
                    <a:lstStyle/>
                    <a:p>
                      <a:pPr>
                        <a:buNone/>
                      </a:pPr>
                      <a:r>
                        <a:rPr lang="en-IN" sz="1800"/>
                        <a:t>9</a:t>
                      </a:r>
                    </a:p>
                  </a:txBody>
                  <a:tcPr marL="90653" marR="90653" marT="45326" marB="45326" anchor="ctr">
                    <a:lnL>
                      <a:noFill/>
                    </a:lnL>
                    <a:lnR>
                      <a:noFill/>
                    </a:lnR>
                    <a:lnT>
                      <a:noFill/>
                    </a:lnT>
                    <a:lnB>
                      <a:noFill/>
                    </a:lnB>
                    <a:noFill/>
                  </a:tcPr>
                </a:tc>
                <a:tc>
                  <a:txBody>
                    <a:bodyPr/>
                    <a:lstStyle/>
                    <a:p>
                      <a:pPr>
                        <a:buNone/>
                      </a:pPr>
                      <a:r>
                        <a:rPr lang="en-IN" sz="1800"/>
                        <a:t>B subtracts ₹50 → 1050</a:t>
                      </a:r>
                    </a:p>
                  </a:txBody>
                  <a:tcPr marL="90653" marR="90653" marT="45326" marB="45326" anchor="ctr">
                    <a:lnL>
                      <a:noFill/>
                    </a:lnL>
                    <a:lnR>
                      <a:noFill/>
                    </a:lnR>
                    <a:lnT>
                      <a:noFill/>
                    </a:lnT>
                    <a:lnB>
                      <a:noFill/>
                    </a:lnB>
                    <a:noFill/>
                  </a:tcPr>
                </a:tc>
                <a:extLst>
                  <a:ext uri="{0D108BD9-81ED-4DB2-BD59-A6C34878D82A}">
                    <a16:rowId xmlns:a16="http://schemas.microsoft.com/office/drawing/2014/main" val="2736217591"/>
                  </a:ext>
                </a:extLst>
              </a:tr>
              <a:tr h="367156">
                <a:tc>
                  <a:txBody>
                    <a:bodyPr/>
                    <a:lstStyle/>
                    <a:p>
                      <a:pPr>
                        <a:buNone/>
                      </a:pPr>
                      <a:r>
                        <a:rPr lang="en-IN" sz="1800"/>
                        <a:t>10</a:t>
                      </a:r>
                    </a:p>
                  </a:txBody>
                  <a:tcPr marL="90653" marR="90653" marT="45326" marB="45326" anchor="ctr">
                    <a:lnL>
                      <a:noFill/>
                    </a:lnL>
                    <a:lnR>
                      <a:noFill/>
                    </a:lnR>
                    <a:lnT>
                      <a:noFill/>
                    </a:lnT>
                    <a:lnB>
                      <a:noFill/>
                    </a:lnB>
                    <a:noFill/>
                  </a:tcPr>
                </a:tc>
                <a:tc>
                  <a:txBody>
                    <a:bodyPr/>
                    <a:lstStyle/>
                    <a:p>
                      <a:pPr>
                        <a:buNone/>
                      </a:pPr>
                      <a:r>
                        <a:rPr lang="en-IN" sz="1800"/>
                        <a:t>B writes balance = 1050</a:t>
                      </a:r>
                    </a:p>
                  </a:txBody>
                  <a:tcPr marL="90653" marR="90653" marT="45326" marB="45326" anchor="ctr">
                    <a:lnL>
                      <a:noFill/>
                    </a:lnL>
                    <a:lnR>
                      <a:noFill/>
                    </a:lnR>
                    <a:lnT>
                      <a:noFill/>
                    </a:lnT>
                    <a:lnB>
                      <a:noFill/>
                    </a:lnB>
                    <a:noFill/>
                  </a:tcPr>
                </a:tc>
                <a:extLst>
                  <a:ext uri="{0D108BD9-81ED-4DB2-BD59-A6C34878D82A}">
                    <a16:rowId xmlns:a16="http://schemas.microsoft.com/office/drawing/2014/main" val="2434963906"/>
                  </a:ext>
                </a:extLst>
              </a:tr>
              <a:tr h="367156">
                <a:tc>
                  <a:txBody>
                    <a:bodyPr/>
                    <a:lstStyle/>
                    <a:p>
                      <a:pPr>
                        <a:buNone/>
                      </a:pPr>
                      <a:r>
                        <a:rPr lang="en-IN" sz="1800" dirty="0"/>
                        <a:t>11</a:t>
                      </a:r>
                    </a:p>
                  </a:txBody>
                  <a:tcPr marL="90653" marR="90653" marT="45326" marB="45326" anchor="ctr">
                    <a:lnL>
                      <a:noFill/>
                    </a:lnL>
                    <a:lnR>
                      <a:noFill/>
                    </a:lnR>
                    <a:lnT>
                      <a:noFill/>
                    </a:lnT>
                    <a:lnB>
                      <a:noFill/>
                    </a:lnB>
                    <a:noFill/>
                  </a:tcPr>
                </a:tc>
                <a:tc>
                  <a:txBody>
                    <a:bodyPr/>
                    <a:lstStyle/>
                    <a:p>
                      <a:pPr>
                        <a:buNone/>
                      </a:pPr>
                      <a:r>
                        <a:rPr lang="en-IN" sz="1800" dirty="0"/>
                        <a:t>B exits critical section</a:t>
                      </a:r>
                    </a:p>
                  </a:txBody>
                  <a:tcPr marL="90653" marR="90653" marT="45326" marB="45326" anchor="ctr">
                    <a:lnL>
                      <a:noFill/>
                    </a:lnL>
                    <a:lnR>
                      <a:noFill/>
                    </a:lnR>
                    <a:lnT>
                      <a:noFill/>
                    </a:lnT>
                    <a:lnB>
                      <a:noFill/>
                    </a:lnB>
                    <a:noFill/>
                  </a:tcPr>
                </a:tc>
                <a:extLst>
                  <a:ext uri="{0D108BD9-81ED-4DB2-BD59-A6C34878D82A}">
                    <a16:rowId xmlns:a16="http://schemas.microsoft.com/office/drawing/2014/main" val="2541862859"/>
                  </a:ext>
                </a:extLst>
              </a:tr>
            </a:tbl>
          </a:graphicData>
        </a:graphic>
      </p:graphicFrame>
      <p:sp>
        <p:nvSpPr>
          <p:cNvPr id="9" name="TextBox 8">
            <a:extLst>
              <a:ext uri="{FF2B5EF4-FFF2-40B4-BE49-F238E27FC236}">
                <a16:creationId xmlns:a16="http://schemas.microsoft.com/office/drawing/2014/main" id="{FEB0356B-A0D7-D7FC-8643-CEE2F59D7236}"/>
              </a:ext>
            </a:extLst>
          </p:cNvPr>
          <p:cNvSpPr txBox="1"/>
          <p:nvPr/>
        </p:nvSpPr>
        <p:spPr>
          <a:xfrm>
            <a:off x="7892143" y="3681097"/>
            <a:ext cx="4049486" cy="369332"/>
          </a:xfrm>
          <a:prstGeom prst="rect">
            <a:avLst/>
          </a:prstGeom>
          <a:noFill/>
        </p:spPr>
        <p:txBody>
          <a:bodyPr wrap="square">
            <a:spAutoFit/>
          </a:bodyPr>
          <a:lstStyle/>
          <a:p>
            <a:pPr>
              <a:buNone/>
            </a:pPr>
            <a:r>
              <a:rPr lang="en-IN" b="1" dirty="0"/>
              <a:t>Final Balance = ₹1050 ✅ (Correct)</a:t>
            </a:r>
          </a:p>
        </p:txBody>
      </p:sp>
    </p:spTree>
    <p:extLst>
      <p:ext uri="{BB962C8B-B14F-4D97-AF65-F5344CB8AC3E}">
        <p14:creationId xmlns:p14="http://schemas.microsoft.com/office/powerpoint/2010/main" val="2398847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5C318C-CEF0-693E-824E-25A3B1754247}"/>
              </a:ext>
            </a:extLst>
          </p:cNvPr>
          <p:cNvSpPr txBox="1"/>
          <p:nvPr/>
        </p:nvSpPr>
        <p:spPr>
          <a:xfrm>
            <a:off x="566057" y="261258"/>
            <a:ext cx="10276114" cy="5632311"/>
          </a:xfrm>
          <a:prstGeom prst="rect">
            <a:avLst/>
          </a:prstGeom>
          <a:noFill/>
        </p:spPr>
        <p:txBody>
          <a:bodyPr wrap="square">
            <a:spAutoFit/>
          </a:bodyPr>
          <a:lstStyle/>
          <a:p>
            <a:pPr algn="l">
              <a:buNone/>
            </a:pPr>
            <a:r>
              <a:rPr lang="en-US" b="1" i="0" dirty="0">
                <a:solidFill>
                  <a:srgbClr val="262626"/>
                </a:solidFill>
                <a:effectLst/>
                <a:latin typeface="DM Sans" pitchFamily="2" charset="0"/>
              </a:rPr>
              <a:t>General Critical Section Structure</a:t>
            </a:r>
          </a:p>
          <a:p>
            <a:pPr algn="l">
              <a:buNone/>
            </a:pPr>
            <a:endParaRPr lang="en-US" b="0" i="0" dirty="0">
              <a:solidFill>
                <a:srgbClr val="262626"/>
              </a:solidFill>
              <a:effectLst/>
              <a:latin typeface="DM Sans" pitchFamily="2" charset="0"/>
            </a:endParaRPr>
          </a:p>
          <a:p>
            <a:pPr algn="l">
              <a:buNone/>
            </a:pPr>
            <a:r>
              <a:rPr lang="en-US" b="0" i="0" dirty="0">
                <a:solidFill>
                  <a:srgbClr val="262626"/>
                </a:solidFill>
                <a:effectLst/>
                <a:latin typeface="DM Sans" pitchFamily="2" charset="0"/>
              </a:rPr>
              <a:t>Each process follows a repeating pattern with critical and non-critical sections:</a:t>
            </a:r>
          </a:p>
          <a:p>
            <a:pPr algn="l">
              <a:buNone/>
            </a:pPr>
            <a:endParaRPr lang="en-US" b="0" i="0" dirty="0">
              <a:solidFill>
                <a:srgbClr val="262626"/>
              </a:solidFill>
              <a:effectLst/>
              <a:latin typeface="DM Sans" pitchFamily="2" charset="0"/>
            </a:endParaRPr>
          </a:p>
          <a:p>
            <a:pPr algn="l" latinLnBrk="0">
              <a:buNone/>
            </a:pPr>
            <a:r>
              <a:rPr lang="en-US" i="0" dirty="0">
                <a:effectLst/>
                <a:latin typeface="SFMono-Regular"/>
              </a:rPr>
              <a:t>while (true) {</a:t>
            </a:r>
          </a:p>
          <a:p>
            <a:pPr algn="l" latinLnBrk="0">
              <a:buNone/>
            </a:pPr>
            <a:r>
              <a:rPr lang="en-US" i="0" dirty="0">
                <a:effectLst/>
                <a:latin typeface="SFMono-Regular"/>
              </a:rPr>
              <a:t>    </a:t>
            </a:r>
            <a:r>
              <a:rPr lang="en-US" i="0" dirty="0" err="1">
                <a:effectLst/>
                <a:latin typeface="SFMono-Regular"/>
              </a:rPr>
              <a:t>entry_code</a:t>
            </a:r>
            <a:r>
              <a:rPr lang="en-US" i="0" dirty="0">
                <a:effectLst/>
                <a:latin typeface="SFMono-Regular"/>
              </a:rPr>
              <a:t>();              // Ensure safe entry</a:t>
            </a:r>
          </a:p>
          <a:p>
            <a:pPr algn="l" latinLnBrk="0">
              <a:buNone/>
            </a:pPr>
            <a:r>
              <a:rPr lang="en-US" i="0" dirty="0">
                <a:effectLst/>
                <a:latin typeface="SFMono-Regular"/>
              </a:rPr>
              <a:t>    </a:t>
            </a:r>
          </a:p>
          <a:p>
            <a:pPr algn="l" latinLnBrk="0">
              <a:buNone/>
            </a:pPr>
            <a:r>
              <a:rPr lang="en-US" i="0" dirty="0">
                <a:effectLst/>
                <a:latin typeface="SFMono-Regular"/>
              </a:rPr>
              <a:t>    </a:t>
            </a:r>
            <a:r>
              <a:rPr lang="en-US" i="0" dirty="0" err="1">
                <a:effectLst/>
                <a:latin typeface="SFMono-Regular"/>
              </a:rPr>
              <a:t>critical_section</a:t>
            </a:r>
            <a:r>
              <a:rPr lang="en-US" i="0" dirty="0">
                <a:effectLst/>
                <a:latin typeface="SFMono-Regular"/>
              </a:rPr>
              <a:t>();        // Access shared data</a:t>
            </a:r>
          </a:p>
          <a:p>
            <a:pPr algn="l" latinLnBrk="0">
              <a:buNone/>
            </a:pPr>
            <a:r>
              <a:rPr lang="en-US" i="0" dirty="0">
                <a:effectLst/>
                <a:latin typeface="SFMono-Regular"/>
              </a:rPr>
              <a:t>                               // Only one process at a time</a:t>
            </a:r>
          </a:p>
          <a:p>
            <a:pPr algn="l" latinLnBrk="0">
              <a:buNone/>
            </a:pPr>
            <a:r>
              <a:rPr lang="en-US" i="0" dirty="0">
                <a:effectLst/>
                <a:latin typeface="SFMono-Regular"/>
              </a:rPr>
              <a:t>    </a:t>
            </a:r>
          </a:p>
          <a:p>
            <a:pPr algn="l" latinLnBrk="0">
              <a:buNone/>
            </a:pPr>
            <a:r>
              <a:rPr lang="en-US" i="0" dirty="0">
                <a:effectLst/>
                <a:latin typeface="SFMono-Regular"/>
              </a:rPr>
              <a:t>    </a:t>
            </a:r>
            <a:r>
              <a:rPr lang="en-US" i="0" dirty="0" err="1">
                <a:effectLst/>
                <a:latin typeface="SFMono-Regular"/>
              </a:rPr>
              <a:t>exit_code</a:t>
            </a:r>
            <a:r>
              <a:rPr lang="en-US" i="0" dirty="0">
                <a:effectLst/>
                <a:latin typeface="SFMono-Regular"/>
              </a:rPr>
              <a:t>();               // Release, allow others</a:t>
            </a:r>
          </a:p>
          <a:p>
            <a:pPr algn="l" latinLnBrk="0">
              <a:buNone/>
            </a:pPr>
            <a:r>
              <a:rPr lang="en-US" i="0" dirty="0">
                <a:effectLst/>
                <a:latin typeface="SFMono-Regular"/>
              </a:rPr>
              <a:t>    </a:t>
            </a:r>
          </a:p>
          <a:p>
            <a:pPr algn="l" latinLnBrk="0">
              <a:buNone/>
            </a:pPr>
            <a:r>
              <a:rPr lang="en-US" i="0" dirty="0">
                <a:effectLst/>
                <a:latin typeface="SFMono-Regular"/>
              </a:rPr>
              <a:t>    </a:t>
            </a:r>
            <a:r>
              <a:rPr lang="en-US" i="0" dirty="0" err="1">
                <a:effectLst/>
                <a:latin typeface="SFMono-Regular"/>
              </a:rPr>
              <a:t>non_critical_section</a:t>
            </a:r>
            <a:r>
              <a:rPr lang="en-US" i="0" dirty="0">
                <a:effectLst/>
                <a:latin typeface="SFMono-Regular"/>
              </a:rPr>
              <a:t>();    // Work on local data</a:t>
            </a:r>
          </a:p>
          <a:p>
            <a:pPr algn="l" latinLnBrk="0">
              <a:buNone/>
            </a:pPr>
            <a:r>
              <a:rPr lang="en-US" i="0" dirty="0">
                <a:effectLst/>
                <a:latin typeface="SFMono-Regular"/>
              </a:rPr>
              <a:t>}</a:t>
            </a:r>
          </a:p>
          <a:p>
            <a:pPr algn="l" latinLnBrk="0">
              <a:buNone/>
            </a:pPr>
            <a:endParaRPr lang="en-US" i="0" dirty="0">
              <a:effectLst/>
              <a:latin typeface="SFMono-Regular"/>
            </a:endParaRPr>
          </a:p>
          <a:p>
            <a:pPr algn="l">
              <a:buNone/>
            </a:pPr>
            <a:r>
              <a:rPr lang="en-US" b="1" i="0" dirty="0">
                <a:solidFill>
                  <a:srgbClr val="262626"/>
                </a:solidFill>
                <a:effectLst/>
                <a:latin typeface="DM Sans" pitchFamily="2" charset="0"/>
              </a:rPr>
              <a:t>Entry code:</a:t>
            </a:r>
            <a:r>
              <a:rPr lang="en-US" b="0" i="0" dirty="0">
                <a:solidFill>
                  <a:srgbClr val="262626"/>
                </a:solidFill>
                <a:effectLst/>
                <a:latin typeface="DM Sans" pitchFamily="2" charset="0"/>
              </a:rPr>
              <a:t> Ensures process can safely enter the critical section (prevents conflicts).</a:t>
            </a:r>
          </a:p>
          <a:p>
            <a:pPr algn="l">
              <a:buNone/>
            </a:pPr>
            <a:r>
              <a:rPr lang="en-US" b="1" i="0" dirty="0">
                <a:solidFill>
                  <a:srgbClr val="262626"/>
                </a:solidFill>
                <a:effectLst/>
                <a:latin typeface="DM Sans" pitchFamily="2" charset="0"/>
              </a:rPr>
              <a:t>Critical section:</a:t>
            </a:r>
            <a:r>
              <a:rPr lang="en-US" b="0" i="0" dirty="0">
                <a:solidFill>
                  <a:srgbClr val="262626"/>
                </a:solidFill>
                <a:effectLst/>
                <a:latin typeface="DM Sans" pitchFamily="2" charset="0"/>
              </a:rPr>
              <a:t> Accesses and modifies shared data; only one process at a time.</a:t>
            </a:r>
          </a:p>
          <a:p>
            <a:pPr algn="l">
              <a:buNone/>
            </a:pPr>
            <a:r>
              <a:rPr lang="en-US" b="1" i="0" dirty="0">
                <a:solidFill>
                  <a:srgbClr val="262626"/>
                </a:solidFill>
                <a:effectLst/>
                <a:latin typeface="DM Sans" pitchFamily="2" charset="0"/>
              </a:rPr>
              <a:t>Exit code:</a:t>
            </a:r>
            <a:r>
              <a:rPr lang="en-US" b="0" i="0" dirty="0">
                <a:solidFill>
                  <a:srgbClr val="262626"/>
                </a:solidFill>
                <a:effectLst/>
                <a:latin typeface="DM Sans" pitchFamily="2" charset="0"/>
              </a:rPr>
              <a:t> Releases the critical section and allows waiting processes to enter.</a:t>
            </a:r>
          </a:p>
          <a:p>
            <a:pPr algn="l">
              <a:buNone/>
            </a:pPr>
            <a:r>
              <a:rPr lang="en-US" b="1" i="0" dirty="0">
                <a:solidFill>
                  <a:srgbClr val="262626"/>
                </a:solidFill>
                <a:effectLst/>
                <a:latin typeface="DM Sans" pitchFamily="2" charset="0"/>
              </a:rPr>
              <a:t>Non-critical section:</a:t>
            </a:r>
            <a:r>
              <a:rPr lang="en-US" b="0" i="0" dirty="0">
                <a:solidFill>
                  <a:srgbClr val="262626"/>
                </a:solidFill>
                <a:effectLst/>
                <a:latin typeface="DM Sans" pitchFamily="2" charset="0"/>
              </a:rPr>
              <a:t> Process performs work that doesn't access shared data; other processes can execute concurrently here.</a:t>
            </a:r>
          </a:p>
        </p:txBody>
      </p:sp>
    </p:spTree>
    <p:extLst>
      <p:ext uri="{BB962C8B-B14F-4D97-AF65-F5344CB8AC3E}">
        <p14:creationId xmlns:p14="http://schemas.microsoft.com/office/powerpoint/2010/main" val="33654125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25BF3D-AB83-0EC5-E68D-C692505A43A2}"/>
              </a:ext>
            </a:extLst>
          </p:cNvPr>
          <p:cNvSpPr txBox="1"/>
          <p:nvPr/>
        </p:nvSpPr>
        <p:spPr>
          <a:xfrm>
            <a:off x="555171" y="391886"/>
            <a:ext cx="10341429" cy="6186309"/>
          </a:xfrm>
          <a:prstGeom prst="rect">
            <a:avLst/>
          </a:prstGeom>
          <a:noFill/>
        </p:spPr>
        <p:txBody>
          <a:bodyPr wrap="square">
            <a:spAutoFit/>
          </a:bodyPr>
          <a:lstStyle/>
          <a:p>
            <a:pPr algn="l">
              <a:buNone/>
            </a:pPr>
            <a:r>
              <a:rPr lang="en-US" b="1" i="0" dirty="0">
                <a:solidFill>
                  <a:srgbClr val="262626"/>
                </a:solidFill>
                <a:effectLst/>
                <a:latin typeface="DM Sans" pitchFamily="2" charset="0"/>
              </a:rPr>
              <a:t>Requirements for a Solution:</a:t>
            </a:r>
          </a:p>
          <a:p>
            <a:pPr algn="l">
              <a:buNone/>
            </a:pPr>
            <a:endParaRPr lang="en-US" b="0" i="0" dirty="0">
              <a:solidFill>
                <a:srgbClr val="262626"/>
              </a:solidFill>
              <a:effectLst/>
              <a:latin typeface="DM Sans" pitchFamily="2" charset="0"/>
            </a:endParaRPr>
          </a:p>
          <a:p>
            <a:pPr algn="l">
              <a:buNone/>
            </a:pPr>
            <a:r>
              <a:rPr lang="en-US" b="0" i="0" dirty="0">
                <a:solidFill>
                  <a:srgbClr val="262626"/>
                </a:solidFill>
                <a:effectLst/>
                <a:latin typeface="DM Sans" pitchFamily="2" charset="0"/>
              </a:rPr>
              <a:t>Beyond mutual exclusion, a complete solution must satisfy three distinct requirements. All three are necessary for a robust system.</a:t>
            </a:r>
          </a:p>
          <a:p>
            <a:pPr algn="l">
              <a:buNone/>
            </a:pPr>
            <a:endParaRPr lang="en-US" b="0" i="0" dirty="0">
              <a:solidFill>
                <a:srgbClr val="262626"/>
              </a:solidFill>
              <a:effectLst/>
              <a:latin typeface="DM Sans" pitchFamily="2" charset="0"/>
            </a:endParaRPr>
          </a:p>
          <a:p>
            <a:r>
              <a:rPr lang="en-US" dirty="0"/>
              <a:t>A correct critical section solution must satisfy </a:t>
            </a:r>
            <a:r>
              <a:rPr lang="en-US" b="1" dirty="0"/>
              <a:t>three conditions</a:t>
            </a:r>
            <a:r>
              <a:rPr lang="en-US" dirty="0"/>
              <a:t>:</a:t>
            </a:r>
          </a:p>
          <a:p>
            <a:endParaRPr lang="en-US" dirty="0"/>
          </a:p>
          <a:p>
            <a:r>
              <a:rPr lang="en-US" b="1" dirty="0"/>
              <a:t>Mutual Exclusion</a:t>
            </a:r>
            <a:endParaRPr lang="en-US" dirty="0"/>
          </a:p>
          <a:p>
            <a:pPr lvl="1"/>
            <a:r>
              <a:rPr lang="en-US" dirty="0"/>
              <a:t>No two processes in critical section at the same time</a:t>
            </a:r>
          </a:p>
          <a:p>
            <a:pPr lvl="1"/>
            <a:endParaRPr lang="en-US" dirty="0"/>
          </a:p>
          <a:p>
            <a:r>
              <a:rPr lang="en-US" b="1" dirty="0"/>
              <a:t>Progress</a:t>
            </a:r>
            <a:endParaRPr lang="en-US" dirty="0"/>
          </a:p>
          <a:p>
            <a:pPr lvl="1"/>
            <a:r>
              <a:rPr lang="en-US" dirty="0"/>
              <a:t>f no process is currently in its critical section, and some processes wish to enter, one of those waiting processes must be allowed to enter. The decision cannot be delayed indefinitely. This prevents unnecessary blocking and ensures critical section access is granted when available.</a:t>
            </a:r>
          </a:p>
          <a:p>
            <a:pPr lvl="1"/>
            <a:endParaRPr lang="en-US" dirty="0"/>
          </a:p>
          <a:p>
            <a:r>
              <a:rPr lang="en-US" b="1" dirty="0"/>
              <a:t>Bounded Waiting</a:t>
            </a:r>
            <a:endParaRPr lang="en-US" dirty="0"/>
          </a:p>
          <a:p>
            <a:pPr lvl="1"/>
            <a:r>
              <a:rPr lang="en-US" dirty="0"/>
              <a:t>No process should wait forever (no starvation)</a:t>
            </a:r>
          </a:p>
          <a:p>
            <a:pPr lvl="1"/>
            <a:endParaRPr lang="en-US" dirty="0"/>
          </a:p>
          <a:p>
            <a:pPr lvl="1"/>
            <a:r>
              <a:rPr lang="en-US" dirty="0"/>
              <a:t>When a process requests entry to the critical section, it must not wait indefinitely. There exists a bound—a maximum number of times other processes can enter before this process enters. This prevents starvation: a process waits fairly and is not bypassed infinitely by other processes.</a:t>
            </a:r>
          </a:p>
          <a:p>
            <a:pPr algn="l">
              <a:buNone/>
            </a:pPr>
            <a:endParaRPr lang="en-US" b="0" i="0" dirty="0">
              <a:solidFill>
                <a:srgbClr val="262626"/>
              </a:solidFill>
              <a:effectLst/>
              <a:latin typeface="DM Sans" pitchFamily="2" charset="0"/>
            </a:endParaRPr>
          </a:p>
        </p:txBody>
      </p:sp>
    </p:spTree>
    <p:extLst>
      <p:ext uri="{BB962C8B-B14F-4D97-AF65-F5344CB8AC3E}">
        <p14:creationId xmlns:p14="http://schemas.microsoft.com/office/powerpoint/2010/main" val="2223850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42C48-E612-038A-22FA-448FE539F68A}"/>
              </a:ext>
            </a:extLst>
          </p:cNvPr>
          <p:cNvSpPr>
            <a:spLocks noGrp="1"/>
          </p:cNvSpPr>
          <p:nvPr>
            <p:ph type="title"/>
          </p:nvPr>
        </p:nvSpPr>
        <p:spPr>
          <a:xfrm>
            <a:off x="533400" y="365125"/>
            <a:ext cx="10820400" cy="843189"/>
          </a:xfrm>
        </p:spPr>
        <p:txBody>
          <a:bodyPr>
            <a:normAutofit fontScale="90000"/>
          </a:bodyPr>
          <a:lstStyle/>
          <a:p>
            <a:r>
              <a:rPr lang="en-US" b="1" dirty="0"/>
              <a:t>Hardware Solution</a:t>
            </a:r>
            <a:br>
              <a:rPr lang="en-US" b="1" dirty="0"/>
            </a:br>
            <a:endParaRPr lang="en-IN" dirty="0"/>
          </a:p>
        </p:txBody>
      </p:sp>
      <p:sp>
        <p:nvSpPr>
          <p:cNvPr id="3" name="Content Placeholder 2">
            <a:extLst>
              <a:ext uri="{FF2B5EF4-FFF2-40B4-BE49-F238E27FC236}">
                <a16:creationId xmlns:a16="http://schemas.microsoft.com/office/drawing/2014/main" id="{BFD8E36C-A531-C726-4F74-54EB82FCD2EE}"/>
              </a:ext>
            </a:extLst>
          </p:cNvPr>
          <p:cNvSpPr>
            <a:spLocks noGrp="1"/>
          </p:cNvSpPr>
          <p:nvPr>
            <p:ph idx="1"/>
          </p:nvPr>
        </p:nvSpPr>
        <p:spPr>
          <a:xfrm>
            <a:off x="287383" y="905692"/>
            <a:ext cx="11608525" cy="5271272"/>
          </a:xfrm>
        </p:spPr>
        <p:txBody>
          <a:bodyPr>
            <a:normAutofit fontScale="85000" lnSpcReduction="20000"/>
          </a:bodyPr>
          <a:lstStyle/>
          <a:p>
            <a:pPr marL="0" indent="0">
              <a:buNone/>
            </a:pPr>
            <a:r>
              <a:rPr lang="en-US" sz="2400" b="1" dirty="0"/>
              <a:t>Hardware solutions</a:t>
            </a:r>
            <a:r>
              <a:rPr lang="en-US" sz="2400" dirty="0"/>
              <a:t> use </a:t>
            </a:r>
            <a:r>
              <a:rPr lang="en-US" sz="2400" b="1" dirty="0"/>
              <a:t>special CPU instructions</a:t>
            </a:r>
            <a:r>
              <a:rPr lang="en-US" sz="2400" dirty="0"/>
              <a:t> to control access to the critical section.</a:t>
            </a:r>
            <a:br>
              <a:rPr lang="en-US" sz="2400" dirty="0"/>
            </a:br>
            <a:r>
              <a:rPr lang="en-US" sz="2400" dirty="0"/>
              <a:t>These instructions are </a:t>
            </a:r>
            <a:r>
              <a:rPr lang="en-US" sz="2400" b="1" dirty="0"/>
              <a:t>atomic</a:t>
            </a:r>
            <a:r>
              <a:rPr lang="en-US" sz="2400" dirty="0"/>
              <a:t>, meaning they </a:t>
            </a:r>
            <a:r>
              <a:rPr lang="en-US" sz="2400" b="1" dirty="0"/>
              <a:t>cannot be interrupted</a:t>
            </a:r>
            <a:r>
              <a:rPr lang="en-US" sz="2400" dirty="0"/>
              <a:t>.</a:t>
            </a:r>
          </a:p>
          <a:p>
            <a:pPr marL="0" indent="0">
              <a:buNone/>
            </a:pPr>
            <a:r>
              <a:rPr lang="en-IN" sz="2000" b="1" dirty="0"/>
              <a:t>1)Disable Interrupts</a:t>
            </a:r>
          </a:p>
          <a:p>
            <a:pPr marL="0" indent="0">
              <a:buNone/>
            </a:pPr>
            <a:r>
              <a:rPr lang="en-IN" sz="2000" b="1" dirty="0"/>
              <a:t>Idea</a:t>
            </a:r>
          </a:p>
          <a:p>
            <a:r>
              <a:rPr lang="en-IN" sz="2000" dirty="0"/>
              <a:t>Disable interrupts before entering critical section</a:t>
            </a:r>
          </a:p>
          <a:p>
            <a:r>
              <a:rPr lang="en-IN" sz="2000" dirty="0"/>
              <a:t>Enable interrupts after leaving</a:t>
            </a:r>
          </a:p>
          <a:p>
            <a:pPr marL="0" indent="0">
              <a:buNone/>
            </a:pPr>
            <a:r>
              <a:rPr lang="en-US" sz="2000" b="1" dirty="0"/>
              <a:t>Disabling interrupts</a:t>
            </a:r>
            <a:r>
              <a:rPr lang="en-US" sz="2000" dirty="0"/>
              <a:t> means </a:t>
            </a:r>
            <a:r>
              <a:rPr lang="en-US" sz="2000" b="1" dirty="0"/>
              <a:t>temporarily stopping the CPU from responding to interrupt signals</a:t>
            </a:r>
            <a:r>
              <a:rPr lang="en-US" sz="2000" dirty="0"/>
              <a:t> (like timer, I/O, or keyboard interrupts).</a:t>
            </a:r>
            <a:br>
              <a:rPr lang="en-US" sz="2000" dirty="0"/>
            </a:br>
            <a:endParaRPr lang="en-IN" sz="2000" dirty="0"/>
          </a:p>
          <a:p>
            <a:pPr marL="0" indent="0">
              <a:buNone/>
            </a:pPr>
            <a:r>
              <a:rPr lang="en-IN" sz="2000" b="1" dirty="0"/>
              <a:t>Example</a:t>
            </a:r>
          </a:p>
          <a:p>
            <a:r>
              <a:rPr lang="en-IN" sz="2000" dirty="0" err="1"/>
              <a:t>disable_interrupts</a:t>
            </a:r>
            <a:r>
              <a:rPr lang="en-IN" sz="2000" dirty="0"/>
              <a:t>();</a:t>
            </a:r>
          </a:p>
          <a:p>
            <a:r>
              <a:rPr lang="en-IN" sz="2000" dirty="0" err="1"/>
              <a:t>critical_section</a:t>
            </a:r>
            <a:r>
              <a:rPr lang="en-IN" sz="2000" dirty="0"/>
              <a:t>();</a:t>
            </a:r>
          </a:p>
          <a:p>
            <a:r>
              <a:rPr lang="en-IN" sz="2000" dirty="0" err="1"/>
              <a:t>enable_interrupts</a:t>
            </a:r>
            <a:r>
              <a:rPr lang="en-IN" sz="2000" dirty="0"/>
              <a:t>();</a:t>
            </a:r>
          </a:p>
          <a:p>
            <a:pPr marL="0" indent="0">
              <a:buNone/>
            </a:pPr>
            <a:r>
              <a:rPr lang="en-US" sz="2000" b="1" dirty="0"/>
              <a:t>How It Works</a:t>
            </a:r>
          </a:p>
          <a:p>
            <a:r>
              <a:rPr lang="en-US" sz="2000" dirty="0"/>
              <a:t>CPU </a:t>
            </a:r>
            <a:r>
              <a:rPr lang="en-US" sz="2000" b="1" dirty="0"/>
              <a:t>disables interrupts</a:t>
            </a:r>
            <a:endParaRPr lang="en-US" sz="2000" dirty="0"/>
          </a:p>
          <a:p>
            <a:r>
              <a:rPr lang="en-US" sz="2000" dirty="0"/>
              <a:t>Process enters </a:t>
            </a:r>
            <a:r>
              <a:rPr lang="en-US" sz="2000" b="1" dirty="0"/>
              <a:t>critical section</a:t>
            </a:r>
            <a:endParaRPr lang="en-US" sz="2000" dirty="0"/>
          </a:p>
          <a:p>
            <a:r>
              <a:rPr lang="en-US" sz="2000" dirty="0"/>
              <a:t>Process finishes updating shared data</a:t>
            </a:r>
          </a:p>
          <a:p>
            <a:r>
              <a:rPr lang="en-US" sz="2000" dirty="0"/>
              <a:t>CPU </a:t>
            </a:r>
            <a:r>
              <a:rPr lang="en-US" sz="2000" b="1" dirty="0"/>
              <a:t>enables interrupts</a:t>
            </a:r>
            <a:r>
              <a:rPr lang="en-US" sz="2000" dirty="0"/>
              <a:t> again</a:t>
            </a:r>
          </a:p>
          <a:p>
            <a:endParaRPr lang="en-IN" sz="2000" dirty="0"/>
          </a:p>
          <a:p>
            <a:endParaRPr lang="en-IN" dirty="0"/>
          </a:p>
        </p:txBody>
      </p:sp>
      <p:sp>
        <p:nvSpPr>
          <p:cNvPr id="5" name="TextBox 4">
            <a:extLst>
              <a:ext uri="{FF2B5EF4-FFF2-40B4-BE49-F238E27FC236}">
                <a16:creationId xmlns:a16="http://schemas.microsoft.com/office/drawing/2014/main" id="{712989B2-C26E-6595-EFE6-86845D21C3D4}"/>
              </a:ext>
            </a:extLst>
          </p:cNvPr>
          <p:cNvSpPr txBox="1"/>
          <p:nvPr/>
        </p:nvSpPr>
        <p:spPr>
          <a:xfrm>
            <a:off x="5338354" y="3429000"/>
            <a:ext cx="6383383" cy="1477328"/>
          </a:xfrm>
          <a:prstGeom prst="rect">
            <a:avLst/>
          </a:prstGeom>
          <a:noFill/>
        </p:spPr>
        <p:txBody>
          <a:bodyPr wrap="square">
            <a:spAutoFit/>
          </a:bodyPr>
          <a:lstStyle/>
          <a:p>
            <a:pPr marL="0" indent="0">
              <a:buNone/>
            </a:pPr>
            <a:r>
              <a:rPr lang="en-US" sz="1800" b="1" dirty="0"/>
              <a:t>Why Is It Used?</a:t>
            </a:r>
          </a:p>
          <a:p>
            <a:r>
              <a:rPr lang="en-US" sz="1800" dirty="0"/>
              <a:t>It is used to </a:t>
            </a:r>
            <a:r>
              <a:rPr lang="en-US" sz="1800" b="1" dirty="0"/>
              <a:t>protect the critical section</a:t>
            </a:r>
            <a:r>
              <a:rPr lang="en-US" sz="1800" dirty="0"/>
              <a:t> so that:</a:t>
            </a:r>
          </a:p>
          <a:p>
            <a:r>
              <a:rPr lang="en-US" sz="1800" dirty="0"/>
              <a:t>The current process </a:t>
            </a:r>
            <a:r>
              <a:rPr lang="en-US" sz="1800" b="1" dirty="0"/>
              <a:t>cannot be interrupted</a:t>
            </a:r>
            <a:endParaRPr lang="en-US" sz="1800" dirty="0"/>
          </a:p>
          <a:p>
            <a:r>
              <a:rPr lang="en-US" sz="1800" dirty="0"/>
              <a:t>No other process can run while shared data is being accessed</a:t>
            </a:r>
          </a:p>
          <a:p>
            <a:r>
              <a:rPr lang="en-US" sz="1800" dirty="0"/>
              <a:t>This ensures </a:t>
            </a:r>
            <a:r>
              <a:rPr lang="en-US" sz="1800" b="1" dirty="0"/>
              <a:t>mutual exclusion</a:t>
            </a:r>
            <a:r>
              <a:rPr lang="en-US" sz="1800" dirty="0"/>
              <a:t>.</a:t>
            </a:r>
          </a:p>
        </p:txBody>
      </p:sp>
      <p:sp>
        <p:nvSpPr>
          <p:cNvPr id="7" name="TextBox 6">
            <a:extLst>
              <a:ext uri="{FF2B5EF4-FFF2-40B4-BE49-F238E27FC236}">
                <a16:creationId xmlns:a16="http://schemas.microsoft.com/office/drawing/2014/main" id="{D58099B8-AFFB-FFC6-2B09-F5D54436B36B}"/>
              </a:ext>
            </a:extLst>
          </p:cNvPr>
          <p:cNvSpPr txBox="1"/>
          <p:nvPr/>
        </p:nvSpPr>
        <p:spPr>
          <a:xfrm>
            <a:off x="5425439" y="5059680"/>
            <a:ext cx="4110447" cy="1200329"/>
          </a:xfrm>
          <a:prstGeom prst="rect">
            <a:avLst/>
          </a:prstGeom>
          <a:noFill/>
        </p:spPr>
        <p:txBody>
          <a:bodyPr wrap="square">
            <a:spAutoFit/>
          </a:bodyPr>
          <a:lstStyle/>
          <a:p>
            <a:pPr>
              <a:buNone/>
            </a:pPr>
            <a:r>
              <a:rPr lang="en-US" b="1" dirty="0"/>
              <a:t>Problems</a:t>
            </a:r>
          </a:p>
          <a:p>
            <a:pPr>
              <a:buNone/>
            </a:pPr>
            <a:r>
              <a:rPr lang="en-US" dirty="0"/>
              <a:t>Works only on </a:t>
            </a:r>
            <a:r>
              <a:rPr lang="en-US" b="1" dirty="0"/>
              <a:t>single CPU</a:t>
            </a:r>
            <a:br>
              <a:rPr lang="en-US" dirty="0"/>
            </a:br>
            <a:r>
              <a:rPr lang="en-US" dirty="0"/>
              <a:t>Dangerous (system may hang)</a:t>
            </a:r>
          </a:p>
          <a:p>
            <a:pPr>
              <a:buNone/>
            </a:pPr>
            <a:r>
              <a:rPr lang="en-US" dirty="0"/>
              <a:t> Not allowed for user programs</a:t>
            </a:r>
          </a:p>
        </p:txBody>
      </p:sp>
    </p:spTree>
    <p:extLst>
      <p:ext uri="{BB962C8B-B14F-4D97-AF65-F5344CB8AC3E}">
        <p14:creationId xmlns:p14="http://schemas.microsoft.com/office/powerpoint/2010/main" val="3324758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EB51B-B4C7-E949-4224-4F626F37740C}"/>
              </a:ext>
            </a:extLst>
          </p:cNvPr>
          <p:cNvSpPr>
            <a:spLocks noGrp="1"/>
          </p:cNvSpPr>
          <p:nvPr>
            <p:ph type="title"/>
          </p:nvPr>
        </p:nvSpPr>
        <p:spPr>
          <a:xfrm>
            <a:off x="694481" y="365126"/>
            <a:ext cx="10659319" cy="665022"/>
          </a:xfrm>
        </p:spPr>
        <p:txBody>
          <a:bodyPr>
            <a:normAutofit fontScale="90000"/>
          </a:bodyPr>
          <a:lstStyle/>
          <a:p>
            <a:r>
              <a:rPr lang="en-US" b="1" dirty="0"/>
              <a:t>Test-and-Set Instruction</a:t>
            </a:r>
            <a:br>
              <a:rPr lang="en-US" b="1" dirty="0"/>
            </a:br>
            <a:endParaRPr lang="en-IN" dirty="0"/>
          </a:p>
        </p:txBody>
      </p:sp>
      <p:sp>
        <p:nvSpPr>
          <p:cNvPr id="3" name="Content Placeholder 2">
            <a:extLst>
              <a:ext uri="{FF2B5EF4-FFF2-40B4-BE49-F238E27FC236}">
                <a16:creationId xmlns:a16="http://schemas.microsoft.com/office/drawing/2014/main" id="{2EF0A00E-A2DC-7BE4-211B-B3EE6AE47F07}"/>
              </a:ext>
            </a:extLst>
          </p:cNvPr>
          <p:cNvSpPr>
            <a:spLocks noGrp="1"/>
          </p:cNvSpPr>
          <p:nvPr>
            <p:ph idx="1"/>
          </p:nvPr>
        </p:nvSpPr>
        <p:spPr>
          <a:xfrm>
            <a:off x="405115" y="787078"/>
            <a:ext cx="10948686" cy="5389885"/>
          </a:xfrm>
        </p:spPr>
        <p:txBody>
          <a:bodyPr>
            <a:normAutofit fontScale="92500" lnSpcReduction="20000"/>
          </a:bodyPr>
          <a:lstStyle/>
          <a:p>
            <a:pPr marL="0" indent="0">
              <a:buNone/>
            </a:pPr>
            <a:r>
              <a:rPr lang="en-US" b="1" dirty="0"/>
              <a:t>Test-and-Set</a:t>
            </a:r>
            <a:r>
              <a:rPr lang="en-US" dirty="0"/>
              <a:t> is a </a:t>
            </a:r>
            <a:r>
              <a:rPr lang="en-US" b="1" dirty="0"/>
              <a:t>special hardware instruction</a:t>
            </a:r>
            <a:r>
              <a:rPr lang="en-US" dirty="0"/>
              <a:t> used to </a:t>
            </a:r>
            <a:r>
              <a:rPr lang="en-US" b="1" dirty="0"/>
              <a:t>implement mutual exclusion</a:t>
            </a:r>
            <a:r>
              <a:rPr lang="en-US" dirty="0"/>
              <a:t>.</a:t>
            </a:r>
          </a:p>
          <a:p>
            <a:pPr marL="0" indent="0">
              <a:buNone/>
            </a:pPr>
            <a:r>
              <a:rPr lang="en-US" dirty="0"/>
              <a:t>It performs </a:t>
            </a:r>
            <a:r>
              <a:rPr lang="en-US" b="1" dirty="0"/>
              <a:t>two operations in one single, atomic step</a:t>
            </a:r>
            <a:r>
              <a:rPr lang="en-US" dirty="0"/>
              <a:t>:</a:t>
            </a:r>
          </a:p>
          <a:p>
            <a:r>
              <a:rPr lang="en-US" b="1" dirty="0"/>
              <a:t>Tests</a:t>
            </a:r>
            <a:r>
              <a:rPr lang="en-US" dirty="0"/>
              <a:t> the value of a lock</a:t>
            </a:r>
          </a:p>
          <a:p>
            <a:r>
              <a:rPr lang="en-US" b="1" dirty="0"/>
              <a:t>Sets</a:t>
            </a:r>
            <a:r>
              <a:rPr lang="en-US" dirty="0"/>
              <a:t> the lock to true</a:t>
            </a:r>
          </a:p>
          <a:p>
            <a:pPr marL="0" indent="0">
              <a:buNone/>
            </a:pPr>
            <a:r>
              <a:rPr lang="en-US" dirty="0"/>
              <a:t>Because it is </a:t>
            </a:r>
            <a:r>
              <a:rPr lang="en-US" b="1" dirty="0"/>
              <a:t>atomic</a:t>
            </a:r>
            <a:r>
              <a:rPr lang="en-US" dirty="0"/>
              <a:t>, no other process can interrupt it.</a:t>
            </a:r>
          </a:p>
          <a:p>
            <a:pPr marL="0" indent="0">
              <a:buNone/>
            </a:pPr>
            <a:r>
              <a:rPr lang="en-US" b="1" dirty="0"/>
              <a:t>Purpose</a:t>
            </a:r>
          </a:p>
          <a:p>
            <a:r>
              <a:rPr lang="en-US" dirty="0"/>
              <a:t>To make sure that </a:t>
            </a:r>
            <a:r>
              <a:rPr lang="en-US" b="1" dirty="0"/>
              <a:t>only one process enters the critical section at a time</a:t>
            </a:r>
            <a:r>
              <a:rPr lang="en-US" dirty="0"/>
              <a:t>.</a:t>
            </a:r>
          </a:p>
          <a:p>
            <a:pPr marL="0" indent="0">
              <a:buNone/>
            </a:pPr>
            <a:r>
              <a:rPr lang="en-US" b="1" dirty="0"/>
              <a:t>Why Mutual Exclusion Is Guaranteed</a:t>
            </a:r>
          </a:p>
          <a:p>
            <a:r>
              <a:rPr lang="en-US" dirty="0"/>
              <a:t>Only </a:t>
            </a:r>
            <a:r>
              <a:rPr lang="en-US" b="1" dirty="0"/>
              <a:t>one process</a:t>
            </a:r>
            <a:r>
              <a:rPr lang="en-US" dirty="0"/>
              <a:t> can change the lock at a time</a:t>
            </a:r>
          </a:p>
          <a:p>
            <a:r>
              <a:rPr lang="en-US" dirty="0"/>
              <a:t>Others must </a:t>
            </a:r>
            <a:r>
              <a:rPr lang="en-US" b="1" dirty="0"/>
              <a:t>wait</a:t>
            </a:r>
            <a:r>
              <a:rPr lang="en-US" dirty="0"/>
              <a:t> until the lock becomes free</a:t>
            </a:r>
          </a:p>
          <a:p>
            <a:pPr marL="0" indent="0">
              <a:buNone/>
            </a:pPr>
            <a:r>
              <a:rPr lang="en-IN" b="1" dirty="0"/>
              <a:t>Disadvantages</a:t>
            </a:r>
          </a:p>
          <a:p>
            <a:pPr marL="0" indent="0">
              <a:buNone/>
            </a:pPr>
            <a:r>
              <a:rPr lang="en-IN" dirty="0"/>
              <a:t> Busy waiting (CPU waste)</a:t>
            </a:r>
            <a:br>
              <a:rPr lang="en-IN" dirty="0"/>
            </a:br>
            <a:r>
              <a:rPr lang="en-IN" dirty="0"/>
              <a:t>Starvation possible</a:t>
            </a:r>
          </a:p>
          <a:p>
            <a:endParaRPr lang="en-US" dirty="0"/>
          </a:p>
          <a:p>
            <a:pPr marL="0" indent="0">
              <a:buNone/>
            </a:pPr>
            <a:endParaRPr lang="en-US" dirty="0"/>
          </a:p>
          <a:p>
            <a:endParaRPr lang="en-IN" dirty="0"/>
          </a:p>
        </p:txBody>
      </p:sp>
    </p:spTree>
    <p:extLst>
      <p:ext uri="{BB962C8B-B14F-4D97-AF65-F5344CB8AC3E}">
        <p14:creationId xmlns:p14="http://schemas.microsoft.com/office/powerpoint/2010/main" val="28245486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A907D4-A716-4D0F-425B-8FB836DB0E60}"/>
              </a:ext>
            </a:extLst>
          </p:cNvPr>
          <p:cNvSpPr txBox="1"/>
          <p:nvPr/>
        </p:nvSpPr>
        <p:spPr>
          <a:xfrm>
            <a:off x="694481" y="347241"/>
            <a:ext cx="8446625" cy="6463308"/>
          </a:xfrm>
          <a:prstGeom prst="rect">
            <a:avLst/>
          </a:prstGeom>
          <a:noFill/>
        </p:spPr>
        <p:txBody>
          <a:bodyPr wrap="square">
            <a:spAutoFit/>
          </a:bodyPr>
          <a:lstStyle/>
          <a:p>
            <a:pPr marL="0" indent="0">
              <a:buNone/>
            </a:pPr>
            <a:r>
              <a:rPr lang="en-US" b="1" dirty="0"/>
              <a:t>How Test-and-Set Works</a:t>
            </a:r>
          </a:p>
          <a:p>
            <a:pPr marL="0" indent="0">
              <a:buNone/>
            </a:pPr>
            <a:r>
              <a:rPr lang="en-US" b="1" dirty="0"/>
              <a:t>Lock Variable</a:t>
            </a:r>
          </a:p>
          <a:p>
            <a:r>
              <a:rPr lang="en-US" dirty="0" err="1"/>
              <a:t>boolean</a:t>
            </a:r>
            <a:r>
              <a:rPr lang="en-US" dirty="0"/>
              <a:t> lock = false;   // false = free, true = busy</a:t>
            </a:r>
          </a:p>
          <a:p>
            <a:pPr marL="0" indent="0">
              <a:buNone/>
            </a:pPr>
            <a:r>
              <a:rPr lang="en-US" b="1" dirty="0"/>
              <a:t>Test-and-Set Function</a:t>
            </a:r>
          </a:p>
          <a:p>
            <a:pPr marL="0" indent="0">
              <a:buNone/>
            </a:pPr>
            <a:r>
              <a:rPr lang="en-US" dirty="0" err="1"/>
              <a:t>boolean</a:t>
            </a:r>
            <a:r>
              <a:rPr lang="en-US" dirty="0"/>
              <a:t> </a:t>
            </a:r>
            <a:r>
              <a:rPr lang="en-US" dirty="0" err="1"/>
              <a:t>TestAndSet</a:t>
            </a:r>
            <a:r>
              <a:rPr lang="en-US" dirty="0"/>
              <a:t>(</a:t>
            </a:r>
            <a:r>
              <a:rPr lang="en-US" dirty="0" err="1"/>
              <a:t>boolean</a:t>
            </a:r>
            <a:r>
              <a:rPr lang="en-US" dirty="0"/>
              <a:t> *lock) {</a:t>
            </a:r>
          </a:p>
          <a:p>
            <a:pPr marL="0" indent="0">
              <a:buNone/>
            </a:pPr>
            <a:r>
              <a:rPr lang="en-US" dirty="0"/>
              <a:t> </a:t>
            </a:r>
            <a:r>
              <a:rPr lang="en-US" dirty="0" err="1"/>
              <a:t>boolean</a:t>
            </a:r>
            <a:r>
              <a:rPr lang="en-US" dirty="0"/>
              <a:t> old = *lock;</a:t>
            </a:r>
          </a:p>
          <a:p>
            <a:pPr marL="0" indent="0">
              <a:buNone/>
            </a:pPr>
            <a:r>
              <a:rPr lang="en-US" dirty="0"/>
              <a:t>*lock = true;</a:t>
            </a:r>
          </a:p>
          <a:p>
            <a:pPr marL="0" indent="0">
              <a:buNone/>
            </a:pPr>
            <a:r>
              <a:rPr lang="en-US" dirty="0"/>
              <a:t>return old;</a:t>
            </a:r>
          </a:p>
          <a:p>
            <a:pPr marL="0" indent="0">
              <a:buNone/>
            </a:pPr>
            <a:endParaRPr lang="en-US" dirty="0"/>
          </a:p>
          <a:p>
            <a:pPr>
              <a:buNone/>
            </a:pPr>
            <a:r>
              <a:rPr lang="en-US" b="1" dirty="0"/>
              <a:t>What This Means</a:t>
            </a:r>
          </a:p>
          <a:p>
            <a:pPr>
              <a:buFont typeface="Arial" panose="020B0604020202020204" pitchFamily="34" charset="0"/>
              <a:buChar char="•"/>
            </a:pPr>
            <a:r>
              <a:rPr lang="en-US" dirty="0"/>
              <a:t>Saves the </a:t>
            </a:r>
            <a:r>
              <a:rPr lang="en-US" b="1" dirty="0"/>
              <a:t>old value</a:t>
            </a:r>
            <a:r>
              <a:rPr lang="en-US" dirty="0"/>
              <a:t> of </a:t>
            </a:r>
            <a:r>
              <a:rPr lang="en-US" dirty="0">
                <a:latin typeface="Courier New" panose="02070309020205020404" pitchFamily="49" charset="0"/>
              </a:rPr>
              <a:t>lock</a:t>
            </a:r>
            <a:endParaRPr lang="en-US" dirty="0"/>
          </a:p>
          <a:p>
            <a:pPr>
              <a:buFont typeface="Arial" panose="020B0604020202020204" pitchFamily="34" charset="0"/>
              <a:buChar char="•"/>
            </a:pPr>
            <a:r>
              <a:rPr lang="en-US" dirty="0"/>
              <a:t>Sets </a:t>
            </a:r>
            <a:r>
              <a:rPr lang="en-US" dirty="0">
                <a:latin typeface="Courier New" panose="02070309020205020404" pitchFamily="49" charset="0"/>
              </a:rPr>
              <a:t>lock = true</a:t>
            </a:r>
            <a:endParaRPr lang="en-US" dirty="0"/>
          </a:p>
          <a:p>
            <a:pPr>
              <a:buFont typeface="Arial" panose="020B0604020202020204" pitchFamily="34" charset="0"/>
              <a:buChar char="•"/>
            </a:pPr>
            <a:r>
              <a:rPr lang="en-US" dirty="0"/>
              <a:t>Returns the old value</a:t>
            </a:r>
          </a:p>
          <a:p>
            <a:endParaRPr lang="en-US" dirty="0"/>
          </a:p>
          <a:p>
            <a:pPr>
              <a:buNone/>
            </a:pPr>
            <a:r>
              <a:rPr lang="en-US" b="1" dirty="0"/>
              <a:t>Using Test-and-Set for Mutual Exclusion</a:t>
            </a:r>
          </a:p>
          <a:p>
            <a:r>
              <a:rPr lang="en-US" dirty="0">
                <a:latin typeface="Courier New" panose="02070309020205020404" pitchFamily="49" charset="0"/>
              </a:rPr>
              <a:t>while (</a:t>
            </a:r>
            <a:r>
              <a:rPr lang="en-US" dirty="0" err="1">
                <a:latin typeface="Courier New" panose="02070309020205020404" pitchFamily="49" charset="0"/>
              </a:rPr>
              <a:t>TestAndSet</a:t>
            </a:r>
            <a:r>
              <a:rPr lang="en-US" dirty="0">
                <a:latin typeface="Courier New" panose="02070309020205020404" pitchFamily="49" charset="0"/>
              </a:rPr>
              <a:t>(&amp;lock))</a:t>
            </a:r>
          </a:p>
          <a:p>
            <a:r>
              <a:rPr lang="en-US" dirty="0">
                <a:latin typeface="Courier New" panose="02070309020205020404" pitchFamily="49" charset="0"/>
              </a:rPr>
              <a:t>    ;   // busy waiting</a:t>
            </a:r>
          </a:p>
          <a:p>
            <a:endParaRPr lang="en-US" dirty="0">
              <a:latin typeface="Courier New" panose="02070309020205020404" pitchFamily="49" charset="0"/>
            </a:endParaRPr>
          </a:p>
          <a:p>
            <a:r>
              <a:rPr lang="en-US" dirty="0" err="1">
                <a:latin typeface="Courier New" panose="02070309020205020404" pitchFamily="49" charset="0"/>
              </a:rPr>
              <a:t>critical_section</a:t>
            </a:r>
            <a:r>
              <a:rPr lang="en-US" dirty="0">
                <a:latin typeface="Courier New" panose="02070309020205020404" pitchFamily="49" charset="0"/>
              </a:rPr>
              <a:t>();</a:t>
            </a:r>
          </a:p>
          <a:p>
            <a:endParaRPr lang="en-US" dirty="0">
              <a:latin typeface="Courier New" panose="02070309020205020404" pitchFamily="49" charset="0"/>
            </a:endParaRPr>
          </a:p>
          <a:p>
            <a:r>
              <a:rPr lang="en-US" dirty="0">
                <a:latin typeface="Courier New" panose="02070309020205020404" pitchFamily="49" charset="0"/>
              </a:rPr>
              <a:t>lock = false;  // release lock</a:t>
            </a:r>
          </a:p>
          <a:p>
            <a:endParaRPr lang="en-US" dirty="0"/>
          </a:p>
          <a:p>
            <a:pPr marL="0" indent="0">
              <a:buNone/>
            </a:pPr>
            <a:endParaRPr lang="en-US" dirty="0"/>
          </a:p>
        </p:txBody>
      </p:sp>
      <p:sp>
        <p:nvSpPr>
          <p:cNvPr id="5" name="TextBox 4">
            <a:extLst>
              <a:ext uri="{FF2B5EF4-FFF2-40B4-BE49-F238E27FC236}">
                <a16:creationId xmlns:a16="http://schemas.microsoft.com/office/drawing/2014/main" id="{ABCAEFCA-DD58-4203-4BC3-05830457EAC4}"/>
              </a:ext>
            </a:extLst>
          </p:cNvPr>
          <p:cNvSpPr txBox="1"/>
          <p:nvPr/>
        </p:nvSpPr>
        <p:spPr>
          <a:xfrm>
            <a:off x="6528122" y="347241"/>
            <a:ext cx="4606724" cy="4940210"/>
          </a:xfrm>
          <a:prstGeom prst="rect">
            <a:avLst/>
          </a:prstGeom>
          <a:noFill/>
        </p:spPr>
        <p:txBody>
          <a:bodyPr wrap="square">
            <a:spAutoFit/>
          </a:bodyPr>
          <a:lstStyle/>
          <a:p>
            <a:pPr>
              <a:buNone/>
            </a:pPr>
            <a:r>
              <a:rPr lang="en-US" b="1" dirty="0"/>
              <a:t>Step-by-Step Execution Example</a:t>
            </a:r>
          </a:p>
          <a:p>
            <a:pPr>
              <a:buNone/>
            </a:pPr>
            <a:r>
              <a:rPr lang="en-US" b="1" dirty="0"/>
              <a:t>Initial State</a:t>
            </a:r>
          </a:p>
          <a:p>
            <a:pPr rtl="0">
              <a:buNone/>
            </a:pPr>
            <a:r>
              <a:rPr lang="en-US" dirty="0">
                <a:latin typeface="Courier New" panose="02070309020205020404" pitchFamily="49" charset="0"/>
              </a:rPr>
              <a:t>lock = false</a:t>
            </a:r>
          </a:p>
          <a:p>
            <a:pPr>
              <a:buNone/>
            </a:pPr>
            <a:r>
              <a:rPr lang="en-US" b="1" dirty="0"/>
              <a:t>Process A</a:t>
            </a:r>
          </a:p>
          <a:p>
            <a:r>
              <a:rPr lang="en-US" dirty="0"/>
              <a:t>Calls </a:t>
            </a:r>
            <a:r>
              <a:rPr lang="en-US" dirty="0" err="1">
                <a:latin typeface="Courier New" panose="02070309020205020404" pitchFamily="49" charset="0"/>
              </a:rPr>
              <a:t>TestAndSet</a:t>
            </a:r>
            <a:endParaRPr lang="en-US" dirty="0"/>
          </a:p>
          <a:p>
            <a:r>
              <a:rPr lang="en-US" dirty="0"/>
              <a:t>Gets </a:t>
            </a:r>
            <a:r>
              <a:rPr lang="en-US" dirty="0">
                <a:latin typeface="Courier New" panose="02070309020205020404" pitchFamily="49" charset="0"/>
              </a:rPr>
              <a:t>false</a:t>
            </a:r>
            <a:endParaRPr lang="en-US" dirty="0"/>
          </a:p>
          <a:p>
            <a:r>
              <a:rPr lang="en-US" dirty="0"/>
              <a:t>Sets </a:t>
            </a:r>
            <a:r>
              <a:rPr lang="en-US" dirty="0">
                <a:latin typeface="Courier New" panose="02070309020205020404" pitchFamily="49" charset="0"/>
              </a:rPr>
              <a:t>lock = true</a:t>
            </a:r>
            <a:endParaRPr lang="en-US" dirty="0"/>
          </a:p>
          <a:p>
            <a:r>
              <a:rPr lang="en-US" dirty="0"/>
              <a:t>Enters </a:t>
            </a:r>
            <a:r>
              <a:rPr lang="en-US" b="1" dirty="0"/>
              <a:t>critical section</a:t>
            </a:r>
          </a:p>
          <a:p>
            <a:pPr>
              <a:buFont typeface="Arial" panose="020B0604020202020204" pitchFamily="34" charset="0"/>
              <a:buChar char="•"/>
            </a:pPr>
            <a:endParaRPr lang="en-US" dirty="0"/>
          </a:p>
          <a:p>
            <a:pPr>
              <a:buNone/>
            </a:pPr>
            <a:r>
              <a:rPr lang="en-US" b="1" dirty="0"/>
              <a:t>Process B</a:t>
            </a:r>
          </a:p>
          <a:p>
            <a:r>
              <a:rPr lang="en-US" dirty="0"/>
              <a:t>Calls </a:t>
            </a:r>
            <a:r>
              <a:rPr lang="en-US" dirty="0" err="1">
                <a:latin typeface="Courier New" panose="02070309020205020404" pitchFamily="49" charset="0"/>
              </a:rPr>
              <a:t>TestAndSet</a:t>
            </a:r>
            <a:endParaRPr lang="en-US" dirty="0"/>
          </a:p>
          <a:p>
            <a:r>
              <a:rPr lang="en-US" dirty="0"/>
              <a:t>Gets </a:t>
            </a:r>
            <a:r>
              <a:rPr lang="en-US" dirty="0">
                <a:latin typeface="Courier New" panose="02070309020205020404" pitchFamily="49" charset="0"/>
              </a:rPr>
              <a:t>true</a:t>
            </a:r>
            <a:endParaRPr lang="en-US" dirty="0"/>
          </a:p>
          <a:p>
            <a:r>
              <a:rPr lang="en-US" dirty="0"/>
              <a:t>Stays in </a:t>
            </a:r>
            <a:r>
              <a:rPr lang="en-US" b="1" dirty="0"/>
              <a:t>while loop</a:t>
            </a:r>
            <a:r>
              <a:rPr lang="en-US" dirty="0"/>
              <a:t> (waits)</a:t>
            </a:r>
          </a:p>
          <a:p>
            <a:pPr>
              <a:buFont typeface="Arial" panose="020B0604020202020204" pitchFamily="34" charset="0"/>
              <a:buChar char="•"/>
            </a:pPr>
            <a:endParaRPr lang="en-US" dirty="0"/>
          </a:p>
          <a:p>
            <a:pPr>
              <a:buNone/>
            </a:pPr>
            <a:r>
              <a:rPr lang="en-US" b="1" dirty="0"/>
              <a:t>When A Finishes</a:t>
            </a:r>
          </a:p>
          <a:p>
            <a:r>
              <a:rPr lang="en-US" dirty="0"/>
              <a:t>A sets </a:t>
            </a:r>
            <a:r>
              <a:rPr lang="en-US" dirty="0">
                <a:latin typeface="Courier New" panose="02070309020205020404" pitchFamily="49" charset="0"/>
              </a:rPr>
              <a:t>lock = false</a:t>
            </a:r>
            <a:endParaRPr lang="en-US" dirty="0"/>
          </a:p>
          <a:p>
            <a:r>
              <a:rPr lang="en-US" dirty="0"/>
              <a:t>B can now enter critical section</a:t>
            </a:r>
          </a:p>
        </p:txBody>
      </p:sp>
    </p:spTree>
    <p:extLst>
      <p:ext uri="{BB962C8B-B14F-4D97-AF65-F5344CB8AC3E}">
        <p14:creationId xmlns:p14="http://schemas.microsoft.com/office/powerpoint/2010/main" val="10336442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4FD7F-42DF-1C4F-580E-63E28A99DA2D}"/>
              </a:ext>
            </a:extLst>
          </p:cNvPr>
          <p:cNvSpPr>
            <a:spLocks noGrp="1"/>
          </p:cNvSpPr>
          <p:nvPr>
            <p:ph type="title"/>
          </p:nvPr>
        </p:nvSpPr>
        <p:spPr>
          <a:xfrm>
            <a:off x="497711" y="115747"/>
            <a:ext cx="10856089" cy="995423"/>
          </a:xfrm>
        </p:spPr>
        <p:txBody>
          <a:bodyPr>
            <a:normAutofit fontScale="90000"/>
          </a:bodyPr>
          <a:lstStyle/>
          <a:p>
            <a:r>
              <a:rPr lang="en-US" b="1" dirty="0"/>
              <a:t>Software Solution</a:t>
            </a:r>
            <a:br>
              <a:rPr lang="en-US" b="1" dirty="0"/>
            </a:br>
            <a:endParaRPr lang="en-IN" dirty="0"/>
          </a:p>
        </p:txBody>
      </p:sp>
      <p:sp>
        <p:nvSpPr>
          <p:cNvPr id="3" name="Content Placeholder 2">
            <a:extLst>
              <a:ext uri="{FF2B5EF4-FFF2-40B4-BE49-F238E27FC236}">
                <a16:creationId xmlns:a16="http://schemas.microsoft.com/office/drawing/2014/main" id="{53D4170F-5B92-DD87-B335-58009E441FB3}"/>
              </a:ext>
            </a:extLst>
          </p:cNvPr>
          <p:cNvSpPr>
            <a:spLocks noGrp="1"/>
          </p:cNvSpPr>
          <p:nvPr>
            <p:ph idx="1"/>
          </p:nvPr>
        </p:nvSpPr>
        <p:spPr>
          <a:xfrm>
            <a:off x="347241" y="775504"/>
            <a:ext cx="11006559" cy="5401459"/>
          </a:xfrm>
        </p:spPr>
        <p:txBody>
          <a:bodyPr>
            <a:normAutofit/>
          </a:bodyPr>
          <a:lstStyle/>
          <a:p>
            <a:pPr marL="0" indent="0">
              <a:buNone/>
            </a:pPr>
            <a:r>
              <a:rPr lang="en-US" b="1" dirty="0"/>
              <a:t>Software solutions</a:t>
            </a:r>
            <a:r>
              <a:rPr lang="en-US" dirty="0"/>
              <a:t> use </a:t>
            </a:r>
            <a:r>
              <a:rPr lang="en-US" b="1" dirty="0"/>
              <a:t>program logic</a:t>
            </a:r>
            <a:r>
              <a:rPr lang="en-US" dirty="0"/>
              <a:t> (variables and algorithms) to control access to shared data</a:t>
            </a:r>
            <a:br>
              <a:rPr lang="en-US" dirty="0"/>
            </a:br>
            <a:r>
              <a:rPr lang="en-US" dirty="0"/>
              <a:t>No special hardware instructions are needed.</a:t>
            </a:r>
          </a:p>
          <a:p>
            <a:pPr marL="0" indent="0">
              <a:buNone/>
            </a:pPr>
            <a:r>
              <a:rPr lang="en-US" b="1" dirty="0"/>
              <a:t>Common Software Techniques</a:t>
            </a:r>
          </a:p>
          <a:p>
            <a:pPr marL="0" indent="0">
              <a:buNone/>
            </a:pPr>
            <a:r>
              <a:rPr lang="en-US" b="1" dirty="0"/>
              <a:t>1. Strict Alternation</a:t>
            </a:r>
          </a:p>
          <a:p>
            <a:pPr marL="0" indent="0">
              <a:buNone/>
            </a:pPr>
            <a:r>
              <a:rPr lang="en-US" b="1" dirty="0"/>
              <a:t>2. Peterson’s Solution</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625602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8443B-1974-8BB0-C3AB-91E870E680D8}"/>
              </a:ext>
            </a:extLst>
          </p:cNvPr>
          <p:cNvSpPr>
            <a:spLocks noGrp="1"/>
          </p:cNvSpPr>
          <p:nvPr>
            <p:ph type="title"/>
          </p:nvPr>
        </p:nvSpPr>
        <p:spPr>
          <a:xfrm>
            <a:off x="381965" y="231495"/>
            <a:ext cx="10971835" cy="949124"/>
          </a:xfrm>
        </p:spPr>
        <p:txBody>
          <a:bodyPr>
            <a:normAutofit fontScale="90000"/>
          </a:bodyPr>
          <a:lstStyle/>
          <a:p>
            <a:r>
              <a:rPr lang="en-US" b="1" dirty="0"/>
              <a:t>What is Strict Alternation?</a:t>
            </a:r>
            <a:br>
              <a:rPr lang="en-US" b="1" dirty="0"/>
            </a:br>
            <a:endParaRPr lang="en-IN" dirty="0"/>
          </a:p>
        </p:txBody>
      </p:sp>
      <p:sp>
        <p:nvSpPr>
          <p:cNvPr id="3" name="Content Placeholder 2">
            <a:extLst>
              <a:ext uri="{FF2B5EF4-FFF2-40B4-BE49-F238E27FC236}">
                <a16:creationId xmlns:a16="http://schemas.microsoft.com/office/drawing/2014/main" id="{0DC2D3E7-9510-3483-2F45-A15158C8DD7F}"/>
              </a:ext>
            </a:extLst>
          </p:cNvPr>
          <p:cNvSpPr>
            <a:spLocks noGrp="1"/>
          </p:cNvSpPr>
          <p:nvPr>
            <p:ph idx="1"/>
          </p:nvPr>
        </p:nvSpPr>
        <p:spPr>
          <a:xfrm>
            <a:off x="277792" y="1076446"/>
            <a:ext cx="11076008" cy="5100517"/>
          </a:xfrm>
        </p:spPr>
        <p:txBody>
          <a:bodyPr>
            <a:normAutofit fontScale="70000" lnSpcReduction="20000"/>
          </a:bodyPr>
          <a:lstStyle/>
          <a:p>
            <a:r>
              <a:rPr lang="en-US" dirty="0"/>
              <a:t>Strict Alternation is a </a:t>
            </a:r>
            <a:r>
              <a:rPr lang="en-US" b="1" dirty="0"/>
              <a:t>software-based mutual exclusion technique</a:t>
            </a:r>
            <a:r>
              <a:rPr lang="en-US" dirty="0"/>
              <a:t> where </a:t>
            </a:r>
            <a:r>
              <a:rPr lang="en-US" b="1" dirty="0"/>
              <a:t>processes take turns</a:t>
            </a:r>
            <a:r>
              <a:rPr lang="en-US" dirty="0"/>
              <a:t> to enter the critical section.</a:t>
            </a:r>
          </a:p>
          <a:p>
            <a:r>
              <a:rPr lang="en-US" dirty="0"/>
              <a:t>Only the process whose </a:t>
            </a:r>
            <a:r>
              <a:rPr lang="en-US" b="1" dirty="0"/>
              <a:t>turn value matches</a:t>
            </a:r>
            <a:r>
              <a:rPr lang="en-US" dirty="0"/>
              <a:t> is allowed to enter.</a:t>
            </a:r>
          </a:p>
          <a:p>
            <a:pPr marL="0" indent="0">
              <a:buNone/>
            </a:pPr>
            <a:r>
              <a:rPr lang="en-US" b="1" dirty="0"/>
              <a:t>Shared Variable</a:t>
            </a:r>
          </a:p>
          <a:p>
            <a:pPr marL="0" indent="0">
              <a:buNone/>
            </a:pPr>
            <a:r>
              <a:rPr lang="en-US" dirty="0"/>
              <a:t>int turn = 0;   // 0 → Process P0, 1 → Process P1</a:t>
            </a:r>
          </a:p>
          <a:p>
            <a:pPr marL="0" indent="0">
              <a:buNone/>
            </a:pPr>
            <a:r>
              <a:rPr lang="en-US" b="1" dirty="0"/>
              <a:t>Process P0</a:t>
            </a:r>
          </a:p>
          <a:p>
            <a:pPr marL="0" indent="0">
              <a:buNone/>
            </a:pPr>
            <a:r>
              <a:rPr lang="en-US" dirty="0"/>
              <a:t>while (turn != 0)</a:t>
            </a:r>
          </a:p>
          <a:p>
            <a:pPr marL="0" indent="0">
              <a:buNone/>
            </a:pPr>
            <a:r>
              <a:rPr lang="en-US" dirty="0"/>
              <a:t> ;   // wait</a:t>
            </a:r>
          </a:p>
          <a:p>
            <a:pPr marL="0" indent="0">
              <a:buNone/>
            </a:pPr>
            <a:r>
              <a:rPr lang="en-US" dirty="0" err="1"/>
              <a:t>critical_section</a:t>
            </a:r>
            <a:r>
              <a:rPr lang="en-US" dirty="0"/>
              <a:t>();</a:t>
            </a:r>
          </a:p>
          <a:p>
            <a:pPr marL="0" indent="0">
              <a:buNone/>
            </a:pPr>
            <a:r>
              <a:rPr lang="en-US" dirty="0"/>
              <a:t>turn = 1;</a:t>
            </a:r>
          </a:p>
          <a:p>
            <a:pPr marL="0" indent="0">
              <a:buNone/>
            </a:pPr>
            <a:r>
              <a:rPr lang="en-US" b="1" dirty="0"/>
              <a:t>Process P1</a:t>
            </a:r>
          </a:p>
          <a:p>
            <a:pPr marL="0" indent="0">
              <a:buNone/>
            </a:pPr>
            <a:r>
              <a:rPr lang="en-US" dirty="0"/>
              <a:t>while (turn != 1)</a:t>
            </a:r>
          </a:p>
          <a:p>
            <a:pPr marL="0" indent="0">
              <a:buNone/>
            </a:pPr>
            <a:r>
              <a:rPr lang="en-US" dirty="0"/>
              <a:t> ;   // wait</a:t>
            </a:r>
          </a:p>
          <a:p>
            <a:pPr marL="0" indent="0">
              <a:buNone/>
            </a:pPr>
            <a:r>
              <a:rPr lang="en-US" dirty="0" err="1"/>
              <a:t>critical_section</a:t>
            </a:r>
            <a:r>
              <a:rPr lang="en-US" dirty="0"/>
              <a:t>();</a:t>
            </a:r>
          </a:p>
          <a:p>
            <a:pPr marL="0" indent="0">
              <a:buNone/>
            </a:pPr>
            <a:r>
              <a:rPr lang="en-US" dirty="0"/>
              <a:t>turn = 0;</a:t>
            </a:r>
          </a:p>
          <a:p>
            <a:pPr marL="0" indent="0">
              <a:buNone/>
            </a:pPr>
            <a:endParaRPr lang="en-US" dirty="0"/>
          </a:p>
          <a:p>
            <a:endParaRPr lang="en-US" dirty="0"/>
          </a:p>
          <a:p>
            <a:endParaRPr lang="en-IN" dirty="0"/>
          </a:p>
        </p:txBody>
      </p:sp>
      <p:sp>
        <p:nvSpPr>
          <p:cNvPr id="5" name="TextBox 4">
            <a:extLst>
              <a:ext uri="{FF2B5EF4-FFF2-40B4-BE49-F238E27FC236}">
                <a16:creationId xmlns:a16="http://schemas.microsoft.com/office/drawing/2014/main" id="{4D95E53F-DE6C-12FC-B466-57CCC7F040E2}"/>
              </a:ext>
            </a:extLst>
          </p:cNvPr>
          <p:cNvSpPr txBox="1"/>
          <p:nvPr/>
        </p:nvSpPr>
        <p:spPr>
          <a:xfrm>
            <a:off x="5532699" y="2176041"/>
            <a:ext cx="6250329" cy="2031325"/>
          </a:xfrm>
          <a:prstGeom prst="rect">
            <a:avLst/>
          </a:prstGeom>
          <a:noFill/>
        </p:spPr>
        <p:txBody>
          <a:bodyPr wrap="square">
            <a:spAutoFit/>
          </a:bodyPr>
          <a:lstStyle/>
          <a:p>
            <a:pPr>
              <a:buNone/>
            </a:pPr>
            <a:r>
              <a:rPr lang="en-US" b="1" dirty="0"/>
              <a:t>How Strict Alternation Works (Step-by-Step)</a:t>
            </a:r>
          </a:p>
          <a:p>
            <a:r>
              <a:rPr lang="en-US" dirty="0">
                <a:latin typeface="Courier New" panose="02070309020205020404" pitchFamily="49" charset="0"/>
              </a:rPr>
              <a:t>turn = 0</a:t>
            </a:r>
            <a:r>
              <a:rPr lang="en-US" dirty="0"/>
              <a:t> → P0 enters critical section</a:t>
            </a:r>
          </a:p>
          <a:p>
            <a:r>
              <a:rPr lang="en-US" dirty="0"/>
              <a:t>P0 finishes and sets </a:t>
            </a:r>
            <a:r>
              <a:rPr lang="en-US" dirty="0">
                <a:latin typeface="Courier New" panose="02070309020205020404" pitchFamily="49" charset="0"/>
              </a:rPr>
              <a:t>turn = 1</a:t>
            </a:r>
            <a:endParaRPr lang="en-US" dirty="0"/>
          </a:p>
          <a:p>
            <a:r>
              <a:rPr lang="en-US" dirty="0"/>
              <a:t>P1 enters critical section</a:t>
            </a:r>
          </a:p>
          <a:p>
            <a:r>
              <a:rPr lang="en-US" dirty="0"/>
              <a:t>P1 finishes and sets </a:t>
            </a:r>
            <a:r>
              <a:rPr lang="en-US" dirty="0">
                <a:latin typeface="Courier New" panose="02070309020205020404" pitchFamily="49" charset="0"/>
              </a:rPr>
              <a:t>turn = 0</a:t>
            </a:r>
            <a:endParaRPr lang="en-US" dirty="0"/>
          </a:p>
          <a:p>
            <a:r>
              <a:rPr lang="en-US" dirty="0"/>
              <a:t>Process repeats</a:t>
            </a:r>
          </a:p>
          <a:p>
            <a:pPr>
              <a:buNone/>
            </a:pPr>
            <a:r>
              <a:rPr lang="en-US" dirty="0"/>
              <a:t>So processes </a:t>
            </a:r>
            <a:r>
              <a:rPr lang="en-US" b="1" dirty="0"/>
              <a:t>strictly alternate</a:t>
            </a:r>
            <a:r>
              <a:rPr lang="en-US" dirty="0"/>
              <a:t>, even if one doesn’t want to enter.</a:t>
            </a:r>
          </a:p>
        </p:txBody>
      </p:sp>
    </p:spTree>
    <p:extLst>
      <p:ext uri="{BB962C8B-B14F-4D97-AF65-F5344CB8AC3E}">
        <p14:creationId xmlns:p14="http://schemas.microsoft.com/office/powerpoint/2010/main" val="3059579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586A31D-FA3B-FE22-BE04-B4F472523F71}"/>
              </a:ext>
            </a:extLst>
          </p:cNvPr>
          <p:cNvSpPr txBox="1"/>
          <p:nvPr/>
        </p:nvSpPr>
        <p:spPr>
          <a:xfrm>
            <a:off x="335666" y="289367"/>
            <a:ext cx="8805440" cy="3439469"/>
          </a:xfrm>
          <a:prstGeom prst="rect">
            <a:avLst/>
          </a:prstGeom>
          <a:noFill/>
        </p:spPr>
        <p:txBody>
          <a:bodyPr wrap="square">
            <a:spAutoFit/>
          </a:bodyPr>
          <a:lstStyle/>
          <a:p>
            <a:pPr>
              <a:buNone/>
            </a:pPr>
            <a:r>
              <a:rPr lang="en-US" b="1" dirty="0"/>
              <a:t>Problem with Strict Alternation </a:t>
            </a:r>
          </a:p>
          <a:p>
            <a:pPr>
              <a:buNone/>
            </a:pPr>
            <a:r>
              <a:rPr lang="en-US" b="1" dirty="0"/>
              <a:t>Violates the Progress Condition</a:t>
            </a:r>
          </a:p>
          <a:p>
            <a:pPr>
              <a:buNone/>
            </a:pPr>
            <a:r>
              <a:rPr lang="en-US" b="1" dirty="0"/>
              <a:t>Example Scenario</a:t>
            </a:r>
          </a:p>
          <a:p>
            <a:r>
              <a:rPr lang="en-US" dirty="0">
                <a:latin typeface="Courier New" panose="02070309020205020404" pitchFamily="49" charset="0"/>
              </a:rPr>
              <a:t>turn = 1</a:t>
            </a:r>
            <a:endParaRPr lang="en-US" dirty="0"/>
          </a:p>
          <a:p>
            <a:r>
              <a:rPr lang="en-US" dirty="0"/>
              <a:t>Process </a:t>
            </a:r>
            <a:r>
              <a:rPr lang="en-US" b="1" dirty="0"/>
              <a:t>P1 is idle or not interested</a:t>
            </a:r>
            <a:endParaRPr lang="en-US" dirty="0"/>
          </a:p>
          <a:p>
            <a:r>
              <a:rPr lang="en-US" dirty="0"/>
              <a:t>Process </a:t>
            </a:r>
            <a:r>
              <a:rPr lang="en-US" b="1" dirty="0"/>
              <a:t>P0 wants to enter</a:t>
            </a:r>
            <a:endParaRPr lang="en-US" dirty="0"/>
          </a:p>
          <a:p>
            <a:pPr>
              <a:buNone/>
            </a:pPr>
            <a:r>
              <a:rPr lang="en-US" dirty="0"/>
              <a:t>P0 </a:t>
            </a:r>
            <a:r>
              <a:rPr lang="en-US" b="1" dirty="0"/>
              <a:t>must wait</a:t>
            </a:r>
            <a:r>
              <a:rPr lang="en-US" dirty="0"/>
              <a:t>, even though:</a:t>
            </a:r>
          </a:p>
          <a:p>
            <a:r>
              <a:rPr lang="en-US" dirty="0"/>
              <a:t>No one is in the critical section</a:t>
            </a:r>
          </a:p>
          <a:p>
            <a:r>
              <a:rPr lang="en-US" dirty="0"/>
              <a:t>Shared data is free</a:t>
            </a:r>
          </a:p>
          <a:p>
            <a:pPr>
              <a:buNone/>
            </a:pPr>
            <a:r>
              <a:rPr lang="en-US" dirty="0"/>
              <a:t>This causes </a:t>
            </a:r>
            <a:r>
              <a:rPr lang="en-US" b="1" dirty="0"/>
              <a:t>unnecessary waiting</a:t>
            </a:r>
            <a:r>
              <a:rPr lang="en-US" dirty="0"/>
              <a:t>.</a:t>
            </a:r>
          </a:p>
          <a:p>
            <a:pPr>
              <a:buNone/>
            </a:pPr>
            <a:endParaRPr lang="en-US" dirty="0"/>
          </a:p>
          <a:p>
            <a:pPr>
              <a:buNone/>
            </a:pPr>
            <a:endParaRPr lang="en-US" dirty="0"/>
          </a:p>
        </p:txBody>
      </p:sp>
      <p:graphicFrame>
        <p:nvGraphicFramePr>
          <p:cNvPr id="4" name="Table 3">
            <a:extLst>
              <a:ext uri="{FF2B5EF4-FFF2-40B4-BE49-F238E27FC236}">
                <a16:creationId xmlns:a16="http://schemas.microsoft.com/office/drawing/2014/main" id="{79B38905-3202-FAEB-C581-6FD0F6E1A2F8}"/>
              </a:ext>
            </a:extLst>
          </p:cNvPr>
          <p:cNvGraphicFramePr>
            <a:graphicFrameLocks noGrp="1"/>
          </p:cNvGraphicFramePr>
          <p:nvPr>
            <p:extLst>
              <p:ext uri="{D42A27DB-BD31-4B8C-83A1-F6EECF244321}">
                <p14:modId xmlns:p14="http://schemas.microsoft.com/office/powerpoint/2010/main" val="1262908090"/>
              </p:ext>
            </p:extLst>
          </p:nvPr>
        </p:nvGraphicFramePr>
        <p:xfrm>
          <a:off x="601884" y="3728836"/>
          <a:ext cx="8539222" cy="2371024"/>
        </p:xfrm>
        <a:graphic>
          <a:graphicData uri="http://schemas.openxmlformats.org/drawingml/2006/table">
            <a:tbl>
              <a:tblPr/>
              <a:tblGrid>
                <a:gridCol w="4269611">
                  <a:extLst>
                    <a:ext uri="{9D8B030D-6E8A-4147-A177-3AD203B41FA5}">
                      <a16:colId xmlns:a16="http://schemas.microsoft.com/office/drawing/2014/main" val="1593703146"/>
                    </a:ext>
                  </a:extLst>
                </a:gridCol>
                <a:gridCol w="4269611">
                  <a:extLst>
                    <a:ext uri="{9D8B030D-6E8A-4147-A177-3AD203B41FA5}">
                      <a16:colId xmlns:a16="http://schemas.microsoft.com/office/drawing/2014/main" val="2641247856"/>
                    </a:ext>
                  </a:extLst>
                </a:gridCol>
              </a:tblGrid>
              <a:tr h="592756">
                <a:tc>
                  <a:txBody>
                    <a:bodyPr/>
                    <a:lstStyle/>
                    <a:p>
                      <a:pPr>
                        <a:buNone/>
                      </a:pPr>
                      <a:r>
                        <a:rPr lang="en-IN"/>
                        <a:t>Condition</a:t>
                      </a:r>
                    </a:p>
                  </a:txBody>
                  <a:tcPr anchor="ctr">
                    <a:lnL>
                      <a:noFill/>
                    </a:lnL>
                    <a:lnR>
                      <a:noFill/>
                    </a:lnR>
                    <a:lnT>
                      <a:noFill/>
                    </a:lnT>
                    <a:lnB>
                      <a:noFill/>
                    </a:lnB>
                    <a:noFill/>
                  </a:tcPr>
                </a:tc>
                <a:tc>
                  <a:txBody>
                    <a:bodyPr/>
                    <a:lstStyle/>
                    <a:p>
                      <a:pPr>
                        <a:buNone/>
                      </a:pPr>
                      <a:r>
                        <a:rPr lang="en-IN"/>
                        <a:t>Satisfied?</a:t>
                      </a:r>
                    </a:p>
                  </a:txBody>
                  <a:tcPr anchor="ctr">
                    <a:lnL>
                      <a:noFill/>
                    </a:lnL>
                    <a:lnR>
                      <a:noFill/>
                    </a:lnR>
                    <a:lnT>
                      <a:noFill/>
                    </a:lnT>
                    <a:lnB>
                      <a:noFill/>
                    </a:lnB>
                    <a:noFill/>
                  </a:tcPr>
                </a:tc>
                <a:extLst>
                  <a:ext uri="{0D108BD9-81ED-4DB2-BD59-A6C34878D82A}">
                    <a16:rowId xmlns:a16="http://schemas.microsoft.com/office/drawing/2014/main" val="3004266923"/>
                  </a:ext>
                </a:extLst>
              </a:tr>
              <a:tr h="592756">
                <a:tc>
                  <a:txBody>
                    <a:bodyPr/>
                    <a:lstStyle/>
                    <a:p>
                      <a:pPr>
                        <a:buNone/>
                      </a:pPr>
                      <a:r>
                        <a:rPr lang="en-IN" dirty="0"/>
                        <a:t>Mutual Exclusion</a:t>
                      </a:r>
                    </a:p>
                  </a:txBody>
                  <a:tcPr anchor="ctr">
                    <a:lnL>
                      <a:noFill/>
                    </a:lnL>
                    <a:lnR>
                      <a:noFill/>
                    </a:lnR>
                    <a:lnT>
                      <a:noFill/>
                    </a:lnT>
                    <a:lnB>
                      <a:noFill/>
                    </a:lnB>
                    <a:noFill/>
                  </a:tcPr>
                </a:tc>
                <a:tc>
                  <a:txBody>
                    <a:bodyPr/>
                    <a:lstStyle/>
                    <a:p>
                      <a:pPr>
                        <a:buNone/>
                      </a:pPr>
                      <a:r>
                        <a:rPr lang="en-IN"/>
                        <a:t>✅ Yes</a:t>
                      </a:r>
                    </a:p>
                  </a:txBody>
                  <a:tcPr anchor="ctr">
                    <a:lnL>
                      <a:noFill/>
                    </a:lnL>
                    <a:lnR>
                      <a:noFill/>
                    </a:lnR>
                    <a:lnT>
                      <a:noFill/>
                    </a:lnT>
                    <a:lnB>
                      <a:noFill/>
                    </a:lnB>
                    <a:noFill/>
                  </a:tcPr>
                </a:tc>
                <a:extLst>
                  <a:ext uri="{0D108BD9-81ED-4DB2-BD59-A6C34878D82A}">
                    <a16:rowId xmlns:a16="http://schemas.microsoft.com/office/drawing/2014/main" val="1465475776"/>
                  </a:ext>
                </a:extLst>
              </a:tr>
              <a:tr h="592756">
                <a:tc>
                  <a:txBody>
                    <a:bodyPr/>
                    <a:lstStyle/>
                    <a:p>
                      <a:pPr>
                        <a:buNone/>
                      </a:pPr>
                      <a:r>
                        <a:rPr lang="en-IN"/>
                        <a:t>Progress</a:t>
                      </a:r>
                    </a:p>
                  </a:txBody>
                  <a:tcPr anchor="ctr">
                    <a:lnL>
                      <a:noFill/>
                    </a:lnL>
                    <a:lnR>
                      <a:noFill/>
                    </a:lnR>
                    <a:lnT>
                      <a:noFill/>
                    </a:lnT>
                    <a:lnB>
                      <a:noFill/>
                    </a:lnB>
                    <a:noFill/>
                  </a:tcPr>
                </a:tc>
                <a:tc>
                  <a:txBody>
                    <a:bodyPr/>
                    <a:lstStyle/>
                    <a:p>
                      <a:pPr>
                        <a:buNone/>
                      </a:pPr>
                      <a:r>
                        <a:rPr lang="en-IN"/>
                        <a:t>❌ No</a:t>
                      </a:r>
                    </a:p>
                  </a:txBody>
                  <a:tcPr anchor="ctr">
                    <a:lnL>
                      <a:noFill/>
                    </a:lnL>
                    <a:lnR>
                      <a:noFill/>
                    </a:lnR>
                    <a:lnT>
                      <a:noFill/>
                    </a:lnT>
                    <a:lnB>
                      <a:noFill/>
                    </a:lnB>
                    <a:noFill/>
                  </a:tcPr>
                </a:tc>
                <a:extLst>
                  <a:ext uri="{0D108BD9-81ED-4DB2-BD59-A6C34878D82A}">
                    <a16:rowId xmlns:a16="http://schemas.microsoft.com/office/drawing/2014/main" val="878004381"/>
                  </a:ext>
                </a:extLst>
              </a:tr>
              <a:tr h="592756">
                <a:tc>
                  <a:txBody>
                    <a:bodyPr/>
                    <a:lstStyle/>
                    <a:p>
                      <a:pPr>
                        <a:buNone/>
                      </a:pPr>
                      <a:r>
                        <a:rPr lang="en-IN"/>
                        <a:t>Bounded Waiting</a:t>
                      </a:r>
                    </a:p>
                  </a:txBody>
                  <a:tcPr anchor="ctr">
                    <a:lnL>
                      <a:noFill/>
                    </a:lnL>
                    <a:lnR>
                      <a:noFill/>
                    </a:lnR>
                    <a:lnT>
                      <a:noFill/>
                    </a:lnT>
                    <a:lnB>
                      <a:noFill/>
                    </a:lnB>
                    <a:noFill/>
                  </a:tcPr>
                </a:tc>
                <a:tc>
                  <a:txBody>
                    <a:bodyPr/>
                    <a:lstStyle/>
                    <a:p>
                      <a:pPr>
                        <a:buNone/>
                      </a:pPr>
                      <a:r>
                        <a:rPr lang="en-IN" dirty="0"/>
                        <a:t>✅ Yes</a:t>
                      </a:r>
                    </a:p>
                  </a:txBody>
                  <a:tcPr anchor="ctr">
                    <a:lnL>
                      <a:noFill/>
                    </a:lnL>
                    <a:lnR>
                      <a:noFill/>
                    </a:lnR>
                    <a:lnT>
                      <a:noFill/>
                    </a:lnT>
                    <a:lnB>
                      <a:noFill/>
                    </a:lnB>
                    <a:noFill/>
                  </a:tcPr>
                </a:tc>
                <a:extLst>
                  <a:ext uri="{0D108BD9-81ED-4DB2-BD59-A6C34878D82A}">
                    <a16:rowId xmlns:a16="http://schemas.microsoft.com/office/drawing/2014/main" val="1312181632"/>
                  </a:ext>
                </a:extLst>
              </a:tr>
            </a:tbl>
          </a:graphicData>
        </a:graphic>
      </p:graphicFrame>
      <p:sp>
        <p:nvSpPr>
          <p:cNvPr id="5" name="Rectangle 1">
            <a:extLst>
              <a:ext uri="{FF2B5EF4-FFF2-40B4-BE49-F238E27FC236}">
                <a16:creationId xmlns:a16="http://schemas.microsoft.com/office/drawing/2014/main" id="{95E91EC4-05FB-CCF0-8C2B-4A5CB35D0F8C}"/>
              </a:ext>
            </a:extLst>
          </p:cNvPr>
          <p:cNvSpPr>
            <a:spLocks noChangeArrowheads="1"/>
          </p:cNvSpPr>
          <p:nvPr/>
        </p:nvSpPr>
        <p:spPr bwMode="auto">
          <a:xfrm>
            <a:off x="335667" y="3284720"/>
            <a:ext cx="880544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Evaluation of Strict Alternation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92904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724E56-B6BE-2C48-65DB-BCB8DD3B2A77}"/>
              </a:ext>
            </a:extLst>
          </p:cNvPr>
          <p:cNvSpPr txBox="1"/>
          <p:nvPr/>
        </p:nvSpPr>
        <p:spPr>
          <a:xfrm>
            <a:off x="428263" y="231495"/>
            <a:ext cx="10833904" cy="7017306"/>
          </a:xfrm>
          <a:prstGeom prst="rect">
            <a:avLst/>
          </a:prstGeom>
          <a:noFill/>
        </p:spPr>
        <p:txBody>
          <a:bodyPr wrap="square">
            <a:spAutoFit/>
          </a:bodyPr>
          <a:lstStyle/>
          <a:p>
            <a:pPr>
              <a:buNone/>
            </a:pPr>
            <a:r>
              <a:rPr lang="en-US" b="1" dirty="0"/>
              <a:t>What is Peterson’s Solution?</a:t>
            </a:r>
          </a:p>
          <a:p>
            <a:pPr>
              <a:buNone/>
            </a:pPr>
            <a:r>
              <a:rPr lang="en-US" dirty="0"/>
              <a:t>Peterson’s Solution is a </a:t>
            </a:r>
            <a:r>
              <a:rPr lang="en-US" b="1" dirty="0"/>
              <a:t>software solution</a:t>
            </a:r>
            <a:r>
              <a:rPr lang="en-US" dirty="0"/>
              <a:t> for the </a:t>
            </a:r>
            <a:r>
              <a:rPr lang="en-US" b="1" dirty="0"/>
              <a:t>critical section problem</a:t>
            </a:r>
            <a:r>
              <a:rPr lang="en-US" dirty="0"/>
              <a:t> that works for </a:t>
            </a:r>
            <a:r>
              <a:rPr lang="en-US" b="1" dirty="0"/>
              <a:t>two processes</a:t>
            </a:r>
            <a:r>
              <a:rPr lang="en-US" dirty="0"/>
              <a:t>.</a:t>
            </a:r>
          </a:p>
          <a:p>
            <a:pPr>
              <a:buNone/>
            </a:pPr>
            <a:r>
              <a:rPr lang="en-US" dirty="0"/>
              <a:t>It </a:t>
            </a:r>
            <a:r>
              <a:rPr lang="en-US" b="1" dirty="0"/>
              <a:t>solves all three requirements</a:t>
            </a:r>
            <a:r>
              <a:rPr lang="en-US" dirty="0"/>
              <a:t>:</a:t>
            </a:r>
          </a:p>
          <a:p>
            <a:pPr>
              <a:buFont typeface="Arial" panose="020B0604020202020204" pitchFamily="34" charset="0"/>
              <a:buChar char="•"/>
            </a:pPr>
            <a:r>
              <a:rPr lang="en-US" dirty="0"/>
              <a:t>Mutual Exclusion</a:t>
            </a:r>
          </a:p>
          <a:p>
            <a:pPr>
              <a:buFont typeface="Arial" panose="020B0604020202020204" pitchFamily="34" charset="0"/>
              <a:buChar char="•"/>
            </a:pPr>
            <a:r>
              <a:rPr lang="en-US" dirty="0"/>
              <a:t>Progress</a:t>
            </a:r>
          </a:p>
          <a:p>
            <a:pPr>
              <a:buFont typeface="Arial" panose="020B0604020202020204" pitchFamily="34" charset="0"/>
              <a:buChar char="•"/>
            </a:pPr>
            <a:r>
              <a:rPr lang="en-US" dirty="0"/>
              <a:t>Bounded Waiting</a:t>
            </a:r>
          </a:p>
          <a:p>
            <a:pPr>
              <a:buFont typeface="Arial" panose="020B0604020202020204" pitchFamily="34" charset="0"/>
              <a:buChar char="•"/>
            </a:pPr>
            <a:endParaRPr lang="en-US" dirty="0"/>
          </a:p>
          <a:p>
            <a:r>
              <a:rPr lang="en-US" b="1" dirty="0"/>
              <a:t>Shared Variables</a:t>
            </a:r>
          </a:p>
          <a:p>
            <a:r>
              <a:rPr lang="en-US" dirty="0" err="1"/>
              <a:t>boolean</a:t>
            </a:r>
            <a:r>
              <a:rPr lang="en-US" dirty="0"/>
              <a:t> flag[</a:t>
            </a:r>
            <a:r>
              <a:rPr lang="en-US" dirty="0" err="1"/>
              <a:t>i</a:t>
            </a:r>
            <a:r>
              <a:rPr lang="en-US" dirty="0"/>
              <a:t>];</a:t>
            </a:r>
          </a:p>
          <a:p>
            <a:r>
              <a:rPr lang="en-US" dirty="0"/>
              <a:t>int turn;</a:t>
            </a:r>
          </a:p>
          <a:p>
            <a:r>
              <a:rPr lang="en-US" b="1" dirty="0"/>
              <a:t>Meaning</a:t>
            </a:r>
          </a:p>
          <a:p>
            <a:r>
              <a:rPr lang="en-US" dirty="0"/>
              <a:t>flag[</a:t>
            </a:r>
            <a:r>
              <a:rPr lang="en-US" dirty="0" err="1"/>
              <a:t>i</a:t>
            </a:r>
            <a:r>
              <a:rPr lang="en-US" dirty="0"/>
              <a:t>] = true → Process Pi wants to enter critical section </a:t>
            </a:r>
          </a:p>
          <a:p>
            <a:r>
              <a:rPr lang="en-US" dirty="0"/>
              <a:t>turn → Indicates whose turn it is</a:t>
            </a:r>
          </a:p>
          <a:p>
            <a:endParaRPr lang="en-US" dirty="0"/>
          </a:p>
          <a:p>
            <a:endParaRPr lang="en-US" dirty="0"/>
          </a:p>
          <a:p>
            <a:r>
              <a:rPr lang="en-US" b="1" dirty="0"/>
              <a:t>How Peterson’s Solution Works (Conceptually)</a:t>
            </a:r>
          </a:p>
          <a:p>
            <a:r>
              <a:rPr lang="en-US" dirty="0"/>
              <a:t>Process announces </a:t>
            </a:r>
            <a:r>
              <a:rPr lang="en-US" b="1" dirty="0"/>
              <a:t>interest</a:t>
            </a:r>
            <a:endParaRPr lang="en-US" dirty="0"/>
          </a:p>
          <a:p>
            <a:r>
              <a:rPr lang="en-US" dirty="0"/>
              <a:t>Gives </a:t>
            </a:r>
            <a:r>
              <a:rPr lang="en-US" b="1" dirty="0"/>
              <a:t>priority to the other process</a:t>
            </a:r>
            <a:endParaRPr lang="en-US" dirty="0"/>
          </a:p>
          <a:p>
            <a:r>
              <a:rPr lang="en-US" dirty="0"/>
              <a:t>Enters critical section only if:</a:t>
            </a:r>
          </a:p>
          <a:p>
            <a:pPr lvl="1"/>
            <a:r>
              <a:rPr lang="en-US" dirty="0"/>
              <a:t>Other process is not interested OR</a:t>
            </a:r>
          </a:p>
          <a:p>
            <a:pPr lvl="1"/>
            <a:r>
              <a:rPr lang="en-US" dirty="0"/>
              <a:t>It is this process’s turn</a:t>
            </a:r>
          </a:p>
          <a:p>
            <a:r>
              <a:rPr lang="en-US" dirty="0"/>
              <a:t>This prevents deadlock and starvation.</a:t>
            </a:r>
          </a:p>
          <a:p>
            <a:endParaRPr lang="en-US" dirty="0"/>
          </a:p>
          <a:p>
            <a:endParaRPr lang="en-US" dirty="0"/>
          </a:p>
          <a:p>
            <a:endParaRPr lang="en-US" dirty="0"/>
          </a:p>
        </p:txBody>
      </p:sp>
      <p:sp>
        <p:nvSpPr>
          <p:cNvPr id="5" name="TextBox 4">
            <a:extLst>
              <a:ext uri="{FF2B5EF4-FFF2-40B4-BE49-F238E27FC236}">
                <a16:creationId xmlns:a16="http://schemas.microsoft.com/office/drawing/2014/main" id="{E6C4718F-E4B0-D866-F35C-C1539F2631F1}"/>
              </a:ext>
            </a:extLst>
          </p:cNvPr>
          <p:cNvSpPr txBox="1"/>
          <p:nvPr/>
        </p:nvSpPr>
        <p:spPr>
          <a:xfrm>
            <a:off x="6377651" y="2013996"/>
            <a:ext cx="5386085" cy="3139321"/>
          </a:xfrm>
          <a:prstGeom prst="rect">
            <a:avLst/>
          </a:prstGeom>
          <a:noFill/>
        </p:spPr>
        <p:txBody>
          <a:bodyPr wrap="square">
            <a:spAutoFit/>
          </a:bodyPr>
          <a:lstStyle/>
          <a:p>
            <a:r>
              <a:rPr lang="en-US" b="1" dirty="0"/>
              <a:t>Code for Process Pi</a:t>
            </a:r>
          </a:p>
          <a:p>
            <a:r>
              <a:rPr lang="en-US" dirty="0"/>
              <a:t>(where j = 1 - </a:t>
            </a:r>
            <a:r>
              <a:rPr lang="en-US" dirty="0" err="1"/>
              <a:t>i</a:t>
            </a:r>
            <a:r>
              <a:rPr lang="en-US" dirty="0"/>
              <a:t>)</a:t>
            </a:r>
          </a:p>
          <a:p>
            <a:r>
              <a:rPr lang="en-US" dirty="0"/>
              <a:t>flag[</a:t>
            </a:r>
            <a:r>
              <a:rPr lang="en-US" dirty="0" err="1"/>
              <a:t>i</a:t>
            </a:r>
            <a:r>
              <a:rPr lang="en-US" dirty="0"/>
              <a:t>] = true;   // I want to enter</a:t>
            </a:r>
          </a:p>
          <a:p>
            <a:r>
              <a:rPr lang="en-US" dirty="0"/>
              <a:t>turn = j;        // Give other process priority</a:t>
            </a:r>
          </a:p>
          <a:p>
            <a:endParaRPr lang="en-US" dirty="0"/>
          </a:p>
          <a:p>
            <a:r>
              <a:rPr lang="en-US" dirty="0"/>
              <a:t>while (flag[j] &amp;&amp; turn == j)</a:t>
            </a:r>
          </a:p>
          <a:p>
            <a:r>
              <a:rPr lang="en-US" dirty="0"/>
              <a:t>    ;             // wait</a:t>
            </a:r>
          </a:p>
          <a:p>
            <a:endParaRPr lang="en-US" dirty="0"/>
          </a:p>
          <a:p>
            <a:r>
              <a:rPr lang="en-US" dirty="0" err="1"/>
              <a:t>critical_section</a:t>
            </a:r>
            <a:r>
              <a:rPr lang="en-US" dirty="0"/>
              <a:t>();</a:t>
            </a:r>
          </a:p>
          <a:p>
            <a:endParaRPr lang="en-US" dirty="0"/>
          </a:p>
          <a:p>
            <a:r>
              <a:rPr lang="en-US" dirty="0"/>
              <a:t>flag[</a:t>
            </a:r>
            <a:r>
              <a:rPr lang="en-US" dirty="0" err="1"/>
              <a:t>i</a:t>
            </a:r>
            <a:r>
              <a:rPr lang="en-US" dirty="0"/>
              <a:t>] = false;  // I am done</a:t>
            </a:r>
          </a:p>
        </p:txBody>
      </p:sp>
    </p:spTree>
    <p:extLst>
      <p:ext uri="{BB962C8B-B14F-4D97-AF65-F5344CB8AC3E}">
        <p14:creationId xmlns:p14="http://schemas.microsoft.com/office/powerpoint/2010/main" val="2460927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DD979DF-72AF-4153-4B58-6C202127E6F0}"/>
              </a:ext>
            </a:extLst>
          </p:cNvPr>
          <p:cNvSpPr txBox="1"/>
          <p:nvPr/>
        </p:nvSpPr>
        <p:spPr>
          <a:xfrm>
            <a:off x="567159" y="428263"/>
            <a:ext cx="8573947" cy="2862322"/>
          </a:xfrm>
          <a:prstGeom prst="rect">
            <a:avLst/>
          </a:prstGeom>
          <a:noFill/>
        </p:spPr>
        <p:txBody>
          <a:bodyPr wrap="square">
            <a:spAutoFit/>
          </a:bodyPr>
          <a:lstStyle/>
          <a:p>
            <a:pPr>
              <a:buNone/>
            </a:pPr>
            <a:r>
              <a:rPr lang="en-US" b="1" dirty="0"/>
              <a:t>Step-by-Step Example</a:t>
            </a:r>
          </a:p>
          <a:p>
            <a:pPr>
              <a:buNone/>
            </a:pPr>
            <a:r>
              <a:rPr lang="en-US" dirty="0"/>
              <a:t>Both P0 and P1 want to enter:</a:t>
            </a:r>
          </a:p>
          <a:p>
            <a:pPr>
              <a:buFont typeface="+mj-lt"/>
              <a:buAutoNum type="arabicPeriod"/>
            </a:pPr>
            <a:r>
              <a:rPr lang="en-US" dirty="0">
                <a:latin typeface="Courier New" panose="02070309020205020404" pitchFamily="49" charset="0"/>
              </a:rPr>
              <a:t>flag[0] = true</a:t>
            </a:r>
            <a:r>
              <a:rPr lang="en-US" dirty="0"/>
              <a:t>, </a:t>
            </a:r>
            <a:r>
              <a:rPr lang="en-US" dirty="0">
                <a:latin typeface="Courier New" panose="02070309020205020404" pitchFamily="49" charset="0"/>
              </a:rPr>
              <a:t>flag[1] = true</a:t>
            </a:r>
            <a:endParaRPr lang="en-US" dirty="0"/>
          </a:p>
          <a:p>
            <a:pPr>
              <a:buFont typeface="+mj-lt"/>
              <a:buAutoNum type="arabicPeriod"/>
            </a:pPr>
            <a:r>
              <a:rPr lang="en-US" dirty="0"/>
              <a:t>Both set </a:t>
            </a:r>
            <a:r>
              <a:rPr lang="en-US" dirty="0">
                <a:latin typeface="Courier New" panose="02070309020205020404" pitchFamily="49" charset="0"/>
              </a:rPr>
              <a:t>turn</a:t>
            </a:r>
            <a:r>
              <a:rPr lang="en-US" dirty="0"/>
              <a:t> (last write decides)</a:t>
            </a:r>
          </a:p>
          <a:p>
            <a:pPr>
              <a:buFont typeface="+mj-lt"/>
              <a:buAutoNum type="arabicPeriod"/>
            </a:pPr>
            <a:r>
              <a:rPr lang="en-US" dirty="0"/>
              <a:t>Suppose </a:t>
            </a:r>
            <a:r>
              <a:rPr lang="en-US" dirty="0">
                <a:latin typeface="Courier New" panose="02070309020205020404" pitchFamily="49" charset="0"/>
              </a:rPr>
              <a:t>turn = 1</a:t>
            </a:r>
            <a:endParaRPr lang="en-US" dirty="0"/>
          </a:p>
          <a:p>
            <a:pPr>
              <a:buFont typeface="+mj-lt"/>
              <a:buAutoNum type="arabicPeriod"/>
            </a:pPr>
            <a:r>
              <a:rPr lang="en-US" dirty="0"/>
              <a:t>P1 enters critical section</a:t>
            </a:r>
          </a:p>
          <a:p>
            <a:pPr>
              <a:buFont typeface="+mj-lt"/>
              <a:buAutoNum type="arabicPeriod"/>
            </a:pPr>
            <a:r>
              <a:rPr lang="en-US" dirty="0"/>
              <a:t>P0 waits</a:t>
            </a:r>
          </a:p>
          <a:p>
            <a:pPr>
              <a:buFont typeface="+mj-lt"/>
              <a:buAutoNum type="arabicPeriod"/>
            </a:pPr>
            <a:r>
              <a:rPr lang="en-US" dirty="0"/>
              <a:t>P1 exits → </a:t>
            </a:r>
            <a:r>
              <a:rPr lang="en-US" dirty="0">
                <a:latin typeface="Courier New" panose="02070309020205020404" pitchFamily="49" charset="0"/>
              </a:rPr>
              <a:t>flag[1] = false</a:t>
            </a:r>
            <a:endParaRPr lang="en-US" dirty="0"/>
          </a:p>
          <a:p>
            <a:pPr>
              <a:buFont typeface="+mj-lt"/>
              <a:buAutoNum type="arabicPeriod"/>
            </a:pPr>
            <a:r>
              <a:rPr lang="en-US" dirty="0"/>
              <a:t>P0 enters</a:t>
            </a:r>
          </a:p>
          <a:p>
            <a:pPr>
              <a:buNone/>
            </a:pPr>
            <a:r>
              <a:rPr lang="en-US" dirty="0"/>
              <a:t>✔ Safe and fair</a:t>
            </a:r>
          </a:p>
        </p:txBody>
      </p:sp>
      <p:graphicFrame>
        <p:nvGraphicFramePr>
          <p:cNvPr id="8" name="Table 7">
            <a:extLst>
              <a:ext uri="{FF2B5EF4-FFF2-40B4-BE49-F238E27FC236}">
                <a16:creationId xmlns:a16="http://schemas.microsoft.com/office/drawing/2014/main" id="{9BCFC0FF-298D-56E3-BABE-28AD37652705}"/>
              </a:ext>
            </a:extLst>
          </p:cNvPr>
          <p:cNvGraphicFramePr>
            <a:graphicFrameLocks noGrp="1"/>
          </p:cNvGraphicFramePr>
          <p:nvPr>
            <p:extLst>
              <p:ext uri="{D42A27DB-BD31-4B8C-83A1-F6EECF244321}">
                <p14:modId xmlns:p14="http://schemas.microsoft.com/office/powerpoint/2010/main" val="37598534"/>
              </p:ext>
            </p:extLst>
          </p:nvPr>
        </p:nvGraphicFramePr>
        <p:xfrm>
          <a:off x="358814" y="4143736"/>
          <a:ext cx="6614872" cy="2254749"/>
        </p:xfrm>
        <a:graphic>
          <a:graphicData uri="http://schemas.openxmlformats.org/drawingml/2006/table">
            <a:tbl>
              <a:tblPr/>
              <a:tblGrid>
                <a:gridCol w="3307436">
                  <a:extLst>
                    <a:ext uri="{9D8B030D-6E8A-4147-A177-3AD203B41FA5}">
                      <a16:colId xmlns:a16="http://schemas.microsoft.com/office/drawing/2014/main" val="2291577828"/>
                    </a:ext>
                  </a:extLst>
                </a:gridCol>
                <a:gridCol w="3307436">
                  <a:extLst>
                    <a:ext uri="{9D8B030D-6E8A-4147-A177-3AD203B41FA5}">
                      <a16:colId xmlns:a16="http://schemas.microsoft.com/office/drawing/2014/main" val="1793091108"/>
                    </a:ext>
                  </a:extLst>
                </a:gridCol>
              </a:tblGrid>
              <a:tr h="538223">
                <a:tc>
                  <a:txBody>
                    <a:bodyPr/>
                    <a:lstStyle/>
                    <a:p>
                      <a:pPr>
                        <a:buNone/>
                      </a:pPr>
                      <a:r>
                        <a:rPr lang="en-IN"/>
                        <a:t>Requirement</a:t>
                      </a:r>
                    </a:p>
                  </a:txBody>
                  <a:tcPr anchor="ctr">
                    <a:lnL>
                      <a:noFill/>
                    </a:lnL>
                    <a:lnR>
                      <a:noFill/>
                    </a:lnR>
                    <a:lnT>
                      <a:noFill/>
                    </a:lnT>
                    <a:lnB>
                      <a:noFill/>
                    </a:lnB>
                    <a:noFill/>
                  </a:tcPr>
                </a:tc>
                <a:tc>
                  <a:txBody>
                    <a:bodyPr/>
                    <a:lstStyle/>
                    <a:p>
                      <a:pPr>
                        <a:buNone/>
                      </a:pPr>
                      <a:r>
                        <a:rPr lang="en-IN"/>
                        <a:t>Why It Works</a:t>
                      </a:r>
                    </a:p>
                  </a:txBody>
                  <a:tcPr anchor="ctr">
                    <a:lnL>
                      <a:noFill/>
                    </a:lnL>
                    <a:lnR>
                      <a:noFill/>
                    </a:lnR>
                    <a:lnT>
                      <a:noFill/>
                    </a:lnT>
                    <a:lnB>
                      <a:noFill/>
                    </a:lnB>
                    <a:noFill/>
                  </a:tcPr>
                </a:tc>
                <a:extLst>
                  <a:ext uri="{0D108BD9-81ED-4DB2-BD59-A6C34878D82A}">
                    <a16:rowId xmlns:a16="http://schemas.microsoft.com/office/drawing/2014/main" val="2968152670"/>
                  </a:ext>
                </a:extLst>
              </a:tr>
              <a:tr h="538223">
                <a:tc>
                  <a:txBody>
                    <a:bodyPr/>
                    <a:lstStyle/>
                    <a:p>
                      <a:pPr>
                        <a:buNone/>
                      </a:pPr>
                      <a:r>
                        <a:rPr lang="en-IN" dirty="0"/>
                        <a:t>Mutual Exclusion</a:t>
                      </a:r>
                    </a:p>
                  </a:txBody>
                  <a:tcPr anchor="ctr">
                    <a:lnL>
                      <a:noFill/>
                    </a:lnL>
                    <a:lnR>
                      <a:noFill/>
                    </a:lnR>
                    <a:lnT>
                      <a:noFill/>
                    </a:lnT>
                    <a:lnB>
                      <a:noFill/>
                    </a:lnB>
                    <a:noFill/>
                  </a:tcPr>
                </a:tc>
                <a:tc>
                  <a:txBody>
                    <a:bodyPr/>
                    <a:lstStyle/>
                    <a:p>
                      <a:pPr>
                        <a:buNone/>
                      </a:pPr>
                      <a:r>
                        <a:rPr lang="en-US"/>
                        <a:t>Only one process passes while loop</a:t>
                      </a:r>
                    </a:p>
                  </a:txBody>
                  <a:tcPr anchor="ctr">
                    <a:lnL>
                      <a:noFill/>
                    </a:lnL>
                    <a:lnR>
                      <a:noFill/>
                    </a:lnR>
                    <a:lnT>
                      <a:noFill/>
                    </a:lnT>
                    <a:lnB>
                      <a:noFill/>
                    </a:lnB>
                    <a:noFill/>
                  </a:tcPr>
                </a:tc>
                <a:extLst>
                  <a:ext uri="{0D108BD9-81ED-4DB2-BD59-A6C34878D82A}">
                    <a16:rowId xmlns:a16="http://schemas.microsoft.com/office/drawing/2014/main" val="2093128938"/>
                  </a:ext>
                </a:extLst>
              </a:tr>
              <a:tr h="538223">
                <a:tc>
                  <a:txBody>
                    <a:bodyPr/>
                    <a:lstStyle/>
                    <a:p>
                      <a:pPr>
                        <a:buNone/>
                      </a:pPr>
                      <a:r>
                        <a:rPr lang="en-IN"/>
                        <a:t>Progress</a:t>
                      </a:r>
                    </a:p>
                  </a:txBody>
                  <a:tcPr anchor="ctr">
                    <a:lnL>
                      <a:noFill/>
                    </a:lnL>
                    <a:lnR>
                      <a:noFill/>
                    </a:lnR>
                    <a:lnT>
                      <a:noFill/>
                    </a:lnT>
                    <a:lnB>
                      <a:noFill/>
                    </a:lnB>
                    <a:noFill/>
                  </a:tcPr>
                </a:tc>
                <a:tc>
                  <a:txBody>
                    <a:bodyPr/>
                    <a:lstStyle/>
                    <a:p>
                      <a:pPr>
                        <a:buNone/>
                      </a:pPr>
                      <a:r>
                        <a:rPr lang="en-IN"/>
                        <a:t>No unnecessary waiting</a:t>
                      </a:r>
                    </a:p>
                  </a:txBody>
                  <a:tcPr anchor="ctr">
                    <a:lnL>
                      <a:noFill/>
                    </a:lnL>
                    <a:lnR>
                      <a:noFill/>
                    </a:lnR>
                    <a:lnT>
                      <a:noFill/>
                    </a:lnT>
                    <a:lnB>
                      <a:noFill/>
                    </a:lnB>
                    <a:noFill/>
                  </a:tcPr>
                </a:tc>
                <a:extLst>
                  <a:ext uri="{0D108BD9-81ED-4DB2-BD59-A6C34878D82A}">
                    <a16:rowId xmlns:a16="http://schemas.microsoft.com/office/drawing/2014/main" val="4102885542"/>
                  </a:ext>
                </a:extLst>
              </a:tr>
              <a:tr h="538223">
                <a:tc>
                  <a:txBody>
                    <a:bodyPr/>
                    <a:lstStyle/>
                    <a:p>
                      <a:pPr>
                        <a:buNone/>
                      </a:pPr>
                      <a:r>
                        <a:rPr lang="en-IN"/>
                        <a:t>Bounded Waiting</a:t>
                      </a:r>
                    </a:p>
                  </a:txBody>
                  <a:tcPr anchor="ctr">
                    <a:lnL>
                      <a:noFill/>
                    </a:lnL>
                    <a:lnR>
                      <a:noFill/>
                    </a:lnR>
                    <a:lnT>
                      <a:noFill/>
                    </a:lnT>
                    <a:lnB>
                      <a:noFill/>
                    </a:lnB>
                    <a:noFill/>
                  </a:tcPr>
                </a:tc>
                <a:tc>
                  <a:txBody>
                    <a:bodyPr/>
                    <a:lstStyle/>
                    <a:p>
                      <a:pPr>
                        <a:buNone/>
                      </a:pPr>
                      <a:r>
                        <a:rPr lang="en-IN" dirty="0"/>
                        <a:t>Turn ensures fairness</a:t>
                      </a:r>
                    </a:p>
                  </a:txBody>
                  <a:tcPr anchor="ctr">
                    <a:lnL>
                      <a:noFill/>
                    </a:lnL>
                    <a:lnR>
                      <a:noFill/>
                    </a:lnR>
                    <a:lnT>
                      <a:noFill/>
                    </a:lnT>
                    <a:lnB>
                      <a:noFill/>
                    </a:lnB>
                    <a:noFill/>
                  </a:tcPr>
                </a:tc>
                <a:extLst>
                  <a:ext uri="{0D108BD9-81ED-4DB2-BD59-A6C34878D82A}">
                    <a16:rowId xmlns:a16="http://schemas.microsoft.com/office/drawing/2014/main" val="1694489515"/>
                  </a:ext>
                </a:extLst>
              </a:tr>
            </a:tbl>
          </a:graphicData>
        </a:graphic>
      </p:graphicFrame>
      <p:sp>
        <p:nvSpPr>
          <p:cNvPr id="9" name="Rectangle 4">
            <a:extLst>
              <a:ext uri="{FF2B5EF4-FFF2-40B4-BE49-F238E27FC236}">
                <a16:creationId xmlns:a16="http://schemas.microsoft.com/office/drawing/2014/main" id="{C0230D07-7232-2ADD-B603-4D046C80B259}"/>
              </a:ext>
            </a:extLst>
          </p:cNvPr>
          <p:cNvSpPr>
            <a:spLocks noChangeArrowheads="1"/>
          </p:cNvSpPr>
          <p:nvPr/>
        </p:nvSpPr>
        <p:spPr bwMode="auto">
          <a:xfrm>
            <a:off x="282393" y="3546176"/>
            <a:ext cx="7669415" cy="553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Arial" panose="020B0604020202020204" pitchFamily="34" charset="0"/>
              </a:rPr>
              <a:t>Why Peterson’s Solution Is Correct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95840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88F95B-AFB0-B784-A0D4-6EF7C237E03D}"/>
              </a:ext>
            </a:extLst>
          </p:cNvPr>
          <p:cNvSpPr txBox="1"/>
          <p:nvPr/>
        </p:nvSpPr>
        <p:spPr>
          <a:xfrm>
            <a:off x="497711" y="300943"/>
            <a:ext cx="11528385" cy="6924973"/>
          </a:xfrm>
          <a:prstGeom prst="rect">
            <a:avLst/>
          </a:prstGeom>
          <a:noFill/>
        </p:spPr>
        <p:txBody>
          <a:bodyPr wrap="square">
            <a:spAutoFit/>
          </a:bodyPr>
          <a:lstStyle/>
          <a:p>
            <a:r>
              <a:rPr lang="en-US" sz="2400" b="1" dirty="0" err="1"/>
              <a:t>Semaphone</a:t>
            </a:r>
            <a:endParaRPr lang="en-US" sz="2400" b="1" dirty="0"/>
          </a:p>
          <a:p>
            <a:endParaRPr lang="en-US" sz="2400" b="1" dirty="0"/>
          </a:p>
          <a:p>
            <a:r>
              <a:rPr lang="en-US" dirty="0"/>
              <a:t>A semaphore is a synchronization tool used to control access to shared resources by multiple processes.</a:t>
            </a:r>
          </a:p>
          <a:p>
            <a:r>
              <a:rPr lang="en-US" dirty="0"/>
              <a:t>A </a:t>
            </a:r>
            <a:r>
              <a:rPr lang="en-US" b="1" dirty="0"/>
              <a:t>semaphore</a:t>
            </a:r>
            <a:r>
              <a:rPr lang="en-US" dirty="0"/>
              <a:t> is like a </a:t>
            </a:r>
            <a:r>
              <a:rPr lang="en-US" b="1" dirty="0"/>
              <a:t>gatekeeper</a:t>
            </a:r>
            <a:r>
              <a:rPr lang="en-US" dirty="0"/>
              <a:t> that controls </a:t>
            </a:r>
            <a:r>
              <a:rPr lang="en-US" b="1" dirty="0"/>
              <a:t>who can use a shared resource</a:t>
            </a:r>
            <a:r>
              <a:rPr lang="en-US" dirty="0"/>
              <a:t> and </a:t>
            </a:r>
            <a:r>
              <a:rPr lang="en-US" b="1" dirty="0"/>
              <a:t>when</a:t>
            </a:r>
            <a:r>
              <a:rPr lang="en-US" dirty="0"/>
              <a:t>.</a:t>
            </a:r>
          </a:p>
          <a:p>
            <a:endParaRPr lang="en-US" dirty="0"/>
          </a:p>
          <a:p>
            <a:r>
              <a:rPr lang="en-US" dirty="0"/>
              <a:t>It is simply an </a:t>
            </a:r>
            <a:r>
              <a:rPr lang="en-US" b="1" dirty="0"/>
              <a:t>integer variable</a:t>
            </a:r>
            <a:r>
              <a:rPr lang="en-US" dirty="0"/>
              <a:t> accessed only by two atomic operations:</a:t>
            </a:r>
          </a:p>
          <a:p>
            <a:r>
              <a:rPr lang="en-US" b="1" dirty="0"/>
              <a:t>wait()</a:t>
            </a:r>
            <a:r>
              <a:rPr lang="en-US" dirty="0"/>
              <a:t> (also called P)</a:t>
            </a:r>
          </a:p>
          <a:p>
            <a:r>
              <a:rPr lang="en-US" b="1" dirty="0"/>
              <a:t>signal()</a:t>
            </a:r>
            <a:r>
              <a:rPr lang="en-US" dirty="0"/>
              <a:t> (also called V)</a:t>
            </a:r>
          </a:p>
          <a:p>
            <a:endParaRPr lang="en-US" dirty="0"/>
          </a:p>
          <a:p>
            <a:endParaRPr lang="en-US" dirty="0"/>
          </a:p>
          <a:p>
            <a:r>
              <a:rPr lang="en-US" b="1" dirty="0"/>
              <a:t>Shared Resource</a:t>
            </a:r>
          </a:p>
          <a:p>
            <a:r>
              <a:rPr lang="en-US" dirty="0"/>
              <a:t>A </a:t>
            </a:r>
            <a:r>
              <a:rPr lang="en-US" b="1" dirty="0"/>
              <a:t>shared resource</a:t>
            </a:r>
            <a:r>
              <a:rPr lang="en-US" dirty="0"/>
              <a:t> is something that </a:t>
            </a:r>
            <a:r>
              <a:rPr lang="en-US" b="1" dirty="0"/>
              <a:t>many processes want to use</a:t>
            </a:r>
            <a:r>
              <a:rPr lang="en-US" dirty="0"/>
              <a:t>, but </a:t>
            </a:r>
            <a:r>
              <a:rPr lang="en-US" b="1" dirty="0"/>
              <a:t>only a limited number can use at a time</a:t>
            </a:r>
            <a:r>
              <a:rPr lang="en-US" dirty="0"/>
              <a:t>.</a:t>
            </a:r>
          </a:p>
          <a:p>
            <a:r>
              <a:rPr lang="en-US" dirty="0"/>
              <a:t>Examples:</a:t>
            </a:r>
          </a:p>
          <a:p>
            <a:r>
              <a:rPr lang="en-US" dirty="0"/>
              <a:t>Bank account </a:t>
            </a:r>
            <a:r>
              <a:rPr lang="en-US" dirty="0" err="1"/>
              <a:t>balance,Printer,File,Database</a:t>
            </a:r>
            <a:r>
              <a:rPr lang="en-US" dirty="0"/>
              <a:t> </a:t>
            </a:r>
            <a:r>
              <a:rPr lang="en-US" dirty="0" err="1"/>
              <a:t>record,CPU</a:t>
            </a:r>
            <a:endParaRPr lang="en-US" dirty="0"/>
          </a:p>
          <a:p>
            <a:endParaRPr lang="en-US" dirty="0"/>
          </a:p>
          <a:p>
            <a:r>
              <a:rPr lang="en-US" b="1" dirty="0"/>
              <a:t>What Does a Semaphore Do?</a:t>
            </a:r>
          </a:p>
          <a:p>
            <a:r>
              <a:rPr lang="en-US" dirty="0"/>
              <a:t>A </a:t>
            </a:r>
            <a:r>
              <a:rPr lang="en-US" b="1" dirty="0"/>
              <a:t>semaphore</a:t>
            </a:r>
            <a:r>
              <a:rPr lang="en-US" dirty="0"/>
              <a:t>:</a:t>
            </a:r>
          </a:p>
          <a:p>
            <a:r>
              <a:rPr lang="en-US" b="1" dirty="0"/>
              <a:t>Counts</a:t>
            </a:r>
            <a:r>
              <a:rPr lang="en-US" dirty="0"/>
              <a:t> how many processes are allowed to use the resource</a:t>
            </a:r>
          </a:p>
          <a:p>
            <a:r>
              <a:rPr lang="en-US" b="1" dirty="0"/>
              <a:t>Stops extra processes</a:t>
            </a:r>
            <a:r>
              <a:rPr lang="en-US" dirty="0"/>
              <a:t> from entering</a:t>
            </a:r>
          </a:p>
          <a:p>
            <a:r>
              <a:rPr lang="en-US" dirty="0"/>
              <a:t>Makes others </a:t>
            </a:r>
            <a:r>
              <a:rPr lang="en-US" b="1" dirty="0"/>
              <a:t>wait</a:t>
            </a:r>
          </a:p>
          <a:p>
            <a:endParaRPr lang="en-US" b="1" dirty="0"/>
          </a:p>
          <a:p>
            <a:endParaRPr lang="en-US" dirty="0"/>
          </a:p>
          <a:p>
            <a:endParaRPr lang="en-US" dirty="0"/>
          </a:p>
          <a:p>
            <a:endParaRPr lang="en-IN" dirty="0"/>
          </a:p>
        </p:txBody>
      </p:sp>
    </p:spTree>
    <p:extLst>
      <p:ext uri="{BB962C8B-B14F-4D97-AF65-F5344CB8AC3E}">
        <p14:creationId xmlns:p14="http://schemas.microsoft.com/office/powerpoint/2010/main" val="7299543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0574FB5C-BA67-D986-D3EB-95A25DF08319}"/>
              </a:ext>
            </a:extLst>
          </p:cNvPr>
          <p:cNvGraphicFramePr>
            <a:graphicFrameLocks noGrp="1"/>
          </p:cNvGraphicFramePr>
          <p:nvPr>
            <p:extLst>
              <p:ext uri="{D42A27DB-BD31-4B8C-83A1-F6EECF244321}">
                <p14:modId xmlns:p14="http://schemas.microsoft.com/office/powerpoint/2010/main" val="3323013913"/>
              </p:ext>
            </p:extLst>
          </p:nvPr>
        </p:nvGraphicFramePr>
        <p:xfrm>
          <a:off x="370390" y="2291787"/>
          <a:ext cx="7836062" cy="2806788"/>
        </p:xfrm>
        <a:graphic>
          <a:graphicData uri="http://schemas.openxmlformats.org/drawingml/2006/table">
            <a:tbl>
              <a:tblPr/>
              <a:tblGrid>
                <a:gridCol w="3918031">
                  <a:extLst>
                    <a:ext uri="{9D8B030D-6E8A-4147-A177-3AD203B41FA5}">
                      <a16:colId xmlns:a16="http://schemas.microsoft.com/office/drawing/2014/main" val="3187177352"/>
                    </a:ext>
                  </a:extLst>
                </a:gridCol>
                <a:gridCol w="3918031">
                  <a:extLst>
                    <a:ext uri="{9D8B030D-6E8A-4147-A177-3AD203B41FA5}">
                      <a16:colId xmlns:a16="http://schemas.microsoft.com/office/drawing/2014/main" val="2282318741"/>
                    </a:ext>
                  </a:extLst>
                </a:gridCol>
              </a:tblGrid>
              <a:tr h="467798">
                <a:tc>
                  <a:txBody>
                    <a:bodyPr/>
                    <a:lstStyle/>
                    <a:p>
                      <a:pPr>
                        <a:buNone/>
                      </a:pPr>
                      <a:r>
                        <a:rPr lang="en-IN"/>
                        <a:t>Step</a:t>
                      </a:r>
                    </a:p>
                  </a:txBody>
                  <a:tcPr anchor="ctr">
                    <a:lnL>
                      <a:noFill/>
                    </a:lnL>
                    <a:lnR>
                      <a:noFill/>
                    </a:lnR>
                    <a:lnT>
                      <a:noFill/>
                    </a:lnT>
                    <a:lnB>
                      <a:noFill/>
                    </a:lnB>
                    <a:noFill/>
                  </a:tcPr>
                </a:tc>
                <a:tc>
                  <a:txBody>
                    <a:bodyPr/>
                    <a:lstStyle/>
                    <a:p>
                      <a:pPr>
                        <a:buNone/>
                      </a:pPr>
                      <a:r>
                        <a:rPr lang="en-IN"/>
                        <a:t>What happens</a:t>
                      </a:r>
                    </a:p>
                  </a:txBody>
                  <a:tcPr anchor="ctr">
                    <a:lnL>
                      <a:noFill/>
                    </a:lnL>
                    <a:lnR>
                      <a:noFill/>
                    </a:lnR>
                    <a:lnT>
                      <a:noFill/>
                    </a:lnT>
                    <a:lnB>
                      <a:noFill/>
                    </a:lnB>
                    <a:noFill/>
                  </a:tcPr>
                </a:tc>
                <a:extLst>
                  <a:ext uri="{0D108BD9-81ED-4DB2-BD59-A6C34878D82A}">
                    <a16:rowId xmlns:a16="http://schemas.microsoft.com/office/drawing/2014/main" val="3119505634"/>
                  </a:ext>
                </a:extLst>
              </a:tr>
              <a:tr h="467798">
                <a:tc>
                  <a:txBody>
                    <a:bodyPr/>
                    <a:lstStyle/>
                    <a:p>
                      <a:pPr>
                        <a:buNone/>
                      </a:pPr>
                      <a:r>
                        <a:rPr lang="en-IN"/>
                        <a:t>Student 1</a:t>
                      </a:r>
                    </a:p>
                  </a:txBody>
                  <a:tcPr anchor="ctr">
                    <a:lnL>
                      <a:noFill/>
                    </a:lnL>
                    <a:lnR>
                      <a:noFill/>
                    </a:lnR>
                    <a:lnT>
                      <a:noFill/>
                    </a:lnT>
                    <a:lnB>
                      <a:noFill/>
                    </a:lnB>
                    <a:noFill/>
                  </a:tcPr>
                </a:tc>
                <a:tc>
                  <a:txBody>
                    <a:bodyPr/>
                    <a:lstStyle/>
                    <a:p>
                      <a:pPr>
                        <a:buNone/>
                      </a:pPr>
                      <a:r>
                        <a:rPr lang="en-IN"/>
                        <a:t>Gets printer (semaphore = 0)</a:t>
                      </a:r>
                    </a:p>
                  </a:txBody>
                  <a:tcPr anchor="ctr">
                    <a:lnL>
                      <a:noFill/>
                    </a:lnL>
                    <a:lnR>
                      <a:noFill/>
                    </a:lnR>
                    <a:lnT>
                      <a:noFill/>
                    </a:lnT>
                    <a:lnB>
                      <a:noFill/>
                    </a:lnB>
                    <a:noFill/>
                  </a:tcPr>
                </a:tc>
                <a:extLst>
                  <a:ext uri="{0D108BD9-81ED-4DB2-BD59-A6C34878D82A}">
                    <a16:rowId xmlns:a16="http://schemas.microsoft.com/office/drawing/2014/main" val="4113019143"/>
                  </a:ext>
                </a:extLst>
              </a:tr>
              <a:tr h="467798">
                <a:tc>
                  <a:txBody>
                    <a:bodyPr/>
                    <a:lstStyle/>
                    <a:p>
                      <a:pPr>
                        <a:buNone/>
                      </a:pPr>
                      <a:r>
                        <a:rPr lang="en-IN"/>
                        <a:t>Student 2</a:t>
                      </a:r>
                    </a:p>
                  </a:txBody>
                  <a:tcPr anchor="ctr">
                    <a:lnL>
                      <a:noFill/>
                    </a:lnL>
                    <a:lnR>
                      <a:noFill/>
                    </a:lnR>
                    <a:lnT>
                      <a:noFill/>
                    </a:lnT>
                    <a:lnB>
                      <a:noFill/>
                    </a:lnB>
                    <a:noFill/>
                  </a:tcPr>
                </a:tc>
                <a:tc>
                  <a:txBody>
                    <a:bodyPr/>
                    <a:lstStyle/>
                    <a:p>
                      <a:pPr>
                        <a:buNone/>
                      </a:pPr>
                      <a:r>
                        <a:rPr lang="en-IN"/>
                        <a:t>Waits</a:t>
                      </a:r>
                    </a:p>
                  </a:txBody>
                  <a:tcPr anchor="ctr">
                    <a:lnL>
                      <a:noFill/>
                    </a:lnL>
                    <a:lnR>
                      <a:noFill/>
                    </a:lnR>
                    <a:lnT>
                      <a:noFill/>
                    </a:lnT>
                    <a:lnB>
                      <a:noFill/>
                    </a:lnB>
                    <a:noFill/>
                  </a:tcPr>
                </a:tc>
                <a:extLst>
                  <a:ext uri="{0D108BD9-81ED-4DB2-BD59-A6C34878D82A}">
                    <a16:rowId xmlns:a16="http://schemas.microsoft.com/office/drawing/2014/main" val="1515516582"/>
                  </a:ext>
                </a:extLst>
              </a:tr>
              <a:tr h="467798">
                <a:tc>
                  <a:txBody>
                    <a:bodyPr/>
                    <a:lstStyle/>
                    <a:p>
                      <a:pPr>
                        <a:buNone/>
                      </a:pPr>
                      <a:r>
                        <a:rPr lang="en-IN"/>
                        <a:t>Student 3</a:t>
                      </a:r>
                    </a:p>
                  </a:txBody>
                  <a:tcPr anchor="ctr">
                    <a:lnL>
                      <a:noFill/>
                    </a:lnL>
                    <a:lnR>
                      <a:noFill/>
                    </a:lnR>
                    <a:lnT>
                      <a:noFill/>
                    </a:lnT>
                    <a:lnB>
                      <a:noFill/>
                    </a:lnB>
                    <a:noFill/>
                  </a:tcPr>
                </a:tc>
                <a:tc>
                  <a:txBody>
                    <a:bodyPr/>
                    <a:lstStyle/>
                    <a:p>
                      <a:pPr>
                        <a:buNone/>
                      </a:pPr>
                      <a:r>
                        <a:rPr lang="en-IN"/>
                        <a:t>Waits</a:t>
                      </a:r>
                    </a:p>
                  </a:txBody>
                  <a:tcPr anchor="ctr">
                    <a:lnL>
                      <a:noFill/>
                    </a:lnL>
                    <a:lnR>
                      <a:noFill/>
                    </a:lnR>
                    <a:lnT>
                      <a:noFill/>
                    </a:lnT>
                    <a:lnB>
                      <a:noFill/>
                    </a:lnB>
                    <a:noFill/>
                  </a:tcPr>
                </a:tc>
                <a:extLst>
                  <a:ext uri="{0D108BD9-81ED-4DB2-BD59-A6C34878D82A}">
                    <a16:rowId xmlns:a16="http://schemas.microsoft.com/office/drawing/2014/main" val="720248313"/>
                  </a:ext>
                </a:extLst>
              </a:tr>
              <a:tr h="467798">
                <a:tc>
                  <a:txBody>
                    <a:bodyPr/>
                    <a:lstStyle/>
                    <a:p>
                      <a:pPr>
                        <a:buNone/>
                      </a:pPr>
                      <a:r>
                        <a:rPr lang="en-IN"/>
                        <a:t>Student 1 finishes</a:t>
                      </a:r>
                    </a:p>
                  </a:txBody>
                  <a:tcPr anchor="ctr">
                    <a:lnL>
                      <a:noFill/>
                    </a:lnL>
                    <a:lnR>
                      <a:noFill/>
                    </a:lnR>
                    <a:lnT>
                      <a:noFill/>
                    </a:lnT>
                    <a:lnB>
                      <a:noFill/>
                    </a:lnB>
                    <a:noFill/>
                  </a:tcPr>
                </a:tc>
                <a:tc>
                  <a:txBody>
                    <a:bodyPr/>
                    <a:lstStyle/>
                    <a:p>
                      <a:pPr>
                        <a:buNone/>
                      </a:pPr>
                      <a:r>
                        <a:rPr lang="en-IN"/>
                        <a:t>Semaphore becomes 1</a:t>
                      </a:r>
                    </a:p>
                  </a:txBody>
                  <a:tcPr anchor="ctr">
                    <a:lnL>
                      <a:noFill/>
                    </a:lnL>
                    <a:lnR>
                      <a:noFill/>
                    </a:lnR>
                    <a:lnT>
                      <a:noFill/>
                    </a:lnT>
                    <a:lnB>
                      <a:noFill/>
                    </a:lnB>
                    <a:noFill/>
                  </a:tcPr>
                </a:tc>
                <a:extLst>
                  <a:ext uri="{0D108BD9-81ED-4DB2-BD59-A6C34878D82A}">
                    <a16:rowId xmlns:a16="http://schemas.microsoft.com/office/drawing/2014/main" val="2098343330"/>
                  </a:ext>
                </a:extLst>
              </a:tr>
              <a:tr h="467798">
                <a:tc>
                  <a:txBody>
                    <a:bodyPr/>
                    <a:lstStyle/>
                    <a:p>
                      <a:pPr>
                        <a:buNone/>
                      </a:pPr>
                      <a:r>
                        <a:rPr lang="en-IN" dirty="0"/>
                        <a:t>Student 2 prints</a:t>
                      </a:r>
                    </a:p>
                  </a:txBody>
                  <a:tcPr anchor="ctr">
                    <a:lnL>
                      <a:noFill/>
                    </a:lnL>
                    <a:lnR>
                      <a:noFill/>
                    </a:lnR>
                    <a:lnT>
                      <a:noFill/>
                    </a:lnT>
                    <a:lnB>
                      <a:noFill/>
                    </a:lnB>
                    <a:noFill/>
                  </a:tcPr>
                </a:tc>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372070053"/>
                  </a:ext>
                </a:extLst>
              </a:tr>
            </a:tbl>
          </a:graphicData>
        </a:graphic>
      </p:graphicFrame>
      <p:sp>
        <p:nvSpPr>
          <p:cNvPr id="3" name="Rectangle 1">
            <a:extLst>
              <a:ext uri="{FF2B5EF4-FFF2-40B4-BE49-F238E27FC236}">
                <a16:creationId xmlns:a16="http://schemas.microsoft.com/office/drawing/2014/main" id="{E676907B-F5F2-863D-F4FC-1DC36BAE39D5}"/>
              </a:ext>
            </a:extLst>
          </p:cNvPr>
          <p:cNvSpPr>
            <a:spLocks noChangeArrowheads="1"/>
          </p:cNvSpPr>
          <p:nvPr/>
        </p:nvSpPr>
        <p:spPr bwMode="auto">
          <a:xfrm>
            <a:off x="266218" y="608278"/>
            <a:ext cx="11239017" cy="15850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Arial" panose="020B0604020202020204" pitchFamily="34" charset="0"/>
              </a:rPr>
              <a:t>Real-Life Example: Printer (Very Easy)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Arial" panose="020B0604020202020204" pitchFamily="34" charset="0"/>
              </a:rPr>
              <a:t>Imagine: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One printer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100" b="0" i="0" u="none" strike="noStrike" cap="none" normalizeH="0" baseline="0" dirty="0">
                <a:ln>
                  <a:noFill/>
                </a:ln>
                <a:solidFill>
                  <a:schemeClr val="tx1"/>
                </a:solidFill>
                <a:effectLst/>
                <a:latin typeface="Arial" panose="020B0604020202020204" pitchFamily="34" charset="0"/>
              </a:rPr>
              <a:t>Many students want to print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1"/>
                </a:solidFill>
                <a:effectLst/>
                <a:latin typeface="Arial" panose="020B0604020202020204" pitchFamily="34" charset="0"/>
              </a:rPr>
              <a:t>Semaphore value = 1</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AD0376C9-D43F-FCE1-64E3-B278BDF90A44}"/>
              </a:ext>
            </a:extLst>
          </p:cNvPr>
          <p:cNvSpPr txBox="1"/>
          <p:nvPr/>
        </p:nvSpPr>
        <p:spPr>
          <a:xfrm>
            <a:off x="370391" y="5098575"/>
            <a:ext cx="8770716" cy="369332"/>
          </a:xfrm>
          <a:prstGeom prst="rect">
            <a:avLst/>
          </a:prstGeom>
          <a:noFill/>
        </p:spPr>
        <p:txBody>
          <a:bodyPr wrap="square">
            <a:spAutoFit/>
          </a:bodyPr>
          <a:lstStyle/>
          <a:p>
            <a:r>
              <a:rPr lang="en-US" dirty="0"/>
              <a:t>Semaphore ensures only one student uses printer at a time</a:t>
            </a:r>
            <a:endParaRPr lang="en-IN" dirty="0"/>
          </a:p>
        </p:txBody>
      </p:sp>
    </p:spTree>
    <p:extLst>
      <p:ext uri="{BB962C8B-B14F-4D97-AF65-F5344CB8AC3E}">
        <p14:creationId xmlns:p14="http://schemas.microsoft.com/office/powerpoint/2010/main" val="5792176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02742F-BB61-28F0-08B0-2AAE6C351C53}"/>
              </a:ext>
            </a:extLst>
          </p:cNvPr>
          <p:cNvSpPr txBox="1"/>
          <p:nvPr/>
        </p:nvSpPr>
        <p:spPr>
          <a:xfrm>
            <a:off x="324091" y="370391"/>
            <a:ext cx="8817015" cy="5078313"/>
          </a:xfrm>
          <a:prstGeom prst="rect">
            <a:avLst/>
          </a:prstGeom>
          <a:noFill/>
        </p:spPr>
        <p:txBody>
          <a:bodyPr wrap="square">
            <a:spAutoFit/>
          </a:bodyPr>
          <a:lstStyle/>
          <a:p>
            <a:pPr>
              <a:buNone/>
            </a:pPr>
            <a:r>
              <a:rPr lang="en-US" b="1" dirty="0"/>
              <a:t>How Semaphore Works (Simple Steps)</a:t>
            </a:r>
          </a:p>
          <a:p>
            <a:pPr>
              <a:buNone/>
            </a:pPr>
            <a:r>
              <a:rPr lang="en-US" b="1" dirty="0"/>
              <a:t>Semaphore has a number:</a:t>
            </a:r>
          </a:p>
          <a:p>
            <a:pPr>
              <a:buFont typeface="Arial" panose="020B0604020202020204" pitchFamily="34" charset="0"/>
              <a:buChar char="•"/>
            </a:pPr>
            <a:r>
              <a:rPr lang="en-US" dirty="0">
                <a:latin typeface="Courier New" panose="02070309020205020404" pitchFamily="49" charset="0"/>
              </a:rPr>
              <a:t>1</a:t>
            </a:r>
            <a:r>
              <a:rPr lang="en-US" dirty="0"/>
              <a:t> → resource is free</a:t>
            </a:r>
          </a:p>
          <a:p>
            <a:pPr>
              <a:buFont typeface="Arial" panose="020B0604020202020204" pitchFamily="34" charset="0"/>
              <a:buChar char="•"/>
            </a:pPr>
            <a:r>
              <a:rPr lang="en-US" dirty="0">
                <a:latin typeface="Courier New" panose="02070309020205020404" pitchFamily="49" charset="0"/>
              </a:rPr>
              <a:t>0</a:t>
            </a:r>
            <a:r>
              <a:rPr lang="en-US" dirty="0"/>
              <a:t> → resource is busy</a:t>
            </a:r>
          </a:p>
          <a:p>
            <a:pPr>
              <a:buNone/>
            </a:pPr>
            <a:r>
              <a:rPr lang="en-US" b="1" dirty="0"/>
              <a:t>Two operations:</a:t>
            </a:r>
          </a:p>
          <a:p>
            <a:pPr>
              <a:buNone/>
            </a:pPr>
            <a:r>
              <a:rPr lang="en-US" b="1" dirty="0">
                <a:latin typeface="Courier New" panose="02070309020205020404" pitchFamily="49" charset="0"/>
              </a:rPr>
              <a:t>wait()</a:t>
            </a:r>
            <a:r>
              <a:rPr lang="en-US" b="1" dirty="0"/>
              <a:t> (or P)</a:t>
            </a:r>
          </a:p>
          <a:p>
            <a:pPr>
              <a:buFont typeface="Arial" panose="020B0604020202020204" pitchFamily="34" charset="0"/>
              <a:buChar char="•"/>
            </a:pPr>
            <a:r>
              <a:rPr lang="en-US" dirty="0"/>
              <a:t>Ask permission</a:t>
            </a:r>
          </a:p>
          <a:p>
            <a:pPr>
              <a:buFont typeface="Arial" panose="020B0604020202020204" pitchFamily="34" charset="0"/>
              <a:buChar char="•"/>
            </a:pPr>
            <a:r>
              <a:rPr lang="en-US" dirty="0"/>
              <a:t>If semaphore is </a:t>
            </a:r>
            <a:r>
              <a:rPr lang="en-US" dirty="0">
                <a:latin typeface="Courier New" panose="02070309020205020404" pitchFamily="49" charset="0"/>
              </a:rPr>
              <a:t>0</a:t>
            </a:r>
            <a:r>
              <a:rPr lang="en-US" dirty="0"/>
              <a:t> → wait</a:t>
            </a:r>
          </a:p>
          <a:p>
            <a:pPr>
              <a:buNone/>
            </a:pPr>
            <a:r>
              <a:rPr lang="en-US" b="1" dirty="0">
                <a:latin typeface="Courier New" panose="02070309020205020404" pitchFamily="49" charset="0"/>
              </a:rPr>
              <a:t>signal()</a:t>
            </a:r>
            <a:r>
              <a:rPr lang="en-US" b="1" dirty="0"/>
              <a:t> (or V)</a:t>
            </a:r>
          </a:p>
          <a:p>
            <a:pPr>
              <a:buFont typeface="Arial" panose="020B0604020202020204" pitchFamily="34" charset="0"/>
              <a:buChar char="•"/>
            </a:pPr>
            <a:r>
              <a:rPr lang="en-US" dirty="0"/>
              <a:t>Release permission</a:t>
            </a:r>
          </a:p>
          <a:p>
            <a:pPr>
              <a:buFont typeface="Arial" panose="020B0604020202020204" pitchFamily="34" charset="0"/>
              <a:buChar char="•"/>
            </a:pPr>
            <a:r>
              <a:rPr lang="en-US" dirty="0"/>
              <a:t>Increases semaphore value</a:t>
            </a:r>
          </a:p>
          <a:p>
            <a:pPr>
              <a:buFont typeface="Arial" panose="020B0604020202020204" pitchFamily="34" charset="0"/>
              <a:buChar char="•"/>
            </a:pPr>
            <a:endParaRPr lang="en-US" dirty="0"/>
          </a:p>
          <a:p>
            <a:r>
              <a:rPr lang="en-IN" b="1" dirty="0"/>
              <a:t>Example: Mutual Exclusion</a:t>
            </a:r>
          </a:p>
          <a:p>
            <a:endParaRPr lang="en-US" dirty="0"/>
          </a:p>
          <a:p>
            <a:r>
              <a:rPr lang="en-US" dirty="0"/>
              <a:t>wait(mutex);       // ask permission</a:t>
            </a:r>
          </a:p>
          <a:p>
            <a:r>
              <a:rPr lang="en-US" dirty="0" err="1"/>
              <a:t>critical_section</a:t>
            </a:r>
            <a:r>
              <a:rPr lang="en-US" dirty="0"/>
              <a:t>();</a:t>
            </a:r>
          </a:p>
          <a:p>
            <a:r>
              <a:rPr lang="en-US" dirty="0"/>
              <a:t>signal(mutex);     // release permission</a:t>
            </a:r>
          </a:p>
          <a:p>
            <a:endParaRPr lang="en-US" dirty="0"/>
          </a:p>
        </p:txBody>
      </p:sp>
    </p:spTree>
    <p:extLst>
      <p:ext uri="{BB962C8B-B14F-4D97-AF65-F5344CB8AC3E}">
        <p14:creationId xmlns:p14="http://schemas.microsoft.com/office/powerpoint/2010/main" val="11668068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F79DA9-3160-9484-B026-BE9F11242850}"/>
              </a:ext>
            </a:extLst>
          </p:cNvPr>
          <p:cNvSpPr txBox="1"/>
          <p:nvPr/>
        </p:nvSpPr>
        <p:spPr>
          <a:xfrm>
            <a:off x="219919" y="92597"/>
            <a:ext cx="10486663" cy="6217087"/>
          </a:xfrm>
          <a:prstGeom prst="rect">
            <a:avLst/>
          </a:prstGeom>
          <a:noFill/>
        </p:spPr>
        <p:txBody>
          <a:bodyPr wrap="square">
            <a:spAutoFit/>
          </a:bodyPr>
          <a:lstStyle/>
          <a:p>
            <a:pPr>
              <a:buNone/>
            </a:pPr>
            <a:r>
              <a:rPr lang="en-US" sz="2000" b="1" dirty="0"/>
              <a:t>Event Counters</a:t>
            </a:r>
          </a:p>
          <a:p>
            <a:r>
              <a:rPr lang="en-US" b="1" dirty="0"/>
              <a:t>What is an Event Counter?</a:t>
            </a:r>
          </a:p>
          <a:p>
            <a:r>
              <a:rPr lang="en-US" dirty="0"/>
              <a:t>An </a:t>
            </a:r>
            <a:r>
              <a:rPr lang="en-US" b="1" dirty="0"/>
              <a:t>Event Counter</a:t>
            </a:r>
            <a:r>
              <a:rPr lang="en-US" dirty="0"/>
              <a:t> is a </a:t>
            </a:r>
            <a:r>
              <a:rPr lang="en-US" b="1" dirty="0"/>
              <a:t>synchronization mechanism</a:t>
            </a:r>
            <a:r>
              <a:rPr lang="en-US" dirty="0"/>
              <a:t> used to:</a:t>
            </a:r>
          </a:p>
          <a:p>
            <a:r>
              <a:rPr lang="en-US" b="1" dirty="0"/>
              <a:t>Count how many times an event has occurred</a:t>
            </a:r>
            <a:endParaRPr lang="en-US" dirty="0"/>
          </a:p>
          <a:p>
            <a:r>
              <a:rPr lang="en-US" dirty="0"/>
              <a:t>Allow processes to </a:t>
            </a:r>
            <a:r>
              <a:rPr lang="en-US" b="1" dirty="0"/>
              <a:t>wait until a certain number of events happen</a:t>
            </a:r>
            <a:endParaRPr lang="en-US" dirty="0"/>
          </a:p>
          <a:p>
            <a:r>
              <a:rPr lang="en-US" dirty="0"/>
              <a:t>Instead of waiting for a lock, processes wait for an </a:t>
            </a:r>
            <a:r>
              <a:rPr lang="en-US" b="1" dirty="0"/>
              <a:t>event count</a:t>
            </a:r>
            <a:r>
              <a:rPr lang="en-US" dirty="0"/>
              <a:t>.</a:t>
            </a:r>
          </a:p>
          <a:p>
            <a:pPr>
              <a:buNone/>
            </a:pPr>
            <a:endParaRPr lang="en-US" dirty="0"/>
          </a:p>
          <a:p>
            <a:r>
              <a:rPr lang="en-US" b="1" dirty="0"/>
              <a:t>Why Do We Need Event Counters?</a:t>
            </a:r>
          </a:p>
          <a:p>
            <a:r>
              <a:rPr lang="en-US" dirty="0"/>
              <a:t>Without event counters:</a:t>
            </a:r>
          </a:p>
          <a:p>
            <a:r>
              <a:rPr lang="en-US" dirty="0"/>
              <a:t>Processes may </a:t>
            </a:r>
            <a:r>
              <a:rPr lang="en-US" b="1" dirty="0"/>
              <a:t>check repeatedly</a:t>
            </a:r>
            <a:r>
              <a:rPr lang="en-US" dirty="0"/>
              <a:t> (busy waiting)</a:t>
            </a:r>
          </a:p>
          <a:p>
            <a:r>
              <a:rPr lang="en-US" dirty="0"/>
              <a:t>Ordering of events becomes difficult</a:t>
            </a:r>
          </a:p>
          <a:p>
            <a:r>
              <a:rPr lang="en-US" dirty="0"/>
              <a:t>Event counters:</a:t>
            </a:r>
            <a:br>
              <a:rPr lang="en-US" dirty="0"/>
            </a:br>
            <a:r>
              <a:rPr lang="en-US" dirty="0"/>
              <a:t>✔ Avoid busy waiting</a:t>
            </a:r>
            <a:br>
              <a:rPr lang="en-US" dirty="0"/>
            </a:br>
            <a:r>
              <a:rPr lang="en-US" dirty="0"/>
              <a:t>✔ Maintain correct </a:t>
            </a:r>
            <a:r>
              <a:rPr lang="en-US" b="1" dirty="0"/>
              <a:t>order of execution</a:t>
            </a:r>
          </a:p>
          <a:p>
            <a:endParaRPr lang="en-US" b="1" dirty="0"/>
          </a:p>
          <a:p>
            <a:r>
              <a:rPr lang="en-US" dirty="0"/>
              <a:t>P2 should execute </a:t>
            </a:r>
            <a:r>
              <a:rPr lang="en-US" b="1" dirty="0"/>
              <a:t>after P1 executes twice</a:t>
            </a:r>
          </a:p>
          <a:p>
            <a:endParaRPr lang="en-US" dirty="0"/>
          </a:p>
          <a:p>
            <a:r>
              <a:rPr lang="en-US" b="1" dirty="0"/>
              <a:t>Process P1 (Event Generator)</a:t>
            </a:r>
          </a:p>
          <a:p>
            <a:r>
              <a:rPr lang="en-US" dirty="0"/>
              <a:t>event++;</a:t>
            </a:r>
          </a:p>
          <a:p>
            <a:r>
              <a:rPr lang="en-US" b="1" dirty="0"/>
              <a:t>Process P2 (Event Waiter)</a:t>
            </a:r>
          </a:p>
          <a:p>
            <a:r>
              <a:rPr lang="en-US" dirty="0"/>
              <a:t>wait until event &gt;= k;</a:t>
            </a:r>
          </a:p>
          <a:p>
            <a:pPr>
              <a:buNone/>
            </a:pPr>
            <a:endParaRPr lang="en-US" dirty="0"/>
          </a:p>
        </p:txBody>
      </p:sp>
      <p:sp>
        <p:nvSpPr>
          <p:cNvPr id="4" name="TextBox 3">
            <a:extLst>
              <a:ext uri="{FF2B5EF4-FFF2-40B4-BE49-F238E27FC236}">
                <a16:creationId xmlns:a16="http://schemas.microsoft.com/office/drawing/2014/main" id="{57355CFD-4272-40E8-C138-02F21DCF4BD9}"/>
              </a:ext>
            </a:extLst>
          </p:cNvPr>
          <p:cNvSpPr txBox="1"/>
          <p:nvPr/>
        </p:nvSpPr>
        <p:spPr>
          <a:xfrm>
            <a:off x="5324354" y="4109013"/>
            <a:ext cx="5278056" cy="2585323"/>
          </a:xfrm>
          <a:prstGeom prst="rect">
            <a:avLst/>
          </a:prstGeom>
          <a:noFill/>
        </p:spPr>
        <p:txBody>
          <a:bodyPr wrap="square">
            <a:spAutoFit/>
          </a:bodyPr>
          <a:lstStyle/>
          <a:p>
            <a:r>
              <a:rPr lang="en-IN" dirty="0"/>
              <a:t>Initial:</a:t>
            </a:r>
          </a:p>
          <a:p>
            <a:r>
              <a:rPr lang="en-IN" dirty="0"/>
              <a:t>EC = 0</a:t>
            </a:r>
          </a:p>
          <a:p>
            <a:r>
              <a:rPr lang="en-IN" dirty="0"/>
              <a:t>Execution:</a:t>
            </a:r>
          </a:p>
          <a:p>
            <a:r>
              <a:rPr lang="en-IN" dirty="0"/>
              <a:t>P2:wait until EC &gt;= 2 → WAITING</a:t>
            </a:r>
          </a:p>
          <a:p>
            <a:r>
              <a:rPr lang="en-IN" dirty="0"/>
              <a:t>P1 runs first time:</a:t>
            </a:r>
          </a:p>
          <a:p>
            <a:r>
              <a:rPr lang="en-IN" dirty="0"/>
              <a:t>EC = 1</a:t>
            </a:r>
          </a:p>
          <a:p>
            <a:r>
              <a:rPr lang="en-IN" dirty="0"/>
              <a:t>P1 runs second time:</a:t>
            </a:r>
          </a:p>
          <a:p>
            <a:r>
              <a:rPr lang="en-IN" dirty="0"/>
              <a:t>EC = 2</a:t>
            </a:r>
          </a:p>
          <a:p>
            <a:r>
              <a:rPr lang="en-IN" dirty="0"/>
              <a:t> P2 wakes up and executes</a:t>
            </a:r>
          </a:p>
        </p:txBody>
      </p:sp>
    </p:spTree>
    <p:extLst>
      <p:ext uri="{BB962C8B-B14F-4D97-AF65-F5344CB8AC3E}">
        <p14:creationId xmlns:p14="http://schemas.microsoft.com/office/powerpoint/2010/main" val="20211240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EDC3DE-6AD9-3EDB-3874-CF67367144C0}"/>
              </a:ext>
            </a:extLst>
          </p:cNvPr>
          <p:cNvSpPr txBox="1"/>
          <p:nvPr/>
        </p:nvSpPr>
        <p:spPr>
          <a:xfrm>
            <a:off x="509286" y="324091"/>
            <a:ext cx="4560425" cy="4247317"/>
          </a:xfrm>
          <a:prstGeom prst="rect">
            <a:avLst/>
          </a:prstGeom>
          <a:noFill/>
        </p:spPr>
        <p:txBody>
          <a:bodyPr wrap="square">
            <a:spAutoFit/>
          </a:bodyPr>
          <a:lstStyle/>
          <a:p>
            <a:pPr>
              <a:buNone/>
            </a:pPr>
            <a:r>
              <a:rPr lang="en-US" b="1" dirty="0"/>
              <a:t>Operations on Event Counter</a:t>
            </a:r>
          </a:p>
          <a:p>
            <a:pPr>
              <a:buNone/>
            </a:pPr>
            <a:r>
              <a:rPr lang="en-US" b="1" dirty="0"/>
              <a:t>1️⃣ </a:t>
            </a:r>
            <a:r>
              <a:rPr lang="en-US" b="1" dirty="0">
                <a:latin typeface="Courier New" panose="02070309020205020404" pitchFamily="49" charset="0"/>
              </a:rPr>
              <a:t>Advance(E)</a:t>
            </a:r>
            <a:endParaRPr lang="en-US" b="1" dirty="0"/>
          </a:p>
          <a:p>
            <a:pPr>
              <a:buFont typeface="Arial" panose="020B0604020202020204" pitchFamily="34" charset="0"/>
              <a:buChar char="•"/>
            </a:pPr>
            <a:r>
              <a:rPr lang="en-US" dirty="0"/>
              <a:t>Increases event count by </a:t>
            </a:r>
            <a:r>
              <a:rPr lang="en-US" b="1" dirty="0"/>
              <a:t>1</a:t>
            </a:r>
            <a:endParaRPr lang="en-US" dirty="0"/>
          </a:p>
          <a:p>
            <a:pPr>
              <a:buFont typeface="Arial" panose="020B0604020202020204" pitchFamily="34" charset="0"/>
              <a:buChar char="•"/>
            </a:pPr>
            <a:r>
              <a:rPr lang="en-US" dirty="0"/>
              <a:t>Called when the event occurs</a:t>
            </a:r>
          </a:p>
          <a:p>
            <a:pPr rtl="0">
              <a:buNone/>
            </a:pPr>
            <a:r>
              <a:rPr lang="en-US" dirty="0">
                <a:latin typeface="Courier New" panose="02070309020205020404" pitchFamily="49" charset="0"/>
              </a:rPr>
              <a:t>E = E + 1</a:t>
            </a:r>
          </a:p>
          <a:p>
            <a:pPr>
              <a:buNone/>
            </a:pPr>
            <a:br>
              <a:rPr lang="en-US" dirty="0"/>
            </a:br>
            <a:endParaRPr lang="en-US" dirty="0"/>
          </a:p>
          <a:p>
            <a:pPr>
              <a:buNone/>
            </a:pPr>
            <a:r>
              <a:rPr lang="en-US" b="1" dirty="0"/>
              <a:t>2️⃣ </a:t>
            </a:r>
            <a:r>
              <a:rPr lang="en-US" b="1" dirty="0">
                <a:latin typeface="Courier New" panose="02070309020205020404" pitchFamily="49" charset="0"/>
              </a:rPr>
              <a:t>Read(E)</a:t>
            </a:r>
            <a:endParaRPr lang="en-US" b="1" dirty="0"/>
          </a:p>
          <a:p>
            <a:pPr>
              <a:buFont typeface="Arial" panose="020B0604020202020204" pitchFamily="34" charset="0"/>
              <a:buChar char="•"/>
            </a:pPr>
            <a:r>
              <a:rPr lang="en-US" dirty="0"/>
              <a:t>Returns current value of event counter</a:t>
            </a:r>
          </a:p>
          <a:p>
            <a:pPr>
              <a:buNone/>
            </a:pPr>
            <a:br>
              <a:rPr lang="en-US" dirty="0"/>
            </a:br>
            <a:endParaRPr lang="en-US" dirty="0"/>
          </a:p>
          <a:p>
            <a:pPr>
              <a:buNone/>
            </a:pPr>
            <a:r>
              <a:rPr lang="en-US" b="1" dirty="0"/>
              <a:t>3️⃣ </a:t>
            </a:r>
            <a:r>
              <a:rPr lang="en-US" b="1" dirty="0">
                <a:latin typeface="Courier New" panose="02070309020205020404" pitchFamily="49" charset="0"/>
              </a:rPr>
              <a:t>Await(E, v)</a:t>
            </a:r>
            <a:endParaRPr lang="en-US" b="1" dirty="0"/>
          </a:p>
          <a:p>
            <a:pPr>
              <a:buFont typeface="Arial" panose="020B0604020202020204" pitchFamily="34" charset="0"/>
              <a:buChar char="•"/>
            </a:pPr>
            <a:r>
              <a:rPr lang="en-US" dirty="0"/>
              <a:t>Process </a:t>
            </a:r>
            <a:r>
              <a:rPr lang="en-US" b="1" dirty="0"/>
              <a:t>waits until</a:t>
            </a:r>
            <a:endParaRPr lang="en-US" dirty="0"/>
          </a:p>
          <a:p>
            <a:pPr rtl="0">
              <a:buNone/>
            </a:pPr>
            <a:r>
              <a:rPr lang="en-US" dirty="0">
                <a:latin typeface="Courier New" panose="02070309020205020404" pitchFamily="49" charset="0"/>
              </a:rPr>
              <a:t>E ≥ v</a:t>
            </a:r>
          </a:p>
          <a:p>
            <a:pPr>
              <a:buFont typeface="Arial" panose="020B0604020202020204" pitchFamily="34" charset="0"/>
              <a:buChar char="•"/>
            </a:pPr>
            <a:r>
              <a:rPr lang="en-US" dirty="0"/>
              <a:t>No busy waiting (process sleeps)</a:t>
            </a:r>
          </a:p>
        </p:txBody>
      </p:sp>
      <p:sp>
        <p:nvSpPr>
          <p:cNvPr id="5" name="TextBox 4">
            <a:extLst>
              <a:ext uri="{FF2B5EF4-FFF2-40B4-BE49-F238E27FC236}">
                <a16:creationId xmlns:a16="http://schemas.microsoft.com/office/drawing/2014/main" id="{A1A619A5-6D57-BA72-BAFF-4DCE971C6067}"/>
              </a:ext>
            </a:extLst>
          </p:cNvPr>
          <p:cNvSpPr txBox="1"/>
          <p:nvPr/>
        </p:nvSpPr>
        <p:spPr>
          <a:xfrm>
            <a:off x="5405376" y="578735"/>
            <a:ext cx="5567424" cy="3970318"/>
          </a:xfrm>
          <a:prstGeom prst="rect">
            <a:avLst/>
          </a:prstGeom>
          <a:noFill/>
        </p:spPr>
        <p:txBody>
          <a:bodyPr wrap="square">
            <a:spAutoFit/>
          </a:bodyPr>
          <a:lstStyle/>
          <a:p>
            <a:pPr>
              <a:buNone/>
            </a:pPr>
            <a:r>
              <a:rPr lang="en-US" b="1" dirty="0"/>
              <a:t>Simple Example (Very Easy)</a:t>
            </a:r>
          </a:p>
          <a:p>
            <a:pPr>
              <a:buNone/>
            </a:pPr>
            <a:r>
              <a:rPr lang="en-US" b="1" dirty="0"/>
              <a:t>Scenario</a:t>
            </a:r>
          </a:p>
          <a:p>
            <a:pPr>
              <a:buFont typeface="Arial" panose="020B0604020202020204" pitchFamily="34" charset="0"/>
              <a:buChar char="•"/>
            </a:pPr>
            <a:r>
              <a:rPr lang="en-US" dirty="0"/>
              <a:t>Event: </a:t>
            </a:r>
            <a:r>
              <a:rPr lang="en-US" b="1" dirty="0"/>
              <a:t>File update</a:t>
            </a:r>
            <a:endParaRPr lang="en-US" dirty="0"/>
          </a:p>
          <a:p>
            <a:pPr>
              <a:buFont typeface="Arial" panose="020B0604020202020204" pitchFamily="34" charset="0"/>
              <a:buChar char="•"/>
            </a:pPr>
            <a:r>
              <a:rPr lang="en-US" dirty="0"/>
              <a:t>Process wants to run </a:t>
            </a:r>
            <a:r>
              <a:rPr lang="en-US" b="1" dirty="0"/>
              <a:t>after file is updated 3 times</a:t>
            </a:r>
            <a:endParaRPr lang="en-US" dirty="0"/>
          </a:p>
          <a:p>
            <a:pPr rtl="0">
              <a:buNone/>
            </a:pPr>
            <a:r>
              <a:rPr lang="en-US" dirty="0">
                <a:latin typeface="Courier New" panose="02070309020205020404" pitchFamily="49" charset="0"/>
              </a:rPr>
              <a:t>Await(</a:t>
            </a:r>
            <a:r>
              <a:rPr lang="en-US" dirty="0" err="1">
                <a:latin typeface="Courier New" panose="02070309020205020404" pitchFamily="49" charset="0"/>
              </a:rPr>
              <a:t>FileEvent</a:t>
            </a:r>
            <a:r>
              <a:rPr lang="en-US" dirty="0">
                <a:latin typeface="Courier New" panose="02070309020205020404" pitchFamily="49" charset="0"/>
              </a:rPr>
              <a:t>, 3)</a:t>
            </a:r>
          </a:p>
          <a:p>
            <a:pPr rtl="0">
              <a:buNone/>
            </a:pPr>
            <a:endParaRPr lang="en-US" dirty="0">
              <a:latin typeface="Courier New" panose="02070309020205020404" pitchFamily="49" charset="0"/>
            </a:endParaRPr>
          </a:p>
          <a:p>
            <a:pPr>
              <a:buFont typeface="Arial" panose="020B0604020202020204" pitchFamily="34" charset="0"/>
              <a:buChar char="•"/>
            </a:pPr>
            <a:r>
              <a:rPr lang="en-US" dirty="0"/>
              <a:t>File updated → </a:t>
            </a:r>
            <a:r>
              <a:rPr lang="en-US" dirty="0">
                <a:latin typeface="Courier New" panose="02070309020205020404" pitchFamily="49" charset="0"/>
              </a:rPr>
              <a:t>Advance(</a:t>
            </a:r>
            <a:r>
              <a:rPr lang="en-US" dirty="0" err="1">
                <a:latin typeface="Courier New" panose="02070309020205020404" pitchFamily="49" charset="0"/>
              </a:rPr>
              <a:t>FileEvent</a:t>
            </a:r>
            <a:r>
              <a:rPr lang="en-US" dirty="0">
                <a:latin typeface="Courier New" panose="02070309020205020404" pitchFamily="49" charset="0"/>
              </a:rPr>
              <a:t>)</a:t>
            </a:r>
            <a:endParaRPr lang="en-US" dirty="0"/>
          </a:p>
          <a:p>
            <a:pPr>
              <a:buFont typeface="Arial" panose="020B0604020202020204" pitchFamily="34" charset="0"/>
              <a:buChar char="•"/>
            </a:pPr>
            <a:r>
              <a:rPr lang="en-US" dirty="0"/>
              <a:t>After 3 updates → process wakes up</a:t>
            </a:r>
          </a:p>
          <a:p>
            <a:pPr>
              <a:buFont typeface="Arial" panose="020B0604020202020204" pitchFamily="34" charset="0"/>
              <a:buChar char="•"/>
            </a:pPr>
            <a:endParaRPr lang="en-US" dirty="0"/>
          </a:p>
          <a:p>
            <a:r>
              <a:rPr lang="en-US" b="1" dirty="0"/>
              <a:t>Example</a:t>
            </a:r>
          </a:p>
          <a:p>
            <a:r>
              <a:rPr lang="en-US" dirty="0"/>
              <a:t>Event = “File written”</a:t>
            </a:r>
          </a:p>
          <a:p>
            <a:r>
              <a:rPr lang="en-US" dirty="0"/>
              <a:t>Process waits until file is written </a:t>
            </a:r>
            <a:r>
              <a:rPr lang="en-US" b="1" dirty="0"/>
              <a:t>3 times</a:t>
            </a:r>
            <a:endParaRPr lang="en-US" dirty="0"/>
          </a:p>
          <a:p>
            <a:r>
              <a:rPr lang="en-US" dirty="0"/>
              <a:t>Await(</a:t>
            </a:r>
            <a:r>
              <a:rPr lang="en-US" dirty="0" err="1"/>
              <a:t>write_event</a:t>
            </a:r>
            <a:r>
              <a:rPr lang="en-US" dirty="0"/>
              <a:t>, 3)</a:t>
            </a:r>
          </a:p>
          <a:p>
            <a:endParaRPr lang="en-US" dirty="0"/>
          </a:p>
        </p:txBody>
      </p:sp>
    </p:spTree>
    <p:extLst>
      <p:ext uri="{BB962C8B-B14F-4D97-AF65-F5344CB8AC3E}">
        <p14:creationId xmlns:p14="http://schemas.microsoft.com/office/powerpoint/2010/main" val="9697660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D5B9A9AB-6113-DA11-340D-2795BBA96997}"/>
              </a:ext>
            </a:extLst>
          </p:cNvPr>
          <p:cNvGraphicFramePr>
            <a:graphicFrameLocks noGrp="1"/>
          </p:cNvGraphicFramePr>
          <p:nvPr>
            <p:extLst>
              <p:ext uri="{D42A27DB-BD31-4B8C-83A1-F6EECF244321}">
                <p14:modId xmlns:p14="http://schemas.microsoft.com/office/powerpoint/2010/main" val="540043804"/>
              </p:ext>
            </p:extLst>
          </p:nvPr>
        </p:nvGraphicFramePr>
        <p:xfrm>
          <a:off x="717630" y="451413"/>
          <a:ext cx="7650867" cy="2222340"/>
        </p:xfrm>
        <a:graphic>
          <a:graphicData uri="http://schemas.openxmlformats.org/drawingml/2006/table">
            <a:tbl>
              <a:tblPr/>
              <a:tblGrid>
                <a:gridCol w="2550289">
                  <a:extLst>
                    <a:ext uri="{9D8B030D-6E8A-4147-A177-3AD203B41FA5}">
                      <a16:colId xmlns:a16="http://schemas.microsoft.com/office/drawing/2014/main" val="1358701747"/>
                    </a:ext>
                  </a:extLst>
                </a:gridCol>
                <a:gridCol w="2550289">
                  <a:extLst>
                    <a:ext uri="{9D8B030D-6E8A-4147-A177-3AD203B41FA5}">
                      <a16:colId xmlns:a16="http://schemas.microsoft.com/office/drawing/2014/main" val="634669994"/>
                    </a:ext>
                  </a:extLst>
                </a:gridCol>
                <a:gridCol w="2550289">
                  <a:extLst>
                    <a:ext uri="{9D8B030D-6E8A-4147-A177-3AD203B41FA5}">
                      <a16:colId xmlns:a16="http://schemas.microsoft.com/office/drawing/2014/main" val="1073008893"/>
                    </a:ext>
                  </a:extLst>
                </a:gridCol>
              </a:tblGrid>
              <a:tr h="370390">
                <a:tc>
                  <a:txBody>
                    <a:bodyPr/>
                    <a:lstStyle/>
                    <a:p>
                      <a:pPr>
                        <a:buNone/>
                      </a:pPr>
                      <a:r>
                        <a:rPr lang="en-IN"/>
                        <a:t>Step</a:t>
                      </a:r>
                    </a:p>
                  </a:txBody>
                  <a:tcPr anchor="ctr">
                    <a:lnL>
                      <a:noFill/>
                    </a:lnL>
                    <a:lnR>
                      <a:noFill/>
                    </a:lnR>
                    <a:lnT>
                      <a:noFill/>
                    </a:lnT>
                    <a:lnB>
                      <a:noFill/>
                    </a:lnB>
                    <a:noFill/>
                  </a:tcPr>
                </a:tc>
                <a:tc>
                  <a:txBody>
                    <a:bodyPr/>
                    <a:lstStyle/>
                    <a:p>
                      <a:pPr>
                        <a:buNone/>
                      </a:pPr>
                      <a:r>
                        <a:rPr lang="en-IN"/>
                        <a:t>Event Counter (E)</a:t>
                      </a:r>
                    </a:p>
                  </a:txBody>
                  <a:tcPr anchor="ctr">
                    <a:lnL>
                      <a:noFill/>
                    </a:lnL>
                    <a:lnR>
                      <a:noFill/>
                    </a:lnR>
                    <a:lnT>
                      <a:noFill/>
                    </a:lnT>
                    <a:lnB>
                      <a:noFill/>
                    </a:lnB>
                    <a:noFill/>
                  </a:tcPr>
                </a:tc>
                <a:tc>
                  <a:txBody>
                    <a:bodyPr/>
                    <a:lstStyle/>
                    <a:p>
                      <a:pPr>
                        <a:buNone/>
                      </a:pPr>
                      <a:r>
                        <a:rPr lang="en-IN"/>
                        <a:t>Action</a:t>
                      </a:r>
                    </a:p>
                  </a:txBody>
                  <a:tcPr anchor="ctr">
                    <a:lnL>
                      <a:noFill/>
                    </a:lnL>
                    <a:lnR>
                      <a:noFill/>
                    </a:lnR>
                    <a:lnT>
                      <a:noFill/>
                    </a:lnT>
                    <a:lnB>
                      <a:noFill/>
                    </a:lnB>
                    <a:noFill/>
                  </a:tcPr>
                </a:tc>
                <a:extLst>
                  <a:ext uri="{0D108BD9-81ED-4DB2-BD59-A6C34878D82A}">
                    <a16:rowId xmlns:a16="http://schemas.microsoft.com/office/drawing/2014/main" val="2142932105"/>
                  </a:ext>
                </a:extLst>
              </a:tr>
              <a:tr h="370390">
                <a:tc>
                  <a:txBody>
                    <a:bodyPr/>
                    <a:lstStyle/>
                    <a:p>
                      <a:pPr>
                        <a:buNone/>
                      </a:pPr>
                      <a:r>
                        <a:rPr lang="en-IN"/>
                        <a:t>1</a:t>
                      </a:r>
                    </a:p>
                  </a:txBody>
                  <a:tcPr anchor="ctr">
                    <a:lnL>
                      <a:noFill/>
                    </a:lnL>
                    <a:lnR>
                      <a:noFill/>
                    </a:lnR>
                    <a:lnT>
                      <a:noFill/>
                    </a:lnT>
                    <a:lnB>
                      <a:noFill/>
                    </a:lnB>
                    <a:noFill/>
                  </a:tcPr>
                </a:tc>
                <a:tc>
                  <a:txBody>
                    <a:bodyPr/>
                    <a:lstStyle/>
                    <a:p>
                      <a:pPr>
                        <a:buNone/>
                      </a:pPr>
                      <a:r>
                        <a:rPr lang="en-IN"/>
                        <a:t>0</a:t>
                      </a:r>
                    </a:p>
                  </a:txBody>
                  <a:tcPr anchor="ctr">
                    <a:lnL>
                      <a:noFill/>
                    </a:lnL>
                    <a:lnR>
                      <a:noFill/>
                    </a:lnR>
                    <a:lnT>
                      <a:noFill/>
                    </a:lnT>
                    <a:lnB>
                      <a:noFill/>
                    </a:lnB>
                    <a:noFill/>
                  </a:tcPr>
                </a:tc>
                <a:tc>
                  <a:txBody>
                    <a:bodyPr/>
                    <a:lstStyle/>
                    <a:p>
                      <a:pPr>
                        <a:buNone/>
                      </a:pPr>
                      <a:r>
                        <a:rPr lang="en-IN"/>
                        <a:t>Process waits for 3</a:t>
                      </a:r>
                    </a:p>
                  </a:txBody>
                  <a:tcPr anchor="ctr">
                    <a:lnL>
                      <a:noFill/>
                    </a:lnL>
                    <a:lnR>
                      <a:noFill/>
                    </a:lnR>
                    <a:lnT>
                      <a:noFill/>
                    </a:lnT>
                    <a:lnB>
                      <a:noFill/>
                    </a:lnB>
                    <a:noFill/>
                  </a:tcPr>
                </a:tc>
                <a:extLst>
                  <a:ext uri="{0D108BD9-81ED-4DB2-BD59-A6C34878D82A}">
                    <a16:rowId xmlns:a16="http://schemas.microsoft.com/office/drawing/2014/main" val="576633638"/>
                  </a:ext>
                </a:extLst>
              </a:tr>
              <a:tr h="370390">
                <a:tc>
                  <a:txBody>
                    <a:bodyPr/>
                    <a:lstStyle/>
                    <a:p>
                      <a:pPr>
                        <a:buNone/>
                      </a:pPr>
                      <a:r>
                        <a:rPr lang="en-IN"/>
                        <a:t>2</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tc>
                  <a:txBody>
                    <a:bodyPr/>
                    <a:lstStyle/>
                    <a:p>
                      <a:pPr>
                        <a:buNone/>
                      </a:pPr>
                      <a:r>
                        <a:rPr lang="en-IN"/>
                        <a:t>First event occurs</a:t>
                      </a:r>
                    </a:p>
                  </a:txBody>
                  <a:tcPr anchor="ctr">
                    <a:lnL>
                      <a:noFill/>
                    </a:lnL>
                    <a:lnR>
                      <a:noFill/>
                    </a:lnR>
                    <a:lnT>
                      <a:noFill/>
                    </a:lnT>
                    <a:lnB>
                      <a:noFill/>
                    </a:lnB>
                    <a:noFill/>
                  </a:tcPr>
                </a:tc>
                <a:extLst>
                  <a:ext uri="{0D108BD9-81ED-4DB2-BD59-A6C34878D82A}">
                    <a16:rowId xmlns:a16="http://schemas.microsoft.com/office/drawing/2014/main" val="140752000"/>
                  </a:ext>
                </a:extLst>
              </a:tr>
              <a:tr h="370390">
                <a:tc>
                  <a:txBody>
                    <a:bodyPr/>
                    <a:lstStyle/>
                    <a:p>
                      <a:pPr>
                        <a:buNone/>
                      </a:pPr>
                      <a:r>
                        <a:rPr lang="en-IN"/>
                        <a:t>3</a:t>
                      </a:r>
                    </a:p>
                  </a:txBody>
                  <a:tcPr anchor="ctr">
                    <a:lnL>
                      <a:noFill/>
                    </a:lnL>
                    <a:lnR>
                      <a:noFill/>
                    </a:lnR>
                    <a:lnT>
                      <a:noFill/>
                    </a:lnT>
                    <a:lnB>
                      <a:noFill/>
                    </a:lnB>
                    <a:noFill/>
                  </a:tcPr>
                </a:tc>
                <a:tc>
                  <a:txBody>
                    <a:bodyPr/>
                    <a:lstStyle/>
                    <a:p>
                      <a:pPr>
                        <a:buNone/>
                      </a:pPr>
                      <a:r>
                        <a:rPr lang="en-IN"/>
                        <a:t>2</a:t>
                      </a:r>
                    </a:p>
                  </a:txBody>
                  <a:tcPr anchor="ctr">
                    <a:lnL>
                      <a:noFill/>
                    </a:lnL>
                    <a:lnR>
                      <a:noFill/>
                    </a:lnR>
                    <a:lnT>
                      <a:noFill/>
                    </a:lnT>
                    <a:lnB>
                      <a:noFill/>
                    </a:lnB>
                    <a:noFill/>
                  </a:tcPr>
                </a:tc>
                <a:tc>
                  <a:txBody>
                    <a:bodyPr/>
                    <a:lstStyle/>
                    <a:p>
                      <a:pPr>
                        <a:buNone/>
                      </a:pPr>
                      <a:r>
                        <a:rPr lang="en-IN"/>
                        <a:t>Second event occurs</a:t>
                      </a:r>
                    </a:p>
                  </a:txBody>
                  <a:tcPr anchor="ctr">
                    <a:lnL>
                      <a:noFill/>
                    </a:lnL>
                    <a:lnR>
                      <a:noFill/>
                    </a:lnR>
                    <a:lnT>
                      <a:noFill/>
                    </a:lnT>
                    <a:lnB>
                      <a:noFill/>
                    </a:lnB>
                    <a:noFill/>
                  </a:tcPr>
                </a:tc>
                <a:extLst>
                  <a:ext uri="{0D108BD9-81ED-4DB2-BD59-A6C34878D82A}">
                    <a16:rowId xmlns:a16="http://schemas.microsoft.com/office/drawing/2014/main" val="48292648"/>
                  </a:ext>
                </a:extLst>
              </a:tr>
              <a:tr h="370390">
                <a:tc>
                  <a:txBody>
                    <a:bodyPr/>
                    <a:lstStyle/>
                    <a:p>
                      <a:pPr>
                        <a:buNone/>
                      </a:pPr>
                      <a:r>
                        <a:rPr lang="en-IN"/>
                        <a:t>4</a:t>
                      </a:r>
                    </a:p>
                  </a:txBody>
                  <a:tcPr anchor="ctr">
                    <a:lnL>
                      <a:noFill/>
                    </a:lnL>
                    <a:lnR>
                      <a:noFill/>
                    </a:lnR>
                    <a:lnT>
                      <a:noFill/>
                    </a:lnT>
                    <a:lnB>
                      <a:noFill/>
                    </a:lnB>
                    <a:noFill/>
                  </a:tcPr>
                </a:tc>
                <a:tc>
                  <a:txBody>
                    <a:bodyPr/>
                    <a:lstStyle/>
                    <a:p>
                      <a:pPr>
                        <a:buNone/>
                      </a:pPr>
                      <a:r>
                        <a:rPr lang="en-IN"/>
                        <a:t>3</a:t>
                      </a:r>
                    </a:p>
                  </a:txBody>
                  <a:tcPr anchor="ctr">
                    <a:lnL>
                      <a:noFill/>
                    </a:lnL>
                    <a:lnR>
                      <a:noFill/>
                    </a:lnR>
                    <a:lnT>
                      <a:noFill/>
                    </a:lnT>
                    <a:lnB>
                      <a:noFill/>
                    </a:lnB>
                    <a:noFill/>
                  </a:tcPr>
                </a:tc>
                <a:tc>
                  <a:txBody>
                    <a:bodyPr/>
                    <a:lstStyle/>
                    <a:p>
                      <a:pPr>
                        <a:buNone/>
                      </a:pPr>
                      <a:r>
                        <a:rPr lang="en-IN"/>
                        <a:t>Third event occurs</a:t>
                      </a:r>
                    </a:p>
                  </a:txBody>
                  <a:tcPr anchor="ctr">
                    <a:lnL>
                      <a:noFill/>
                    </a:lnL>
                    <a:lnR>
                      <a:noFill/>
                    </a:lnR>
                    <a:lnT>
                      <a:noFill/>
                    </a:lnT>
                    <a:lnB>
                      <a:noFill/>
                    </a:lnB>
                    <a:noFill/>
                  </a:tcPr>
                </a:tc>
                <a:extLst>
                  <a:ext uri="{0D108BD9-81ED-4DB2-BD59-A6C34878D82A}">
                    <a16:rowId xmlns:a16="http://schemas.microsoft.com/office/drawing/2014/main" val="1124647930"/>
                  </a:ext>
                </a:extLst>
              </a:tr>
              <a:tr h="370390">
                <a:tc>
                  <a:txBody>
                    <a:bodyPr/>
                    <a:lstStyle/>
                    <a:p>
                      <a:pPr>
                        <a:buNone/>
                      </a:pPr>
                      <a:r>
                        <a:rPr lang="en-IN"/>
                        <a:t>5</a:t>
                      </a:r>
                    </a:p>
                  </a:txBody>
                  <a:tcPr anchor="ctr">
                    <a:lnL>
                      <a:noFill/>
                    </a:lnL>
                    <a:lnR>
                      <a:noFill/>
                    </a:lnR>
                    <a:lnT>
                      <a:noFill/>
                    </a:lnT>
                    <a:lnB>
                      <a:noFill/>
                    </a:lnB>
                    <a:noFill/>
                  </a:tcPr>
                </a:tc>
                <a:tc>
                  <a:txBody>
                    <a:bodyPr/>
                    <a:lstStyle/>
                    <a:p>
                      <a:pPr>
                        <a:buNone/>
                      </a:pPr>
                      <a:r>
                        <a:rPr lang="en-IN"/>
                        <a:t>≥3</a:t>
                      </a:r>
                    </a:p>
                  </a:txBody>
                  <a:tcPr anchor="ctr">
                    <a:lnL>
                      <a:noFill/>
                    </a:lnL>
                    <a:lnR>
                      <a:noFill/>
                    </a:lnR>
                    <a:lnT>
                      <a:noFill/>
                    </a:lnT>
                    <a:lnB>
                      <a:noFill/>
                    </a:lnB>
                    <a:noFill/>
                  </a:tcPr>
                </a:tc>
                <a:tc>
                  <a:txBody>
                    <a:bodyPr/>
                    <a:lstStyle/>
                    <a:p>
                      <a:pPr>
                        <a:buNone/>
                      </a:pPr>
                      <a:r>
                        <a:rPr lang="en-IN" dirty="0"/>
                        <a:t>Process continues</a:t>
                      </a:r>
                    </a:p>
                  </a:txBody>
                  <a:tcPr anchor="ctr">
                    <a:lnL>
                      <a:noFill/>
                    </a:lnL>
                    <a:lnR>
                      <a:noFill/>
                    </a:lnR>
                    <a:lnT>
                      <a:noFill/>
                    </a:lnT>
                    <a:lnB>
                      <a:noFill/>
                    </a:lnB>
                    <a:noFill/>
                  </a:tcPr>
                </a:tc>
                <a:extLst>
                  <a:ext uri="{0D108BD9-81ED-4DB2-BD59-A6C34878D82A}">
                    <a16:rowId xmlns:a16="http://schemas.microsoft.com/office/drawing/2014/main" val="3684685394"/>
                  </a:ext>
                </a:extLst>
              </a:tr>
            </a:tbl>
          </a:graphicData>
        </a:graphic>
      </p:graphicFrame>
      <p:sp>
        <p:nvSpPr>
          <p:cNvPr id="4" name="TextBox 3">
            <a:extLst>
              <a:ext uri="{FF2B5EF4-FFF2-40B4-BE49-F238E27FC236}">
                <a16:creationId xmlns:a16="http://schemas.microsoft.com/office/drawing/2014/main" id="{5EB3AAC7-9A83-BF10-1585-1E6B70A2D107}"/>
              </a:ext>
            </a:extLst>
          </p:cNvPr>
          <p:cNvSpPr txBox="1"/>
          <p:nvPr/>
        </p:nvSpPr>
        <p:spPr>
          <a:xfrm>
            <a:off x="717630" y="3136739"/>
            <a:ext cx="8423476" cy="2585323"/>
          </a:xfrm>
          <a:prstGeom prst="rect">
            <a:avLst/>
          </a:prstGeom>
          <a:noFill/>
        </p:spPr>
        <p:txBody>
          <a:bodyPr wrap="square">
            <a:spAutoFit/>
          </a:bodyPr>
          <a:lstStyle/>
          <a:p>
            <a:pPr>
              <a:buNone/>
            </a:pPr>
            <a:r>
              <a:rPr lang="en-US" b="1" dirty="0"/>
              <a:t>Advantages</a:t>
            </a:r>
          </a:p>
          <a:p>
            <a:pPr>
              <a:buNone/>
            </a:pPr>
            <a:r>
              <a:rPr lang="en-US" dirty="0"/>
              <a:t>✔ No busy waiting</a:t>
            </a:r>
            <a:br>
              <a:rPr lang="en-US" dirty="0"/>
            </a:br>
            <a:r>
              <a:rPr lang="en-US" dirty="0"/>
              <a:t>✔ Simple event ordering</a:t>
            </a:r>
            <a:br>
              <a:rPr lang="en-US" dirty="0"/>
            </a:br>
            <a:r>
              <a:rPr lang="en-US" dirty="0"/>
              <a:t>✔ Useful in real-time systems</a:t>
            </a:r>
          </a:p>
          <a:p>
            <a:pPr>
              <a:buNone/>
            </a:pPr>
            <a:br>
              <a:rPr lang="en-US" dirty="0"/>
            </a:br>
            <a:endParaRPr lang="en-US" dirty="0"/>
          </a:p>
          <a:p>
            <a:pPr>
              <a:buNone/>
            </a:pPr>
            <a:r>
              <a:rPr lang="en-US" b="1" dirty="0"/>
              <a:t>Disadvantages</a:t>
            </a:r>
          </a:p>
          <a:p>
            <a:pPr>
              <a:buNone/>
            </a:pPr>
            <a:r>
              <a:rPr lang="en-US" dirty="0"/>
              <a:t> Less commonly implemented</a:t>
            </a:r>
            <a:br>
              <a:rPr lang="en-US" dirty="0"/>
            </a:br>
            <a:r>
              <a:rPr lang="en-US" dirty="0"/>
              <a:t> Not for mutual exclusion</a:t>
            </a:r>
          </a:p>
        </p:txBody>
      </p:sp>
    </p:spTree>
    <p:extLst>
      <p:ext uri="{BB962C8B-B14F-4D97-AF65-F5344CB8AC3E}">
        <p14:creationId xmlns:p14="http://schemas.microsoft.com/office/powerpoint/2010/main" val="10433546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7BF1309-D261-1C02-F0B7-19E3B1BE2843}"/>
              </a:ext>
            </a:extLst>
          </p:cNvPr>
          <p:cNvSpPr txBox="1"/>
          <p:nvPr/>
        </p:nvSpPr>
        <p:spPr>
          <a:xfrm>
            <a:off x="312515" y="196771"/>
            <a:ext cx="10741307" cy="5632311"/>
          </a:xfrm>
          <a:prstGeom prst="rect">
            <a:avLst/>
          </a:prstGeom>
          <a:noFill/>
        </p:spPr>
        <p:txBody>
          <a:bodyPr wrap="square">
            <a:spAutoFit/>
          </a:bodyPr>
          <a:lstStyle/>
          <a:p>
            <a:pPr>
              <a:buNone/>
            </a:pPr>
            <a:r>
              <a:rPr lang="en-US" b="1" dirty="0"/>
              <a:t>What is a Monitor?</a:t>
            </a:r>
          </a:p>
          <a:p>
            <a:pPr>
              <a:buNone/>
            </a:pPr>
            <a:r>
              <a:rPr lang="en-US" dirty="0"/>
              <a:t>A </a:t>
            </a:r>
            <a:r>
              <a:rPr lang="en-US" b="1" dirty="0"/>
              <a:t>monitor</a:t>
            </a:r>
            <a:r>
              <a:rPr lang="en-US" dirty="0"/>
              <a:t> is a </a:t>
            </a:r>
            <a:r>
              <a:rPr lang="en-US" b="1" dirty="0"/>
              <a:t>high-level synchronization mechanism</a:t>
            </a:r>
            <a:r>
              <a:rPr lang="en-US" dirty="0"/>
              <a:t> used to control access to </a:t>
            </a:r>
            <a:r>
              <a:rPr lang="en-US" b="1" dirty="0"/>
              <a:t>shared data</a:t>
            </a:r>
            <a:r>
              <a:rPr lang="en-US" dirty="0"/>
              <a:t>.</a:t>
            </a:r>
          </a:p>
          <a:p>
            <a:pPr>
              <a:buNone/>
            </a:pPr>
            <a:r>
              <a:rPr lang="en-US" dirty="0"/>
              <a:t>It automatically ensures </a:t>
            </a:r>
            <a:r>
              <a:rPr lang="en-US" b="1" dirty="0"/>
              <a:t>mutual exclusion</a:t>
            </a:r>
            <a:br>
              <a:rPr lang="en-US" dirty="0"/>
            </a:br>
            <a:r>
              <a:rPr lang="en-US" dirty="0"/>
              <a:t>Only </a:t>
            </a:r>
            <a:r>
              <a:rPr lang="en-US" b="1" dirty="0"/>
              <a:t>one process/thread</a:t>
            </a:r>
            <a:r>
              <a:rPr lang="en-US" dirty="0"/>
              <a:t> can execute inside a monitor at a time</a:t>
            </a:r>
          </a:p>
          <a:p>
            <a:pPr>
              <a:buNone/>
            </a:pPr>
            <a:r>
              <a:rPr lang="en-US" dirty="0"/>
              <a:t>So, programmers </a:t>
            </a:r>
            <a:r>
              <a:rPr lang="en-US" b="1" dirty="0"/>
              <a:t>do not have to manage locks manually</a:t>
            </a:r>
            <a:r>
              <a:rPr lang="en-US" dirty="0"/>
              <a:t>.</a:t>
            </a:r>
          </a:p>
          <a:p>
            <a:pPr>
              <a:buNone/>
            </a:pPr>
            <a:endParaRPr lang="en-US" dirty="0"/>
          </a:p>
          <a:p>
            <a:r>
              <a:rPr lang="en-US" b="1" dirty="0"/>
              <a:t>Key Idea of Monitor </a:t>
            </a:r>
          </a:p>
          <a:p>
            <a:r>
              <a:rPr lang="en-US" b="1" dirty="0"/>
              <a:t>At most ONE process can be active inside the monitor at any time.</a:t>
            </a:r>
          </a:p>
          <a:p>
            <a:endParaRPr lang="en-US" b="1" dirty="0"/>
          </a:p>
          <a:p>
            <a:r>
              <a:rPr lang="en-US" b="1" dirty="0"/>
              <a:t>What Does a Monitor Contain?</a:t>
            </a:r>
          </a:p>
          <a:p>
            <a:r>
              <a:rPr lang="en-US" dirty="0"/>
              <a:t>A monitor has </a:t>
            </a:r>
            <a:r>
              <a:rPr lang="en-US" b="1" dirty="0"/>
              <a:t>three parts</a:t>
            </a:r>
            <a:r>
              <a:rPr lang="en-US" dirty="0"/>
              <a:t>:</a:t>
            </a:r>
          </a:p>
          <a:p>
            <a:r>
              <a:rPr lang="en-US" b="1" dirty="0"/>
              <a:t> Shared Variables</a:t>
            </a:r>
          </a:p>
          <a:p>
            <a:r>
              <a:rPr lang="en-US" dirty="0"/>
              <a:t>Data that multiple processes want to use.</a:t>
            </a:r>
          </a:p>
          <a:p>
            <a:r>
              <a:rPr lang="en-US" b="1" dirty="0"/>
              <a:t>Procedures (Functions)</a:t>
            </a:r>
          </a:p>
          <a:p>
            <a:r>
              <a:rPr lang="en-US" dirty="0"/>
              <a:t>Only these procedures can access the shared data.</a:t>
            </a:r>
          </a:p>
          <a:p>
            <a:r>
              <a:rPr lang="en-US" dirty="0"/>
              <a:t>They are </a:t>
            </a:r>
            <a:r>
              <a:rPr lang="en-US" b="1" dirty="0"/>
              <a:t>functions inside a monitor</a:t>
            </a:r>
            <a:r>
              <a:rPr lang="en-US" dirty="0"/>
              <a:t> that are </a:t>
            </a:r>
            <a:r>
              <a:rPr lang="en-US" b="1" dirty="0"/>
              <a:t>called by processes</a:t>
            </a:r>
            <a:r>
              <a:rPr lang="en-US" dirty="0"/>
              <a:t>.</a:t>
            </a:r>
          </a:p>
          <a:p>
            <a:r>
              <a:rPr lang="en-US" b="1" dirty="0"/>
              <a:t> Condition Variables</a:t>
            </a:r>
          </a:p>
          <a:p>
            <a:r>
              <a:rPr lang="en-US" dirty="0"/>
              <a:t>Used for waiting and signaling.</a:t>
            </a:r>
          </a:p>
          <a:p>
            <a:endParaRPr lang="en-US" dirty="0"/>
          </a:p>
          <a:p>
            <a:pPr>
              <a:buNone/>
            </a:pPr>
            <a:endParaRPr lang="en-US" dirty="0"/>
          </a:p>
        </p:txBody>
      </p:sp>
      <p:sp>
        <p:nvSpPr>
          <p:cNvPr id="5" name="TextBox 4">
            <a:extLst>
              <a:ext uri="{FF2B5EF4-FFF2-40B4-BE49-F238E27FC236}">
                <a16:creationId xmlns:a16="http://schemas.microsoft.com/office/drawing/2014/main" id="{88C0EE59-D7F4-01D0-9001-EA3D6E15A2A6}"/>
              </a:ext>
            </a:extLst>
          </p:cNvPr>
          <p:cNvSpPr txBox="1"/>
          <p:nvPr/>
        </p:nvSpPr>
        <p:spPr>
          <a:xfrm>
            <a:off x="7720315" y="2222339"/>
            <a:ext cx="4159170" cy="2862322"/>
          </a:xfrm>
          <a:prstGeom prst="rect">
            <a:avLst/>
          </a:prstGeom>
          <a:noFill/>
        </p:spPr>
        <p:txBody>
          <a:bodyPr wrap="square">
            <a:spAutoFit/>
          </a:bodyPr>
          <a:lstStyle/>
          <a:p>
            <a:pPr>
              <a:buNone/>
            </a:pPr>
            <a:r>
              <a:rPr lang="en-US" b="1" dirty="0"/>
              <a:t>Problem with Semaphores</a:t>
            </a:r>
          </a:p>
          <a:p>
            <a:pPr>
              <a:buFont typeface="Arial" panose="020B0604020202020204" pitchFamily="34" charset="0"/>
              <a:buChar char="•"/>
            </a:pPr>
            <a:r>
              <a:rPr lang="en-US" dirty="0"/>
              <a:t>Easy to make mistakes</a:t>
            </a:r>
          </a:p>
          <a:p>
            <a:pPr>
              <a:buFont typeface="Arial" panose="020B0604020202020204" pitchFamily="34" charset="0"/>
              <a:buChar char="•"/>
            </a:pPr>
            <a:r>
              <a:rPr lang="en-US" dirty="0"/>
              <a:t>Forgetting </a:t>
            </a:r>
            <a:r>
              <a:rPr lang="en-US" dirty="0">
                <a:latin typeface="Courier New" panose="02070309020205020404" pitchFamily="49" charset="0"/>
              </a:rPr>
              <a:t>signal()</a:t>
            </a:r>
            <a:r>
              <a:rPr lang="en-US" dirty="0"/>
              <a:t> causes </a:t>
            </a:r>
            <a:r>
              <a:rPr lang="en-US" b="1" dirty="0"/>
              <a:t>deadlock</a:t>
            </a:r>
            <a:endParaRPr lang="en-US" dirty="0"/>
          </a:p>
          <a:p>
            <a:pPr>
              <a:buFont typeface="Arial" panose="020B0604020202020204" pitchFamily="34" charset="0"/>
              <a:buChar char="•"/>
            </a:pPr>
            <a:r>
              <a:rPr lang="en-US" dirty="0"/>
              <a:t>Code becomes hard to read and debug</a:t>
            </a:r>
          </a:p>
          <a:p>
            <a:pPr>
              <a:buNone/>
            </a:pPr>
            <a:r>
              <a:rPr lang="en-US" b="1" dirty="0"/>
              <a:t>Solution</a:t>
            </a:r>
          </a:p>
          <a:p>
            <a:pPr>
              <a:buNone/>
            </a:pPr>
            <a:r>
              <a:rPr lang="en-US" dirty="0"/>
              <a:t>➡ </a:t>
            </a:r>
            <a:r>
              <a:rPr lang="en-US" b="1" dirty="0"/>
              <a:t>Monitor</a:t>
            </a:r>
            <a:r>
              <a:rPr lang="en-US" dirty="0"/>
              <a:t> combines:</a:t>
            </a:r>
          </a:p>
          <a:p>
            <a:pPr>
              <a:buFont typeface="Arial" panose="020B0604020202020204" pitchFamily="34" charset="0"/>
              <a:buChar char="•"/>
            </a:pPr>
            <a:r>
              <a:rPr lang="en-US" dirty="0"/>
              <a:t>Shared data</a:t>
            </a:r>
          </a:p>
          <a:p>
            <a:pPr>
              <a:buFont typeface="Arial" panose="020B0604020202020204" pitchFamily="34" charset="0"/>
              <a:buChar char="•"/>
            </a:pPr>
            <a:r>
              <a:rPr lang="en-US" dirty="0"/>
              <a:t>Functions (procedures)</a:t>
            </a:r>
          </a:p>
          <a:p>
            <a:pPr>
              <a:buFont typeface="Arial" panose="020B0604020202020204" pitchFamily="34" charset="0"/>
              <a:buChar char="•"/>
            </a:pPr>
            <a:r>
              <a:rPr lang="en-US" dirty="0"/>
              <a:t>Synchronization rules</a:t>
            </a:r>
            <a:br>
              <a:rPr lang="en-US" dirty="0"/>
            </a:br>
            <a:r>
              <a:rPr lang="en-US" dirty="0"/>
              <a:t>into </a:t>
            </a:r>
            <a:r>
              <a:rPr lang="en-US" b="1" dirty="0"/>
              <a:t>one safe unit</a:t>
            </a:r>
            <a:endParaRPr lang="en-US" dirty="0"/>
          </a:p>
        </p:txBody>
      </p:sp>
    </p:spTree>
    <p:extLst>
      <p:ext uri="{BB962C8B-B14F-4D97-AF65-F5344CB8AC3E}">
        <p14:creationId xmlns:p14="http://schemas.microsoft.com/office/powerpoint/2010/main" val="12227105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D2B83D-CFAB-7442-5E49-4E6AFD1D0C28}"/>
              </a:ext>
            </a:extLst>
          </p:cNvPr>
          <p:cNvSpPr txBox="1"/>
          <p:nvPr/>
        </p:nvSpPr>
        <p:spPr>
          <a:xfrm>
            <a:off x="856527" y="266219"/>
            <a:ext cx="8874888" cy="5690184"/>
          </a:xfrm>
          <a:prstGeom prst="rect">
            <a:avLst/>
          </a:prstGeom>
          <a:noFill/>
        </p:spPr>
        <p:txBody>
          <a:bodyPr wrap="square">
            <a:spAutoFit/>
          </a:bodyPr>
          <a:lstStyle/>
          <a:p>
            <a:pPr>
              <a:buNone/>
            </a:pPr>
            <a:r>
              <a:rPr lang="en-US" b="1" dirty="0"/>
              <a:t>Condition Variables (Heart of Monitor)</a:t>
            </a:r>
          </a:p>
          <a:p>
            <a:pPr>
              <a:buNone/>
            </a:pPr>
            <a:r>
              <a:rPr lang="en-US" dirty="0"/>
              <a:t>Condition variables are used when a process </a:t>
            </a:r>
            <a:r>
              <a:rPr lang="en-US" b="1" dirty="0"/>
              <a:t>cannot proceed</a:t>
            </a:r>
            <a:r>
              <a:rPr lang="en-US" dirty="0"/>
              <a:t>.</a:t>
            </a:r>
          </a:p>
          <a:p>
            <a:pPr>
              <a:buNone/>
            </a:pPr>
            <a:r>
              <a:rPr lang="en-US" dirty="0"/>
              <a:t>They support </a:t>
            </a:r>
            <a:r>
              <a:rPr lang="en-US" b="1" dirty="0"/>
              <a:t>two operations</a:t>
            </a:r>
            <a:r>
              <a:rPr lang="en-US" dirty="0"/>
              <a:t>:</a:t>
            </a:r>
          </a:p>
          <a:p>
            <a:pPr>
              <a:buNone/>
            </a:pPr>
            <a:r>
              <a:rPr lang="en-US" b="1" dirty="0">
                <a:latin typeface="Courier New" panose="02070309020205020404" pitchFamily="49" charset="0"/>
              </a:rPr>
              <a:t>wait()</a:t>
            </a:r>
            <a:endParaRPr lang="en-US" b="1" dirty="0"/>
          </a:p>
          <a:p>
            <a:pPr>
              <a:buFont typeface="Arial" panose="020B0604020202020204" pitchFamily="34" charset="0"/>
              <a:buChar char="•"/>
            </a:pPr>
            <a:r>
              <a:rPr lang="en-US" dirty="0"/>
              <a:t>Process </a:t>
            </a:r>
            <a:r>
              <a:rPr lang="en-US" b="1" dirty="0"/>
              <a:t>goes to sleep</a:t>
            </a:r>
            <a:endParaRPr lang="en-US" dirty="0"/>
          </a:p>
          <a:p>
            <a:pPr>
              <a:buFont typeface="Arial" panose="020B0604020202020204" pitchFamily="34" charset="0"/>
              <a:buChar char="•"/>
            </a:pPr>
            <a:r>
              <a:rPr lang="en-US" dirty="0"/>
              <a:t>Releases the monitor temporarily</a:t>
            </a:r>
          </a:p>
          <a:p>
            <a:pPr>
              <a:buNone/>
            </a:pPr>
            <a:r>
              <a:rPr lang="en-US" b="1" dirty="0">
                <a:latin typeface="Courier New" panose="02070309020205020404" pitchFamily="49" charset="0"/>
              </a:rPr>
              <a:t>signal()</a:t>
            </a:r>
            <a:endParaRPr lang="en-US" b="1" dirty="0"/>
          </a:p>
          <a:p>
            <a:pPr>
              <a:buFont typeface="Arial" panose="020B0604020202020204" pitchFamily="34" charset="0"/>
              <a:buChar char="•"/>
            </a:pPr>
            <a:r>
              <a:rPr lang="en-US" dirty="0"/>
              <a:t>Wakes up </a:t>
            </a:r>
            <a:r>
              <a:rPr lang="en-US" b="1" dirty="0"/>
              <a:t>one waiting process</a:t>
            </a:r>
            <a:endParaRPr lang="en-US" dirty="0"/>
          </a:p>
          <a:p>
            <a:pPr>
              <a:buNone/>
            </a:pPr>
            <a:r>
              <a:rPr lang="en-US" dirty="0"/>
              <a:t> No busy waiting → CPU is saved</a:t>
            </a:r>
          </a:p>
          <a:p>
            <a:pPr>
              <a:buNone/>
            </a:pPr>
            <a:endParaRPr lang="en-US" dirty="0"/>
          </a:p>
          <a:p>
            <a:r>
              <a:rPr lang="en-US" b="1" dirty="0"/>
              <a:t>How Monitor Works (Step by Step)</a:t>
            </a:r>
          </a:p>
          <a:p>
            <a:r>
              <a:rPr lang="en-US" dirty="0"/>
              <a:t>A process </a:t>
            </a:r>
            <a:r>
              <a:rPr lang="en-US" b="1" dirty="0"/>
              <a:t>enters the monitor</a:t>
            </a:r>
            <a:endParaRPr lang="en-US" dirty="0"/>
          </a:p>
          <a:p>
            <a:r>
              <a:rPr lang="en-US" dirty="0"/>
              <a:t>Monitor </a:t>
            </a:r>
            <a:r>
              <a:rPr lang="en-US" b="1" dirty="0"/>
              <a:t>locks automatically</a:t>
            </a:r>
            <a:endParaRPr lang="en-US" dirty="0"/>
          </a:p>
          <a:p>
            <a:r>
              <a:rPr lang="en-US" dirty="0"/>
              <a:t>Process executes safely</a:t>
            </a:r>
          </a:p>
          <a:p>
            <a:r>
              <a:rPr lang="en-US" dirty="0"/>
              <a:t>If condition not satisfied → wait()</a:t>
            </a:r>
          </a:p>
          <a:p>
            <a:r>
              <a:rPr lang="en-US" dirty="0"/>
              <a:t>Another process enters</a:t>
            </a:r>
          </a:p>
          <a:p>
            <a:r>
              <a:rPr lang="en-US" dirty="0"/>
              <a:t>signal() wakes waiting process</a:t>
            </a:r>
          </a:p>
          <a:p>
            <a:r>
              <a:rPr lang="en-US" dirty="0"/>
              <a:t>Process resumes execution</a:t>
            </a:r>
          </a:p>
          <a:p>
            <a:r>
              <a:rPr lang="en-US" dirty="0"/>
              <a:t>Process exits monitor → lock released</a:t>
            </a:r>
          </a:p>
          <a:p>
            <a:pPr>
              <a:buNone/>
            </a:pPr>
            <a:endParaRPr lang="en-US" dirty="0"/>
          </a:p>
        </p:txBody>
      </p:sp>
    </p:spTree>
    <p:extLst>
      <p:ext uri="{BB962C8B-B14F-4D97-AF65-F5344CB8AC3E}">
        <p14:creationId xmlns:p14="http://schemas.microsoft.com/office/powerpoint/2010/main" val="30041009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B7319F-D294-D64D-B2BE-2E4F22F796ED}"/>
              </a:ext>
            </a:extLst>
          </p:cNvPr>
          <p:cNvSpPr txBox="1"/>
          <p:nvPr/>
        </p:nvSpPr>
        <p:spPr>
          <a:xfrm>
            <a:off x="405113" y="-1"/>
            <a:ext cx="11397205" cy="6463308"/>
          </a:xfrm>
          <a:prstGeom prst="rect">
            <a:avLst/>
          </a:prstGeom>
          <a:noFill/>
        </p:spPr>
        <p:txBody>
          <a:bodyPr wrap="square">
            <a:spAutoFit/>
          </a:bodyPr>
          <a:lstStyle/>
          <a:p>
            <a:pPr>
              <a:buNone/>
            </a:pPr>
            <a:r>
              <a:rPr lang="en-US" b="1" dirty="0"/>
              <a:t>Message Passing</a:t>
            </a:r>
          </a:p>
          <a:p>
            <a:pPr>
              <a:buNone/>
            </a:pPr>
            <a:r>
              <a:rPr lang="en-US" b="1" dirty="0"/>
              <a:t>It </a:t>
            </a:r>
            <a:r>
              <a:rPr lang="en-US" dirty="0"/>
              <a:t> is an </a:t>
            </a:r>
            <a:r>
              <a:rPr lang="en-US" b="1" dirty="0"/>
              <a:t>Inter-Process Communication (IPC)</a:t>
            </a:r>
            <a:r>
              <a:rPr lang="en-US" dirty="0"/>
              <a:t> mechanism in which </a:t>
            </a:r>
            <a:r>
              <a:rPr lang="en-US" b="1" dirty="0"/>
              <a:t>processes communicate by exchanging messages</a:t>
            </a:r>
            <a:r>
              <a:rPr lang="en-US" dirty="0"/>
              <a:t> with each other </a:t>
            </a:r>
            <a:r>
              <a:rPr lang="en-US" b="1" dirty="0"/>
              <a:t>without sharing memory</a:t>
            </a:r>
            <a:r>
              <a:rPr lang="en-US" dirty="0"/>
              <a:t>.</a:t>
            </a:r>
          </a:p>
          <a:p>
            <a:pPr>
              <a:buNone/>
            </a:pPr>
            <a:r>
              <a:rPr lang="en-US" dirty="0"/>
              <a:t>Each process sends data in the form of a </a:t>
            </a:r>
            <a:r>
              <a:rPr lang="en-US" b="1" dirty="0"/>
              <a:t>message</a:t>
            </a:r>
            <a:r>
              <a:rPr lang="en-US" dirty="0"/>
              <a:t>, and the </a:t>
            </a:r>
            <a:r>
              <a:rPr lang="en-US" b="1" dirty="0"/>
              <a:t>operating system kernel</a:t>
            </a:r>
            <a:r>
              <a:rPr lang="en-US" dirty="0"/>
              <a:t> handles message delivery.</a:t>
            </a:r>
          </a:p>
          <a:p>
            <a:pPr>
              <a:buNone/>
            </a:pPr>
            <a:br>
              <a:rPr lang="en-US" dirty="0"/>
            </a:br>
            <a:r>
              <a:rPr lang="en-US" b="1" dirty="0"/>
              <a:t> Why Message Passing is Needed</a:t>
            </a:r>
          </a:p>
          <a:p>
            <a:pPr>
              <a:buFont typeface="Arial" panose="020B0604020202020204" pitchFamily="34" charset="0"/>
              <a:buChar char="•"/>
            </a:pPr>
            <a:r>
              <a:rPr lang="en-US" dirty="0"/>
              <a:t>Processes run in </a:t>
            </a:r>
            <a:r>
              <a:rPr lang="en-US" b="1" dirty="0"/>
              <a:t>separate address spaces</a:t>
            </a:r>
            <a:endParaRPr lang="en-US" dirty="0"/>
          </a:p>
          <a:p>
            <a:pPr>
              <a:buFont typeface="Arial" panose="020B0604020202020204" pitchFamily="34" charset="0"/>
              <a:buChar char="•"/>
            </a:pPr>
            <a:r>
              <a:rPr lang="en-US" dirty="0"/>
              <a:t>Direct memory sharing may cause:</a:t>
            </a:r>
          </a:p>
          <a:p>
            <a:pPr marL="742950" lvl="1" indent="-285750">
              <a:buFont typeface="Arial" panose="020B0604020202020204" pitchFamily="34" charset="0"/>
              <a:buChar char="•"/>
            </a:pPr>
            <a:r>
              <a:rPr lang="en-US" dirty="0"/>
              <a:t>Race conditions</a:t>
            </a:r>
          </a:p>
          <a:p>
            <a:pPr marL="742950" lvl="1" indent="-285750">
              <a:buFont typeface="Arial" panose="020B0604020202020204" pitchFamily="34" charset="0"/>
              <a:buChar char="•"/>
            </a:pPr>
            <a:r>
              <a:rPr lang="en-US" dirty="0"/>
              <a:t>Data corruption</a:t>
            </a:r>
          </a:p>
          <a:p>
            <a:pPr>
              <a:buFont typeface="Arial" panose="020B0604020202020204" pitchFamily="34" charset="0"/>
              <a:buChar char="•"/>
            </a:pPr>
            <a:r>
              <a:rPr lang="en-US" dirty="0"/>
              <a:t>Message passing ensures:</a:t>
            </a:r>
          </a:p>
          <a:p>
            <a:pPr marL="742950" lvl="1" indent="-285750">
              <a:buFont typeface="Arial" panose="020B0604020202020204" pitchFamily="34" charset="0"/>
              <a:buChar char="•"/>
            </a:pPr>
            <a:r>
              <a:rPr lang="en-US" b="1" dirty="0"/>
              <a:t>Safe communication</a:t>
            </a:r>
            <a:endParaRPr lang="en-US" dirty="0"/>
          </a:p>
          <a:p>
            <a:pPr marL="742950" lvl="1" indent="-285750">
              <a:buFont typeface="Arial" panose="020B0604020202020204" pitchFamily="34" charset="0"/>
              <a:buChar char="•"/>
            </a:pPr>
            <a:r>
              <a:rPr lang="en-US" b="1" dirty="0"/>
              <a:t>Synchronization</a:t>
            </a:r>
            <a:endParaRPr lang="en-US" dirty="0"/>
          </a:p>
          <a:p>
            <a:pPr marL="742950" lvl="1" indent="-285750">
              <a:buFont typeface="Arial" panose="020B0604020202020204" pitchFamily="34" charset="0"/>
              <a:buChar char="•"/>
            </a:pPr>
            <a:r>
              <a:rPr lang="en-US" b="1" dirty="0"/>
              <a:t>Isolation</a:t>
            </a:r>
            <a:endParaRPr lang="en-US" dirty="0"/>
          </a:p>
          <a:p>
            <a:pPr>
              <a:buNone/>
            </a:pPr>
            <a:r>
              <a:rPr lang="en-US" dirty="0"/>
              <a:t>✔ Widely used in </a:t>
            </a:r>
            <a:r>
              <a:rPr lang="en-US" b="1" dirty="0"/>
              <a:t>distributed systems</a:t>
            </a:r>
            <a:r>
              <a:rPr lang="en-US" dirty="0"/>
              <a:t>, </a:t>
            </a:r>
            <a:r>
              <a:rPr lang="en-US" b="1" dirty="0"/>
              <a:t>client–server models</a:t>
            </a:r>
            <a:r>
              <a:rPr lang="en-US" dirty="0"/>
              <a:t>, and </a:t>
            </a:r>
            <a:r>
              <a:rPr lang="en-US" b="1" dirty="0"/>
              <a:t>microkernels</a:t>
            </a:r>
            <a:endParaRPr lang="en-US" dirty="0"/>
          </a:p>
          <a:p>
            <a:br>
              <a:rPr lang="en-US" dirty="0"/>
            </a:br>
            <a:r>
              <a:rPr lang="en-US" b="1" dirty="0"/>
              <a:t> Real-Life Example (Easy to Remember)</a:t>
            </a:r>
          </a:p>
          <a:p>
            <a:r>
              <a:rPr lang="en-US" dirty="0"/>
              <a:t>📱 </a:t>
            </a:r>
            <a:r>
              <a:rPr lang="en-US" b="1" dirty="0"/>
              <a:t>Food Delivery App</a:t>
            </a:r>
            <a:endParaRPr lang="en-US" dirty="0"/>
          </a:p>
          <a:p>
            <a:r>
              <a:rPr lang="en-US" dirty="0"/>
              <a:t>One process → places order</a:t>
            </a:r>
          </a:p>
          <a:p>
            <a:r>
              <a:rPr lang="en-US" dirty="0"/>
              <a:t>One process → assigns delivery partner</a:t>
            </a:r>
          </a:p>
          <a:p>
            <a:r>
              <a:rPr lang="en-US" dirty="0"/>
              <a:t>One process → tracks location</a:t>
            </a:r>
          </a:p>
          <a:p>
            <a:r>
              <a:rPr lang="en-US" dirty="0"/>
              <a:t>➡ All processes </a:t>
            </a:r>
            <a:r>
              <a:rPr lang="en-US" b="1" dirty="0"/>
              <a:t>must communicate</a:t>
            </a:r>
            <a:r>
              <a:rPr lang="en-US" dirty="0"/>
              <a:t> to work correctly.</a:t>
            </a:r>
          </a:p>
          <a:p>
            <a:pPr>
              <a:buNone/>
            </a:pPr>
            <a:endParaRPr lang="en-US" dirty="0"/>
          </a:p>
        </p:txBody>
      </p:sp>
    </p:spTree>
    <p:extLst>
      <p:ext uri="{BB962C8B-B14F-4D97-AF65-F5344CB8AC3E}">
        <p14:creationId xmlns:p14="http://schemas.microsoft.com/office/powerpoint/2010/main" val="15968308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763E81-B381-E34A-2C35-45C06803B2A2}"/>
              </a:ext>
            </a:extLst>
          </p:cNvPr>
          <p:cNvSpPr txBox="1"/>
          <p:nvPr/>
        </p:nvSpPr>
        <p:spPr>
          <a:xfrm>
            <a:off x="625033" y="567159"/>
            <a:ext cx="10440364" cy="5909310"/>
          </a:xfrm>
          <a:prstGeom prst="rect">
            <a:avLst/>
          </a:prstGeom>
          <a:noFill/>
        </p:spPr>
        <p:txBody>
          <a:bodyPr wrap="square">
            <a:spAutoFit/>
          </a:bodyPr>
          <a:lstStyle/>
          <a:p>
            <a:pPr>
              <a:buNone/>
            </a:pPr>
            <a:r>
              <a:rPr lang="en-US" dirty="0"/>
              <a:t>Processes communicate to </a:t>
            </a:r>
            <a:r>
              <a:rPr lang="en-US" b="1" dirty="0"/>
              <a:t>coordinate their execution</a:t>
            </a:r>
            <a:r>
              <a:rPr lang="en-US" dirty="0"/>
              <a:t>, </a:t>
            </a:r>
            <a:r>
              <a:rPr lang="en-US" b="1" dirty="0"/>
              <a:t>share information</a:t>
            </a:r>
            <a:r>
              <a:rPr lang="en-US" dirty="0"/>
              <a:t>, and </a:t>
            </a:r>
            <a:r>
              <a:rPr lang="en-US" b="1" dirty="0"/>
              <a:t>work together to complete tasks efficiently</a:t>
            </a:r>
            <a:r>
              <a:rPr lang="en-US" dirty="0"/>
              <a:t>.</a:t>
            </a:r>
          </a:p>
          <a:p>
            <a:r>
              <a:rPr lang="en-US" b="1" dirty="0"/>
              <a:t>Data Sharing</a:t>
            </a:r>
          </a:p>
          <a:p>
            <a:r>
              <a:rPr lang="en-US" dirty="0"/>
              <a:t>Many processes need to </a:t>
            </a:r>
            <a:r>
              <a:rPr lang="en-US" b="1" dirty="0"/>
              <a:t>share or exchange data</a:t>
            </a:r>
            <a:r>
              <a:rPr lang="en-US" dirty="0"/>
              <a:t>.</a:t>
            </a:r>
          </a:p>
          <a:p>
            <a:r>
              <a:rPr lang="en-US" b="1" dirty="0"/>
              <a:t>Task Coordination</a:t>
            </a:r>
          </a:p>
          <a:p>
            <a:r>
              <a:rPr lang="en-US" dirty="0"/>
              <a:t>Processes often depend on </a:t>
            </a:r>
            <a:r>
              <a:rPr lang="en-US" b="1" dirty="0"/>
              <a:t>each other’s execution order</a:t>
            </a:r>
            <a:r>
              <a:rPr lang="en-US" dirty="0"/>
              <a:t>.</a:t>
            </a:r>
          </a:p>
          <a:p>
            <a:r>
              <a:rPr lang="en-US" b="1" dirty="0"/>
              <a:t>Resource Sharing</a:t>
            </a:r>
          </a:p>
          <a:p>
            <a:r>
              <a:rPr lang="en-US" dirty="0"/>
              <a:t>System resources (files, printers, databases) are </a:t>
            </a:r>
            <a:r>
              <a:rPr lang="en-US" b="1" dirty="0"/>
              <a:t>limited</a:t>
            </a:r>
            <a:r>
              <a:rPr lang="en-US" dirty="0"/>
              <a:t>.</a:t>
            </a:r>
          </a:p>
          <a:p>
            <a:r>
              <a:rPr lang="en-IN" b="1" dirty="0"/>
              <a:t>Parallelism &amp; Performance</a:t>
            </a:r>
            <a:endParaRPr lang="en-US" b="1" dirty="0"/>
          </a:p>
          <a:p>
            <a:pPr>
              <a:buNone/>
            </a:pPr>
            <a:r>
              <a:rPr lang="en-US" dirty="0"/>
              <a:t>Large tasks are split into </a:t>
            </a:r>
            <a:r>
              <a:rPr lang="en-US" b="1" dirty="0"/>
              <a:t>smaller processes</a:t>
            </a:r>
            <a:r>
              <a:rPr lang="en-US" dirty="0"/>
              <a:t> to run faster.</a:t>
            </a:r>
          </a:p>
          <a:p>
            <a:pPr>
              <a:buNone/>
            </a:pPr>
            <a:endParaRPr lang="en-US" b="1" dirty="0"/>
          </a:p>
          <a:p>
            <a:pPr>
              <a:buNone/>
            </a:pPr>
            <a:r>
              <a:rPr lang="en-US" b="1" dirty="0"/>
              <a:t>Basic Message Passing Operations</a:t>
            </a:r>
          </a:p>
          <a:p>
            <a:pPr>
              <a:buNone/>
            </a:pPr>
            <a:r>
              <a:rPr lang="en-US" b="1" dirty="0">
                <a:latin typeface="Courier New" panose="02070309020205020404" pitchFamily="49" charset="0"/>
              </a:rPr>
              <a:t>1)send(destination, message)</a:t>
            </a:r>
            <a:endParaRPr lang="en-US" b="1" dirty="0"/>
          </a:p>
          <a:p>
            <a:pPr>
              <a:buFont typeface="Arial" panose="020B0604020202020204" pitchFamily="34" charset="0"/>
              <a:buChar char="•"/>
            </a:pPr>
            <a:r>
              <a:rPr lang="en-US" dirty="0"/>
              <a:t>Sends a message to another process</a:t>
            </a:r>
          </a:p>
          <a:p>
            <a:pPr>
              <a:buNone/>
            </a:pPr>
            <a:r>
              <a:rPr lang="en-US" b="1" dirty="0"/>
              <a:t>2 ) </a:t>
            </a:r>
            <a:r>
              <a:rPr lang="en-US" b="1" dirty="0">
                <a:latin typeface="Courier New" panose="02070309020205020404" pitchFamily="49" charset="0"/>
              </a:rPr>
              <a:t>receive(source, message)</a:t>
            </a:r>
            <a:endParaRPr lang="en-US" b="1" dirty="0"/>
          </a:p>
          <a:p>
            <a:pPr>
              <a:buFont typeface="Arial" panose="020B0604020202020204" pitchFamily="34" charset="0"/>
              <a:buChar char="•"/>
            </a:pPr>
            <a:r>
              <a:rPr lang="en-US" dirty="0"/>
              <a:t>Receives a message from another process</a:t>
            </a:r>
          </a:p>
          <a:p>
            <a:endParaRPr lang="en-US" dirty="0"/>
          </a:p>
          <a:p>
            <a:pPr>
              <a:buNone/>
            </a:pPr>
            <a:r>
              <a:rPr lang="en-US" dirty="0"/>
              <a:t>These are </a:t>
            </a:r>
            <a:r>
              <a:rPr lang="en-US" b="1" dirty="0"/>
              <a:t>system calls</a:t>
            </a:r>
            <a:r>
              <a:rPr lang="en-US" dirty="0"/>
              <a:t> provided by the OS.</a:t>
            </a:r>
          </a:p>
          <a:p>
            <a:pPr>
              <a:buNone/>
            </a:pPr>
            <a:endParaRPr lang="en-US" dirty="0"/>
          </a:p>
          <a:p>
            <a:pPr>
              <a:buNone/>
            </a:pPr>
            <a:r>
              <a:rPr lang="en-US" b="1" dirty="0"/>
              <a:t>Process A → Kernel → Process B</a:t>
            </a:r>
          </a:p>
          <a:p>
            <a:r>
              <a:rPr lang="en-US" dirty="0"/>
              <a:t>Kernel acts as mediator and  ensures security and correctness</a:t>
            </a:r>
          </a:p>
        </p:txBody>
      </p:sp>
    </p:spTree>
    <p:extLst>
      <p:ext uri="{BB962C8B-B14F-4D97-AF65-F5344CB8AC3E}">
        <p14:creationId xmlns:p14="http://schemas.microsoft.com/office/powerpoint/2010/main" val="23814806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BC86A51-C444-BAF3-1A8C-9C86242402AB}"/>
              </a:ext>
            </a:extLst>
          </p:cNvPr>
          <p:cNvSpPr txBox="1"/>
          <p:nvPr/>
        </p:nvSpPr>
        <p:spPr>
          <a:xfrm>
            <a:off x="208345" y="266218"/>
            <a:ext cx="6227180" cy="6463308"/>
          </a:xfrm>
          <a:prstGeom prst="rect">
            <a:avLst/>
          </a:prstGeom>
          <a:noFill/>
        </p:spPr>
        <p:txBody>
          <a:bodyPr wrap="square">
            <a:spAutoFit/>
          </a:bodyPr>
          <a:lstStyle/>
          <a:p>
            <a:pPr>
              <a:buNone/>
            </a:pPr>
            <a:r>
              <a:rPr lang="en-IN" b="1" dirty="0"/>
              <a:t>Types of Message Passing</a:t>
            </a:r>
          </a:p>
          <a:p>
            <a:pPr>
              <a:buNone/>
            </a:pPr>
            <a:r>
              <a:rPr lang="en-IN" b="1" dirty="0"/>
              <a:t>1. Blocking vs Non-Blocking Communication</a:t>
            </a:r>
          </a:p>
          <a:p>
            <a:pPr>
              <a:buNone/>
            </a:pPr>
            <a:r>
              <a:rPr lang="en-IN" b="1" dirty="0"/>
              <a:t> Blocking (Synchronous)</a:t>
            </a:r>
          </a:p>
          <a:p>
            <a:r>
              <a:rPr lang="en-US" dirty="0"/>
              <a:t>In </a:t>
            </a:r>
            <a:r>
              <a:rPr lang="en-US" b="1" dirty="0"/>
              <a:t>blocking communication</a:t>
            </a:r>
            <a:r>
              <a:rPr lang="en-US" dirty="0"/>
              <a:t>, a process </a:t>
            </a:r>
            <a:r>
              <a:rPr lang="en-US" b="1" dirty="0"/>
              <a:t>waits</a:t>
            </a:r>
            <a:r>
              <a:rPr lang="en-US" dirty="0"/>
              <a:t> until the communication operation is completed.</a:t>
            </a:r>
          </a:p>
          <a:p>
            <a:r>
              <a:rPr lang="en-US" b="1" dirty="0"/>
              <a:t>Blocking send()</a:t>
            </a:r>
          </a:p>
          <a:p>
            <a:r>
              <a:rPr lang="en-US" dirty="0"/>
              <a:t>The sender </a:t>
            </a:r>
            <a:r>
              <a:rPr lang="en-US" b="1" dirty="0"/>
              <a:t>blocks</a:t>
            </a:r>
            <a:r>
              <a:rPr lang="en-US" dirty="0"/>
              <a:t> until:</a:t>
            </a:r>
          </a:p>
          <a:p>
            <a:pPr lvl="1"/>
            <a:r>
              <a:rPr lang="en-US" dirty="0"/>
              <a:t>The receiver receives the message</a:t>
            </a:r>
          </a:p>
          <a:p>
            <a:pPr lvl="1"/>
            <a:r>
              <a:rPr lang="en-US" dirty="0"/>
              <a:t>OR the message is safely stored in a buffer</a:t>
            </a:r>
          </a:p>
          <a:p>
            <a:pPr lvl="1"/>
            <a:endParaRPr lang="en-US" dirty="0"/>
          </a:p>
          <a:p>
            <a:r>
              <a:rPr lang="en-US" b="1" dirty="0"/>
              <a:t>Blocking receive()</a:t>
            </a:r>
          </a:p>
          <a:p>
            <a:r>
              <a:rPr lang="en-US" dirty="0"/>
              <a:t>The receiver </a:t>
            </a:r>
            <a:r>
              <a:rPr lang="en-US" b="1" dirty="0"/>
              <a:t>blocks</a:t>
            </a:r>
            <a:r>
              <a:rPr lang="en-US" dirty="0"/>
              <a:t> until:</a:t>
            </a:r>
          </a:p>
          <a:p>
            <a:pPr lvl="1"/>
            <a:r>
              <a:rPr lang="en-US" dirty="0"/>
              <a:t>A message arrives</a:t>
            </a:r>
          </a:p>
          <a:p>
            <a:pPr lvl="1"/>
            <a:endParaRPr lang="en-US" dirty="0"/>
          </a:p>
          <a:p>
            <a:pPr>
              <a:buFont typeface="Arial" panose="020B0604020202020204" pitchFamily="34" charset="0"/>
              <a:buChar char="•"/>
            </a:pPr>
            <a:r>
              <a:rPr lang="en-IN" dirty="0">
                <a:latin typeface="Courier New" panose="02070309020205020404" pitchFamily="49" charset="0"/>
              </a:rPr>
              <a:t>send()</a:t>
            </a:r>
            <a:r>
              <a:rPr lang="en-IN" dirty="0"/>
              <a:t> blocks until message is received</a:t>
            </a:r>
          </a:p>
          <a:p>
            <a:pPr>
              <a:buFont typeface="Arial" panose="020B0604020202020204" pitchFamily="34" charset="0"/>
              <a:buChar char="•"/>
            </a:pPr>
            <a:r>
              <a:rPr lang="en-IN" dirty="0">
                <a:latin typeface="Courier New" panose="02070309020205020404" pitchFamily="49" charset="0"/>
              </a:rPr>
              <a:t>receive()</a:t>
            </a:r>
            <a:r>
              <a:rPr lang="en-IN" dirty="0"/>
              <a:t> blocks until message arrives</a:t>
            </a:r>
          </a:p>
          <a:p>
            <a:pPr>
              <a:buNone/>
            </a:pPr>
            <a:r>
              <a:rPr lang="en-IN" dirty="0"/>
              <a:t>✔ Simple</a:t>
            </a:r>
            <a:br>
              <a:rPr lang="en-IN" dirty="0"/>
            </a:br>
            <a:r>
              <a:rPr lang="en-IN" dirty="0"/>
              <a:t>May cause waiting</a:t>
            </a:r>
          </a:p>
          <a:p>
            <a:pPr lvl="1"/>
            <a:endParaRPr lang="en-US" dirty="0"/>
          </a:p>
          <a:p>
            <a:pPr>
              <a:buNone/>
            </a:pPr>
            <a:r>
              <a:rPr lang="en-IN" b="1" dirty="0"/>
              <a:t>Example:</a:t>
            </a:r>
            <a:endParaRPr lang="en-IN" dirty="0"/>
          </a:p>
          <a:p>
            <a:r>
              <a:rPr lang="en-IN" dirty="0">
                <a:latin typeface="Courier New" panose="02070309020205020404" pitchFamily="49" charset="0"/>
              </a:rPr>
              <a:t>Sender waits → Receiver receives → Sender continues</a:t>
            </a:r>
          </a:p>
          <a:p>
            <a:pPr lvl="1"/>
            <a:endParaRPr lang="en-US" dirty="0"/>
          </a:p>
        </p:txBody>
      </p:sp>
      <p:sp>
        <p:nvSpPr>
          <p:cNvPr id="7" name="TextBox 6">
            <a:extLst>
              <a:ext uri="{FF2B5EF4-FFF2-40B4-BE49-F238E27FC236}">
                <a16:creationId xmlns:a16="http://schemas.microsoft.com/office/drawing/2014/main" id="{64327D9E-29D4-024B-56BF-436683501A20}"/>
              </a:ext>
            </a:extLst>
          </p:cNvPr>
          <p:cNvSpPr txBox="1"/>
          <p:nvPr/>
        </p:nvSpPr>
        <p:spPr>
          <a:xfrm>
            <a:off x="6655443" y="474562"/>
            <a:ext cx="4710896" cy="4247317"/>
          </a:xfrm>
          <a:prstGeom prst="rect">
            <a:avLst/>
          </a:prstGeom>
          <a:noFill/>
        </p:spPr>
        <p:txBody>
          <a:bodyPr wrap="square">
            <a:spAutoFit/>
          </a:bodyPr>
          <a:lstStyle/>
          <a:p>
            <a:pPr>
              <a:buNone/>
            </a:pPr>
            <a:r>
              <a:rPr lang="en-IN" b="1" dirty="0"/>
              <a:t>Non-Blocking (Asynchronous)</a:t>
            </a:r>
          </a:p>
          <a:p>
            <a:pPr>
              <a:buFont typeface="Arial" panose="020B0604020202020204" pitchFamily="34" charset="0"/>
              <a:buChar char="•"/>
            </a:pPr>
            <a:r>
              <a:rPr lang="en-IN" dirty="0">
                <a:latin typeface="Courier New" panose="02070309020205020404" pitchFamily="49" charset="0"/>
              </a:rPr>
              <a:t>send()</a:t>
            </a:r>
            <a:r>
              <a:rPr lang="en-IN" dirty="0"/>
              <a:t> returns immediately</a:t>
            </a:r>
          </a:p>
          <a:p>
            <a:pPr>
              <a:buFont typeface="Arial" panose="020B0604020202020204" pitchFamily="34" charset="0"/>
              <a:buChar char="•"/>
            </a:pPr>
            <a:r>
              <a:rPr lang="en-IN" dirty="0">
                <a:latin typeface="Courier New" panose="02070309020205020404" pitchFamily="49" charset="0"/>
              </a:rPr>
              <a:t>receive()</a:t>
            </a:r>
            <a:r>
              <a:rPr lang="en-IN" dirty="0"/>
              <a:t> returns immediately</a:t>
            </a:r>
          </a:p>
          <a:p>
            <a:endParaRPr lang="en-IN" dirty="0"/>
          </a:p>
          <a:p>
            <a:r>
              <a:rPr lang="en-US" b="1" dirty="0"/>
              <a:t>Non-blocking communication means the process does NOT wait for the communication to finish.</a:t>
            </a:r>
          </a:p>
          <a:p>
            <a:endParaRPr lang="en-US" dirty="0"/>
          </a:p>
          <a:p>
            <a:r>
              <a:rPr lang="en-US" dirty="0"/>
              <a:t>The process </a:t>
            </a:r>
            <a:r>
              <a:rPr lang="en-US" b="1" dirty="0"/>
              <a:t>continues executing other instructions immediately</a:t>
            </a:r>
            <a:r>
              <a:rPr lang="en-US" dirty="0"/>
              <a:t>.</a:t>
            </a:r>
          </a:p>
          <a:p>
            <a:r>
              <a:rPr lang="en-US" dirty="0"/>
              <a:t>Sender does NOT know immediately:</a:t>
            </a:r>
          </a:p>
          <a:p>
            <a:r>
              <a:rPr lang="en-US" dirty="0"/>
              <a:t>Whether receiver got the message</a:t>
            </a:r>
          </a:p>
          <a:p>
            <a:r>
              <a:rPr lang="en-US" dirty="0"/>
              <a:t>When receiver will read it</a:t>
            </a:r>
          </a:p>
          <a:p>
            <a:r>
              <a:rPr lang="en-US" dirty="0"/>
              <a:t>Sender only knows:</a:t>
            </a:r>
          </a:p>
          <a:p>
            <a:r>
              <a:rPr lang="en-US" dirty="0"/>
              <a:t>Message was accepted by system</a:t>
            </a:r>
            <a:endParaRPr lang="en-IN" dirty="0"/>
          </a:p>
        </p:txBody>
      </p:sp>
    </p:spTree>
    <p:extLst>
      <p:ext uri="{BB962C8B-B14F-4D97-AF65-F5344CB8AC3E}">
        <p14:creationId xmlns:p14="http://schemas.microsoft.com/office/powerpoint/2010/main" val="30064472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37415C-2B3A-F752-7BEC-015909A6877F}"/>
              </a:ext>
            </a:extLst>
          </p:cNvPr>
          <p:cNvSpPr txBox="1"/>
          <p:nvPr/>
        </p:nvSpPr>
        <p:spPr>
          <a:xfrm>
            <a:off x="266219" y="173620"/>
            <a:ext cx="6273478" cy="6463308"/>
          </a:xfrm>
          <a:prstGeom prst="rect">
            <a:avLst/>
          </a:prstGeom>
          <a:noFill/>
        </p:spPr>
        <p:txBody>
          <a:bodyPr wrap="square">
            <a:spAutoFit/>
          </a:bodyPr>
          <a:lstStyle/>
          <a:p>
            <a:pPr>
              <a:buNone/>
            </a:pPr>
            <a:r>
              <a:rPr lang="en-IN" b="1" dirty="0"/>
              <a:t>2. Direct vs Indirect Communication</a:t>
            </a:r>
          </a:p>
          <a:p>
            <a:r>
              <a:rPr lang="en-US" b="1" dirty="0"/>
              <a:t>Direct communication</a:t>
            </a:r>
            <a:r>
              <a:rPr lang="en-US" dirty="0"/>
              <a:t>, the </a:t>
            </a:r>
            <a:r>
              <a:rPr lang="en-US" b="1" dirty="0"/>
              <a:t>sender explicitly names the receiver</a:t>
            </a:r>
            <a:r>
              <a:rPr lang="en-US" dirty="0"/>
              <a:t>, and the receiver explicitly names the sender.</a:t>
            </a:r>
          </a:p>
          <a:p>
            <a:br>
              <a:rPr lang="en-US" dirty="0"/>
            </a:br>
            <a:r>
              <a:rPr lang="en-US" b="1" dirty="0"/>
              <a:t>Syntax Example</a:t>
            </a:r>
          </a:p>
          <a:p>
            <a:r>
              <a:rPr lang="en-US" dirty="0"/>
              <a:t>send(P2, message);</a:t>
            </a:r>
          </a:p>
          <a:p>
            <a:r>
              <a:rPr lang="en-US" dirty="0"/>
              <a:t>receive(P1, message);</a:t>
            </a:r>
          </a:p>
          <a:p>
            <a:r>
              <a:rPr lang="en-US" dirty="0"/>
              <a:t>P1 → sender</a:t>
            </a:r>
          </a:p>
          <a:p>
            <a:r>
              <a:rPr lang="en-US" dirty="0"/>
              <a:t>P2 → receiver</a:t>
            </a:r>
          </a:p>
          <a:p>
            <a:br>
              <a:rPr lang="en-US" dirty="0"/>
            </a:br>
            <a:r>
              <a:rPr lang="en-US" b="1" dirty="0"/>
              <a:t>How it Works (Step-by-Step)</a:t>
            </a:r>
          </a:p>
          <a:p>
            <a:r>
              <a:rPr lang="en-US" dirty="0"/>
              <a:t>Process </a:t>
            </a:r>
            <a:r>
              <a:rPr lang="en-US" b="1" dirty="0"/>
              <a:t>P1</a:t>
            </a:r>
            <a:r>
              <a:rPr lang="en-US" dirty="0"/>
              <a:t> wants to send a message</a:t>
            </a:r>
          </a:p>
          <a:p>
            <a:r>
              <a:rPr lang="en-US" dirty="0"/>
              <a:t>P1 specifies </a:t>
            </a:r>
            <a:r>
              <a:rPr lang="en-US" b="1" dirty="0"/>
              <a:t>P2</a:t>
            </a:r>
            <a:r>
              <a:rPr lang="en-US" dirty="0"/>
              <a:t> directly</a:t>
            </a:r>
          </a:p>
          <a:p>
            <a:r>
              <a:rPr lang="en-US" dirty="0"/>
              <a:t>Message is delivered only to </a:t>
            </a:r>
            <a:r>
              <a:rPr lang="en-US" b="1" dirty="0"/>
              <a:t>P2</a:t>
            </a:r>
            <a:endParaRPr lang="en-US" dirty="0"/>
          </a:p>
          <a:p>
            <a:r>
              <a:rPr lang="en-US" dirty="0"/>
              <a:t>P2 receives the message from </a:t>
            </a:r>
            <a:r>
              <a:rPr lang="en-US" b="1" dirty="0"/>
              <a:t>P1</a:t>
            </a:r>
            <a:endParaRPr lang="en-US" dirty="0"/>
          </a:p>
          <a:p>
            <a:r>
              <a:rPr lang="en-US" b="1" dirty="0"/>
              <a:t>Characteristics</a:t>
            </a:r>
          </a:p>
          <a:p>
            <a:r>
              <a:rPr lang="en-US" dirty="0"/>
              <a:t>✔ Simple to implement</a:t>
            </a:r>
            <a:br>
              <a:rPr lang="en-US" dirty="0"/>
            </a:br>
            <a:r>
              <a:rPr lang="en-US" dirty="0"/>
              <a:t>✔ Easy to understand</a:t>
            </a:r>
            <a:br>
              <a:rPr lang="en-US" dirty="0"/>
            </a:br>
            <a:r>
              <a:rPr lang="en-US" dirty="0"/>
              <a:t>❌ Processes must know each other’s identity</a:t>
            </a:r>
          </a:p>
          <a:p>
            <a:r>
              <a:rPr lang="en-US" b="1" dirty="0"/>
              <a:t>Disadvantage: Tight Coupling</a:t>
            </a:r>
          </a:p>
          <a:p>
            <a:r>
              <a:rPr lang="en-US" dirty="0"/>
              <a:t>If P2 changes or terminates → P1 is affected</a:t>
            </a:r>
          </a:p>
          <a:p>
            <a:r>
              <a:rPr lang="en-US" dirty="0"/>
              <a:t>Sender and receiver are </a:t>
            </a:r>
            <a:r>
              <a:rPr lang="en-US" b="1" dirty="0"/>
              <a:t>strongly dependent</a:t>
            </a:r>
            <a:endParaRPr lang="en-US" dirty="0"/>
          </a:p>
          <a:p>
            <a:endParaRPr lang="en-US" dirty="0"/>
          </a:p>
        </p:txBody>
      </p:sp>
      <p:sp>
        <p:nvSpPr>
          <p:cNvPr id="5" name="TextBox 4">
            <a:extLst>
              <a:ext uri="{FF2B5EF4-FFF2-40B4-BE49-F238E27FC236}">
                <a16:creationId xmlns:a16="http://schemas.microsoft.com/office/drawing/2014/main" id="{669E82B4-6BDA-31AF-184E-59383A9B7801}"/>
              </a:ext>
            </a:extLst>
          </p:cNvPr>
          <p:cNvSpPr txBox="1"/>
          <p:nvPr/>
        </p:nvSpPr>
        <p:spPr>
          <a:xfrm>
            <a:off x="6539696" y="381965"/>
            <a:ext cx="5386086" cy="6463308"/>
          </a:xfrm>
          <a:prstGeom prst="rect">
            <a:avLst/>
          </a:prstGeom>
          <a:noFill/>
        </p:spPr>
        <p:txBody>
          <a:bodyPr wrap="square">
            <a:spAutoFit/>
          </a:bodyPr>
          <a:lstStyle/>
          <a:p>
            <a:pPr>
              <a:buNone/>
            </a:pPr>
            <a:r>
              <a:rPr lang="en-US" dirty="0"/>
              <a:t> </a:t>
            </a:r>
            <a:r>
              <a:rPr lang="en-US" b="1" dirty="0"/>
              <a:t>Indirect communication</a:t>
            </a:r>
            <a:r>
              <a:rPr lang="en-US" dirty="0"/>
              <a:t>, processes </a:t>
            </a:r>
            <a:r>
              <a:rPr lang="en-US" b="1" dirty="0"/>
              <a:t>do not name each other</a:t>
            </a:r>
            <a:r>
              <a:rPr lang="en-US" dirty="0"/>
              <a:t>.</a:t>
            </a:r>
            <a:br>
              <a:rPr lang="en-US" dirty="0"/>
            </a:br>
            <a:r>
              <a:rPr lang="en-US" dirty="0"/>
              <a:t>Messages are sent to and received from a </a:t>
            </a:r>
            <a:r>
              <a:rPr lang="en-US" b="1" dirty="0"/>
              <a:t>mailbox (or port)</a:t>
            </a:r>
            <a:r>
              <a:rPr lang="en-US" dirty="0"/>
              <a:t>.</a:t>
            </a:r>
          </a:p>
          <a:p>
            <a:pPr>
              <a:buNone/>
            </a:pPr>
            <a:br>
              <a:rPr lang="en-US" dirty="0"/>
            </a:br>
            <a:r>
              <a:rPr lang="en-US" b="1" dirty="0"/>
              <a:t>Syntax Example</a:t>
            </a:r>
          </a:p>
          <a:p>
            <a:pPr rtl="0">
              <a:buNone/>
            </a:pPr>
            <a:r>
              <a:rPr lang="en-US" dirty="0">
                <a:latin typeface="Courier New" panose="02070309020205020404" pitchFamily="49" charset="0"/>
              </a:rPr>
              <a:t>send(mailbox, message);</a:t>
            </a:r>
          </a:p>
          <a:p>
            <a:pPr rtl="0">
              <a:buNone/>
            </a:pPr>
            <a:r>
              <a:rPr lang="en-US" dirty="0">
                <a:latin typeface="Courier New" panose="02070309020205020404" pitchFamily="49" charset="0"/>
              </a:rPr>
              <a:t>receive(mailbox, message);</a:t>
            </a:r>
          </a:p>
          <a:p>
            <a:pPr>
              <a:buNone/>
            </a:pPr>
            <a:br>
              <a:rPr lang="en-US" dirty="0"/>
            </a:br>
            <a:r>
              <a:rPr lang="en-US" b="1" dirty="0"/>
              <a:t>How it Works (Step-by-Step)</a:t>
            </a:r>
          </a:p>
          <a:p>
            <a:pPr>
              <a:buFont typeface="+mj-lt"/>
              <a:buAutoNum type="arabicPeriod"/>
            </a:pPr>
            <a:r>
              <a:rPr lang="en-US" dirty="0"/>
              <a:t>Process sends message to a </a:t>
            </a:r>
            <a:r>
              <a:rPr lang="en-US" b="1" dirty="0"/>
              <a:t>mailbox</a:t>
            </a:r>
            <a:endParaRPr lang="en-US" dirty="0"/>
          </a:p>
          <a:p>
            <a:pPr>
              <a:buFont typeface="+mj-lt"/>
              <a:buAutoNum type="arabicPeriod"/>
            </a:pPr>
            <a:r>
              <a:rPr lang="en-US" dirty="0"/>
              <a:t>Message is stored in the mailbox</a:t>
            </a:r>
          </a:p>
          <a:p>
            <a:pPr>
              <a:buFont typeface="+mj-lt"/>
              <a:buAutoNum type="arabicPeriod"/>
            </a:pPr>
            <a:r>
              <a:rPr lang="en-US" dirty="0"/>
              <a:t>Any authorized process can read from that mailbox</a:t>
            </a:r>
          </a:p>
          <a:p>
            <a:pPr>
              <a:buFont typeface="+mj-lt"/>
              <a:buAutoNum type="arabicPeriod"/>
            </a:pPr>
            <a:r>
              <a:rPr lang="en-US" dirty="0"/>
              <a:t>Communication happens </a:t>
            </a:r>
            <a:r>
              <a:rPr lang="en-US" b="1" dirty="0"/>
              <a:t>via mailbox</a:t>
            </a:r>
            <a:r>
              <a:rPr lang="en-US" dirty="0"/>
              <a:t>, not directly</a:t>
            </a:r>
          </a:p>
          <a:p>
            <a:r>
              <a:rPr lang="en-US" b="1" dirty="0"/>
              <a:t>Characteristics</a:t>
            </a:r>
          </a:p>
          <a:p>
            <a:r>
              <a:rPr lang="en-US" dirty="0"/>
              <a:t>✔ Flexible ,Loose coupling</a:t>
            </a:r>
            <a:br>
              <a:rPr lang="en-US" dirty="0"/>
            </a:br>
            <a:r>
              <a:rPr lang="en-US" dirty="0"/>
              <a:t>✔ Supports </a:t>
            </a:r>
            <a:r>
              <a:rPr lang="en-US" b="1" dirty="0"/>
              <a:t>many-to-many communication</a:t>
            </a:r>
          </a:p>
          <a:p>
            <a:endParaRPr lang="en-US" dirty="0"/>
          </a:p>
          <a:p>
            <a:r>
              <a:rPr lang="en-US" b="1" dirty="0"/>
              <a:t>Advantages</a:t>
            </a:r>
          </a:p>
          <a:p>
            <a:r>
              <a:rPr lang="en-US" dirty="0"/>
              <a:t>✔ Sender and receiver do not need to know each other</a:t>
            </a:r>
            <a:br>
              <a:rPr lang="en-US" dirty="0"/>
            </a:br>
            <a:r>
              <a:rPr lang="en-US" dirty="0"/>
              <a:t>✔ Processes can join or leave dynamically</a:t>
            </a:r>
            <a:br>
              <a:rPr lang="en-US" dirty="0"/>
            </a:br>
            <a:r>
              <a:rPr lang="en-US" dirty="0"/>
              <a:t>✔ Scales better for large systems</a:t>
            </a:r>
          </a:p>
          <a:p>
            <a:endParaRPr lang="en-US" dirty="0"/>
          </a:p>
        </p:txBody>
      </p:sp>
    </p:spTree>
    <p:extLst>
      <p:ext uri="{BB962C8B-B14F-4D97-AF65-F5344CB8AC3E}">
        <p14:creationId xmlns:p14="http://schemas.microsoft.com/office/powerpoint/2010/main" val="26018667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24150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729</TotalTime>
  <Words>3362</Words>
  <Application>Microsoft Office PowerPoint</Application>
  <PresentationFormat>Widescreen</PresentationFormat>
  <Paragraphs>585</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Calibri Light</vt:lpstr>
      <vt:lpstr>Courier New</vt:lpstr>
      <vt:lpstr>DM Sans</vt:lpstr>
      <vt:lpstr>SFMono-Regular</vt:lpstr>
      <vt:lpstr>Office Theme</vt:lpstr>
      <vt:lpstr>INTER-PROCESS COMMUNICATION</vt:lpstr>
      <vt:lpstr>Critical section</vt:lpstr>
      <vt:lpstr>Race condition</vt:lpstr>
      <vt:lpstr>PowerPoint Presentation</vt:lpstr>
      <vt:lpstr>Mutual Exclusion </vt:lpstr>
      <vt:lpstr>PowerPoint Presentation</vt:lpstr>
      <vt:lpstr>PowerPoint Presentation</vt:lpstr>
      <vt:lpstr>PowerPoint Presentation</vt:lpstr>
      <vt:lpstr>Hardware Solution </vt:lpstr>
      <vt:lpstr>Test-and-Set Instruction </vt:lpstr>
      <vt:lpstr>PowerPoint Presentation</vt:lpstr>
      <vt:lpstr>Software Solution </vt:lpstr>
      <vt:lpstr>What is Strict Alternation?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SAKSHI UPADHYAY</dc:creator>
  <cp:lastModifiedBy>SAKSHI UPADHYAY</cp:lastModifiedBy>
  <cp:revision>1</cp:revision>
  <dcterms:created xsi:type="dcterms:W3CDTF">2025-12-23T05:00:49Z</dcterms:created>
  <dcterms:modified xsi:type="dcterms:W3CDTF">2026-01-06T12:42:51Z</dcterms:modified>
</cp:coreProperties>
</file>