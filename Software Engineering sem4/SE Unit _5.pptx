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57" r:id="rId2"/>
    <p:sldId id="366" r:id="rId3"/>
    <p:sldId id="409" r:id="rId4"/>
    <p:sldId id="369" r:id="rId5"/>
    <p:sldId id="410" r:id="rId6"/>
    <p:sldId id="411" r:id="rId7"/>
    <p:sldId id="367" r:id="rId8"/>
    <p:sldId id="368" r:id="rId9"/>
    <p:sldId id="414" r:id="rId10"/>
    <p:sldId id="415" r:id="rId11"/>
    <p:sldId id="422" r:id="rId12"/>
    <p:sldId id="365" r:id="rId13"/>
    <p:sldId id="261" r:id="rId14"/>
    <p:sldId id="416" r:id="rId15"/>
    <p:sldId id="335" r:id="rId16"/>
    <p:sldId id="417" r:id="rId17"/>
    <p:sldId id="421" r:id="rId18"/>
    <p:sldId id="419" r:id="rId19"/>
    <p:sldId id="423" r:id="rId20"/>
    <p:sldId id="443" r:id="rId21"/>
    <p:sldId id="425" r:id="rId22"/>
    <p:sldId id="424" r:id="rId23"/>
    <p:sldId id="436" r:id="rId24"/>
    <p:sldId id="437" r:id="rId25"/>
    <p:sldId id="426" r:id="rId26"/>
    <p:sldId id="427" r:id="rId27"/>
    <p:sldId id="428" r:id="rId28"/>
    <p:sldId id="429" r:id="rId29"/>
    <p:sldId id="432" r:id="rId30"/>
    <p:sldId id="439" r:id="rId31"/>
    <p:sldId id="438" r:id="rId32"/>
    <p:sldId id="431" r:id="rId33"/>
    <p:sldId id="440" r:id="rId34"/>
    <p:sldId id="449" r:id="rId35"/>
    <p:sldId id="444" r:id="rId36"/>
    <p:sldId id="445" r:id="rId37"/>
    <p:sldId id="446" r:id="rId38"/>
    <p:sldId id="447" r:id="rId39"/>
    <p:sldId id="448" r:id="rId40"/>
    <p:sldId id="441" r:id="rId41"/>
    <p:sldId id="434" r:id="rId42"/>
    <p:sldId id="442" r:id="rId43"/>
    <p:sldId id="321" r:id="rId4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358" autoAdjust="0"/>
  </p:normalViewPr>
  <p:slideViewPr>
    <p:cSldViewPr>
      <p:cViewPr varScale="1">
        <p:scale>
          <a:sx n="74" d="100"/>
          <a:sy n="74" d="100"/>
        </p:scale>
        <p:origin x="1714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1B67A-04D4-4725-9E9B-AF9BEA2DB19A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527F48-7CFA-4648-8465-9CF5BE0D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971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10">
            <a:extLst>
              <a:ext uri="{FF2B5EF4-FFF2-40B4-BE49-F238E27FC236}">
                <a16:creationId xmlns:a16="http://schemas.microsoft.com/office/drawing/2014/main" id="{467A548B-2855-EE3C-9FDB-FA244E04F391}"/>
              </a:ext>
            </a:extLst>
          </p:cNvPr>
          <p:cNvGrpSpPr/>
          <p:nvPr userDrawn="1"/>
        </p:nvGrpSpPr>
        <p:grpSpPr>
          <a:xfrm>
            <a:off x="377036" y="1"/>
            <a:ext cx="8698811" cy="6857999"/>
            <a:chOff x="-4801433" y="-1782234"/>
            <a:chExt cx="18084927" cy="14257864"/>
          </a:xfrm>
        </p:grpSpPr>
        <p:sp>
          <p:nvSpPr>
            <p:cNvPr id="7" name="object 11">
              <a:extLst>
                <a:ext uri="{FF2B5EF4-FFF2-40B4-BE49-F238E27FC236}">
                  <a16:creationId xmlns:a16="http://schemas.microsoft.com/office/drawing/2014/main" id="{6B8C205A-7087-CF38-99F4-B0053CB4FE60}"/>
                </a:ext>
              </a:extLst>
            </p:cNvPr>
            <p:cNvSpPr/>
            <p:nvPr/>
          </p:nvSpPr>
          <p:spPr>
            <a:xfrm>
              <a:off x="-4801433" y="1790698"/>
              <a:ext cx="12600815" cy="983098"/>
            </a:xfrm>
            <a:custGeom>
              <a:avLst/>
              <a:gdLst/>
              <a:ahLst/>
              <a:cxnLst/>
              <a:rect l="l" t="t" r="r" b="b"/>
              <a:pathLst>
                <a:path w="4610100" h="660400">
                  <a:moveTo>
                    <a:pt x="0" y="660400"/>
                  </a:moveTo>
                  <a:lnTo>
                    <a:pt x="4610100" y="660400"/>
                  </a:lnTo>
                  <a:lnTo>
                    <a:pt x="4610100" y="0"/>
                  </a:lnTo>
                  <a:lnTo>
                    <a:pt x="0" y="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646464"/>
            </a:solidFill>
          </p:spPr>
          <p:txBody>
            <a:bodyPr wrap="square" lIns="0" tIns="0" rIns="0" bIns="0" rtlCol="0"/>
            <a:lstStyle/>
            <a:p>
              <a:endParaRPr sz="865"/>
            </a:p>
          </p:txBody>
        </p:sp>
        <p:sp>
          <p:nvSpPr>
            <p:cNvPr id="8" name="object 12">
              <a:extLst>
                <a:ext uri="{FF2B5EF4-FFF2-40B4-BE49-F238E27FC236}">
                  <a16:creationId xmlns:a16="http://schemas.microsoft.com/office/drawing/2014/main" id="{98F51262-3750-3A6F-3A92-74D6791C62FB}"/>
                </a:ext>
              </a:extLst>
            </p:cNvPr>
            <p:cNvSpPr/>
            <p:nvPr/>
          </p:nvSpPr>
          <p:spPr>
            <a:xfrm>
              <a:off x="8339276" y="-1782234"/>
              <a:ext cx="4944218" cy="14257864"/>
            </a:xfrm>
            <a:custGeom>
              <a:avLst/>
              <a:gdLst/>
              <a:ahLst/>
              <a:cxnLst/>
              <a:rect l="l" t="t" r="r" b="b"/>
              <a:pathLst>
                <a:path w="2387600" h="10693400">
                  <a:moveTo>
                    <a:pt x="0" y="0"/>
                  </a:moveTo>
                  <a:lnTo>
                    <a:pt x="2387600" y="0"/>
                  </a:lnTo>
                  <a:lnTo>
                    <a:pt x="2387600" y="10693400"/>
                  </a:lnTo>
                  <a:lnTo>
                    <a:pt x="0" y="1069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 sz="865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F0743AE-05B8-728F-CB92-2C0BA30CB3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5" y="253736"/>
            <a:ext cx="4597617" cy="6918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D257D0-4131-4888-983C-C92DFD3C1541}"/>
              </a:ext>
            </a:extLst>
          </p:cNvPr>
          <p:cNvSpPr txBox="1"/>
          <p:nvPr userDrawn="1"/>
        </p:nvSpPr>
        <p:spPr>
          <a:xfrm>
            <a:off x="6629400" y="293754"/>
            <a:ext cx="2801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CSE-AI &amp; ML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E14A5E2-5AF5-9BF9-6092-47DB459663EF}"/>
              </a:ext>
            </a:extLst>
          </p:cNvPr>
          <p:cNvGrpSpPr/>
          <p:nvPr userDrawn="1"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3EA7D79-652A-AEA1-E147-CBFC2E4323B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5A7A149-02A8-439C-10C9-7E409452798D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2" name="object 3">
            <a:extLst>
              <a:ext uri="{FF2B5EF4-FFF2-40B4-BE49-F238E27FC236}">
                <a16:creationId xmlns:a16="http://schemas.microsoft.com/office/drawing/2014/main" id="{5FF3F8BA-A523-0489-D6A2-253B8AF63491}"/>
              </a:ext>
            </a:extLst>
          </p:cNvPr>
          <p:cNvSpPr/>
          <p:nvPr userDrawn="1"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BA4F14-9FC3-AC8B-9550-50B04280F4AA}"/>
              </a:ext>
            </a:extLst>
          </p:cNvPr>
          <p:cNvGrpSpPr/>
          <p:nvPr userDrawn="1"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199DCD3-0FEE-4E49-04F8-35CE84D6F74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CA16294-4CE8-4244-82D5-06B2D4FFDDC4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1" name="object 3">
            <a:extLst>
              <a:ext uri="{FF2B5EF4-FFF2-40B4-BE49-F238E27FC236}">
                <a16:creationId xmlns:a16="http://schemas.microsoft.com/office/drawing/2014/main" id="{84774D53-FAAF-2B9B-95DF-996373FF4AEA}"/>
              </a:ext>
            </a:extLst>
          </p:cNvPr>
          <p:cNvSpPr/>
          <p:nvPr userDrawn="1"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1C74AEB-179E-9522-FB80-3A6792901FEC}"/>
              </a:ext>
            </a:extLst>
          </p:cNvPr>
          <p:cNvGrpSpPr/>
          <p:nvPr userDrawn="1"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84A9A1F-B994-071D-C394-B5D058AABCD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60D1BA-7EFD-DEE0-21A9-EC5D9E9C57B8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9" name="object 3">
            <a:extLst>
              <a:ext uri="{FF2B5EF4-FFF2-40B4-BE49-F238E27FC236}">
                <a16:creationId xmlns:a16="http://schemas.microsoft.com/office/drawing/2014/main" id="{1CB06AE4-BAFC-A241-85ED-2FFC67BE2812}"/>
              </a:ext>
            </a:extLst>
          </p:cNvPr>
          <p:cNvSpPr/>
          <p:nvPr userDrawn="1"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418A933-E86D-8037-A701-758B86A1922D}"/>
              </a:ext>
            </a:extLst>
          </p:cNvPr>
          <p:cNvGrpSpPr/>
          <p:nvPr userDrawn="1"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794BEB2-FEC0-D51D-A7FB-9CCD45E6B94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D6EBE41-B014-4F4C-1761-C88F5DA91ECC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8" name="object 3">
            <a:extLst>
              <a:ext uri="{FF2B5EF4-FFF2-40B4-BE49-F238E27FC236}">
                <a16:creationId xmlns:a16="http://schemas.microsoft.com/office/drawing/2014/main" id="{55405AE3-DA08-8DE9-1C4C-750BDD0882BD}"/>
              </a:ext>
            </a:extLst>
          </p:cNvPr>
          <p:cNvSpPr/>
          <p:nvPr userDrawn="1"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57375" y="3071813"/>
            <a:ext cx="5430838" cy="28035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9710" y="2580144"/>
            <a:ext cx="7396480" cy="368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5" Type="http://schemas.openxmlformats.org/officeDocument/2006/relationships/hyperlink" Target="http://www.paruluniversity.ac.in/" TargetMode="Externa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5071" y="1905000"/>
            <a:ext cx="8865802" cy="2803524"/>
            <a:chOff x="0" y="2571750"/>
            <a:chExt cx="8865802" cy="280352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2571750"/>
              <a:ext cx="5430838" cy="28035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714750"/>
              <a:ext cx="8865802" cy="714375"/>
            </a:xfrm>
            <a:custGeom>
              <a:avLst/>
              <a:gdLst/>
              <a:ahLst/>
              <a:cxnLst/>
              <a:rect l="l" t="t" r="r" b="b"/>
              <a:pathLst>
                <a:path w="9144000" h="714375">
                  <a:moveTo>
                    <a:pt x="9143999" y="714374"/>
                  </a:moveTo>
                  <a:lnTo>
                    <a:pt x="0" y="714374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714374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66800" y="2343149"/>
            <a:ext cx="7312025" cy="139589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R="22225" algn="ctr">
              <a:lnSpc>
                <a:spcPct val="100000"/>
              </a:lnSpc>
              <a:spcBef>
                <a:spcPts val="1285"/>
              </a:spcBef>
            </a:pPr>
            <a:r>
              <a:rPr sz="3500" b="1" spc="-25" dirty="0">
                <a:latin typeface="Calibri"/>
                <a:cs typeface="Calibri"/>
              </a:rPr>
              <a:t>Unit-</a:t>
            </a:r>
            <a:r>
              <a:rPr lang="en-US" sz="3500" b="1" spc="-50" dirty="0">
                <a:latin typeface="Calibri"/>
                <a:cs typeface="Calibri"/>
              </a:rPr>
              <a:t>5</a:t>
            </a:r>
            <a:endParaRPr sz="35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190"/>
              </a:spcBef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</a:rPr>
              <a:t> Coding and Unit Testing</a:t>
            </a:r>
            <a:endParaRPr sz="3500" dirty="0">
              <a:latin typeface="Calibri"/>
              <a:cs typeface="Calibri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8D6D9783-4E44-6D64-4827-A4C0D1480D90}"/>
              </a:ext>
            </a:extLst>
          </p:cNvPr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B39B6FF-EB1D-920B-8F1A-A74775DFC178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665B30F-284D-8294-DE39-CDBE5C77592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31DC6A8-A50F-CDDA-86F2-C3BB1AE43BC6}"/>
                </a:ext>
              </a:extLst>
            </p:cNvPr>
            <p:cNvSpPr txBox="1"/>
            <p:nvPr userDrawn="1"/>
          </p:nvSpPr>
          <p:spPr>
            <a:xfrm>
              <a:off x="6019800" y="264007"/>
              <a:ext cx="30410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3" name="object 6">
            <a:extLst>
              <a:ext uri="{FF2B5EF4-FFF2-40B4-BE49-F238E27FC236}">
                <a16:creationId xmlns:a16="http://schemas.microsoft.com/office/drawing/2014/main" id="{0AFC26B3-CD51-B0DA-9EFC-533637722915}"/>
              </a:ext>
            </a:extLst>
          </p:cNvPr>
          <p:cNvSpPr txBox="1"/>
          <p:nvPr/>
        </p:nvSpPr>
        <p:spPr>
          <a:xfrm>
            <a:off x="630810" y="5299327"/>
            <a:ext cx="2340990" cy="1549783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190"/>
              </a:spcBef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Kedar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Pinniboyina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Assistant Professor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AI&amp;ML Department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1190"/>
              </a:spcBef>
            </a:pPr>
            <a:endParaRPr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B18A2-F501-0F05-EE7E-1D2248B61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0546A0C-68F1-6A91-6393-BD3F209BB752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CD0120D-5929-C0FB-4585-34036EE7EC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" y="1697673"/>
            <a:ext cx="88042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/>
              <a:t>Programming Principles and Guidelines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696D09-DB44-69EF-1F83-1F97398909B8}"/>
              </a:ext>
            </a:extLst>
          </p:cNvPr>
          <p:cNvSpPr txBox="1"/>
          <p:nvPr/>
        </p:nvSpPr>
        <p:spPr>
          <a:xfrm>
            <a:off x="228600" y="2590800"/>
            <a:ext cx="90678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principles are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rules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help developers write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correct, readable, and maintainable code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Principles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Correctness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must produce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output for all valid inputs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calculator must give correct results for all arithmetic operations.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Simplicity (KISS – Keep It Simple, Stupid)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should be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unnecessary logic and over-engineering.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793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AAC5-2134-04D1-754F-2DF7B4CCA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CC281F1-5AB1-94ED-4CC3-89429CB730A7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4666676-F738-AB3C-9F35-FB1B1941A2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" y="1697673"/>
            <a:ext cx="88042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/>
              <a:t>Programming Principles and Guidelines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7ED230-B61F-C0A4-93CD-313FC6813503}"/>
              </a:ext>
            </a:extLst>
          </p:cNvPr>
          <p:cNvSpPr txBox="1"/>
          <p:nvPr/>
        </p:nvSpPr>
        <p:spPr>
          <a:xfrm>
            <a:off x="228600" y="2590800"/>
            <a:ext cx="90678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c) Modularity</a:t>
            </a:r>
          </a:p>
          <a:p>
            <a:r>
              <a:rPr lang="en-US" sz="2000" dirty="0"/>
              <a:t>Divide the program into </a:t>
            </a:r>
            <a:r>
              <a:rPr lang="en-US" sz="2000" b="1" dirty="0"/>
              <a:t>small independent modules/functions</a:t>
            </a:r>
            <a:r>
              <a:rPr lang="en-US" sz="2000" dirty="0"/>
              <a:t>.</a:t>
            </a:r>
          </a:p>
          <a:p>
            <a:r>
              <a:rPr lang="en-US" sz="2000" dirty="0"/>
              <a:t>Each module performs </a:t>
            </a:r>
            <a:r>
              <a:rPr lang="en-US" sz="2000" b="1" dirty="0"/>
              <a:t>one specific task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/>
              <a:t>d) Reusability</a:t>
            </a:r>
          </a:p>
          <a:p>
            <a:r>
              <a:rPr lang="en-US" sz="2000" dirty="0"/>
              <a:t>Code should be reusable in other programs.</a:t>
            </a:r>
          </a:p>
          <a:p>
            <a:r>
              <a:rPr lang="en-US" sz="2000" dirty="0"/>
              <a:t>Example: A sorting function used in multiple projects.</a:t>
            </a:r>
          </a:p>
          <a:p>
            <a:endParaRPr lang="en-US" sz="2000" dirty="0"/>
          </a:p>
          <a:p>
            <a:r>
              <a:rPr lang="en-US" sz="2000" b="1" dirty="0"/>
              <a:t>e) Maintainability</a:t>
            </a:r>
          </a:p>
          <a:p>
            <a:r>
              <a:rPr lang="en-US" sz="2000" dirty="0"/>
              <a:t>Code should be easy to modify and update.</a:t>
            </a:r>
          </a:p>
          <a:p>
            <a:r>
              <a:rPr lang="en-US" sz="2000" dirty="0"/>
              <a:t>Achieved using comments, proper naming, and structure.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78568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09060-6A65-7E54-D049-E8F4945C1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EB3E19E-428A-356B-D48A-28C5A642457F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958639A-6936-E655-A6F6-423FCE459F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" y="1697673"/>
            <a:ext cx="88042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dirty="0"/>
              <a:t>Programming Practices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D607EF-F8DF-1234-57DF-8A82FC32ED31}"/>
              </a:ext>
            </a:extLst>
          </p:cNvPr>
          <p:cNvSpPr txBox="1"/>
          <p:nvPr/>
        </p:nvSpPr>
        <p:spPr>
          <a:xfrm>
            <a:off x="381001" y="2272054"/>
            <a:ext cx="838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Programming practices are </a:t>
            </a:r>
            <a:r>
              <a:rPr lang="en-US" sz="2200" b="1" dirty="0"/>
              <a:t>techniques followed while coding</a:t>
            </a:r>
            <a:r>
              <a:rPr lang="en-US" sz="2200" dirty="0"/>
              <a:t> to improve software quality.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B43C16-1D94-5DCC-B49C-FA8BE87A2F42}"/>
              </a:ext>
            </a:extLst>
          </p:cNvPr>
          <p:cNvSpPr txBox="1"/>
          <p:nvPr/>
        </p:nvSpPr>
        <p:spPr>
          <a:xfrm>
            <a:off x="380999" y="2998113"/>
            <a:ext cx="6781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Good Programming Practices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EE4530-5BF1-62C7-C5DA-021F59C3AE69}"/>
              </a:ext>
            </a:extLst>
          </p:cNvPr>
          <p:cNvSpPr txBox="1"/>
          <p:nvPr/>
        </p:nvSpPr>
        <p:spPr>
          <a:xfrm>
            <a:off x="1066800" y="3429000"/>
            <a:ext cx="6324600" cy="256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Use </a:t>
            </a:r>
            <a:r>
              <a:rPr lang="en-US" sz="2200" b="1" dirty="0"/>
              <a:t>meaningful variable and function names</a:t>
            </a:r>
            <a:endParaRPr lang="en-US" sz="22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Write </a:t>
            </a:r>
            <a:r>
              <a:rPr lang="en-US" sz="2200" b="1" dirty="0"/>
              <a:t>comments</a:t>
            </a:r>
            <a:r>
              <a:rPr lang="en-US" sz="2200" dirty="0"/>
              <a:t> to explain complex logic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Follow </a:t>
            </a:r>
            <a:r>
              <a:rPr lang="en-US" sz="2200" b="1" dirty="0"/>
              <a:t>indentation and formatting</a:t>
            </a:r>
            <a:endParaRPr lang="en-US" sz="22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Avoid hard-coding values (use constants)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Handle </a:t>
            </a:r>
            <a:r>
              <a:rPr lang="en-US" sz="2200" b="1" dirty="0"/>
              <a:t>errors and exceptions properly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86599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F015C-B0F4-4631-9F54-F98AE4210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2B450C3-F146-B343-F9C3-54722F1047F4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8F1DD3A-BE33-307D-556C-5FE1E56B9E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" y="1697673"/>
            <a:ext cx="88042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dirty="0"/>
              <a:t>Programming Practices (Contd.)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025BB4-0A80-89F7-01F5-37FE4A85266B}"/>
              </a:ext>
            </a:extLst>
          </p:cNvPr>
          <p:cNvSpPr txBox="1"/>
          <p:nvPr/>
        </p:nvSpPr>
        <p:spPr>
          <a:xfrm>
            <a:off x="381000" y="2392883"/>
            <a:ext cx="838200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Control construct</a:t>
            </a:r>
          </a:p>
          <a:p>
            <a:r>
              <a:rPr lang="en-US" sz="2200" dirty="0"/>
              <a:t>	The single entry and exit constructs need to be used.</a:t>
            </a:r>
          </a:p>
          <a:p>
            <a:endParaRPr lang="en-US" sz="2200" dirty="0"/>
          </a:p>
          <a:p>
            <a:r>
              <a:rPr lang="en-US" sz="2200" b="1" dirty="0"/>
              <a:t>Use of go to</a:t>
            </a:r>
          </a:p>
          <a:p>
            <a:pPr algn="just"/>
            <a:r>
              <a:rPr lang="en-US" sz="2200" dirty="0"/>
              <a:t>The go to statements make the program unstructured. So avoid the use of </a:t>
            </a:r>
            <a:r>
              <a:rPr lang="en-US" sz="2200" dirty="0" err="1"/>
              <a:t>goto</a:t>
            </a:r>
            <a:r>
              <a:rPr lang="en-US" sz="2200" dirty="0"/>
              <a:t> statements as possible.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b="1" dirty="0"/>
              <a:t>User-defined data types</a:t>
            </a:r>
          </a:p>
          <a:p>
            <a:pPr algn="just"/>
            <a:r>
              <a:rPr lang="en-US" sz="2200" dirty="0"/>
              <a:t>User can define data type to enhance the readability of the code.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b="1" dirty="0"/>
              <a:t>Information hiding</a:t>
            </a:r>
          </a:p>
        </p:txBody>
      </p:sp>
    </p:spTree>
    <p:extLst>
      <p:ext uri="{BB962C8B-B14F-4D97-AF65-F5344CB8AC3E}">
        <p14:creationId xmlns:p14="http://schemas.microsoft.com/office/powerpoint/2010/main" val="4246802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58B5A-AA26-57FB-9768-432F331B2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7CCB90F-C9E8-4F71-DF3B-3422EE7C8FD5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04ACBEF-3D64-1A34-EA4F-FF7E19AA00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" y="1697673"/>
            <a:ext cx="88042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dirty="0"/>
              <a:t>Programming Practices (Contd.)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7604B4-B458-AD78-322E-98E3070C4F22}"/>
              </a:ext>
            </a:extLst>
          </p:cNvPr>
          <p:cNvSpPr txBox="1"/>
          <p:nvPr/>
        </p:nvSpPr>
        <p:spPr>
          <a:xfrm>
            <a:off x="381000" y="2392883"/>
            <a:ext cx="8382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# Bad practice</a:t>
            </a:r>
          </a:p>
          <a:p>
            <a:r>
              <a:rPr lang="en-US" sz="2200" b="1" dirty="0"/>
              <a:t>x = a * b</a:t>
            </a:r>
          </a:p>
          <a:p>
            <a:endParaRPr lang="en-US" sz="2200" b="1" dirty="0"/>
          </a:p>
          <a:p>
            <a:r>
              <a:rPr lang="en-US" sz="2200" b="1" dirty="0"/>
              <a:t># Good practice</a:t>
            </a:r>
          </a:p>
          <a:p>
            <a:r>
              <a:rPr lang="en-US" sz="2200" b="1" dirty="0"/>
              <a:t>area = length * width</a:t>
            </a:r>
          </a:p>
        </p:txBody>
      </p:sp>
    </p:spTree>
    <p:extLst>
      <p:ext uri="{BB962C8B-B14F-4D97-AF65-F5344CB8AC3E}">
        <p14:creationId xmlns:p14="http://schemas.microsoft.com/office/powerpoint/2010/main" val="1406924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239FC-AEDB-2BA9-090D-90EEAE8B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42BD6EC-D5BB-52B3-23FB-BCB9AFD73AA7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5CD29AF-AD00-1853-F634-1C86E6BFB8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" y="1697673"/>
            <a:ext cx="88042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dirty="0"/>
              <a:t>Coding Standards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186EF4-D652-C17D-58AE-7FD9F3C79C54}"/>
              </a:ext>
            </a:extLst>
          </p:cNvPr>
          <p:cNvSpPr txBox="1"/>
          <p:nvPr/>
        </p:nvSpPr>
        <p:spPr>
          <a:xfrm>
            <a:off x="211137" y="2514600"/>
            <a:ext cx="853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Coding standards are </a:t>
            </a:r>
            <a:r>
              <a:rPr lang="en-US" b="1" dirty="0"/>
              <a:t>rules and conventions</a:t>
            </a:r>
            <a:r>
              <a:rPr lang="en-US" dirty="0"/>
              <a:t> for writing code in a uniform style.</a:t>
            </a:r>
          </a:p>
          <a:p>
            <a:r>
              <a:rPr lang="en-US" b="1" dirty="0"/>
              <a:t>Purpose of Coding Standards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F859E8-C65A-E51B-0B39-4042B3E1AAA4}"/>
              </a:ext>
            </a:extLst>
          </p:cNvPr>
          <p:cNvSpPr txBox="1"/>
          <p:nvPr/>
        </p:nvSpPr>
        <p:spPr>
          <a:xfrm>
            <a:off x="762000" y="3048000"/>
            <a:ext cx="45720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Improves </a:t>
            </a:r>
            <a:r>
              <a:rPr lang="en-US" sz="1900" b="1" dirty="0"/>
              <a:t>readability</a:t>
            </a:r>
            <a:endParaRPr lang="en-US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Makes teamwork easier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Reduces errors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Helps in maintenance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39D5F4-9B98-EC5A-0468-7BAAEF8CE141}"/>
              </a:ext>
            </a:extLst>
          </p:cNvPr>
          <p:cNvSpPr txBox="1"/>
          <p:nvPr/>
        </p:nvSpPr>
        <p:spPr>
          <a:xfrm>
            <a:off x="211137" y="4309884"/>
            <a:ext cx="4970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Common Coding Standards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B37E17-5C52-FE8B-C5CB-F93CA3CF25D6}"/>
              </a:ext>
            </a:extLst>
          </p:cNvPr>
          <p:cNvSpPr txBox="1"/>
          <p:nvPr/>
        </p:nvSpPr>
        <p:spPr>
          <a:xfrm>
            <a:off x="762000" y="4494550"/>
            <a:ext cx="5334000" cy="1980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Naming conventions (camelCase, </a:t>
            </a:r>
            <a:r>
              <a:rPr lang="en-US" dirty="0" err="1"/>
              <a:t>snake_case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Proper indentation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Line length limitations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Commenting standards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File and class organization</a:t>
            </a:r>
          </a:p>
        </p:txBody>
      </p:sp>
    </p:spTree>
    <p:extLst>
      <p:ext uri="{BB962C8B-B14F-4D97-AF65-F5344CB8AC3E}">
        <p14:creationId xmlns:p14="http://schemas.microsoft.com/office/powerpoint/2010/main" val="915643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678D-73AC-9364-47F5-3CEAF2E93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936E1E7-DDB5-C1F9-AEB9-29A06E5EDB80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6FB3760-2B64-3CA8-3736-45AED18D20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" y="1697673"/>
            <a:ext cx="88042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dirty="0"/>
              <a:t>Incremental Development of Code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AAE3B0-CEA4-9DE5-5F5D-D89C129E1C3F}"/>
              </a:ext>
            </a:extLst>
          </p:cNvPr>
          <p:cNvSpPr txBox="1"/>
          <p:nvPr/>
        </p:nvSpPr>
        <p:spPr>
          <a:xfrm>
            <a:off x="533400" y="2895600"/>
            <a:ext cx="73914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Incremental development means </a:t>
            </a:r>
            <a:r>
              <a:rPr lang="en-US" sz="2000" b="1" dirty="0"/>
              <a:t>building software step by step</a:t>
            </a:r>
            <a:r>
              <a:rPr lang="en-US" sz="2000" dirty="0"/>
              <a:t>, instead of writing the entire code at once.</a:t>
            </a:r>
          </a:p>
          <a:p>
            <a:endParaRPr lang="en-US" sz="2000" dirty="0"/>
          </a:p>
          <a:p>
            <a:r>
              <a:rPr lang="en-US" sz="2000" b="1" dirty="0"/>
              <a:t>Steps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Write a </a:t>
            </a:r>
            <a:r>
              <a:rPr lang="en-US" sz="2000" b="1" dirty="0"/>
              <a:t>small part of the code</a:t>
            </a: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Test it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Improve it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Add new functionality</a:t>
            </a:r>
          </a:p>
        </p:txBody>
      </p:sp>
    </p:spTree>
    <p:extLst>
      <p:ext uri="{BB962C8B-B14F-4D97-AF65-F5344CB8AC3E}">
        <p14:creationId xmlns:p14="http://schemas.microsoft.com/office/powerpoint/2010/main" val="3454667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62382-593E-8658-933F-05B418569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F2730D5-BF1C-6D08-000F-A2360F2277A6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1AB9299-A454-7EEE-914C-781EBD9D4C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" y="1697673"/>
            <a:ext cx="88042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dirty="0"/>
              <a:t>Incremental Development of Code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431DC4-9C5D-0FD5-F471-CE42E98A2D66}"/>
              </a:ext>
            </a:extLst>
          </p:cNvPr>
          <p:cNvSpPr txBox="1"/>
          <p:nvPr/>
        </p:nvSpPr>
        <p:spPr>
          <a:xfrm>
            <a:off x="533400" y="2895600"/>
            <a:ext cx="73914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Easy debugging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Early error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Better quality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r>
              <a:rPr lang="en-IN" sz="2000" b="1" dirty="0"/>
              <a:t>Example</a:t>
            </a:r>
          </a:p>
          <a:p>
            <a:r>
              <a:rPr lang="en-IN" sz="2000" dirty="0"/>
              <a:t>Step 1: Create login form</a:t>
            </a:r>
          </a:p>
          <a:p>
            <a:r>
              <a:rPr lang="en-IN" sz="2000" dirty="0"/>
              <a:t>Step 2: Validate username</a:t>
            </a:r>
          </a:p>
          <a:p>
            <a:r>
              <a:rPr lang="en-IN" sz="2000" dirty="0"/>
              <a:t>Step 3: Add password authentication</a:t>
            </a:r>
          </a:p>
          <a:p>
            <a:r>
              <a:rPr lang="en-IN" sz="2000" dirty="0"/>
              <a:t>Step 4: Connect to database</a:t>
            </a:r>
          </a:p>
        </p:txBody>
      </p:sp>
    </p:spTree>
    <p:extLst>
      <p:ext uri="{BB962C8B-B14F-4D97-AF65-F5344CB8AC3E}">
        <p14:creationId xmlns:p14="http://schemas.microsoft.com/office/powerpoint/2010/main" val="4087350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C2ADD-B356-E64C-DA31-03A6C6C2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8D9450A-7BB1-7F24-F00E-3E323CAA2FAF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5B518CE-CC66-82A2-B536-B9E174C1AF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" y="1697673"/>
            <a:ext cx="88042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dirty="0"/>
              <a:t>Incremental Development of Code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66C0D9-D488-C88C-5DD7-9E3624EB3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1036"/>
            <a:ext cx="9144000" cy="461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446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B9053-C353-E8F2-81AF-60A59414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2B37B7B-811C-00BC-9F9D-C763FEA6A072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00F63B1-03D8-E085-EDE5-F06E9AC22A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1713181"/>
            <a:ext cx="70866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dirty="0"/>
              <a:t>Verification vs Validation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ECD97B8-B0BA-16C8-D743-A90DEE0B5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536" y="2433263"/>
            <a:ext cx="850293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Verification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/>
              <a:t>Are we building the product right?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Checks whether software is built </a:t>
            </a:r>
            <a:r>
              <a:rPr lang="en-US" sz="2000" b="1" dirty="0"/>
              <a:t>according to requirements and design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No code execution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Done using </a:t>
            </a:r>
            <a:r>
              <a:rPr lang="en-US" sz="2000" b="1" dirty="0"/>
              <a:t>reviews, inspections, and walkthroughs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r>
              <a:rPr lang="en-US" sz="2000" b="1" dirty="0"/>
              <a:t>Validation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/>
              <a:t>Are we building the right product?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Checks whether software </a:t>
            </a:r>
            <a:r>
              <a:rPr lang="en-US" sz="2000" b="1" dirty="0"/>
              <a:t>meets user needs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Code is executed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Done using </a:t>
            </a:r>
            <a:r>
              <a:rPr lang="en-US" sz="2000" b="1" dirty="0"/>
              <a:t>testing (Unit, System, Acceptance)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51848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A105C-6566-7DAE-47DD-17A31337D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7A2B7C7-EFCC-953C-DECC-71FCB648E3FC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8C04C40-13C8-391D-43A9-9DB0206897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" y="1697673"/>
            <a:ext cx="88042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dirty="0"/>
              <a:t>The Types of Faults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8A893E-689C-F84D-95EE-9A4F6A21A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2054"/>
            <a:ext cx="9144000" cy="463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860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00" y="1697673"/>
            <a:ext cx="88042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dirty="0"/>
              <a:t>Code Review</a:t>
            </a:r>
            <a:endParaRPr 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B297351-E126-FC48-DD66-7E9F17B16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7" y="2438400"/>
            <a:ext cx="784859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CodeReview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carried out after the module is successfully compiled and all the syntax errors have been eliminated.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C2C31A-4774-257A-DB9B-E407C75F3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628" y="3269397"/>
            <a:ext cx="4610743" cy="28769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C7AED-EA07-4D60-0A10-F5753F3C5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AB67BE4-9FC6-6A97-8E0B-B82D6722FB78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679CF1E-C593-424E-3422-F8467EE910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1697673"/>
            <a:ext cx="86518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4615" algn="l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Code Walkthrough </a:t>
            </a:r>
            <a:endParaRPr spc="-1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C1CE00C-AB43-24DD-92B2-EFDCCB8B8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2261818"/>
            <a:ext cx="8763000" cy="423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Walkthrough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review technique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which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 of the code explains the program logic step-by-step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 group of reviewers.</a:t>
            </a:r>
          </a:p>
          <a:p>
            <a:pPr rtl="0"/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is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executed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explains the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is on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and logic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logical errors early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code clarity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knowledge among team members</a:t>
            </a:r>
          </a:p>
        </p:txBody>
      </p:sp>
    </p:spTree>
    <p:extLst>
      <p:ext uri="{BB962C8B-B14F-4D97-AF65-F5344CB8AC3E}">
        <p14:creationId xmlns:p14="http://schemas.microsoft.com/office/powerpoint/2010/main" val="3162720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30390-5310-9CCD-BC24-767127F83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48523DE-19C3-DBC5-0B55-E08CED19187C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847FC88-66C4-70D8-60A3-BBE67DEBC4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1697673"/>
            <a:ext cx="86518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4615" algn="l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Code Walkthrough – Example</a:t>
            </a:r>
            <a:endParaRPr spc="-1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CD49B7A-6FD0-58BB-9100-D439E6D31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7" y="2340928"/>
            <a:ext cx="8229600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code: </a:t>
            </a:r>
          </a:p>
          <a:p>
            <a:pPr rtl="0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divide(a, b):</a:t>
            </a:r>
          </a:p>
          <a:p>
            <a:pPr rtl="0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a / b</a:t>
            </a:r>
          </a:p>
          <a:p>
            <a:pPr rtl="0"/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/>
              <a:t>Walkthrough Discussion: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Author explains how division works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Reviewers ask: </a:t>
            </a:r>
            <a:r>
              <a:rPr lang="en-US" sz="2400" i="1" dirty="0"/>
              <a:t>What happens if b = 0?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Logical error identified (division by zero)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Now we need to </a:t>
            </a:r>
            <a:r>
              <a:rPr lang="en-IN" sz="2400" dirty="0"/>
              <a:t>improve the code</a:t>
            </a:r>
            <a:endParaRPr lang="en-US" sz="2400" dirty="0"/>
          </a:p>
          <a:p>
            <a:pPr rtl="0"/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134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D8904-6DB5-2B18-1325-D91850FF7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7781300-1EC5-81C6-6C51-704F7A4F965A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D890204-5B22-FA34-455E-C79E2D7FA9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1697673"/>
            <a:ext cx="86518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4615" algn="l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Code Inspection</a:t>
            </a:r>
            <a:endParaRPr spc="-1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8C3AB47-9F00-EAB0-CD56-9799CB49D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536" y="2340928"/>
            <a:ext cx="850293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Inspection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and systematic technique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source code without executing 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order to detect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defects, logical errors, and standard violations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rtl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/>
              <a:t>Key Points: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Static verification technique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</a:t>
            </a:r>
            <a:r>
              <a:rPr lang="en-US" b="1" dirty="0"/>
              <a:t>formal</a:t>
            </a:r>
            <a:r>
              <a:rPr lang="en-US" dirty="0"/>
              <a:t> than walkthrough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predefined </a:t>
            </a:r>
            <a:r>
              <a:rPr lang="en-US" b="1" dirty="0"/>
              <a:t>roles and checklists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Focuses on </a:t>
            </a:r>
            <a:r>
              <a:rPr lang="en-US" b="1" dirty="0"/>
              <a:t>defect detection</a:t>
            </a:r>
            <a:endParaRPr lang="en-US" dirty="0"/>
          </a:p>
          <a:p>
            <a:pPr rtl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/>
              <a:t>Objective: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Find errors early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 software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 cost of later fixes</a:t>
            </a:r>
          </a:p>
        </p:txBody>
      </p:sp>
    </p:spTree>
    <p:extLst>
      <p:ext uri="{BB962C8B-B14F-4D97-AF65-F5344CB8AC3E}">
        <p14:creationId xmlns:p14="http://schemas.microsoft.com/office/powerpoint/2010/main" val="4122889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3DE21-4FD8-1339-4FC9-3988A1741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C5D1ADB-9992-5033-011A-AD81AA046DAB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9EB09B2-7D2C-6D65-EAE5-830E5CF92B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1" y="1697673"/>
            <a:ext cx="70866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4615" algn="ctr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Software Documentation</a:t>
            </a:r>
            <a:endParaRPr spc="-1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B981D73-8D4B-A142-4300-75B30A3A8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530" y="2340928"/>
            <a:ext cx="8502939" cy="1421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various kinds of software products are developed, various kinds of</a:t>
            </a:r>
          </a:p>
          <a:p>
            <a:pPr rtl="0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documents are also developed as part of any software engineering process</a:t>
            </a:r>
          </a:p>
          <a:p>
            <a:pPr rtl="0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DF4F24-76A3-7576-A62B-59EF54557802}"/>
              </a:ext>
            </a:extLst>
          </p:cNvPr>
          <p:cNvSpPr txBox="1"/>
          <p:nvPr/>
        </p:nvSpPr>
        <p:spPr>
          <a:xfrm>
            <a:off x="723900" y="3581400"/>
            <a:ext cx="6096001" cy="2119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Users’ manual,</a:t>
            </a:r>
          </a:p>
          <a:p>
            <a:pPr rtl="0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Software requirements specification (SRS) documents,</a:t>
            </a:r>
          </a:p>
          <a:p>
            <a:pPr rtl="0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Design documents,</a:t>
            </a:r>
          </a:p>
          <a:p>
            <a:pPr rtl="0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Test documents,</a:t>
            </a:r>
          </a:p>
          <a:p>
            <a:pPr rtl="0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Installation manual,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68558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C5515-B99C-AEBC-C561-5E1A96C3F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35AF392-9F00-D53E-CF7E-BDCC70BC46F9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F248860-4878-37EE-E5F1-4CF499E10D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685800" y="1697673"/>
            <a:ext cx="8001001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4615" algn="ctr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Few Classical Programming Errors</a:t>
            </a:r>
            <a:endParaRPr spc="-1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181E89F-0BF9-9C42-D231-5B3C05462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536" y="2691922"/>
            <a:ext cx="8502939" cy="3268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Jumps into loops</a:t>
            </a:r>
          </a:p>
          <a:p>
            <a:pPr rtl="0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Non-terminating loops</a:t>
            </a:r>
          </a:p>
          <a:p>
            <a:pPr rtl="0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Array indices out of bounds</a:t>
            </a:r>
          </a:p>
          <a:p>
            <a:pPr rtl="0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Improper storage allocation and de-allocation</a:t>
            </a:r>
          </a:p>
          <a:p>
            <a:pPr rtl="0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Mismatches between actual and formal parameters in procedure calls</a:t>
            </a:r>
          </a:p>
          <a:p>
            <a:pPr rtl="0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Use of incorrect logical operators or incorrect precedence among operators</a:t>
            </a:r>
          </a:p>
          <a:p>
            <a:pPr rtl="0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Improper modification of loop variables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486923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31866-B642-82A8-6251-E72DD8557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82F6CFD-2701-3474-468C-ADE5B89F5FC0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9D055C5-83F7-91BD-CD0C-94D61C5340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1" y="1697673"/>
            <a:ext cx="70866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4615" algn="l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Software Testing</a:t>
            </a:r>
            <a:endParaRPr spc="-1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CDDDEF7-47C7-FC86-D643-B31F4B9AF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536" y="2769540"/>
            <a:ext cx="8502939" cy="311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ct val="150000"/>
              </a:lnSpc>
            </a:pPr>
            <a:r>
              <a:rPr lang="en-US" sz="2000" b="1" dirty="0"/>
              <a:t>Software Testing</a:t>
            </a:r>
            <a:r>
              <a:rPr lang="en-US" sz="2000" dirty="0"/>
              <a:t> is the process of </a:t>
            </a:r>
            <a:r>
              <a:rPr lang="en-US" sz="2000" b="1" dirty="0"/>
              <a:t>checking a software application</a:t>
            </a:r>
            <a:r>
              <a:rPr lang="en-US" sz="2000" dirty="0"/>
              <a:t> to ensure it </a:t>
            </a:r>
            <a:r>
              <a:rPr lang="en-US" sz="2000" b="1" dirty="0"/>
              <a:t>works correctly</a:t>
            </a:r>
            <a:r>
              <a:rPr lang="en-US" sz="2000" dirty="0"/>
              <a:t> and </a:t>
            </a:r>
            <a:r>
              <a:rPr lang="en-US" sz="2000" b="1" dirty="0"/>
              <a:t>meets user requirements</a:t>
            </a:r>
            <a:r>
              <a:rPr lang="en-US" sz="2000" dirty="0"/>
              <a:t>.</a:t>
            </a:r>
          </a:p>
          <a:p>
            <a:pPr rtl="0">
              <a:lnSpc>
                <a:spcPct val="150000"/>
              </a:lnSpc>
            </a:pPr>
            <a:endParaRPr lang="en-US" sz="2000" b="1" dirty="0"/>
          </a:p>
          <a:p>
            <a:r>
              <a:rPr lang="en-US" sz="2000" b="1" dirty="0"/>
              <a:t>Key Points: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Helps identify </a:t>
            </a:r>
            <a:r>
              <a:rPr lang="en-US" sz="2000" b="1" dirty="0"/>
              <a:t>bugs and defects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Ensures software meets </a:t>
            </a:r>
            <a:r>
              <a:rPr lang="en-US" sz="2000" b="1" dirty="0"/>
              <a:t>requirements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Improves </a:t>
            </a:r>
            <a:r>
              <a:rPr lang="en-US" sz="2000" b="1" dirty="0"/>
              <a:t>quality and reliability</a:t>
            </a:r>
            <a:endParaRPr lang="en-US" sz="2000" dirty="0"/>
          </a:p>
          <a:p>
            <a:pPr rtl="0">
              <a:lnSpc>
                <a:spcPct val="150000"/>
              </a:lnSpc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243028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A11D3-8D16-918E-9500-F79BC7BD8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 Guide to Different Types of Software Tests">
            <a:extLst>
              <a:ext uri="{FF2B5EF4-FFF2-40B4-BE49-F238E27FC236}">
                <a16:creationId xmlns:a16="http://schemas.microsoft.com/office/drawing/2014/main" id="{E9FE0580-67A2-ED81-C421-4FDB00737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38200" y="1219201"/>
            <a:ext cx="10591800" cy="541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9681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C78AA-0F45-7633-0388-BCD83AB5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6232300-6B2E-2729-8EBD-AEF65689936D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812C0CB-E803-988C-BE54-99CAFF0A7C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1" y="1697673"/>
            <a:ext cx="70866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4615" algn="l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When to test Software?</a:t>
            </a:r>
            <a:endParaRPr spc="-1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F55FAE9-9B87-1C54-962E-B77C11518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530" y="2436912"/>
            <a:ext cx="850293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Software testing should be done </a:t>
            </a:r>
            <a:r>
              <a:rPr lang="en-US" sz="2000" b="1" dirty="0"/>
              <a:t>throughout the SDLC(software development life cycle)</a:t>
            </a:r>
            <a:r>
              <a:rPr lang="en-US" sz="2000" dirty="0"/>
              <a:t>, not only at the end.</a:t>
            </a:r>
          </a:p>
          <a:p>
            <a:endParaRPr lang="en-US" sz="2000" dirty="0"/>
          </a:p>
          <a:p>
            <a:r>
              <a:rPr lang="en-US" sz="2000" b="1" dirty="0"/>
              <a:t>Testing is done at different stages: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89CF1-7985-6C4D-D525-249BD7BC6BC4}"/>
              </a:ext>
            </a:extLst>
          </p:cNvPr>
          <p:cNvSpPr txBox="1"/>
          <p:nvPr/>
        </p:nvSpPr>
        <p:spPr>
          <a:xfrm>
            <a:off x="1104899" y="3760351"/>
            <a:ext cx="69342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after coding each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after combining modules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after completing the full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Acceptance Testing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before delivery to the customer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Testing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after installing in user environment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A57A6F-AA3F-4A1A-B0CC-9B2DBDB67773}"/>
              </a:ext>
            </a:extLst>
          </p:cNvPr>
          <p:cNvSpPr txBox="1"/>
          <p:nvPr/>
        </p:nvSpPr>
        <p:spPr>
          <a:xfrm>
            <a:off x="381000" y="5486400"/>
            <a:ext cx="8153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Point:</a:t>
            </a:r>
            <a:endParaRPr lang="en-US" dirty="0"/>
          </a:p>
          <a:p>
            <a:pPr>
              <a:buNone/>
            </a:pPr>
            <a:r>
              <a:rPr lang="en-US" b="1" dirty="0"/>
              <a:t>Test early and test continuously</a:t>
            </a:r>
            <a:r>
              <a:rPr lang="en-US" dirty="0"/>
              <a:t> to detect errors as soon as possible and reduce cost.</a:t>
            </a:r>
          </a:p>
        </p:txBody>
      </p:sp>
    </p:spTree>
    <p:extLst>
      <p:ext uri="{BB962C8B-B14F-4D97-AF65-F5344CB8AC3E}">
        <p14:creationId xmlns:p14="http://schemas.microsoft.com/office/powerpoint/2010/main" val="12396800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4E936-8AAB-F60A-D90B-97D10FC96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85F88D2-BBCF-3CBD-6A8B-B59E924551E6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475F474-3CFA-9FDA-6D22-44A2A066B6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1" y="1697673"/>
            <a:ext cx="70866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4615" algn="ctr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Unit Testing Strategy</a:t>
            </a:r>
            <a:endParaRPr spc="-1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793DE48-C122-E660-C914-056131E0D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536" y="3818257"/>
            <a:ext cx="850293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Unit Testing</a:t>
            </a:r>
            <a:r>
              <a:rPr lang="en-US" sz="2000" dirty="0"/>
              <a:t> means testing individual units/modules of code (like functions, methods, or classes) to ensure they work correctly.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189222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D4313-F801-7BA4-6D88-927BD2E23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3904CC8-8F0D-9E8E-91E5-5AC2ACE8195B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17A088B-A2B4-5ED1-9785-D5BE1B29E6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1" y="1697673"/>
            <a:ext cx="70866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4615" algn="ctr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Unit Testing Strategy</a:t>
            </a:r>
            <a:endParaRPr spc="-1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699C846-5578-C672-19A0-4B88C2069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536" y="2433265"/>
            <a:ext cx="850293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Stubs and Drivers help test a module independently without waiting for other modules to be developed.</a:t>
            </a:r>
          </a:p>
          <a:p>
            <a:endParaRPr lang="en-US" sz="2000" dirty="0"/>
          </a:p>
          <a:p>
            <a:r>
              <a:rPr lang="en-US" sz="2000" b="1" dirty="0"/>
              <a:t>Driver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</a:t>
            </a:r>
            <a:r>
              <a:rPr lang="en-US" sz="2000" b="1" dirty="0"/>
              <a:t>dummy main program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Sends </a:t>
            </a:r>
            <a:r>
              <a:rPr lang="en-US" sz="2000" b="1" dirty="0"/>
              <a:t>test data</a:t>
            </a:r>
            <a:r>
              <a:rPr lang="en-US" sz="2000" dirty="0"/>
              <a:t> to the module under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Used in </a:t>
            </a:r>
            <a:r>
              <a:rPr lang="en-US" sz="2000" b="1" dirty="0"/>
              <a:t>Bottom-Up Testing</a:t>
            </a:r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Stub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</a:t>
            </a:r>
            <a:r>
              <a:rPr lang="en-US" sz="2000" b="1" dirty="0"/>
              <a:t>dummy called module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Returns </a:t>
            </a:r>
            <a:r>
              <a:rPr lang="en-US" sz="2000" b="1" dirty="0"/>
              <a:t>fixed / dummy output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Used in </a:t>
            </a:r>
            <a:r>
              <a:rPr lang="en-US" sz="2000" b="1" dirty="0"/>
              <a:t>Top-Down Testing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635562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13697-CBA9-44E2-778B-B29FD33B0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B88C810-389B-047A-75EA-32B9C21B03B9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B107232-4C06-8D50-3C62-D70A2908AC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1" y="1697673"/>
            <a:ext cx="70866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4615" algn="ctr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Unit Testing Strategy</a:t>
            </a:r>
            <a:endParaRPr spc="-1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604848B1-7F6B-49E6-F1D4-0DDE144E5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530" y="2320146"/>
            <a:ext cx="850293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Real-Time Example</a:t>
            </a:r>
          </a:p>
          <a:p>
            <a:r>
              <a:rPr lang="en-US" sz="2000" dirty="0"/>
              <a:t>Application has </a:t>
            </a:r>
            <a:r>
              <a:rPr lang="en-US" sz="2000" b="1" dirty="0"/>
              <a:t>Module A, Module B, Module C</a:t>
            </a:r>
            <a:endParaRPr lang="en-US" sz="2000" dirty="0"/>
          </a:p>
          <a:p>
            <a:r>
              <a:rPr lang="en-US" sz="2000" dirty="0"/>
              <a:t>Module </a:t>
            </a:r>
            <a:r>
              <a:rPr lang="en-US" sz="2000" b="1" dirty="0"/>
              <a:t>B depends on A and C</a:t>
            </a:r>
            <a:endParaRPr lang="en-US" sz="2000" dirty="0"/>
          </a:p>
          <a:p>
            <a:r>
              <a:rPr lang="en-US" sz="2000" dirty="0"/>
              <a:t>Only </a:t>
            </a:r>
            <a:r>
              <a:rPr lang="en-US" sz="2000" b="1" dirty="0"/>
              <a:t>Module B is developed</a:t>
            </a:r>
            <a:endParaRPr lang="en-US" sz="2000" dirty="0"/>
          </a:p>
          <a:p>
            <a:endParaRPr lang="en-US" sz="2000" b="1" dirty="0"/>
          </a:p>
          <a:p>
            <a:r>
              <a:rPr lang="en-US" sz="2000" b="1" dirty="0"/>
              <a:t>Solution</a:t>
            </a:r>
            <a:endParaRPr lang="en-US" sz="2000" dirty="0"/>
          </a:p>
          <a:p>
            <a:r>
              <a:rPr lang="en-US" sz="2000" dirty="0"/>
              <a:t>Replace </a:t>
            </a:r>
            <a:r>
              <a:rPr lang="en-US" sz="2000" b="1" dirty="0"/>
              <a:t>Module A with Driver</a:t>
            </a:r>
            <a:endParaRPr lang="en-US" sz="2000" dirty="0"/>
          </a:p>
          <a:p>
            <a:r>
              <a:rPr lang="en-US" sz="2000" dirty="0"/>
              <a:t>Replace </a:t>
            </a:r>
            <a:r>
              <a:rPr lang="en-US" sz="2000" b="1" dirty="0"/>
              <a:t>Module C with Stub</a:t>
            </a:r>
            <a:endParaRPr lang="en-US" sz="2000" dirty="0"/>
          </a:p>
          <a:p>
            <a:r>
              <a:rPr lang="en-US" sz="2000" dirty="0"/>
              <a:t>This allows </a:t>
            </a:r>
            <a:r>
              <a:rPr lang="en-US" sz="2000" b="1" dirty="0"/>
              <a:t>complete testing of Module B in isolation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FA6541-C19D-2DA8-9CB0-4207C1910E9C}"/>
              </a:ext>
            </a:extLst>
          </p:cNvPr>
          <p:cNvSpPr txBox="1"/>
          <p:nvPr/>
        </p:nvSpPr>
        <p:spPr>
          <a:xfrm>
            <a:off x="317066" y="524998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Diagram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CF2451-3570-D9A4-C3D4-1F9502032080}"/>
              </a:ext>
            </a:extLst>
          </p:cNvPr>
          <p:cNvSpPr txBox="1"/>
          <p:nvPr/>
        </p:nvSpPr>
        <p:spPr>
          <a:xfrm>
            <a:off x="1676400" y="5434649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Driver (fake A)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  Module B  ←── Stub (fake C)</a:t>
            </a:r>
          </a:p>
        </p:txBody>
      </p:sp>
    </p:spTree>
    <p:extLst>
      <p:ext uri="{BB962C8B-B14F-4D97-AF65-F5344CB8AC3E}">
        <p14:creationId xmlns:p14="http://schemas.microsoft.com/office/powerpoint/2010/main" val="18345508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FB8D4-36B1-EB8E-6C17-C1D06985B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4059951-C794-AC3E-1F20-40C28195CBC5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A38AE07-AC27-31AF-806A-710FD2B76F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599" y="1697673"/>
            <a:ext cx="6324601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4615" algn="l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Metrics</a:t>
            </a:r>
            <a:endParaRPr spc="-1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8F229FF-6BD0-DC9A-DE12-3E3C9798E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469667"/>
            <a:ext cx="8502939" cy="958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ct val="150000"/>
              </a:lnSpc>
            </a:pPr>
            <a:r>
              <a:rPr lang="en-US" sz="2000" b="1" dirty="0"/>
              <a:t>Metrics</a:t>
            </a:r>
            <a:r>
              <a:rPr lang="en-US" sz="2000" dirty="0"/>
              <a:t> are </a:t>
            </a:r>
            <a:r>
              <a:rPr lang="en-US" sz="2000" b="1" dirty="0"/>
              <a:t>quantitative measurements</a:t>
            </a:r>
            <a:r>
              <a:rPr lang="en-US" sz="2000" dirty="0"/>
              <a:t> used to evaluate the </a:t>
            </a:r>
            <a:r>
              <a:rPr lang="en-US" sz="2000" b="1" dirty="0"/>
              <a:t>software, process, or project</a:t>
            </a:r>
            <a:r>
              <a:rPr lang="en-US" sz="2000" dirty="0"/>
              <a:t>.</a:t>
            </a:r>
            <a:endParaRPr 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20609-1448-D6F8-BE5B-06382EB8553D}"/>
              </a:ext>
            </a:extLst>
          </p:cNvPr>
          <p:cNvSpPr txBox="1"/>
          <p:nvPr/>
        </p:nvSpPr>
        <p:spPr>
          <a:xfrm>
            <a:off x="457200" y="362594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Types of Measures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D799AD-0156-6F41-62CF-CE5331F55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4343400"/>
            <a:ext cx="1810003" cy="10860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2ADC32-88D4-2497-050C-E039555FD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29110"/>
            <a:ext cx="1819529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695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51D35-3F1F-E54D-9E3B-5AE70B795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45805D0-4330-0512-0D01-DB890C0E75A7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5E27B18-B6C9-8FC0-E961-F4701E64C8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1" y="1697673"/>
            <a:ext cx="70866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4615" algn="ctr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Size Measure</a:t>
            </a:r>
            <a:endParaRPr spc="-1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32F72A4-3EC6-7721-F097-66378F586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590800"/>
            <a:ext cx="77724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rtl="0"/>
            <a:r>
              <a:rPr lang="en-US" sz="2000" b="1" dirty="0"/>
              <a:t>Size Measure</a:t>
            </a:r>
            <a:r>
              <a:rPr lang="en-US" sz="2000" dirty="0"/>
              <a:t> is a software metric used to measure the </a:t>
            </a:r>
            <a:r>
              <a:rPr lang="en-US" sz="2000" b="1" dirty="0"/>
              <a:t>size of a software product</a:t>
            </a:r>
            <a:r>
              <a:rPr lang="en-US" sz="2000" dirty="0"/>
              <a:t> in terms of </a:t>
            </a:r>
            <a:r>
              <a:rPr lang="en-US" sz="2000" b="1" dirty="0"/>
              <a:t>code or functionality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It helps in estimating </a:t>
            </a:r>
            <a:r>
              <a:rPr lang="en-US" sz="2000" b="1" dirty="0"/>
              <a:t>effort, cost, and development time</a:t>
            </a:r>
            <a:r>
              <a:rPr lang="en-US" sz="2000" dirty="0"/>
              <a:t>.</a:t>
            </a:r>
            <a:endParaRPr 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F3D87E-FB5F-992E-7090-1956944272E1}"/>
              </a:ext>
            </a:extLst>
          </p:cNvPr>
          <p:cNvSpPr txBox="1"/>
          <p:nvPr/>
        </p:nvSpPr>
        <p:spPr>
          <a:xfrm>
            <a:off x="1600200" y="3810000"/>
            <a:ext cx="4572000" cy="2118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➤ Types of Size Measures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🔹 </a:t>
            </a:r>
            <a:r>
              <a:rPr lang="en-US" b="1" dirty="0"/>
              <a:t>LOC (Lines of Code)</a:t>
            </a:r>
            <a:br>
              <a:rPr lang="en-US" dirty="0"/>
            </a:br>
            <a:r>
              <a:rPr lang="en-US" dirty="0"/>
              <a:t>🔹 </a:t>
            </a:r>
            <a:r>
              <a:rPr lang="en-US" b="1" dirty="0"/>
              <a:t>Function Points (FP)</a:t>
            </a:r>
          </a:p>
          <a:p>
            <a:pPr>
              <a:lnSpc>
                <a:spcPct val="150000"/>
              </a:lnSpc>
            </a:pPr>
            <a:r>
              <a:rPr lang="en-US" dirty="0"/>
              <a:t>🔹 </a:t>
            </a:r>
            <a:r>
              <a:rPr lang="en-US" b="1" dirty="0"/>
              <a:t>Effort = Person month</a:t>
            </a:r>
            <a:br>
              <a:rPr lang="en-US" dirty="0"/>
            </a:br>
            <a:r>
              <a:rPr lang="en-US" dirty="0"/>
              <a:t>🔹 </a:t>
            </a:r>
            <a:r>
              <a:rPr lang="en-US" b="1" dirty="0"/>
              <a:t>Cost = $/KLOC</a:t>
            </a:r>
          </a:p>
        </p:txBody>
      </p:sp>
    </p:spTree>
    <p:extLst>
      <p:ext uri="{BB962C8B-B14F-4D97-AF65-F5344CB8AC3E}">
        <p14:creationId xmlns:p14="http://schemas.microsoft.com/office/powerpoint/2010/main" val="1630305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D95EE-B1BB-89C8-C1AF-5324C5D7C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1686283-2364-5776-A396-2E5A07D2E421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B65359C-0CFF-9496-7E62-87894318C3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697673"/>
            <a:ext cx="7315201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4615" algn="ctr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Complexity Measure</a:t>
            </a:r>
            <a:endParaRPr spc="-1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502F5E1-1A87-BDA2-C48D-FC5267EB0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590800"/>
            <a:ext cx="77724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rtl="0"/>
            <a:r>
              <a:rPr lang="en-US" sz="2000" dirty="0"/>
              <a:t>A </a:t>
            </a:r>
            <a:r>
              <a:rPr lang="en-US" sz="2000" b="1" dirty="0"/>
              <a:t>complexity measure</a:t>
            </a:r>
            <a:r>
              <a:rPr lang="en-US" sz="2000" dirty="0"/>
              <a:t> is a metric used to determine </a:t>
            </a:r>
            <a:r>
              <a:rPr lang="en-US" sz="2000" b="1" dirty="0"/>
              <a:t>how much complex a software program is</a:t>
            </a:r>
            <a:r>
              <a:rPr lang="en-US" sz="2000" dirty="0"/>
              <a:t>, based on its structure, logic, and control flow.</a:t>
            </a:r>
            <a:endParaRPr 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DD73C-7BB7-8FB8-4E40-34A8C21FF3DC}"/>
              </a:ext>
            </a:extLst>
          </p:cNvPr>
          <p:cNvSpPr txBox="1"/>
          <p:nvPr/>
        </p:nvSpPr>
        <p:spPr>
          <a:xfrm>
            <a:off x="685800" y="3855046"/>
            <a:ext cx="7315200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Complexity can be done by various methods, such as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Cyclomatic complexity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Halstead measure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Knot count measure.</a:t>
            </a:r>
          </a:p>
        </p:txBody>
      </p:sp>
    </p:spTree>
    <p:extLst>
      <p:ext uri="{BB962C8B-B14F-4D97-AF65-F5344CB8AC3E}">
        <p14:creationId xmlns:p14="http://schemas.microsoft.com/office/powerpoint/2010/main" val="13378490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292AC-4DFD-AFFB-1624-DE980D5B8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52C068F-BE00-D9D9-135B-597CE906E68C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A9B32E9-E8A9-2EF6-E949-BEC38EEF80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0" y="1697673"/>
            <a:ext cx="5791201" cy="633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/>
              <a:t>Cyclomatic complexity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AF5C7395-9137-A4FB-784F-856B2C765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354686"/>
            <a:ext cx="82296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Cyclomatic Complexity</a:t>
            </a:r>
            <a:r>
              <a:rPr lang="en-US" sz="2000" dirty="0"/>
              <a:t> is a software metric used to measure the </a:t>
            </a:r>
            <a:r>
              <a:rPr lang="en-US" sz="2000" b="1" dirty="0"/>
              <a:t>logical complexity of a program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It indicates the </a:t>
            </a:r>
            <a:r>
              <a:rPr lang="en-US" sz="2000" b="1" dirty="0"/>
              <a:t>number of independent paths</a:t>
            </a:r>
            <a:r>
              <a:rPr lang="en-US" sz="2000" dirty="0"/>
              <a:t> in the code.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5E54E4-38C0-FEF0-75A7-E41BB269F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269"/>
            <a:ext cx="9144000" cy="352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2722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71088-C370-ED5C-FE5A-37279CD5C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1D7BFF8-9451-E407-00BE-9D4E602C242C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BC1DF45-3022-F76F-76E1-F65D86C268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0" y="1697673"/>
            <a:ext cx="5791201" cy="633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/>
              <a:t>Cyclomatic complexity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A4ADC2-D128-A178-E7E6-B2E8CC0057B2}"/>
              </a:ext>
            </a:extLst>
          </p:cNvPr>
          <p:cNvSpPr txBox="1"/>
          <p:nvPr/>
        </p:nvSpPr>
        <p:spPr>
          <a:xfrm>
            <a:off x="2133600" y="3510902"/>
            <a:ext cx="4572000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/>
              <a:t>IF A = 354</a:t>
            </a:r>
          </a:p>
          <a:p>
            <a:r>
              <a:rPr lang="en-IN" sz="2500" dirty="0"/>
              <a:t>   THEN IF B &gt; C</a:t>
            </a:r>
          </a:p>
          <a:p>
            <a:r>
              <a:rPr lang="en-IN" sz="2500" dirty="0"/>
              <a:t>           THEN A = B</a:t>
            </a:r>
          </a:p>
          <a:p>
            <a:r>
              <a:rPr lang="en-IN" sz="2500" dirty="0"/>
              <a:t>           ELSE A = C</a:t>
            </a:r>
          </a:p>
          <a:p>
            <a:r>
              <a:rPr lang="en-IN" sz="2500" dirty="0"/>
              <a:t>        ENDIF</a:t>
            </a:r>
          </a:p>
          <a:p>
            <a:r>
              <a:rPr lang="en-IN" sz="2500" dirty="0"/>
              <a:t>ENDIF</a:t>
            </a:r>
          </a:p>
          <a:p>
            <a:r>
              <a:rPr lang="en-IN" sz="2500" dirty="0"/>
              <a:t>Print 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C8D04A-FBC1-032A-ADED-6FB42DABD1D5}"/>
              </a:ext>
            </a:extLst>
          </p:cNvPr>
          <p:cNvSpPr txBox="1"/>
          <p:nvPr/>
        </p:nvSpPr>
        <p:spPr>
          <a:xfrm>
            <a:off x="457200" y="2677121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Given Pseudocode</a:t>
            </a:r>
          </a:p>
        </p:txBody>
      </p:sp>
    </p:spTree>
    <p:extLst>
      <p:ext uri="{BB962C8B-B14F-4D97-AF65-F5344CB8AC3E}">
        <p14:creationId xmlns:p14="http://schemas.microsoft.com/office/powerpoint/2010/main" val="38666616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639E7-5F27-2CA9-68D1-6C1869CAC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F0D22DF-848A-60E5-0054-9584C0473D10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EBC5226-A563-EDB3-A841-D8265C0278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0" y="1697673"/>
            <a:ext cx="5791201" cy="633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/>
              <a:t>Cyclomatic complexity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99A330-F957-8CEE-01A7-FC9EFDF2C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855" y="1095399"/>
            <a:ext cx="9144000" cy="530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4755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2AFF1-13B6-E589-05BF-56D6A9901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37D935A-A45E-BC1F-D580-F65AE41BE31E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C762B5D-66EF-E798-70F7-B2C49109FD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0" y="1697673"/>
            <a:ext cx="5791201" cy="633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/>
              <a:t>Cyclomatic complexity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534C9A-DC4D-F953-9652-2CAD36626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5518"/>
            <a:ext cx="9144000" cy="45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0876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546F1-4F05-792D-DAC7-4AE56DA75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A021EFA-DC5B-EEF8-83D5-7AFDEFCEB439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A1AB268-38DC-2D2D-2B23-1D6AA9C979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0" y="1697673"/>
            <a:ext cx="5791201" cy="633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dirty="0"/>
              <a:t>Halstead Measure </a:t>
            </a:r>
            <a:endParaRPr 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EDEDA6E-E286-1979-DD4E-798CA9408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590800"/>
            <a:ext cx="77724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Halstead Measure</a:t>
            </a:r>
            <a:r>
              <a:rPr lang="en-US" sz="2000" dirty="0"/>
              <a:t> is a </a:t>
            </a:r>
            <a:r>
              <a:rPr lang="en-US" sz="2000" b="1" dirty="0"/>
              <a:t>software complexity metric. </a:t>
            </a:r>
            <a:r>
              <a:rPr lang="en-US" sz="2000" dirty="0"/>
              <a:t>It measures </a:t>
            </a:r>
            <a:r>
              <a:rPr lang="en-US" sz="2000" b="1" dirty="0"/>
              <a:t>program complexity based on operators and operands used in the code</a:t>
            </a:r>
            <a:r>
              <a:rPr lang="en-US" sz="20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372CD7-2F98-5AB1-79CD-98E7ED7BA2BD}"/>
              </a:ext>
            </a:extLst>
          </p:cNvPr>
          <p:cNvSpPr txBox="1"/>
          <p:nvPr/>
        </p:nvSpPr>
        <p:spPr>
          <a:xfrm>
            <a:off x="685800" y="368116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Basic Terms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BE63B0-FE6A-AA3F-1D92-BF8CFCB94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074642"/>
              </p:ext>
            </p:extLst>
          </p:nvPr>
        </p:nvGraphicFramePr>
        <p:xfrm>
          <a:off x="716973" y="4125191"/>
          <a:ext cx="7396162" cy="1828800"/>
        </p:xfrm>
        <a:graphic>
          <a:graphicData uri="http://schemas.openxmlformats.org/drawingml/2006/table">
            <a:tbl>
              <a:tblPr/>
              <a:tblGrid>
                <a:gridCol w="3698081">
                  <a:extLst>
                    <a:ext uri="{9D8B030D-6E8A-4147-A177-3AD203B41FA5}">
                      <a16:colId xmlns:a16="http://schemas.microsoft.com/office/drawing/2014/main" val="829858290"/>
                    </a:ext>
                  </a:extLst>
                </a:gridCol>
                <a:gridCol w="3698081">
                  <a:extLst>
                    <a:ext uri="{9D8B030D-6E8A-4147-A177-3AD203B41FA5}">
                      <a16:colId xmlns:a16="http://schemas.microsoft.com/office/drawing/2014/main" val="176467271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2081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n₁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Number of </a:t>
                      </a:r>
                      <a:r>
                        <a:rPr lang="en-IN" sz="1800" b="1"/>
                        <a:t>distinct operators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5022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n₂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Number of </a:t>
                      </a:r>
                      <a:r>
                        <a:rPr lang="en-IN" sz="1800" b="1"/>
                        <a:t>distinct operands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3669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N₁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Total occurrences of operators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2422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N₂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Total occurrences of operands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603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66546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62B74-9BCE-8380-1CF0-0B8EEC79F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8C00237-8EB0-890E-8A71-DAAA83B77A86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29CF3AB-5B1F-767C-A45B-9C0DD68D1B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0" y="1697673"/>
            <a:ext cx="5791201" cy="633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dirty="0"/>
              <a:t>Halstead Measure Formulas 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09293F-9F0E-B40C-2186-D81811C77E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335294"/>
              </p:ext>
            </p:extLst>
          </p:nvPr>
        </p:nvGraphicFramePr>
        <p:xfrm>
          <a:off x="716973" y="4125191"/>
          <a:ext cx="7396162" cy="1828800"/>
        </p:xfrm>
        <a:graphic>
          <a:graphicData uri="http://schemas.openxmlformats.org/drawingml/2006/table">
            <a:tbl>
              <a:tblPr/>
              <a:tblGrid>
                <a:gridCol w="3698081">
                  <a:extLst>
                    <a:ext uri="{9D8B030D-6E8A-4147-A177-3AD203B41FA5}">
                      <a16:colId xmlns:a16="http://schemas.microsoft.com/office/drawing/2014/main" val="829858290"/>
                    </a:ext>
                  </a:extLst>
                </a:gridCol>
                <a:gridCol w="3698081">
                  <a:extLst>
                    <a:ext uri="{9D8B030D-6E8A-4147-A177-3AD203B41FA5}">
                      <a16:colId xmlns:a16="http://schemas.microsoft.com/office/drawing/2014/main" val="176467271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2081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5022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3669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2422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60372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DEE7E7E-1A40-55C4-984A-2090D1D1F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71800"/>
            <a:ext cx="9144000" cy="264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876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B148D-D49A-C463-6FB6-8EFF717A4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C5643E6-68D0-CA8C-D533-4604552CD768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2E80DC0-C8C1-D2AD-ADA6-2B2091687E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0" y="1697673"/>
            <a:ext cx="5791201" cy="633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dirty="0"/>
              <a:t>Steps to Calculate Halstead Measure 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7687B9B-541F-D8D2-B5BE-974077F00CB7}"/>
              </a:ext>
            </a:extLst>
          </p:cNvPr>
          <p:cNvGraphicFramePr>
            <a:graphicFrameLocks noGrp="1"/>
          </p:cNvGraphicFramePr>
          <p:nvPr/>
        </p:nvGraphicFramePr>
        <p:xfrm>
          <a:off x="716973" y="4125191"/>
          <a:ext cx="7396162" cy="1828800"/>
        </p:xfrm>
        <a:graphic>
          <a:graphicData uri="http://schemas.openxmlformats.org/drawingml/2006/table">
            <a:tbl>
              <a:tblPr/>
              <a:tblGrid>
                <a:gridCol w="3698081">
                  <a:extLst>
                    <a:ext uri="{9D8B030D-6E8A-4147-A177-3AD203B41FA5}">
                      <a16:colId xmlns:a16="http://schemas.microsoft.com/office/drawing/2014/main" val="829858290"/>
                    </a:ext>
                  </a:extLst>
                </a:gridCol>
                <a:gridCol w="3698081">
                  <a:extLst>
                    <a:ext uri="{9D8B030D-6E8A-4147-A177-3AD203B41FA5}">
                      <a16:colId xmlns:a16="http://schemas.microsoft.com/office/drawing/2014/main" val="176467271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2081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5022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3669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2422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60372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DFEB971-7219-C998-9BFE-A896ABACDF44}"/>
              </a:ext>
            </a:extLst>
          </p:cNvPr>
          <p:cNvSpPr txBox="1"/>
          <p:nvPr/>
        </p:nvSpPr>
        <p:spPr>
          <a:xfrm>
            <a:off x="1041256" y="2971800"/>
            <a:ext cx="5715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Step 1: Identify Distinct Operators and Operands</a:t>
            </a:r>
          </a:p>
          <a:p>
            <a:endParaRPr lang="en-US" b="1" dirty="0"/>
          </a:p>
          <a:p>
            <a:r>
              <a:rPr lang="en-US" b="1" dirty="0"/>
              <a:t>Step 2: Count Total Operators and Operands</a:t>
            </a:r>
          </a:p>
          <a:p>
            <a:endParaRPr lang="en-US" b="1" dirty="0"/>
          </a:p>
          <a:p>
            <a:r>
              <a:rPr lang="en-US" b="1" dirty="0"/>
              <a:t>Step 3: Apply Halstead Formulas</a:t>
            </a:r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30455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C78D6-D169-B20C-6303-F8904B2D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CA586CF-7DAF-8D48-D68E-B142DFA2E277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3E46BBC-5D8C-BC3F-2FF6-28C0504BFB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0" y="1697673"/>
            <a:ext cx="5791201" cy="633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dirty="0"/>
              <a:t>Halstead Measure Example 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DB0C33-E71F-5FAC-B714-5690BDFB19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021908"/>
              </p:ext>
            </p:extLst>
          </p:nvPr>
        </p:nvGraphicFramePr>
        <p:xfrm>
          <a:off x="409792" y="3881142"/>
          <a:ext cx="8581808" cy="3474720"/>
        </p:xfrm>
        <a:graphic>
          <a:graphicData uri="http://schemas.openxmlformats.org/drawingml/2006/table">
            <a:tbl>
              <a:tblPr/>
              <a:tblGrid>
                <a:gridCol w="8340140">
                  <a:extLst>
                    <a:ext uri="{9D8B030D-6E8A-4147-A177-3AD203B41FA5}">
                      <a16:colId xmlns:a16="http://schemas.microsoft.com/office/drawing/2014/main" val="829858290"/>
                    </a:ext>
                  </a:extLst>
                </a:gridCol>
                <a:gridCol w="241668">
                  <a:extLst>
                    <a:ext uri="{9D8B030D-6E8A-4147-A177-3AD203B41FA5}">
                      <a16:colId xmlns:a16="http://schemas.microsoft.com/office/drawing/2014/main" val="1764672719"/>
                    </a:ext>
                  </a:extLst>
                </a:gridCol>
              </a:tblGrid>
              <a:tr h="1299679">
                <a:tc>
                  <a:txBody>
                    <a:bodyPr/>
                    <a:lstStyle/>
                    <a:p>
                      <a:r>
                        <a:rPr lang="en-US" b="1" dirty="0"/>
                        <a:t>Step 1: Identify Operators and Operands</a:t>
                      </a:r>
                    </a:p>
                    <a:p>
                      <a:r>
                        <a:rPr lang="en-US" b="1" dirty="0"/>
                        <a:t>Operators (symbols / keywords that perform actions)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endParaRPr lang="en-US" dirty="0"/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endParaRPr lang="en-US" dirty="0"/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lang="en-US" dirty="0"/>
                    </a:p>
                    <a:p>
                      <a:endParaRPr lang="en-US" b="1" dirty="0"/>
                    </a:p>
                    <a:p>
                      <a:r>
                        <a:rPr lang="en-US" b="1" dirty="0"/>
                        <a:t>Distinct operators (n₁) = 3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208131"/>
                  </a:ext>
                </a:extLst>
              </a:tr>
              <a:tr h="32941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502281"/>
                  </a:ext>
                </a:extLst>
              </a:tr>
              <a:tr h="20794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366972"/>
                  </a:ext>
                </a:extLst>
              </a:tr>
              <a:tr h="20794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242297"/>
                  </a:ext>
                </a:extLst>
              </a:tr>
              <a:tr h="20794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60372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4685C36-544B-F63B-651D-175DFF862E7B}"/>
              </a:ext>
            </a:extLst>
          </p:cNvPr>
          <p:cNvSpPr txBox="1"/>
          <p:nvPr/>
        </p:nvSpPr>
        <p:spPr>
          <a:xfrm>
            <a:off x="1219200" y="286033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int a = 10;</a:t>
            </a:r>
          </a:p>
          <a:p>
            <a:r>
              <a:rPr lang="en-IN" b="1" dirty="0"/>
              <a:t>int b = 20;</a:t>
            </a:r>
          </a:p>
          <a:p>
            <a:r>
              <a:rPr lang="en-IN" b="1" dirty="0"/>
              <a:t>int c = a + b;</a:t>
            </a:r>
          </a:p>
        </p:txBody>
      </p:sp>
    </p:spTree>
    <p:extLst>
      <p:ext uri="{BB962C8B-B14F-4D97-AF65-F5344CB8AC3E}">
        <p14:creationId xmlns:p14="http://schemas.microsoft.com/office/powerpoint/2010/main" val="28961968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39E12-2A45-1580-C52B-B9B441E7B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16598F0-AE96-7DE0-8921-097109D0BC13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414B714-3B31-F6ED-9E3D-596C2CF915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0" y="1697673"/>
            <a:ext cx="5791201" cy="633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dirty="0"/>
              <a:t>Halstead Measure Example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7EF68D-729C-2CEE-3EC2-23DBC17102AF}"/>
              </a:ext>
            </a:extLst>
          </p:cNvPr>
          <p:cNvSpPr txBox="1"/>
          <p:nvPr/>
        </p:nvSpPr>
        <p:spPr>
          <a:xfrm>
            <a:off x="409792" y="2614933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Operands (variables / constants)</a:t>
            </a:r>
          </a:p>
          <a:p>
            <a:r>
              <a:rPr lang="en-IN" dirty="0"/>
              <a:t>a</a:t>
            </a:r>
          </a:p>
          <a:p>
            <a:r>
              <a:rPr lang="en-IN" dirty="0"/>
              <a:t>b</a:t>
            </a:r>
          </a:p>
          <a:p>
            <a:r>
              <a:rPr lang="en-IN" dirty="0"/>
              <a:t>c</a:t>
            </a:r>
          </a:p>
          <a:p>
            <a:r>
              <a:rPr lang="en-IN" dirty="0"/>
              <a:t>10</a:t>
            </a:r>
          </a:p>
          <a:p>
            <a:r>
              <a:rPr lang="en-IN" dirty="0"/>
              <a:t>20</a:t>
            </a:r>
          </a:p>
          <a:p>
            <a:endParaRPr lang="en-IN" dirty="0"/>
          </a:p>
          <a:p>
            <a:r>
              <a:rPr lang="en-IN" b="1" dirty="0"/>
              <a:t>Distinct operands (n₂) = 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80326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C50AB-C286-8EDF-358E-245AB5E41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025FCC5-4114-1ACA-7D02-3F0C09AFD980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930FBD0-60FE-AB53-89AB-4246A20461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0" y="1697673"/>
            <a:ext cx="5791201" cy="633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dirty="0"/>
              <a:t>Halstead Measure Example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03D900-3A60-E98B-6EAB-F8CF4BF4DFF2}"/>
              </a:ext>
            </a:extLst>
          </p:cNvPr>
          <p:cNvSpPr txBox="1"/>
          <p:nvPr/>
        </p:nvSpPr>
        <p:spPr>
          <a:xfrm>
            <a:off x="457200" y="2358246"/>
            <a:ext cx="736260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Step 2: Count Total Operators and Operands</a:t>
            </a:r>
          </a:p>
          <a:p>
            <a:r>
              <a:rPr lang="en-US" b="1" dirty="0"/>
              <a:t>Total operators (N₁)</a:t>
            </a:r>
          </a:p>
          <a:p>
            <a:r>
              <a:rPr lang="en-US" dirty="0"/>
              <a:t>int → 3 times</a:t>
            </a:r>
          </a:p>
          <a:p>
            <a:r>
              <a:rPr lang="en-US" dirty="0"/>
              <a:t>= → 3 times</a:t>
            </a:r>
          </a:p>
          <a:p>
            <a:r>
              <a:rPr lang="en-US" dirty="0"/>
              <a:t>+ → 1 time</a:t>
            </a:r>
          </a:p>
          <a:p>
            <a:r>
              <a:rPr lang="en-US" b="1" dirty="0"/>
              <a:t>N₁ = 7</a:t>
            </a:r>
          </a:p>
          <a:p>
            <a:endParaRPr lang="en-US" b="1" dirty="0"/>
          </a:p>
          <a:p>
            <a:r>
              <a:rPr lang="en-US" b="1" dirty="0"/>
              <a:t>Total operands (N₂)</a:t>
            </a:r>
          </a:p>
          <a:p>
            <a:r>
              <a:rPr lang="en-US" dirty="0"/>
              <a:t>a → 2 times</a:t>
            </a:r>
          </a:p>
          <a:p>
            <a:r>
              <a:rPr lang="en-US" dirty="0"/>
              <a:t>b → 2 times</a:t>
            </a:r>
          </a:p>
          <a:p>
            <a:r>
              <a:rPr lang="en-US" dirty="0"/>
              <a:t>c → 1 time</a:t>
            </a:r>
          </a:p>
          <a:p>
            <a:r>
              <a:rPr lang="en-US" dirty="0"/>
              <a:t>10 → 1 time</a:t>
            </a:r>
          </a:p>
          <a:p>
            <a:r>
              <a:rPr lang="en-US" dirty="0"/>
              <a:t>20 → 1 time</a:t>
            </a:r>
          </a:p>
          <a:p>
            <a:r>
              <a:rPr lang="en-US" dirty="0"/>
              <a:t> </a:t>
            </a:r>
            <a:r>
              <a:rPr lang="en-US" b="1" dirty="0"/>
              <a:t>N₂ = 7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5093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CB4F7-CDB8-743F-A5FD-36784DB72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345F2C9-3F83-DAAC-0E93-8C06E0606952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F335EFC-D14E-F82E-514F-7F0FE4D151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0" y="1697673"/>
            <a:ext cx="5791201" cy="633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dirty="0"/>
              <a:t>Halstead Measure Example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14BC29-6641-9A94-C79E-347DF9C7D399}"/>
              </a:ext>
            </a:extLst>
          </p:cNvPr>
          <p:cNvSpPr txBox="1"/>
          <p:nvPr/>
        </p:nvSpPr>
        <p:spPr>
          <a:xfrm>
            <a:off x="409792" y="2614933"/>
            <a:ext cx="736260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Step 3: Apply Halstead Formulas</a:t>
            </a:r>
          </a:p>
          <a:p>
            <a:endParaRPr lang="en-US" b="1" dirty="0"/>
          </a:p>
          <a:p>
            <a:r>
              <a:rPr lang="en-US" b="1" dirty="0"/>
              <a:t>1️⃣ Program Vocabulary (n)</a:t>
            </a:r>
          </a:p>
          <a:p>
            <a:r>
              <a:rPr lang="pt-BR" b="1" dirty="0"/>
              <a:t>n = n₁ + n₂ = 3 + 5 = 8</a:t>
            </a:r>
          </a:p>
          <a:p>
            <a:endParaRPr lang="en-US" b="1" dirty="0"/>
          </a:p>
          <a:p>
            <a:r>
              <a:rPr lang="en-IN" dirty="0"/>
              <a:t>2️⃣ Program Length (N)</a:t>
            </a:r>
          </a:p>
          <a:p>
            <a:r>
              <a:rPr lang="pt-BR" b="1" dirty="0"/>
              <a:t>N = N₁ + N₂ = 7 + 7 = 14</a:t>
            </a:r>
          </a:p>
          <a:p>
            <a:endParaRPr lang="en-US" b="1" dirty="0"/>
          </a:p>
          <a:p>
            <a:r>
              <a:rPr lang="en-IN" dirty="0"/>
              <a:t>3️⃣ Program Volume (V)</a:t>
            </a:r>
          </a:p>
          <a:p>
            <a:r>
              <a:rPr lang="pt-BR" b="1" dirty="0"/>
              <a:t>V = N × log₂(n)</a:t>
            </a:r>
          </a:p>
          <a:p>
            <a:r>
              <a:rPr lang="pt-BR" b="1" dirty="0"/>
              <a:t>V = 14 × log₂(8)</a:t>
            </a:r>
          </a:p>
          <a:p>
            <a:r>
              <a:rPr lang="pt-BR" b="1" dirty="0"/>
              <a:t>V = 14 × 3</a:t>
            </a:r>
          </a:p>
          <a:p>
            <a:r>
              <a:rPr lang="pt-BR" b="1" dirty="0"/>
              <a:t>V = 42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288805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CD37A-C757-0B60-088E-EABD7AD5E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2559324-CD11-DDF2-0474-794B3F1B493E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2012E45-43EE-18E9-344D-EC9728CDC6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0" y="1697673"/>
            <a:ext cx="5791201" cy="633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dirty="0"/>
              <a:t>Halstead Measure Example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D3C21C-836D-6B71-D569-E0734A5C9BF5}"/>
              </a:ext>
            </a:extLst>
          </p:cNvPr>
          <p:cNvSpPr txBox="1"/>
          <p:nvPr/>
        </p:nvSpPr>
        <p:spPr>
          <a:xfrm>
            <a:off x="409792" y="2614933"/>
            <a:ext cx="736260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4️⃣ Difficulty (D)</a:t>
            </a:r>
          </a:p>
          <a:p>
            <a:r>
              <a:rPr lang="en-US" b="1" dirty="0"/>
              <a:t>D = (n₁ / 2) × (N₂ / n₂)</a:t>
            </a:r>
          </a:p>
          <a:p>
            <a:r>
              <a:rPr lang="en-US" b="1" dirty="0"/>
              <a:t>D = (3 / 2) × (7 / 5)</a:t>
            </a:r>
          </a:p>
          <a:p>
            <a:r>
              <a:rPr lang="en-US" b="1" dirty="0"/>
              <a:t>D = 1.5 × 1.4</a:t>
            </a:r>
          </a:p>
          <a:p>
            <a:r>
              <a:rPr lang="en-US" b="1" dirty="0"/>
              <a:t>D = 2.1</a:t>
            </a:r>
          </a:p>
          <a:p>
            <a:endParaRPr lang="en-US" b="1" dirty="0"/>
          </a:p>
          <a:p>
            <a:r>
              <a:rPr lang="en-IN" dirty="0"/>
              <a:t>5️⃣ Effort (E)</a:t>
            </a:r>
          </a:p>
          <a:p>
            <a:r>
              <a:rPr lang="en-US" b="1" dirty="0"/>
              <a:t>E = D × V</a:t>
            </a:r>
          </a:p>
          <a:p>
            <a:r>
              <a:rPr lang="en-US" b="1" dirty="0"/>
              <a:t>E = 2.1 × 42</a:t>
            </a:r>
          </a:p>
          <a:p>
            <a:r>
              <a:rPr lang="en-US" b="1" dirty="0"/>
              <a:t>E = 88.2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976483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D8D1B-C6C6-5E86-C963-1B2790B73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012FED8-F94A-87F8-9649-A02298C2363E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656AC9B-102E-9E8B-0A93-F32885C581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0" y="1697673"/>
            <a:ext cx="5791201" cy="633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dirty="0"/>
              <a:t>Halstead Measure Example 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70DEA6-5945-31CB-2C32-0CDEA98519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046876"/>
              </p:ext>
            </p:extLst>
          </p:nvPr>
        </p:nvGraphicFramePr>
        <p:xfrm>
          <a:off x="1283711" y="2799599"/>
          <a:ext cx="7396162" cy="2377440"/>
        </p:xfrm>
        <a:graphic>
          <a:graphicData uri="http://schemas.openxmlformats.org/drawingml/2006/table">
            <a:tbl>
              <a:tblPr/>
              <a:tblGrid>
                <a:gridCol w="3698081">
                  <a:extLst>
                    <a:ext uri="{9D8B030D-6E8A-4147-A177-3AD203B41FA5}">
                      <a16:colId xmlns:a16="http://schemas.microsoft.com/office/drawing/2014/main" val="829858290"/>
                    </a:ext>
                  </a:extLst>
                </a:gridCol>
                <a:gridCol w="3698081">
                  <a:extLst>
                    <a:ext uri="{9D8B030D-6E8A-4147-A177-3AD203B41FA5}">
                      <a16:colId xmlns:a16="http://schemas.microsoft.com/office/drawing/2014/main" val="1764672719"/>
                    </a:ext>
                  </a:extLst>
                </a:gridCol>
              </a:tblGrid>
              <a:tr h="23176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208131"/>
                  </a:ext>
                </a:extLst>
              </a:tr>
              <a:tr h="579403">
                <a:tc>
                  <a:txBody>
                    <a:bodyPr/>
                    <a:lstStyle/>
                    <a:p>
                      <a:r>
                        <a:rPr lang="en-IN" dirty="0"/>
                        <a:t>Operators: 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IN" dirty="0"/>
                        <a:t>, 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en-IN" dirty="0"/>
                        <a:t> → n₁ = 2, N₁ = 2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Operands: 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en-IN" dirty="0"/>
                        <a:t>, 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en-IN" dirty="0"/>
                        <a:t>, 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en-IN" dirty="0"/>
                        <a:t> → n₂ = 3, N₂ =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502281"/>
                  </a:ext>
                </a:extLst>
              </a:tr>
              <a:tr h="23176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366972"/>
                  </a:ext>
                </a:extLst>
              </a:tr>
              <a:tr h="23176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242297"/>
                  </a:ext>
                </a:extLst>
              </a:tr>
              <a:tr h="23176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60372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35586CD-92D1-6A1E-4ECB-9F5CED1C1DCF}"/>
              </a:ext>
            </a:extLst>
          </p:cNvPr>
          <p:cNvSpPr txBox="1"/>
          <p:nvPr/>
        </p:nvSpPr>
        <p:spPr>
          <a:xfrm>
            <a:off x="409792" y="261493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 = b + c;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174A94-6256-D482-2675-42CC20530A0C}"/>
              </a:ext>
            </a:extLst>
          </p:cNvPr>
          <p:cNvSpPr txBox="1"/>
          <p:nvPr/>
        </p:nvSpPr>
        <p:spPr>
          <a:xfrm>
            <a:off x="409792" y="449071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Calculate: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2B3F01-07CC-6A9E-965C-EDB0054C938F}"/>
              </a:ext>
            </a:extLst>
          </p:cNvPr>
          <p:cNvSpPr txBox="1"/>
          <p:nvPr/>
        </p:nvSpPr>
        <p:spPr>
          <a:xfrm>
            <a:off x="1283711" y="495300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N = 2 + 3 = 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n = 2 + 3 = 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V = 5 × log₂(5)</a:t>
            </a:r>
          </a:p>
        </p:txBody>
      </p:sp>
    </p:spTree>
    <p:extLst>
      <p:ext uri="{BB962C8B-B14F-4D97-AF65-F5344CB8AC3E}">
        <p14:creationId xmlns:p14="http://schemas.microsoft.com/office/powerpoint/2010/main" val="34914963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4AECA-CA16-928D-5C99-7DD1B3311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DBE34E8-59B4-27CD-9492-2279EC595159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835F1C8-FA12-D207-E8FF-7C1E903817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0" y="1697673"/>
            <a:ext cx="5791201" cy="633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dirty="0"/>
              <a:t>Knot Count</a:t>
            </a:r>
            <a:endParaRPr 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CA9E781-2CE6-F17E-2DA9-91AECC932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743200"/>
            <a:ext cx="77724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b="1" dirty="0"/>
              <a:t>Knot Count</a:t>
            </a:r>
            <a:r>
              <a:rPr lang="en-US" sz="2000" dirty="0"/>
              <a:t> is a </a:t>
            </a:r>
            <a:r>
              <a:rPr lang="en-US" sz="2000" b="1" dirty="0"/>
              <a:t>software complexity measure</a:t>
            </a:r>
            <a:r>
              <a:rPr lang="en-US" sz="2000" dirty="0"/>
              <a:t> used in </a:t>
            </a:r>
            <a:r>
              <a:rPr lang="en-US" sz="2000" b="1" dirty="0"/>
              <a:t>Software Engineering</a:t>
            </a:r>
            <a:r>
              <a:rPr lang="en-US" sz="2000" dirty="0"/>
              <a:t>, especially while analyzing </a:t>
            </a:r>
            <a:r>
              <a:rPr lang="en-US" sz="2000" b="1" dirty="0"/>
              <a:t>control flow</a:t>
            </a:r>
            <a:r>
              <a:rPr lang="en-US" sz="2000" dirty="0"/>
              <a:t> of a program.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It is basically designed for FORTRAN programs.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More number of knots indicates more complex in the program.</a:t>
            </a:r>
          </a:p>
        </p:txBody>
      </p:sp>
    </p:spTree>
    <p:extLst>
      <p:ext uri="{BB962C8B-B14F-4D97-AF65-F5344CB8AC3E}">
        <p14:creationId xmlns:p14="http://schemas.microsoft.com/office/powerpoint/2010/main" val="39051892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6A036-2CC7-B117-6697-EA50610B5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87545AB-F2BE-FDF3-3B23-4AC072210C38}"/>
              </a:ext>
            </a:extLst>
          </p:cNvPr>
          <p:cNvSpPr/>
          <p:nvPr/>
        </p:nvSpPr>
        <p:spPr>
          <a:xfrm>
            <a:off x="0" y="1628799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9ED3605-3B56-DEDF-8020-ABEA571DF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0" y="1697673"/>
            <a:ext cx="5791201" cy="633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dirty="0"/>
              <a:t>Knot Count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0BC124-258B-7362-EA91-F6884A691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9144000" cy="50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7341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61112"/>
            <a:ext cx="9144000" cy="497205"/>
          </a:xfrm>
          <a:custGeom>
            <a:avLst/>
            <a:gdLst/>
            <a:ahLst/>
            <a:cxnLst/>
            <a:rect l="l" t="t" r="r" b="b"/>
            <a:pathLst>
              <a:path w="9144000" h="497204">
                <a:moveTo>
                  <a:pt x="0" y="496886"/>
                </a:moveTo>
                <a:lnTo>
                  <a:pt x="9143999" y="496886"/>
                </a:lnTo>
                <a:lnTo>
                  <a:pt x="9143999" y="0"/>
                </a:lnTo>
                <a:lnTo>
                  <a:pt x="0" y="0"/>
                </a:lnTo>
                <a:lnTo>
                  <a:pt x="0" y="49688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361950"/>
            <a:ext cx="9144000" cy="5999480"/>
            <a:chOff x="0" y="361950"/>
            <a:chExt cx="9144000" cy="5999480"/>
          </a:xfrm>
        </p:grpSpPr>
        <p:sp>
          <p:nvSpPr>
            <p:cNvPr id="4" name="object 4"/>
            <p:cNvSpPr/>
            <p:nvPr/>
          </p:nvSpPr>
          <p:spPr>
            <a:xfrm>
              <a:off x="0" y="3214687"/>
              <a:ext cx="9144000" cy="2789555"/>
            </a:xfrm>
            <a:custGeom>
              <a:avLst/>
              <a:gdLst/>
              <a:ahLst/>
              <a:cxnLst/>
              <a:rect l="l" t="t" r="r" b="b"/>
              <a:pathLst>
                <a:path w="9144000" h="2789554">
                  <a:moveTo>
                    <a:pt x="0" y="2789236"/>
                  </a:moveTo>
                  <a:lnTo>
                    <a:pt x="9143999" y="2789236"/>
                  </a:lnTo>
                  <a:lnTo>
                    <a:pt x="9143999" y="0"/>
                  </a:lnTo>
                  <a:lnTo>
                    <a:pt x="0" y="0"/>
                  </a:lnTo>
                  <a:lnTo>
                    <a:pt x="0" y="27892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200" y="361950"/>
              <a:ext cx="6705599" cy="28574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3638" y="4000500"/>
              <a:ext cx="4276725" cy="5714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38475" y="4946650"/>
              <a:ext cx="3067049" cy="26034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6003925"/>
              <a:ext cx="9144000" cy="357505"/>
            </a:xfrm>
            <a:custGeom>
              <a:avLst/>
              <a:gdLst/>
              <a:ahLst/>
              <a:cxnLst/>
              <a:rect l="l" t="t" r="r" b="b"/>
              <a:pathLst>
                <a:path w="9144000" h="357504">
                  <a:moveTo>
                    <a:pt x="9143999" y="357187"/>
                  </a:moveTo>
                  <a:lnTo>
                    <a:pt x="0" y="357187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3571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341681" y="6013831"/>
            <a:ext cx="2458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1F497D"/>
                </a:solidFill>
                <a:latin typeface="Calibri"/>
                <a:cs typeface="Calibri"/>
                <a:hlinkClick r:id="rId5"/>
              </a:rPr>
              <a:t>www.paruluniversity.ac.in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1459</TotalTime>
  <Words>1720</Words>
  <Application>Microsoft Office PowerPoint</Application>
  <PresentationFormat>On-screen Show (4:3)</PresentationFormat>
  <Paragraphs>326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Times New Roman</vt:lpstr>
      <vt:lpstr>Office Theme</vt:lpstr>
      <vt:lpstr>PowerPoint Presentation</vt:lpstr>
      <vt:lpstr>Programming Principles and Guidelines</vt:lpstr>
      <vt:lpstr>Programming Principles and Guidelines</vt:lpstr>
      <vt:lpstr>Programming Practices</vt:lpstr>
      <vt:lpstr>Programming Practices (Contd.)</vt:lpstr>
      <vt:lpstr>Programming Practices (Contd.)</vt:lpstr>
      <vt:lpstr>Coding Standards</vt:lpstr>
      <vt:lpstr>Incremental Development of Code</vt:lpstr>
      <vt:lpstr>Incremental Development of Code</vt:lpstr>
      <vt:lpstr>Incremental Development of Code</vt:lpstr>
      <vt:lpstr>Verification vs Validation</vt:lpstr>
      <vt:lpstr>The Types of Faults</vt:lpstr>
      <vt:lpstr>Code Review</vt:lpstr>
      <vt:lpstr>Code Walkthrough </vt:lpstr>
      <vt:lpstr>Code Walkthrough – Example</vt:lpstr>
      <vt:lpstr>Code Inspection</vt:lpstr>
      <vt:lpstr>Software Documentation</vt:lpstr>
      <vt:lpstr>Few Classical Programming Errors</vt:lpstr>
      <vt:lpstr>Software Testing</vt:lpstr>
      <vt:lpstr>PowerPoint Presentation</vt:lpstr>
      <vt:lpstr>When to test Software?</vt:lpstr>
      <vt:lpstr>Unit Testing Strategy</vt:lpstr>
      <vt:lpstr>Unit Testing Strategy</vt:lpstr>
      <vt:lpstr>Unit Testing Strategy</vt:lpstr>
      <vt:lpstr>Metrics</vt:lpstr>
      <vt:lpstr>Size Measure</vt:lpstr>
      <vt:lpstr>Complexity Measure</vt:lpstr>
      <vt:lpstr>Cyclomatic complexity</vt:lpstr>
      <vt:lpstr>Cyclomatic complexity</vt:lpstr>
      <vt:lpstr>Cyclomatic complexity</vt:lpstr>
      <vt:lpstr>Cyclomatic complexity</vt:lpstr>
      <vt:lpstr>Halstead Measure </vt:lpstr>
      <vt:lpstr>Halstead Measure Formulas </vt:lpstr>
      <vt:lpstr>Steps to Calculate Halstead Measure </vt:lpstr>
      <vt:lpstr>Halstead Measure Example </vt:lpstr>
      <vt:lpstr>Halstead Measure Example </vt:lpstr>
      <vt:lpstr>Halstead Measure Example </vt:lpstr>
      <vt:lpstr>Halstead Measure Example </vt:lpstr>
      <vt:lpstr>Halstead Measure Example </vt:lpstr>
      <vt:lpstr>Halstead Measure Example </vt:lpstr>
      <vt:lpstr>Knot Count</vt:lpstr>
      <vt:lpstr>Knot Count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Kedar</dc:creator>
  <cp:lastModifiedBy>kedar pinniboyina</cp:lastModifiedBy>
  <cp:revision>63</cp:revision>
  <dcterms:created xsi:type="dcterms:W3CDTF">2025-11-20T17:08:26Z</dcterms:created>
  <dcterms:modified xsi:type="dcterms:W3CDTF">2026-02-09T08:17:35Z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2025-11-20T00:00:00Z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2025-11-20T00:00:00Z</vt:filetime>
  </property>
</Properties>
</file>