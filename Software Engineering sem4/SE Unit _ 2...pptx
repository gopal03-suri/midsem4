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257" r:id="rId2"/>
    <p:sldId id="258" r:id="rId3"/>
    <p:sldId id="260" r:id="rId4"/>
    <p:sldId id="323" r:id="rId5"/>
    <p:sldId id="325" r:id="rId6"/>
    <p:sldId id="324" r:id="rId7"/>
    <p:sldId id="329" r:id="rId8"/>
    <p:sldId id="330" r:id="rId9"/>
    <p:sldId id="371" r:id="rId10"/>
    <p:sldId id="372" r:id="rId11"/>
    <p:sldId id="326" r:id="rId12"/>
    <p:sldId id="332" r:id="rId13"/>
    <p:sldId id="333" r:id="rId14"/>
    <p:sldId id="370" r:id="rId15"/>
    <p:sldId id="334" r:id="rId16"/>
    <p:sldId id="335" r:id="rId17"/>
    <p:sldId id="337" r:id="rId18"/>
    <p:sldId id="338" r:id="rId19"/>
    <p:sldId id="339" r:id="rId20"/>
    <p:sldId id="340" r:id="rId21"/>
    <p:sldId id="327" r:id="rId22"/>
    <p:sldId id="328" r:id="rId23"/>
    <p:sldId id="343" r:id="rId24"/>
    <p:sldId id="331" r:id="rId25"/>
    <p:sldId id="344" r:id="rId26"/>
    <p:sldId id="342" r:id="rId27"/>
    <p:sldId id="346" r:id="rId28"/>
    <p:sldId id="373" r:id="rId29"/>
    <p:sldId id="341" r:id="rId30"/>
    <p:sldId id="349" r:id="rId31"/>
    <p:sldId id="350" r:id="rId32"/>
    <p:sldId id="351" r:id="rId33"/>
    <p:sldId id="359" r:id="rId34"/>
    <p:sldId id="354" r:id="rId35"/>
    <p:sldId id="352" r:id="rId36"/>
    <p:sldId id="355" r:id="rId37"/>
    <p:sldId id="356" r:id="rId38"/>
    <p:sldId id="360" r:id="rId39"/>
    <p:sldId id="358" r:id="rId40"/>
    <p:sldId id="348" r:id="rId41"/>
    <p:sldId id="362" r:id="rId42"/>
    <p:sldId id="347" r:id="rId43"/>
    <p:sldId id="366" r:id="rId44"/>
    <p:sldId id="364" r:id="rId45"/>
    <p:sldId id="361" r:id="rId46"/>
    <p:sldId id="365" r:id="rId47"/>
    <p:sldId id="374" r:id="rId48"/>
    <p:sldId id="367" r:id="rId49"/>
    <p:sldId id="368" r:id="rId50"/>
    <p:sldId id="369" r:id="rId51"/>
    <p:sldId id="321" r:id="rId5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1B67A-04D4-4725-9E9B-AF9BEA2DB19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27F48-7CFA-4648-8465-9CF5BE0D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971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10">
            <a:extLst>
              <a:ext uri="{FF2B5EF4-FFF2-40B4-BE49-F238E27FC236}">
                <a16:creationId xmlns:a16="http://schemas.microsoft.com/office/drawing/2014/main" id="{467A548B-2855-EE3C-9FDB-FA244E04F391}"/>
              </a:ext>
            </a:extLst>
          </p:cNvPr>
          <p:cNvGrpSpPr/>
          <p:nvPr userDrawn="1"/>
        </p:nvGrpSpPr>
        <p:grpSpPr>
          <a:xfrm>
            <a:off x="377036" y="1"/>
            <a:ext cx="8698811" cy="6857999"/>
            <a:chOff x="-4801433" y="-1782234"/>
            <a:chExt cx="18084927" cy="14257864"/>
          </a:xfrm>
        </p:grpSpPr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6B8C205A-7087-CF38-99F4-B0053CB4FE60}"/>
                </a:ext>
              </a:extLst>
            </p:cNvPr>
            <p:cNvSpPr/>
            <p:nvPr/>
          </p:nvSpPr>
          <p:spPr>
            <a:xfrm>
              <a:off x="-4801433" y="1790698"/>
              <a:ext cx="12600815" cy="983098"/>
            </a:xfrm>
            <a:custGeom>
              <a:avLst/>
              <a:gdLst/>
              <a:ahLst/>
              <a:cxnLst/>
              <a:rect l="l" t="t" r="r" b="b"/>
              <a:pathLst>
                <a:path w="4610100" h="66040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98F51262-3750-3A6F-3A92-74D6791C62FB}"/>
                </a:ext>
              </a:extLst>
            </p:cNvPr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F0743AE-05B8-728F-CB92-2C0BA30CB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5" y="253736"/>
            <a:ext cx="4597617" cy="6918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D257D0-4131-4888-983C-C92DFD3C1541}"/>
              </a:ext>
            </a:extLst>
          </p:cNvPr>
          <p:cNvSpPr txBox="1"/>
          <p:nvPr userDrawn="1"/>
        </p:nvSpPr>
        <p:spPr>
          <a:xfrm>
            <a:off x="6629400" y="293754"/>
            <a:ext cx="2801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CSE-AI &amp; ML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14A5E2-5AF5-9BF9-6092-47DB459663EF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EA7D79-652A-AEA1-E147-CBFC2E4323B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A7A149-02A8-439C-10C9-7E409452798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2" name="object 3">
            <a:extLst>
              <a:ext uri="{FF2B5EF4-FFF2-40B4-BE49-F238E27FC236}">
                <a16:creationId xmlns:a16="http://schemas.microsoft.com/office/drawing/2014/main" id="{5FF3F8BA-A523-0489-D6A2-253B8AF63491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BA4F14-9FC3-AC8B-9550-50B04280F4AA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99DCD3-0FEE-4E49-04F8-35CE84D6F74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A16294-4CE8-4244-82D5-06B2D4FFDDC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84774D53-FAAF-2B9B-95DF-996373FF4AEA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C74AEB-179E-9522-FB80-3A6792901FEC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84A9A1F-B994-071D-C394-B5D058AABCD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60D1BA-7EFD-DEE0-21A9-EC5D9E9C57B8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1CB06AE4-BAFC-A241-85ED-2FFC67BE2812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418A933-E86D-8037-A701-758B86A1922D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794BEB2-FEC0-D51D-A7FB-9CCD45E6B94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6EBE41-B014-4F4C-1761-C88F5DA91EC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8" name="object 3">
            <a:extLst>
              <a:ext uri="{FF2B5EF4-FFF2-40B4-BE49-F238E27FC236}">
                <a16:creationId xmlns:a16="http://schemas.microsoft.com/office/drawing/2014/main" id="{55405AE3-DA08-8DE9-1C4C-750BDD0882BD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9710" y="2580144"/>
            <a:ext cx="739648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paruluniversity.ac.in/" TargetMode="Externa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5071" y="1905000"/>
            <a:ext cx="8865802" cy="2803524"/>
            <a:chOff x="0" y="2571750"/>
            <a:chExt cx="8865802" cy="280352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2571750"/>
              <a:ext cx="5430838" cy="28035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714750"/>
              <a:ext cx="8865802" cy="714375"/>
            </a:xfrm>
            <a:custGeom>
              <a:avLst/>
              <a:gdLst/>
              <a:ahLst/>
              <a:cxnLst/>
              <a:rect l="l" t="t" r="r" b="b"/>
              <a:pathLst>
                <a:path w="9144000" h="714375">
                  <a:moveTo>
                    <a:pt x="9143999" y="714374"/>
                  </a:moveTo>
                  <a:lnTo>
                    <a:pt x="0" y="71437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714374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6800" y="2343149"/>
            <a:ext cx="7312025" cy="139589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1285"/>
              </a:spcBef>
            </a:pPr>
            <a:r>
              <a:rPr sz="3500" b="1" spc="-25" dirty="0">
                <a:latin typeface="Calibri"/>
                <a:cs typeface="Calibri"/>
              </a:rPr>
              <a:t>Unit-</a:t>
            </a:r>
            <a:r>
              <a:rPr lang="en-US" sz="3500" b="1" spc="-50" dirty="0">
                <a:latin typeface="Calibri"/>
                <a:cs typeface="Calibri"/>
              </a:rPr>
              <a:t>2</a:t>
            </a:r>
            <a:endParaRPr sz="35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lang="en-IN" sz="3500" b="1" dirty="0">
                <a:solidFill>
                  <a:srgbClr val="FFFFFF"/>
                </a:solidFill>
                <a:latin typeface="Calibri"/>
                <a:cs typeface="Calibri"/>
              </a:rPr>
              <a:t>Software Project Management</a:t>
            </a:r>
            <a:endParaRPr sz="3500" dirty="0">
              <a:latin typeface="Calibri"/>
              <a:cs typeface="Calibri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8D6D9783-4E44-6D64-4827-A4C0D1480D90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39B6FF-EB1D-920B-8F1A-A74775DFC178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665B30F-284D-8294-DE39-CDBE5C7759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1DC6A8-A50F-CDDA-86F2-C3BB1AE43BC6}"/>
                </a:ext>
              </a:extLst>
            </p:cNvPr>
            <p:cNvSpPr txBox="1"/>
            <p:nvPr userDrawn="1"/>
          </p:nvSpPr>
          <p:spPr>
            <a:xfrm>
              <a:off x="6019800" y="264007"/>
              <a:ext cx="30410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3" name="object 6">
            <a:extLst>
              <a:ext uri="{FF2B5EF4-FFF2-40B4-BE49-F238E27FC236}">
                <a16:creationId xmlns:a16="http://schemas.microsoft.com/office/drawing/2014/main" id="{0AFC26B3-CD51-B0DA-9EFC-533637722915}"/>
              </a:ext>
            </a:extLst>
          </p:cNvPr>
          <p:cNvSpPr txBox="1"/>
          <p:nvPr/>
        </p:nvSpPr>
        <p:spPr>
          <a:xfrm>
            <a:off x="630810" y="5299327"/>
            <a:ext cx="2340990" cy="1549783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190"/>
              </a:spcBef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Kedar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Pinniboyina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Assistant Professor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AI&amp;ML Department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1190"/>
              </a:spcBef>
            </a:pP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2667000"/>
            <a:ext cx="6172200" cy="3488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Software Project Management: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Management Spectrum, People, Product, Process- Project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W5HH Principle, Importance of Team Management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endParaRPr lang="en-US" sz="2000" b="1" spc="-1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Planning a Software Project :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Scope and Feasibility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Effort Estimation, Schedule and staffing, Quality Planning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Risk management- </a:t>
            </a:r>
            <a:r>
              <a:rPr lang="en-US" sz="2000" b="1" spc="-10" dirty="0" err="1">
                <a:latin typeface="Calibri"/>
                <a:cs typeface="Calibri"/>
              </a:rPr>
              <a:t>identification,assessment</a:t>
            </a:r>
            <a:r>
              <a:rPr lang="en-US" sz="2000" b="1" spc="-10" dirty="0">
                <a:latin typeface="Calibri"/>
                <a:cs typeface="Calibri"/>
              </a:rPr>
              <a:t>, control, project monitoring plan, Detailed Scheduling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1066800" y="1697038"/>
            <a:ext cx="75501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Contents-</a:t>
            </a:r>
            <a:r>
              <a:rPr lang="en-IN" spc="-45" dirty="0"/>
              <a:t> </a:t>
            </a:r>
            <a:r>
              <a:rPr lang="en-IN" dirty="0"/>
              <a:t>Software</a:t>
            </a:r>
            <a:r>
              <a:rPr lang="en-IN" spc="-40" dirty="0"/>
              <a:t> </a:t>
            </a:r>
            <a:r>
              <a:rPr lang="en-IN" spc="-10" dirty="0"/>
              <a:t>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524000" y="1709457"/>
            <a:ext cx="96515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Management Spectrum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A66039-16E0-17AE-F5CC-1838F7AC6435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A4AE8AB-6C6E-5572-3C2A-D81F05E9556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4B51CBA-6786-FB05-7190-2196F9997457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701614F1-FE4D-2F7B-6BAC-30288EF0A112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5C901F-DA8B-5FB3-873E-70C6021A40E2}"/>
              </a:ext>
            </a:extLst>
          </p:cNvPr>
          <p:cNvSpPr txBox="1"/>
          <p:nvPr/>
        </p:nvSpPr>
        <p:spPr>
          <a:xfrm>
            <a:off x="1143000" y="2765332"/>
            <a:ext cx="72413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Software Project Management revolves around </a:t>
            </a:r>
            <a:r>
              <a:rPr lang="en-US" b="1" dirty="0"/>
              <a:t>4 main elements</a:t>
            </a:r>
            <a:r>
              <a:rPr lang="en-US" dirty="0"/>
              <a:t>:</a:t>
            </a:r>
          </a:p>
          <a:p>
            <a:pPr>
              <a:buNone/>
            </a:pPr>
            <a:endParaRPr lang="en-US" dirty="0"/>
          </a:p>
          <a:p>
            <a:pPr marL="342900" lvl="1" indent="-342900">
              <a:buFont typeface="+mj-lt"/>
              <a:buAutoNum type="arabicPeriod"/>
            </a:pPr>
            <a:r>
              <a:rPr lang="en-IN" dirty="0"/>
              <a:t>People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IN" dirty="0"/>
              <a:t>Product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IN" dirty="0"/>
              <a:t>Process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IN" dirty="0"/>
              <a:t>Project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0B0CF1-FF07-B1A6-A9F6-0A58443ED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3A58DA0-A358-FC97-1042-CDC5879533EB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F921F41-BD5E-6300-0E90-EAD1E5884A2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E281C43-2BF7-C416-C59E-976D6C2B9338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34AC10E-969B-8BC1-4A32-15F78172EA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524000" y="1709457"/>
            <a:ext cx="96515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Management Spectrum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2DAAB81-ED92-4585-32B5-4C242642CD1E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49FF0C6-2542-F5C7-8659-642DD0FB139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DA8185-52D2-896C-0D59-BFD5225E70B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4174DE64-5F3B-EA97-550E-BED4A14C2214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82957-896E-C84A-6C5D-76978144F15C}"/>
              </a:ext>
            </a:extLst>
          </p:cNvPr>
          <p:cNvSpPr txBox="1"/>
          <p:nvPr/>
        </p:nvSpPr>
        <p:spPr>
          <a:xfrm>
            <a:off x="533400" y="2328186"/>
            <a:ext cx="8153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People</a:t>
            </a:r>
            <a:br>
              <a:rPr lang="en-US" dirty="0"/>
            </a:br>
            <a:r>
              <a:rPr lang="en-US" dirty="0"/>
              <a:t>People are the most important part of any software project. </a:t>
            </a:r>
          </a:p>
          <a:p>
            <a:r>
              <a:rPr lang="en-US" dirty="0"/>
              <a:t>Their skills, communication, teamwork, and responsibility for project success.</a:t>
            </a:r>
            <a:br>
              <a:rPr lang="en-US" dirty="0"/>
            </a:br>
            <a:r>
              <a:rPr lang="en-US" dirty="0"/>
              <a:t>People include developers, testers, analysts, designers, project managers, etc.</a:t>
            </a:r>
          </a:p>
          <a:p>
            <a:endParaRPr lang="en-US" dirty="0"/>
          </a:p>
          <a:p>
            <a:r>
              <a:rPr lang="en-US" b="1" dirty="0"/>
              <a:t>Product</a:t>
            </a:r>
            <a:br>
              <a:rPr lang="en-US" dirty="0"/>
            </a:br>
            <a:r>
              <a:rPr lang="en-US" dirty="0"/>
              <a:t>The product refers to the </a:t>
            </a:r>
            <a:r>
              <a:rPr lang="en-US" i="1" dirty="0"/>
              <a:t>actual software</a:t>
            </a:r>
            <a:r>
              <a:rPr lang="en-US" dirty="0"/>
              <a:t> being developed and its features, functions, constraints, and requirements.</a:t>
            </a:r>
          </a:p>
          <a:p>
            <a:endParaRPr lang="en-US" dirty="0"/>
          </a:p>
          <a:p>
            <a:r>
              <a:rPr lang="en-US" b="1" dirty="0"/>
              <a:t>Real-Time Example:		</a:t>
            </a:r>
            <a:r>
              <a:rPr lang="en-US" dirty="0"/>
              <a:t>Product = </a:t>
            </a:r>
            <a:r>
              <a:rPr lang="en-US" b="1" dirty="0"/>
              <a:t>Online Shopping Website</a:t>
            </a:r>
            <a:br>
              <a:rPr lang="en-US" dirty="0"/>
            </a:br>
            <a:r>
              <a:rPr lang="en-US" dirty="0"/>
              <a:t>Features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to Cart</a:t>
            </a:r>
          </a:p>
        </p:txBody>
      </p:sp>
    </p:spTree>
    <p:extLst>
      <p:ext uri="{BB962C8B-B14F-4D97-AF65-F5344CB8AC3E}">
        <p14:creationId xmlns:p14="http://schemas.microsoft.com/office/powerpoint/2010/main" val="823908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4EC6DC-A75C-A8FF-B055-37A819B50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3BCC8AB-023B-7AD0-A345-E2769BB5FC78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8FED1AA-664D-19BE-8365-18B149579A9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340E6D0-9C29-6D58-9AD3-1FD799CC2796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A2C1218-162B-4213-AE31-B705556C6D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524000" y="1709457"/>
            <a:ext cx="96515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Management Spectrum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58F2DA-6D3A-1DCC-6581-D53FA13B5943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3BEF11C-55C7-F765-C5E2-1138C53A5D2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3917B8-8130-927F-2145-F729C27A784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93E767FD-D849-1285-2B78-62A4C1F99C83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43B40-9F3A-D9E6-98FA-D04FA5D05C53}"/>
              </a:ext>
            </a:extLst>
          </p:cNvPr>
          <p:cNvSpPr txBox="1"/>
          <p:nvPr/>
        </p:nvSpPr>
        <p:spPr>
          <a:xfrm>
            <a:off x="533400" y="2328186"/>
            <a:ext cx="8153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Process</a:t>
            </a:r>
          </a:p>
          <a:p>
            <a:r>
              <a:rPr lang="en-US" dirty="0"/>
              <a:t>Process defines the steps, methods, and models used for development (Agile, Waterfall, Spiral). It ensures disciplined and structured work.</a:t>
            </a:r>
          </a:p>
          <a:p>
            <a:endParaRPr lang="en-US" dirty="0"/>
          </a:p>
          <a:p>
            <a:r>
              <a:rPr lang="en-US" b="1" dirty="0"/>
              <a:t>Project</a:t>
            </a:r>
            <a:br>
              <a:rPr lang="en-US" dirty="0"/>
            </a:br>
            <a:r>
              <a:rPr lang="en-US" dirty="0"/>
              <a:t>A project includes planning, scheduling, budgeting, risk handling, monitoring, and delivering the product on time.</a:t>
            </a:r>
          </a:p>
          <a:p>
            <a:r>
              <a:rPr lang="en-US" b="1" dirty="0"/>
              <a:t>Real-Time Example:</a:t>
            </a:r>
            <a:br>
              <a:rPr lang="en-US" dirty="0"/>
            </a:br>
            <a:r>
              <a:rPr lang="en-US" dirty="0"/>
              <a:t>Developing a </a:t>
            </a:r>
            <a:r>
              <a:rPr lang="en-US" b="1" dirty="0"/>
              <a:t>Banking App</a:t>
            </a:r>
            <a:r>
              <a:rPr lang="en-US" dirty="0"/>
              <a:t> with phases: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Requirement Analysis – 2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UI Design – 1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 – 8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– 3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Deployment – 1 week</a:t>
            </a:r>
          </a:p>
        </p:txBody>
      </p:sp>
    </p:spTree>
    <p:extLst>
      <p:ext uri="{BB962C8B-B14F-4D97-AF65-F5344CB8AC3E}">
        <p14:creationId xmlns:p14="http://schemas.microsoft.com/office/powerpoint/2010/main" val="2489487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C44392-2D92-9C6A-E7A2-8CD63DC13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FA59822-D5D1-EAF8-6404-50782CD4856D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0DFFBCA-3A33-CD17-AFC6-B28DDFBFFD9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037AEF0-6883-DB7A-A185-3D27129AAC66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F7A32E5-95FE-9A4E-8816-9D8FA075F4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57200" y="1709457"/>
            <a:ext cx="8584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W5HH Principle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8401043-658D-C6D6-F3BF-1DD1265C9FA4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01C9776-6827-A5DC-5F32-3154FE65B80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0305AA-8AED-D45B-6946-FBFB151FF4EA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0C81E330-0F99-573F-329A-CC80B400E3AB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FC4E9-9870-F8FB-BB36-5E5609FBBE5E}"/>
              </a:ext>
            </a:extLst>
          </p:cNvPr>
          <p:cNvSpPr txBox="1"/>
          <p:nvPr/>
        </p:nvSpPr>
        <p:spPr>
          <a:xfrm>
            <a:off x="685800" y="2765332"/>
            <a:ext cx="76985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project planning technique to answer important questions:</a:t>
            </a:r>
          </a:p>
          <a:p>
            <a:endParaRPr lang="en-US" dirty="0"/>
          </a:p>
          <a:p>
            <a:r>
              <a:rPr lang="en-US" b="1" dirty="0"/>
              <a:t>Why</a:t>
            </a:r>
            <a:r>
              <a:rPr lang="en-US" dirty="0"/>
              <a:t> is the project being done?</a:t>
            </a:r>
          </a:p>
          <a:p>
            <a:r>
              <a:rPr lang="en-US" b="1" dirty="0"/>
              <a:t>What</a:t>
            </a:r>
            <a:r>
              <a:rPr lang="en-US" dirty="0"/>
              <a:t> will be done?</a:t>
            </a:r>
          </a:p>
          <a:p>
            <a:r>
              <a:rPr lang="en-US" b="1" dirty="0"/>
              <a:t>When</a:t>
            </a:r>
            <a:r>
              <a:rPr lang="en-US" dirty="0"/>
              <a:t> will it be completed?</a:t>
            </a:r>
          </a:p>
          <a:p>
            <a:r>
              <a:rPr lang="en-US" b="1" dirty="0"/>
              <a:t>Who</a:t>
            </a:r>
            <a:r>
              <a:rPr lang="en-US" dirty="0"/>
              <a:t> will do it?</a:t>
            </a:r>
          </a:p>
          <a:p>
            <a:r>
              <a:rPr lang="en-US" b="1" dirty="0"/>
              <a:t>Where</a:t>
            </a:r>
            <a:r>
              <a:rPr lang="en-US" dirty="0"/>
              <a:t> will development happen?</a:t>
            </a:r>
          </a:p>
          <a:p>
            <a:r>
              <a:rPr lang="en-US" b="1" dirty="0"/>
              <a:t>How</a:t>
            </a:r>
            <a:r>
              <a:rPr lang="en-US" dirty="0"/>
              <a:t> will it be done?</a:t>
            </a:r>
          </a:p>
          <a:p>
            <a:r>
              <a:rPr lang="en-US" b="1" dirty="0"/>
              <a:t>How much</a:t>
            </a:r>
            <a:r>
              <a:rPr lang="en-US" dirty="0"/>
              <a:t> will it cost?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50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3072C1-A45D-0321-BA2B-22AEB827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C978DEE-8C35-DEE1-FCEF-83D5C3774187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F389AC8-14BC-3FAD-C95B-6417B9CC091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684AE88-6721-B9A1-7D8B-1DF68E20DB41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3390C39-C350-2E44-3F88-2CD81AE1E4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57200" y="1709457"/>
            <a:ext cx="8584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W5HH Principle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32BEB7-7BD6-7268-43C6-BEACF4BDA9F8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FC5578F-315D-34CC-9647-281EFBDD747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59A18E-3ECA-E1E2-09AA-94A1C8D1EE85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08D64C3D-C027-5C1E-A82E-301EA0A789D9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1BBBE-AF52-7C91-0267-A7935711296A}"/>
              </a:ext>
            </a:extLst>
          </p:cNvPr>
          <p:cNvSpPr txBox="1"/>
          <p:nvPr/>
        </p:nvSpPr>
        <p:spPr>
          <a:xfrm>
            <a:off x="685800" y="2765332"/>
            <a:ext cx="76985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Real-time Example:</a:t>
            </a:r>
            <a:br>
              <a:rPr lang="en-US" dirty="0"/>
            </a:br>
            <a:r>
              <a:rPr lang="en-US" dirty="0"/>
              <a:t>Project: Building an </a:t>
            </a:r>
            <a:r>
              <a:rPr lang="en-US" b="1" dirty="0"/>
              <a:t>Online Learning Platform</a:t>
            </a:r>
          </a:p>
          <a:p>
            <a:endParaRPr lang="en-US" dirty="0"/>
          </a:p>
          <a:p>
            <a:r>
              <a:rPr lang="en-US" b="1" dirty="0"/>
              <a:t>Why:</a:t>
            </a:r>
            <a:r>
              <a:rPr lang="en-US" dirty="0"/>
              <a:t> To provide video classes to students</a:t>
            </a:r>
          </a:p>
          <a:p>
            <a:r>
              <a:rPr lang="en-US" b="1" dirty="0"/>
              <a:t>What:</a:t>
            </a:r>
            <a:r>
              <a:rPr lang="en-US" dirty="0"/>
              <a:t> Video lessons, tests, tracking progress</a:t>
            </a:r>
          </a:p>
          <a:p>
            <a:r>
              <a:rPr lang="en-US" b="1" dirty="0"/>
              <a:t>When:</a:t>
            </a:r>
            <a:r>
              <a:rPr lang="en-US" dirty="0"/>
              <a:t> 6 months</a:t>
            </a:r>
          </a:p>
          <a:p>
            <a:r>
              <a:rPr lang="en-US" b="1" dirty="0"/>
              <a:t>Who:</a:t>
            </a:r>
            <a:r>
              <a:rPr lang="en-US" dirty="0"/>
              <a:t> 1 PM, 6 developers, 2 testers</a:t>
            </a:r>
          </a:p>
          <a:p>
            <a:r>
              <a:rPr lang="en-US" b="1" dirty="0"/>
              <a:t>Where:</a:t>
            </a:r>
            <a:r>
              <a:rPr lang="en-US" dirty="0"/>
              <a:t> Hybrid (office + remote)</a:t>
            </a:r>
          </a:p>
          <a:p>
            <a:r>
              <a:rPr lang="en-US" b="1" dirty="0"/>
              <a:t>How:</a:t>
            </a:r>
            <a:r>
              <a:rPr lang="en-US" dirty="0"/>
              <a:t> Using MERN stack + Cloud</a:t>
            </a:r>
          </a:p>
          <a:p>
            <a:r>
              <a:rPr lang="en-US" b="1" dirty="0"/>
              <a:t>How much:</a:t>
            </a:r>
            <a:r>
              <a:rPr lang="en-US" dirty="0"/>
              <a:t> ₹25–30 lakhs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54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36A741-0B7C-7E73-4A94-F8D8DF94B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C9BC7E0-C956-3D99-E8A8-7B749CC80038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E777626-B89A-A8AC-6A7E-501FD628CCF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99763D-8AD8-0750-8429-8F5592A12497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45D4565-39B9-2A62-E568-BE596C7446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57200" y="1709457"/>
            <a:ext cx="8584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W5HH Principle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0ED799-F153-0FFD-5836-24E2BA2B35F8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96B84B0-5CB1-FB51-D2D5-B9ACDF44D9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5976FFB-13F8-002C-26B3-12F29CA11796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4DCE88D-78F8-2F27-0D35-BD30B9501767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F7F4DF-B3F7-C9DC-5AC0-E91C1188BC61}"/>
              </a:ext>
            </a:extLst>
          </p:cNvPr>
          <p:cNvSpPr txBox="1"/>
          <p:nvPr/>
        </p:nvSpPr>
        <p:spPr>
          <a:xfrm>
            <a:off x="685800" y="2765332"/>
            <a:ext cx="76985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Project:</a:t>
            </a:r>
            <a:r>
              <a:rPr lang="en-US" dirty="0"/>
              <a:t> Building a Banking Mobile App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To provide customers secure online banking services</a:t>
            </a:r>
          </a:p>
          <a:p>
            <a:r>
              <a:rPr lang="en-US" dirty="0"/>
              <a:t>Reduce branch visits &amp; improve convenience</a:t>
            </a:r>
          </a:p>
          <a:p>
            <a:endParaRPr lang="en-US" dirty="0"/>
          </a:p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Account balance, statements</a:t>
            </a:r>
          </a:p>
          <a:p>
            <a:r>
              <a:rPr lang="en-US" dirty="0"/>
              <a:t>Money transfer (IMPS/NEFT/RTGS/UPI)</a:t>
            </a:r>
          </a:p>
          <a:p>
            <a:r>
              <a:rPr lang="en-US" dirty="0"/>
              <a:t>Bill payments</a:t>
            </a:r>
          </a:p>
          <a:p>
            <a:r>
              <a:rPr lang="en-US" dirty="0"/>
              <a:t>Card management</a:t>
            </a:r>
          </a:p>
          <a:p>
            <a:r>
              <a:rPr lang="en-US" dirty="0"/>
              <a:t>Notifications &amp; alerts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992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32F8554-42B1-E291-9243-2A6300F82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F1259D8-9A75-934E-6F2D-13E9906F98D9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570A195-E7CD-BAF9-90BC-5BFE26AAF21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8A81BB6-EB19-D819-6CB1-742D618559BA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1BC3882-0A6E-AC2E-3AEA-09BFB8BFA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57200" y="1709457"/>
            <a:ext cx="8584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W5HH Principle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4864DE-BC4A-ED8F-BD91-926A0885395F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C1E6177-E77C-4672-B831-6AC5D92872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D872A98-D78B-74E1-AF77-08091BEF492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AA7B0DCC-E43C-8E4C-ABFC-8AA7F3AFF35D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01BDA-FBC5-01D1-D974-1458A04C3BE9}"/>
              </a:ext>
            </a:extLst>
          </p:cNvPr>
          <p:cNvSpPr txBox="1"/>
          <p:nvPr/>
        </p:nvSpPr>
        <p:spPr>
          <a:xfrm>
            <a:off x="685800" y="2765332"/>
            <a:ext cx="76985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When:</a:t>
            </a:r>
            <a:endParaRPr lang="en-US" dirty="0"/>
          </a:p>
          <a:p>
            <a:r>
              <a:rPr lang="en-US" dirty="0"/>
              <a:t>8 months</a:t>
            </a:r>
          </a:p>
          <a:p>
            <a:endParaRPr lang="en-US" dirty="0"/>
          </a:p>
          <a:p>
            <a:r>
              <a:rPr lang="en-US" b="1" dirty="0"/>
              <a:t>Who:</a:t>
            </a:r>
            <a:endParaRPr lang="en-US" dirty="0"/>
          </a:p>
          <a:p>
            <a:r>
              <a:rPr lang="en-US" dirty="0"/>
              <a:t>1 PM</a:t>
            </a:r>
          </a:p>
          <a:p>
            <a:r>
              <a:rPr lang="en-US" dirty="0"/>
              <a:t>6 Developers</a:t>
            </a:r>
          </a:p>
          <a:p>
            <a:r>
              <a:rPr lang="en-US" dirty="0"/>
              <a:t>3 Testers</a:t>
            </a:r>
          </a:p>
          <a:p>
            <a:r>
              <a:rPr lang="en-US" dirty="0"/>
              <a:t>1 UI/UX designer</a:t>
            </a:r>
          </a:p>
          <a:p>
            <a:r>
              <a:rPr lang="en-US" dirty="0"/>
              <a:t>1 Cybersecurity specialist</a:t>
            </a:r>
          </a:p>
          <a:p>
            <a:endParaRPr lang="en-US" dirty="0"/>
          </a:p>
          <a:p>
            <a:r>
              <a:rPr lang="en-US" b="1" dirty="0"/>
              <a:t>Where:</a:t>
            </a:r>
            <a:endParaRPr lang="en-US" dirty="0"/>
          </a:p>
          <a:p>
            <a:r>
              <a:rPr lang="en-US" dirty="0"/>
              <a:t>Hybrid (office for secure tasks + remote coding)</a:t>
            </a:r>
          </a:p>
        </p:txBody>
      </p:sp>
    </p:spTree>
    <p:extLst>
      <p:ext uri="{BB962C8B-B14F-4D97-AF65-F5344CB8AC3E}">
        <p14:creationId xmlns:p14="http://schemas.microsoft.com/office/powerpoint/2010/main" val="113651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4BC6E2-EAF6-20F9-48B6-39745D13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7E85D4A-DE16-0FF4-5C4E-3A4CB680F3E8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8AE4B77-16E8-9E60-8425-B03078D7C05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722601C-8647-58D0-42AA-90AE7BB322D8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9D40A53-A65F-47F1-BAC3-C0F1923461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57200" y="1709457"/>
            <a:ext cx="8584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W5HH Principle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09D9823-C373-F1E9-431B-89D603B0268C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71EDE9F-B806-A65D-02DE-558AE31478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579866-77BB-0434-4000-B871D4ECDF51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4176DA8A-605B-85FF-A10B-1C152D32C23C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FE306-D9CB-6DE0-387C-77F0B87FC085}"/>
              </a:ext>
            </a:extLst>
          </p:cNvPr>
          <p:cNvSpPr txBox="1"/>
          <p:nvPr/>
        </p:nvSpPr>
        <p:spPr>
          <a:xfrm>
            <a:off x="685800" y="2765332"/>
            <a:ext cx="76985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How:</a:t>
            </a:r>
            <a:endParaRPr lang="en-IN" dirty="0"/>
          </a:p>
          <a:p>
            <a:r>
              <a:rPr lang="en-IN" dirty="0"/>
              <a:t>Tech: Flutter/React Native, Node.js/Spring Boot, PostgreSQL</a:t>
            </a:r>
          </a:p>
          <a:p>
            <a:r>
              <a:rPr lang="en-IN" dirty="0"/>
              <a:t>Cloud deployment (AWS/Azure)</a:t>
            </a:r>
          </a:p>
          <a:p>
            <a:r>
              <a:rPr lang="en-IN" dirty="0"/>
              <a:t>High-security encryption + MFA</a:t>
            </a:r>
          </a:p>
          <a:p>
            <a:endParaRPr lang="en-IN" dirty="0"/>
          </a:p>
          <a:p>
            <a:r>
              <a:rPr lang="en-IN" b="1" dirty="0"/>
              <a:t>How much:</a:t>
            </a:r>
            <a:endParaRPr lang="en-IN" dirty="0"/>
          </a:p>
          <a:p>
            <a:r>
              <a:rPr lang="en-IN" dirty="0"/>
              <a:t>₹40–50 lakhs</a:t>
            </a:r>
          </a:p>
        </p:txBody>
      </p:sp>
    </p:spTree>
    <p:extLst>
      <p:ext uri="{BB962C8B-B14F-4D97-AF65-F5344CB8AC3E}">
        <p14:creationId xmlns:p14="http://schemas.microsoft.com/office/powerpoint/2010/main" val="648488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035B7B-1D10-A17F-50BC-1A51D6B84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669561D-D688-6A79-2E07-624CC4542CC5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5BC008D-F977-7902-AB8B-27F4B5391DE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6B232BF-30DF-7448-15EA-98C1ED5076A9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F324C08-BD7E-D00C-5F69-008E17C3E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Project Scope and Feasibility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0CA2D8B-4FBC-E6A5-5129-922CE42619B1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935DBB8-0F57-0FB3-951B-BAFC8E0E29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C32548-FB36-D263-2590-8013E77CA19F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8EEA4C37-A925-B307-1BCD-9B4E5D41D6C8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BE059-B857-8D63-672D-569E56EEA1CA}"/>
              </a:ext>
            </a:extLst>
          </p:cNvPr>
          <p:cNvSpPr txBox="1"/>
          <p:nvPr/>
        </p:nvSpPr>
        <p:spPr>
          <a:xfrm>
            <a:off x="760822" y="2459891"/>
            <a:ext cx="76223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Project scope defines:</a:t>
            </a:r>
          </a:p>
          <a:p>
            <a:endParaRPr lang="en-US" dirty="0"/>
          </a:p>
          <a:p>
            <a:r>
              <a:rPr lang="en-US" b="1" dirty="0"/>
              <a:t>What the project will deliver</a:t>
            </a:r>
            <a:r>
              <a:rPr lang="en-US" dirty="0"/>
              <a:t> (software features, modules, outputs)</a:t>
            </a:r>
          </a:p>
          <a:p>
            <a:r>
              <a:rPr lang="en-US" b="1" dirty="0"/>
              <a:t>What is NOT included</a:t>
            </a:r>
            <a:endParaRPr lang="en-US" dirty="0"/>
          </a:p>
          <a:p>
            <a:r>
              <a:rPr lang="en-US" dirty="0"/>
              <a:t>Overall </a:t>
            </a:r>
            <a:r>
              <a:rPr lang="en-US" b="1" dirty="0"/>
              <a:t>boundaries</a:t>
            </a:r>
            <a:r>
              <a:rPr lang="en-US" dirty="0"/>
              <a:t>, constraints, assumptions</a:t>
            </a:r>
          </a:p>
          <a:p>
            <a:endParaRPr lang="en-US" dirty="0"/>
          </a:p>
          <a:p>
            <a:r>
              <a:rPr lang="en-US" b="1" dirty="0"/>
              <a:t>Key Components of Scope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Business Requirements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Functional Scope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Non-Functional Scope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Technology and Platform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Constraints (Time, Budget, Tools, Regulations)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Assumptions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691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442DBB-3671-65AB-4C3E-18C4E6CE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4E455A1-4040-4902-68A0-87EC1D606191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7041C7B-45A3-31BA-4938-E65B7DA6F69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0613EC9-FA70-DEB9-A1B7-224D80295A65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89D93E5-D5CB-7275-0BDB-BBDE6CEA32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Project Scope and Feasibility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527D54-A7B6-E7E0-C640-BCBC6ADCDA03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E4F7A79-652C-2EF6-5E7D-1E463E64EB1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5BF864-D28B-0F64-17A7-5A65A46427B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A9C4AE2B-0F04-3DC9-2977-2100A608D3AB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2CEB3-C738-8A53-BD50-593C44FE96D2}"/>
              </a:ext>
            </a:extLst>
          </p:cNvPr>
          <p:cNvSpPr txBox="1"/>
          <p:nvPr/>
        </p:nvSpPr>
        <p:spPr>
          <a:xfrm>
            <a:off x="762000" y="2765332"/>
            <a:ext cx="76223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– Food Delivery App (like Swiggy/Zomato)</a:t>
            </a:r>
          </a:p>
          <a:p>
            <a:r>
              <a:rPr lang="en-IN" b="1" dirty="0"/>
              <a:t>In Scope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registration/login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Browse restaurants and menus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Cart &amp; online payment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Order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Admin dashboard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588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38F724-6F6A-F423-24FB-0C7DA4BD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B412100-430F-93B4-BA07-68AE5153A5D7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5D09CB8-E6DF-76BA-6395-C30399ADCD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C7B51D7-9CAC-CA87-9184-C10C48809EEF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24F3A96-11F5-6710-79E5-AE19D61E78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Feasibility Analysis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C2AC634-E748-8A94-D59D-6D434B7CD363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0E59682-18B2-AF9B-C333-0E01E9764B5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602046-BF36-D109-1658-3F71E9FD7915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3003A5D2-6CE3-9D2B-E24A-C17ABB31B458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80816-FB1B-644B-59E9-23F4C3543671}"/>
              </a:ext>
            </a:extLst>
          </p:cNvPr>
          <p:cNvSpPr txBox="1"/>
          <p:nvPr/>
        </p:nvSpPr>
        <p:spPr>
          <a:xfrm>
            <a:off x="838200" y="2850617"/>
            <a:ext cx="76223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Project Feasibility</a:t>
            </a:r>
            <a:r>
              <a:rPr lang="en-US" dirty="0"/>
              <a:t> means checking whether a project </a:t>
            </a:r>
            <a:r>
              <a:rPr lang="en-US" b="1" dirty="0"/>
              <a:t>can be done successfully</a:t>
            </a:r>
            <a:r>
              <a:rPr lang="en-US" dirty="0"/>
              <a:t> with the available </a:t>
            </a:r>
            <a:r>
              <a:rPr lang="en-US" b="1" dirty="0"/>
              <a:t>time, money, resources, technology, and skills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helps decide if the project is </a:t>
            </a:r>
            <a:r>
              <a:rPr lang="en-US" b="1" dirty="0"/>
              <a:t>realistic</a:t>
            </a:r>
            <a:r>
              <a:rPr lang="en-US" dirty="0"/>
              <a:t>, </a:t>
            </a:r>
            <a:r>
              <a:rPr lang="en-US" b="1" dirty="0"/>
              <a:t>practical</a:t>
            </a:r>
            <a:r>
              <a:rPr lang="en-US" dirty="0"/>
              <a:t>, and </a:t>
            </a:r>
            <a:r>
              <a:rPr lang="en-US" b="1" dirty="0"/>
              <a:t>worth doing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3191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BC8D3F-8A9A-B5E1-8CED-52800BBC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EC766FA-2DA2-AA65-07FC-8E2851EED859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B090E19-B4FD-729A-AA19-1044EEDC11C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4CA1565-3A5A-8AD6-4768-A3C9101078F4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5C746C3-D07C-934F-15FB-CED03233C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Feasibility Analysis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32E9B0-4240-9559-2A63-6A303C66205B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1258B04-E349-1617-B7D8-5DA7C743D62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B96A13-711E-C19A-70F8-8B650C62ACA6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96A9F4FE-EED9-0618-BA96-2CAED928DAD3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E534F-DE41-43B8-3480-D39CFC91276F}"/>
              </a:ext>
            </a:extLst>
          </p:cNvPr>
          <p:cNvSpPr txBox="1"/>
          <p:nvPr/>
        </p:nvSpPr>
        <p:spPr>
          <a:xfrm>
            <a:off x="838200" y="2850617"/>
            <a:ext cx="76223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1: Building a Mobile App</a:t>
            </a:r>
          </a:p>
          <a:p>
            <a:endParaRPr lang="en-US" b="1" dirty="0"/>
          </a:p>
          <a:p>
            <a:r>
              <a:rPr lang="en-US" dirty="0"/>
              <a:t>Before creating a mobile app, you check: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we have skilled developers? (Technical feasibility)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we have enough budget? (Economic feasibility)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it be completed in 3 months? (Schedule feasibility)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it allowed by law? (Legal feasibility)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If all answers are YES → </a:t>
            </a:r>
            <a:r>
              <a:rPr lang="en-US" b="1" dirty="0"/>
              <a:t>the project is feasible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not → the project may fail.</a:t>
            </a:r>
          </a:p>
        </p:txBody>
      </p:sp>
    </p:spTree>
    <p:extLst>
      <p:ext uri="{BB962C8B-B14F-4D97-AF65-F5344CB8AC3E}">
        <p14:creationId xmlns:p14="http://schemas.microsoft.com/office/powerpoint/2010/main" val="770153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F4A3F8-F362-04BE-8AE9-9CCC99BB4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E3E69D3-7D9D-2504-1A7A-02BBD0F7435E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845DFD6-C532-13D9-E7E2-CAEB7FBE308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93AC1AC-050E-B825-3CD2-53561470A127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5A176E3-17E5-9DBD-AC13-B9E7D94967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Effort Estimation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0BC6FF-7AA3-2B26-052B-843C2DA3F1FF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05A2C8F-496B-6E08-A4D5-BDC163B8C68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24B43D-11E2-9DDF-96F0-542577254453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FE386E75-C621-541C-A3D5-5D292B0002F7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25268-50F0-9906-D96C-EFACEC6BA657}"/>
              </a:ext>
            </a:extLst>
          </p:cNvPr>
          <p:cNvSpPr txBox="1"/>
          <p:nvPr/>
        </p:nvSpPr>
        <p:spPr>
          <a:xfrm>
            <a:off x="762000" y="2765332"/>
            <a:ext cx="76223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Effort estimation predicts: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How much work</a:t>
            </a:r>
            <a:r>
              <a:rPr lang="en-US" dirty="0"/>
              <a:t> is required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How many people</a:t>
            </a:r>
            <a:r>
              <a:rPr lang="en-US" dirty="0"/>
              <a:t> are needed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How long</a:t>
            </a:r>
            <a:r>
              <a:rPr lang="en-US" dirty="0"/>
              <a:t> the project will take</a:t>
            </a:r>
          </a:p>
        </p:txBody>
      </p:sp>
    </p:spTree>
    <p:extLst>
      <p:ext uri="{BB962C8B-B14F-4D97-AF65-F5344CB8AC3E}">
        <p14:creationId xmlns:p14="http://schemas.microsoft.com/office/powerpoint/2010/main" val="3332087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E3F4DF-DACB-A315-4100-F20FB8B09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2B7CB09-83F9-E899-8B8F-23002E81BABB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E330F78-D1BA-97EB-4B61-5FD4E653A8A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7251A0A-D1E2-0077-1D51-8354A4EECD11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39141B7-4958-56FE-8505-837EAD5A78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Popular Estimation Techniques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3565A0-B028-8275-B5BC-8F67278BE126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70E0C18-C974-DEC8-37C8-80A83961505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9EE11A-5146-7742-B62C-F0E284105D05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3852B89D-A491-454D-93D7-B35FF4E8DC59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E26094-1D72-DAB6-8662-BFE5D62A7640}"/>
              </a:ext>
            </a:extLst>
          </p:cNvPr>
          <p:cNvSpPr txBox="1"/>
          <p:nvPr/>
        </p:nvSpPr>
        <p:spPr>
          <a:xfrm>
            <a:off x="749866" y="2586524"/>
            <a:ext cx="76223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Expert Judgment</a:t>
            </a:r>
          </a:p>
          <a:p>
            <a:r>
              <a:rPr lang="en-US" dirty="0"/>
              <a:t>Based on senior developers or architects' experience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“This login module will take around 3 days based on previous projects.”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2. Work Breakdown Structure (WBS)</a:t>
            </a:r>
          </a:p>
          <a:p>
            <a:r>
              <a:rPr lang="en-US" dirty="0"/>
              <a:t>Break project into </a:t>
            </a:r>
            <a:r>
              <a:rPr lang="en-US" b="1" dirty="0"/>
              <a:t>small tasks</a:t>
            </a:r>
            <a:r>
              <a:rPr lang="en-US" dirty="0"/>
              <a:t> → estimate each.</a:t>
            </a:r>
            <a:br>
              <a:rPr lang="en-US" dirty="0"/>
            </a:br>
            <a:r>
              <a:rPr lang="en-US" b="1" dirty="0"/>
              <a:t>Example – E-commerce Website</a:t>
            </a:r>
            <a:endParaRPr lang="en-US" dirty="0"/>
          </a:p>
          <a:p>
            <a:r>
              <a:rPr lang="en-US" dirty="0"/>
              <a:t>UI Design – 40 hours</a:t>
            </a:r>
          </a:p>
          <a:p>
            <a:r>
              <a:rPr lang="en-US" dirty="0"/>
              <a:t>Backend APIs – 120 hours</a:t>
            </a:r>
          </a:p>
          <a:p>
            <a:r>
              <a:rPr lang="en-US" dirty="0"/>
              <a:t>Database design – 20 hours</a:t>
            </a:r>
          </a:p>
          <a:p>
            <a:r>
              <a:rPr lang="en-US" dirty="0"/>
              <a:t>Testing – 50 hours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763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37EE11-1EF0-A251-7E70-B51B316D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49F429A-8B8E-0F9D-95FA-63AB8395AA5A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99BB42B-A29C-00E8-4080-3A5DAB3F858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AEC5C8-A515-5FE7-7A57-B2E2AF25BD03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180F549-2581-9BDB-E1B2-84AEBC0E94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Popular Estimation Techniques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B31D5F-16F7-B5D8-9280-ADE8F811CC2A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1369E8F-26A9-9226-D41A-554C72D853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BD1755-82B3-047C-8F40-CD2604BE4E3E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02703B58-D1C6-729D-DABF-23F1CF7858EA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1219C-9D97-1540-139A-886EB53A3884}"/>
              </a:ext>
            </a:extLst>
          </p:cNvPr>
          <p:cNvSpPr txBox="1"/>
          <p:nvPr/>
        </p:nvSpPr>
        <p:spPr>
          <a:xfrm>
            <a:off x="749866" y="2586524"/>
            <a:ext cx="76223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Use Case Point (UCP)</a:t>
            </a:r>
          </a:p>
          <a:p>
            <a:r>
              <a:rPr lang="en-US" dirty="0"/>
              <a:t>Based on complexity of use cases.</a:t>
            </a:r>
            <a:br>
              <a:rPr lang="en-US" dirty="0"/>
            </a:b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Login (simple), Payment (complex), Order tracking (medium)</a:t>
            </a:r>
          </a:p>
          <a:p>
            <a:endParaRPr lang="en-US" dirty="0"/>
          </a:p>
          <a:p>
            <a:endParaRPr lang="en-US" dirty="0"/>
          </a:p>
          <a:p>
            <a:r>
              <a:rPr lang="en-IN" b="1" dirty="0"/>
              <a:t>4. Function Point Analysis (FPA)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5. COCOMO Model (Constructive Cost Model)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66321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9162A9E-ECDF-EC42-2D63-FF43CED3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E1AFEB1-5EB8-27EA-9237-722850A9DA40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1BD171A-F16F-D2B3-B5FC-1E1E0C34A7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16F62A0-2F0E-3848-57BB-D74005550E24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8F0F52F-0483-89A9-D363-47823A9526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COCOMO Model (Constructive Cost Model)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C85332-E7F4-74CA-9DE3-688EF4CC9547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1BF9DA8-92DD-D2B3-5BB9-7F6555D48C9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192A8B-A65B-2797-62CE-C1A23DD4379A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67F7F0E5-15AD-5055-09B9-E1BBCCE01D3C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45C48-2259-1641-AB52-817D0E685F69}"/>
              </a:ext>
            </a:extLst>
          </p:cNvPr>
          <p:cNvSpPr txBox="1"/>
          <p:nvPr/>
        </p:nvSpPr>
        <p:spPr>
          <a:xfrm>
            <a:off x="749866" y="2586524"/>
            <a:ext cx="78607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COCOMO is a </a:t>
            </a:r>
            <a:r>
              <a:rPr lang="en-US" b="1" dirty="0"/>
              <a:t>software estimation model developed by Barry Boehm</a:t>
            </a:r>
            <a:r>
              <a:rPr lang="en-US" dirty="0"/>
              <a:t> used to estimate: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Effort</a:t>
            </a:r>
            <a:r>
              <a:rPr lang="en-US" dirty="0"/>
              <a:t> (person-months)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Development time</a:t>
            </a:r>
            <a:r>
              <a:rPr lang="en-US" dirty="0"/>
              <a:t> (schedule)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Staffing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Project cost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COCOMO uses the </a:t>
            </a:r>
            <a:r>
              <a:rPr lang="en-US" b="1" dirty="0"/>
              <a:t>size of the software</a:t>
            </a:r>
            <a:r>
              <a:rPr lang="en-US" dirty="0"/>
              <a:t> (measured in KLOC = Thousands of Lines of Code) to determine the effort required.</a:t>
            </a:r>
          </a:p>
        </p:txBody>
      </p:sp>
    </p:spTree>
    <p:extLst>
      <p:ext uri="{BB962C8B-B14F-4D97-AF65-F5344CB8AC3E}">
        <p14:creationId xmlns:p14="http://schemas.microsoft.com/office/powerpoint/2010/main" val="1752732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4520E1-681C-8177-56C4-4A7FD2400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75DAAE5-47B7-347C-78B6-AE72EF1BCFAC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B48E161-AE44-C696-EE8A-733B210D2A9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134EA37-AED0-1707-AB53-AE4608C2268A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220CFA-7443-8C93-A261-82DC2B410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COCOMO Model (Constructive Cost Model)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DC0C2D-5B3A-90A1-041F-A07ECD78DF67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19B51A2-3917-53C8-F1D4-38AEA487919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AAE3D7-563E-6E4D-A5AF-3C3FB5B2033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5D668CA4-7808-CF21-EBA3-75FD3CC44598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43B3C-DC2C-678F-2A49-93B50521ACF3}"/>
              </a:ext>
            </a:extLst>
          </p:cNvPr>
          <p:cNvSpPr txBox="1"/>
          <p:nvPr/>
        </p:nvSpPr>
        <p:spPr>
          <a:xfrm>
            <a:off x="749866" y="2586524"/>
            <a:ext cx="78607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Types of COCOMO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AB1089-69DF-C840-FD32-C6C902184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970517"/>
              </p:ext>
            </p:extLst>
          </p:nvPr>
        </p:nvGraphicFramePr>
        <p:xfrm>
          <a:off x="731429" y="3429000"/>
          <a:ext cx="7396162" cy="2011680"/>
        </p:xfrm>
        <a:graphic>
          <a:graphicData uri="http://schemas.openxmlformats.org/drawingml/2006/table">
            <a:tbl>
              <a:tblPr/>
              <a:tblGrid>
                <a:gridCol w="3698081">
                  <a:extLst>
                    <a:ext uri="{9D8B030D-6E8A-4147-A177-3AD203B41FA5}">
                      <a16:colId xmlns:a16="http://schemas.microsoft.com/office/drawing/2014/main" val="696371391"/>
                    </a:ext>
                  </a:extLst>
                </a:gridCol>
                <a:gridCol w="3698081">
                  <a:extLst>
                    <a:ext uri="{9D8B030D-6E8A-4147-A177-3AD203B41FA5}">
                      <a16:colId xmlns:a16="http://schemas.microsoft.com/office/drawing/2014/main" val="165537755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907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Basic COCOMO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Estimates effort based only on size (KLOC)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377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Intermediate COCOMO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Considers size + cost drivers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028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Detailed COCOMO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Considers size + cost drivers + phase-wise distribution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580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498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66FC72-651F-1A2D-3DBD-55055C40B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929FCE1-039B-A277-E34A-25B782B5924A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2CCEEDF-664C-1F4A-1C85-85B95EDC452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9D54787-AFAE-0C5B-9E53-E7C5FF117F2C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363A117-0CCD-FE8A-EDF9-8296AACB9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Basic COCOMO Model Formula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3142CEC-2AC6-35DD-A83E-C461B9615A3B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0C2DF85-4D11-9BB1-58DD-FD5C17B9C85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4AFB8B-09E5-42BE-8FE6-7E7F6C9EB7F1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33DF7D03-D7AD-FF1F-D0E3-E71EB34C0C4C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4F5B30-065F-2777-DD8E-99CEBB52CA7E}"/>
                  </a:ext>
                </a:extLst>
              </p:cNvPr>
              <p:cNvSpPr txBox="1"/>
              <p:nvPr/>
            </p:nvSpPr>
            <p:spPr>
              <a:xfrm>
                <a:off x="698435" y="2298400"/>
                <a:ext cx="7860734" cy="42100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Effort (E)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smtClean="0">
                          <a:solidFill>
                            <a:srgbClr val="FF0000"/>
                          </a:solidFill>
                        </a:rPr>
                        <m:t>Effort</m:t>
                      </m:r>
                      <m:r>
                        <m:rPr>
                          <m:nor/>
                        </m:rPr>
                        <a:rPr lang="en-US" b="1" smtClean="0"/>
                        <m:t> = </m:t>
                      </m:r>
                      <m:r>
                        <m:rPr>
                          <m:nor/>
                        </m:rPr>
                        <a:rPr lang="en-US" b="1" smtClean="0"/>
                        <m:t>a</m:t>
                      </m:r>
                      <m:r>
                        <m:rPr>
                          <m:nor/>
                        </m:rPr>
                        <a:rPr lang="en-US" b="1" smtClean="0"/>
                        <m:t>1 </m:t>
                      </m:r>
                      <m:r>
                        <m:rPr>
                          <m:nor/>
                        </m:rPr>
                        <a:rPr lang="en-US" b="1" smtClean="0"/>
                        <m:t>∗ </m:t>
                      </m:r>
                      <m:r>
                        <m:rPr>
                          <m:nor/>
                        </m:rPr>
                        <a:rPr lang="en-US" b="1" smtClean="0"/>
                        <m:t>(</m:t>
                      </m:r>
                      <m:r>
                        <m:rPr>
                          <m:nor/>
                        </m:rPr>
                        <a:rPr lang="en-US" b="1" smtClean="0"/>
                        <m:t>KLOC</m:t>
                      </m:r>
                      <m:r>
                        <m:rPr>
                          <m:nor/>
                        </m:rPr>
                        <a:rPr lang="en-US" b="1" smtClean="0"/>
                        <m:t>)^</m:t>
                      </m:r>
                      <m:r>
                        <m:rPr>
                          <m:nor/>
                        </m:rPr>
                        <a:rPr lang="en-US" b="1" i="0" smtClean="0"/>
                        <m:t>a</m:t>
                      </m:r>
                      <m:r>
                        <m:rPr>
                          <m:nor/>
                        </m:rPr>
                        <a:rPr lang="en-US" b="1" smtClean="0"/>
                        <m:t>2 </m:t>
                      </m:r>
                      <m:r>
                        <m:rPr>
                          <m:nor/>
                        </m:rPr>
                        <a:rPr lang="en-US" b="1" smtClean="0"/>
                        <m:t>PM</m:t>
                      </m:r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E → Effort</a:t>
                </a:r>
                <a:r>
                  <a:rPr lang="en-IN" dirty="0"/>
                  <a:t> in Person-Months</a:t>
                </a:r>
              </a:p>
              <a:p>
                <a:r>
                  <a:rPr lang="en-IN" b="1" dirty="0"/>
                  <a:t>KLOC → </a:t>
                </a:r>
                <a:r>
                  <a:rPr lang="en-IN" dirty="0"/>
                  <a:t>Thousands of Lines of Code</a:t>
                </a:r>
              </a:p>
              <a:p>
                <a:r>
                  <a:rPr lang="en-IN" b="1" dirty="0"/>
                  <a:t>a1, a2 → </a:t>
                </a:r>
                <a:r>
                  <a:rPr lang="en-IN" dirty="0"/>
                  <a:t>constants based on project type</a:t>
                </a:r>
              </a:p>
              <a:p>
                <a:endParaRPr lang="en-IN" dirty="0"/>
              </a:p>
              <a:p>
                <a:r>
                  <a:rPr lang="en-IN" b="1" dirty="0"/>
                  <a:t>Development Time (D)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smtClean="0">
                          <a:solidFill>
                            <a:srgbClr val="FF0000"/>
                          </a:solidFill>
                        </a:rPr>
                        <m:t>Tdev</m:t>
                      </m:r>
                      <m:r>
                        <m:rPr>
                          <m:nor/>
                        </m:rPr>
                        <a:rPr lang="en-US" b="1" smtClean="0"/>
                        <m:t> = </m:t>
                      </m:r>
                      <m:r>
                        <m:rPr>
                          <m:nor/>
                        </m:rPr>
                        <a:rPr lang="en-US" b="1" smtClean="0"/>
                        <m:t>b</m:t>
                      </m:r>
                      <m:r>
                        <m:rPr>
                          <m:nor/>
                        </m:rPr>
                        <a:rPr lang="en-US" b="1" smtClean="0"/>
                        <m:t>₁ </m:t>
                      </m:r>
                      <m:r>
                        <m:rPr>
                          <m:nor/>
                        </m:rPr>
                        <a:rPr lang="en-US" b="1" smtClean="0"/>
                        <m:t>×</m:t>
                      </m:r>
                      <m:r>
                        <m:rPr>
                          <m:nor/>
                        </m:rPr>
                        <a:rPr lang="en-US" b="1" smtClean="0"/>
                        <m:t> (</m:t>
                      </m:r>
                      <m:r>
                        <m:rPr>
                          <m:nor/>
                        </m:rPr>
                        <a:rPr lang="en-US" b="1" smtClean="0"/>
                        <m:t>Effort</m:t>
                      </m:r>
                      <m:r>
                        <m:rPr>
                          <m:nor/>
                        </m:rPr>
                        <a:rPr lang="en-US" b="1" smtClean="0"/>
                        <m:t>)^</m:t>
                      </m:r>
                      <m:r>
                        <m:rPr>
                          <m:nor/>
                        </m:rPr>
                        <a:rPr lang="en-US" b="1" smtClean="0"/>
                        <m:t>b</m:t>
                      </m:r>
                      <m:r>
                        <m:rPr>
                          <m:nor/>
                        </m:rPr>
                        <a:rPr lang="en-US" b="1" smtClean="0"/>
                        <m:t>2 </m:t>
                      </m:r>
                      <m:r>
                        <m:rPr>
                          <m:nor/>
                        </m:rPr>
                        <a:rPr lang="en-US" b="1" smtClean="0"/>
                        <m:t>Months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b="1" dirty="0" err="1"/>
                  <a:t>Tdev</a:t>
                </a:r>
                <a:r>
                  <a:rPr lang="en-US" dirty="0"/>
                  <a:t> is the estimated time to develop the software, expressed in months </a:t>
                </a:r>
                <a:r>
                  <a:rPr lang="en-IN" b="1" dirty="0"/>
                  <a:t>b1, b2 → </a:t>
                </a:r>
                <a:r>
                  <a:rPr lang="en-IN" dirty="0"/>
                  <a:t>constants based on project type</a:t>
                </a:r>
              </a:p>
              <a:p>
                <a:endParaRPr lang="en-IN" dirty="0"/>
              </a:p>
              <a:p>
                <a:r>
                  <a:rPr lang="en-IN" b="1" dirty="0"/>
                  <a:t>Staffing (P)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4F5B30-065F-2777-DD8E-99CEBB52C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5" y="2298400"/>
                <a:ext cx="7860734" cy="4210063"/>
              </a:xfrm>
              <a:prstGeom prst="rect">
                <a:avLst/>
              </a:prstGeom>
              <a:blipFill>
                <a:blip r:embed="rId4"/>
                <a:stretch>
                  <a:fillRect l="-698" t="-7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639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742541-9247-C5B5-8F86-3FADD6B0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7CA1A4C-15BB-CE74-CFB2-F61781999185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F4DB62E-78E5-266D-B32D-245D5E4F5DC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72FE98E-0D48-942C-1FD7-E4D9843DCA83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774CD5E-CC43-067A-2F9F-21C8D75425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524000" y="1709457"/>
            <a:ext cx="96515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Software Development Project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E73D85-EFBF-B340-10CB-BA15B712D64D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2AFCDAC-180E-44EB-352F-18A864B5A4D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0E0DA8-58F5-7FEC-7294-39B837BBDE7E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C25D35A3-FFB2-9A75-8DB5-4EB25817E03E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B59B62-7F32-FFFE-F058-0156A829A5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27"/>
          <a:stretch>
            <a:fillRect/>
          </a:stretch>
        </p:blipFill>
        <p:spPr>
          <a:xfrm>
            <a:off x="609600" y="2779023"/>
            <a:ext cx="8125959" cy="320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90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6716FD-5188-1889-C80B-16D21F02C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7B7F95B-EEFF-C35C-A5C7-54511BE22675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FF7EB98-1ECD-ADC6-1E1E-4B8189AA1CB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0D34844-FC43-3752-285A-21239C35FD87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B0D8BE9-70A9-7628-8D7A-D08A46DCB5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524000" y="1709457"/>
            <a:ext cx="96515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Software Development Project 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F95974-0B8A-AA72-665F-3F16D2C78C8A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75C1851-02DC-2633-2198-2713ACED3FF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2852119-3051-1BC5-C5DA-63C8B5EDF80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32170362-CE5D-CAE5-43FE-F1F90AABD73F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EA20BE-6FBC-9F45-1D8E-E8CAA53D88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54"/>
          <a:stretch>
            <a:fillRect/>
          </a:stretch>
        </p:blipFill>
        <p:spPr>
          <a:xfrm>
            <a:off x="122101" y="2314314"/>
            <a:ext cx="8899797" cy="412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60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1E17B3-CFEB-08BD-9C2C-F5C2F547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6CEB23A-5EF2-BF58-8D40-4A33BE3F9AF9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B0C0B25-BF79-F5C8-DFED-7A7072D2A62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79AB0B0-19B7-546D-8337-B3F3DE9B7058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B053EF0-08BF-F87A-6B9C-118F912452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Basic COCOMO Model Formula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9E1A14-0974-6E06-1C5A-41A390A9FE3E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71C8F26-0215-3FFB-12C8-D5ED5C2FD12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B2599AB-80C7-AFBE-AFDF-6BEF75B1234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06F2802A-3EF7-FB56-E36E-A7EA7A21E434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33ED900-62AA-E7FD-0A82-AB5EB3AC6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566534"/>
            <a:ext cx="6888573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Types and Constants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EC2283-1BC3-D85A-4638-070527A74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827" y="3065027"/>
            <a:ext cx="6553200" cy="255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34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27965B-707B-8774-150D-D7715C8E8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6AEBB3B-7DA0-2F34-B6DC-20012E45BEF4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47859CC-4775-0CBB-3AE9-592FC6DCCD1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437104A-24EA-2CFD-91B2-73E1B257D383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764D2A3-41CA-1BA6-8AB6-2E0A9EFED3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1709457"/>
            <a:ext cx="75941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Real-Time Example – Basic COCOMO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463282-E9F3-DFBC-086B-8E3006795ECB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F894448-4682-5D70-C72D-E330393CF0E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33B1FD-04A3-4DC2-8804-594EE661A2C3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6DC5DD11-61C0-508C-D19F-25AB0D36FDA3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4274A6-6B5E-6597-2ED8-F9D7ED731448}"/>
                  </a:ext>
                </a:extLst>
              </p:cNvPr>
              <p:cNvSpPr txBox="1"/>
              <p:nvPr/>
            </p:nvSpPr>
            <p:spPr>
              <a:xfrm>
                <a:off x="990600" y="2610148"/>
                <a:ext cx="7241356" cy="3841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Project: Online Ticket Booking Website</a:t>
                </a:r>
              </a:p>
              <a:p>
                <a:r>
                  <a:rPr lang="en-US" b="1" dirty="0"/>
                  <a:t>Estimated Size: 50 KLOC</a:t>
                </a:r>
              </a:p>
              <a:p>
                <a:r>
                  <a:rPr lang="en-US" b="1" dirty="0"/>
                  <a:t>Project Type: Organic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IN" b="1" dirty="0"/>
                  <a:t>Step 1: Calculate Effort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50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05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Compute: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05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b="0" i="1" smtClean="0"/>
                        <m:t>46</m:t>
                      </m:r>
                      <m:r>
                        <m:rPr>
                          <m:nor/>
                        </m:rPr>
                        <a:rPr lang="ar-AE" i="1"/>
                        <m:t> </m:t>
                      </m:r>
                      <m:r>
                        <m:rPr>
                          <m:nor/>
                        </m:rPr>
                        <a:rPr lang="en-IN" i="1"/>
                        <m:t>person</m:t>
                      </m:r>
                      <m:r>
                        <m:rPr>
                          <m:nor/>
                        </m:rPr>
                        <a:rPr lang="en-IN" i="1"/>
                        <m:t>−</m:t>
                      </m:r>
                      <m:r>
                        <m:rPr>
                          <m:nor/>
                        </m:rPr>
                        <a:rPr lang="en-IN" i="1"/>
                        <m:t>months</m:t>
                      </m:r>
                    </m:oMath>
                  </m:oMathPara>
                </a14:m>
                <a:endParaRPr lang="en-IN" b="0" dirty="0"/>
              </a:p>
              <a:p>
                <a:endParaRPr lang="en-IN" b="0" dirty="0"/>
              </a:p>
              <a:p>
                <a:r>
                  <a:rPr lang="en-IN" b="1" dirty="0"/>
                  <a:t>Effort = </a:t>
                </a:r>
                <a:r>
                  <a:rPr lang="en-IN" dirty="0"/>
                  <a:t>146 Person-Months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4274A6-6B5E-6597-2ED8-F9D7ED731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610148"/>
                <a:ext cx="7241356" cy="3841180"/>
              </a:xfrm>
              <a:prstGeom prst="rect">
                <a:avLst/>
              </a:prstGeom>
              <a:blipFill>
                <a:blip r:embed="rId4"/>
                <a:stretch>
                  <a:fillRect l="-758" t="-7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866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E3025E-F118-92BB-71EB-65D2E5F8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E8E5F77-F302-4AE4-E552-D58D5C976008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EB88E3B-CF19-2109-3523-BAA2155DF15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25F91D4-877E-18FA-0937-3662C73DEC6E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7C75486-60BE-1BD9-29A1-B54D9E777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1709457"/>
            <a:ext cx="75941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Real-Time Example – Basic COCOMO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23F0F8-4D5A-6DCA-E648-B4EF17C2D2EC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EB32DEB-EFAB-8ABF-A97B-1891E5B6BC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CF3A94-2F97-479A-E7A2-75F0B850A1B8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BE875C52-38C7-EEB4-F7BF-3D8915B7557F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864F22-CB64-F4CB-1499-6F7A538E7BC0}"/>
                  </a:ext>
                </a:extLst>
              </p:cNvPr>
              <p:cNvSpPr txBox="1"/>
              <p:nvPr/>
            </p:nvSpPr>
            <p:spPr>
              <a:xfrm>
                <a:off x="1066800" y="2550360"/>
                <a:ext cx="7241356" cy="3803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Step 2: Calculate Development Time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46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38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Compute: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46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38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ar-AE" i="1"/>
                        <m:t> </m:t>
                      </m:r>
                      <m:r>
                        <m:rPr>
                          <m:nor/>
                        </m:rPr>
                        <a:rPr lang="en-IN" i="1"/>
                        <m:t>months</m:t>
                      </m:r>
                    </m:oMath>
                  </m:oMathPara>
                </a14:m>
                <a:endParaRPr lang="en-IN" b="0" dirty="0"/>
              </a:p>
              <a:p>
                <a:r>
                  <a:rPr lang="en-IN" b="1" dirty="0"/>
                  <a:t>Time = </a:t>
                </a:r>
                <a:r>
                  <a:rPr lang="en-IN" dirty="0"/>
                  <a:t>16.5 months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b="1" dirty="0"/>
                  <a:t>Step 3: Calculate Staffing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Team Required ≈ 9 Developers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864F22-CB64-F4CB-1499-6F7A538E7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550360"/>
                <a:ext cx="7241356" cy="3803542"/>
              </a:xfrm>
              <a:prstGeom prst="rect">
                <a:avLst/>
              </a:prstGeom>
              <a:blipFill>
                <a:blip r:embed="rId4"/>
                <a:stretch>
                  <a:fillRect l="-673" t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26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E42ED6-9C9E-BEB3-9E6E-E843A8F0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8ADB13C-7502-208A-E81F-EAC3824A2A8B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359776C-8BD9-CBAE-B0B6-C05C43B5E3C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89DDECD-D0C9-6578-752F-5501B68F654C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D4D4C95-27F4-4349-A633-36C1759218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Intermediate COCOMO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C83D84-31A7-115C-0510-32583977D5CE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D4D56F9-268D-26B2-0E59-04BDA49CFC3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1B42866-A7FD-F91D-71B9-4F64E9D554BF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0988332-1B82-2052-1D23-3F4123C8DC67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B9C820-7C4A-738C-8A7A-8B612881216A}"/>
                  </a:ext>
                </a:extLst>
              </p:cNvPr>
              <p:cNvSpPr txBox="1"/>
              <p:nvPr/>
            </p:nvSpPr>
            <p:spPr>
              <a:xfrm>
                <a:off x="1143000" y="2765332"/>
                <a:ext cx="7241356" cy="3186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𝐾𝐿𝑂𝐶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𝐸𝐴𝐹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ar-AE" dirty="0"/>
              </a:p>
              <a:p>
                <a:r>
                  <a:rPr lang="en-IN" dirty="0"/>
                  <a:t>Where:</a:t>
                </a:r>
              </a:p>
              <a:p>
                <a:r>
                  <a:rPr lang="en-IN" b="1" dirty="0"/>
                  <a:t>EAF = Effort Adjustment Factor</a:t>
                </a:r>
                <a:r>
                  <a:rPr lang="en-IN" dirty="0"/>
                  <a:t> (product of cost drivers)</a:t>
                </a:r>
              </a:p>
              <a:p>
                <a:r>
                  <a:rPr lang="en-IN" dirty="0"/>
                  <a:t>Cost drivers include:</a:t>
                </a:r>
              </a:p>
              <a:p>
                <a:pPr lvl="1"/>
                <a:r>
                  <a:rPr lang="en-IN" dirty="0"/>
                  <a:t>Product complexity</a:t>
                </a:r>
              </a:p>
              <a:p>
                <a:pPr lvl="1"/>
                <a:r>
                  <a:rPr lang="en-IN" dirty="0"/>
                  <a:t>Required reliability</a:t>
                </a:r>
              </a:p>
              <a:p>
                <a:pPr lvl="1"/>
                <a:r>
                  <a:rPr lang="en-IN" dirty="0"/>
                  <a:t>Team experience</a:t>
                </a:r>
              </a:p>
              <a:p>
                <a:pPr lvl="1"/>
                <a:r>
                  <a:rPr lang="en-IN" dirty="0"/>
                  <a:t>Tools used</a:t>
                </a: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B9C820-7C4A-738C-8A7A-8B6128812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765332"/>
                <a:ext cx="7241356" cy="3186642"/>
              </a:xfrm>
              <a:prstGeom prst="rect">
                <a:avLst/>
              </a:prstGeom>
              <a:blipFill>
                <a:blip r:embed="rId4"/>
                <a:stretch>
                  <a:fillRect l="-758" t="-107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617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E4F397-4949-3E2E-E5D1-650E2850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14C500B-DC5F-213E-F026-09848F922199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22DF0B9-AAB4-FCD3-134A-F0A38E8B10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E95CFD-B9C9-3D84-A6F7-243B39DB49F0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FE51266-F6E3-BC27-13EF-A5CE513AB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6236" y="1709457"/>
            <a:ext cx="72413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Detailed / Complete COCOMO Model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4AA38E-0E6E-6C7B-B16C-F30A030A833B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EA2EDC4-13CA-351A-E2D2-55425B20B2E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7052357-02AC-6303-3F8C-59E9E7ECB7B0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57AEAD89-5F2E-A847-1C4D-111ED0E391ED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F9701-1C21-BC13-892D-74028B4597CF}"/>
              </a:ext>
            </a:extLst>
          </p:cNvPr>
          <p:cNvSpPr txBox="1"/>
          <p:nvPr/>
        </p:nvSpPr>
        <p:spPr>
          <a:xfrm>
            <a:off x="762000" y="2765332"/>
            <a:ext cx="76223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incorporates all qualities of both Basic COCOMO and Intermediate COCOMO strategies on each software engineering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whole software is divided into different modules, and then apply COCOMO in different modules to estimate effort and then sum the effort.</a:t>
            </a:r>
          </a:p>
        </p:txBody>
      </p:sp>
    </p:spTree>
    <p:extLst>
      <p:ext uri="{BB962C8B-B14F-4D97-AF65-F5344CB8AC3E}">
        <p14:creationId xmlns:p14="http://schemas.microsoft.com/office/powerpoint/2010/main" val="3117797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B6D477-C8BE-1518-42D2-90C2C5C4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34F4C03-ECC0-07B2-FD75-7369F05FC83C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6DFDD4E-722E-9215-91CD-2F842F7FC82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14FC3FB-8440-054A-3045-8A9EDAD7AEF8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50C819D-1847-F85A-28FC-B61B637383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6236" y="1709457"/>
            <a:ext cx="72413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Detailed / Complete COCOMO Model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B246B1-BFF0-1D84-7743-FCCC83C2A0D2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99E6F75-34E6-1BCB-C344-8ECCE09C98C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5223D82-BEEF-603A-1037-43833B4BB2F8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E805C17F-8868-A30C-C7C5-B98CEF648A47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F550F5-5BCF-0180-4487-9CDE0F16740D}"/>
              </a:ext>
            </a:extLst>
          </p:cNvPr>
          <p:cNvSpPr txBox="1"/>
          <p:nvPr/>
        </p:nvSpPr>
        <p:spPr>
          <a:xfrm>
            <a:off x="762000" y="2765332"/>
            <a:ext cx="76223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Six phases of detailed COCOMO are:</a:t>
            </a:r>
          </a:p>
          <a:p>
            <a:pPr marL="342900" indent="-342900">
              <a:buAutoNum type="arabicPeriod"/>
            </a:pPr>
            <a:r>
              <a:rPr lang="en-US" dirty="0"/>
              <a:t>Planning and requirements</a:t>
            </a:r>
          </a:p>
          <a:p>
            <a:pPr marL="342900" indent="-342900">
              <a:buAutoNum type="arabicPeriod"/>
            </a:pPr>
            <a:r>
              <a:rPr lang="en-US" dirty="0"/>
              <a:t>System design</a:t>
            </a:r>
          </a:p>
          <a:p>
            <a:pPr marL="342900" indent="-342900">
              <a:buAutoNum type="arabicPeriod"/>
            </a:pPr>
            <a:r>
              <a:rPr lang="en-US" dirty="0"/>
              <a:t>Detailed design</a:t>
            </a:r>
          </a:p>
          <a:p>
            <a:pPr marL="342900" indent="-342900">
              <a:buAutoNum type="arabicPeriod"/>
            </a:pPr>
            <a:r>
              <a:rPr lang="en-US" dirty="0"/>
              <a:t>Module code and test</a:t>
            </a:r>
          </a:p>
          <a:p>
            <a:pPr marL="342900" indent="-342900">
              <a:buAutoNum type="arabicPeriod"/>
            </a:pPr>
            <a:r>
              <a:rPr lang="en-US" dirty="0"/>
              <a:t>Integration and test</a:t>
            </a:r>
          </a:p>
          <a:p>
            <a:pPr marL="342900" indent="-342900">
              <a:buAutoNum type="arabicPeriod"/>
            </a:pPr>
            <a:r>
              <a:rPr lang="en-US" dirty="0"/>
              <a:t>Cost Constructive model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(Useful for large enterprise-level projects like banking systems.)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273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3078A7-8068-9F35-789E-1B9665145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6936724-509B-E4BC-6EEF-02428DF3C148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7FB8D8D-40D2-F290-021D-5528459024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E78A79A-7D3D-42BD-D5CD-1911B93A0A48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3EC39A0-C6B4-7A13-F0EF-DC2B91AD6C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FPA – Function Point Analysis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2B0F64-1BEA-8C93-059E-E3328628B332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E2ADB2D-1E1F-36E9-1B2A-A969D831767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85C632-4C1B-5E5E-A6A4-6F8F3ADDC09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A9F093FF-A8EF-7B7B-4106-166C22DCD7C6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52926-1254-087E-B11E-BFF343FB3221}"/>
              </a:ext>
            </a:extLst>
          </p:cNvPr>
          <p:cNvSpPr txBox="1"/>
          <p:nvPr/>
        </p:nvSpPr>
        <p:spPr>
          <a:xfrm>
            <a:off x="838200" y="2765332"/>
            <a:ext cx="75461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Point Analysis is a </a:t>
            </a:r>
            <a:r>
              <a:rPr lang="en-US" b="1" dirty="0"/>
              <a:t>standard method to measure the functionality of software</a:t>
            </a:r>
            <a:r>
              <a:rPr lang="en-US" dirty="0"/>
              <a:t> from the user’s perspective.</a:t>
            </a:r>
          </a:p>
          <a:p>
            <a:endParaRPr lang="en-US" dirty="0"/>
          </a:p>
          <a:p>
            <a:r>
              <a:rPr lang="en-US" dirty="0"/>
              <a:t>Unlike COCOMO, FPA does </a:t>
            </a:r>
            <a:r>
              <a:rPr lang="en-US" b="1" dirty="0"/>
              <a:t>NOT</a:t>
            </a:r>
            <a:r>
              <a:rPr lang="en-US" dirty="0"/>
              <a:t> depend on lines of code.</a:t>
            </a:r>
          </a:p>
          <a:p>
            <a:endParaRPr lang="en-US" dirty="0"/>
          </a:p>
          <a:p>
            <a:r>
              <a:rPr lang="en-US" dirty="0"/>
              <a:t>It measures: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Inputs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Outputs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User interactions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Files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External interfaces</a:t>
            </a:r>
          </a:p>
        </p:txBody>
      </p:sp>
    </p:spTree>
    <p:extLst>
      <p:ext uri="{BB962C8B-B14F-4D97-AF65-F5344CB8AC3E}">
        <p14:creationId xmlns:p14="http://schemas.microsoft.com/office/powerpoint/2010/main" val="932726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EF441B-9BCA-8E5C-4785-607C90105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4A9F0E6-BAB0-525D-C220-BC63D16E3E36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DE2C6CF-C83F-59E9-EE8C-8CFACB31176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96429E1-E5EA-4F0A-FDDE-4B8DA2026980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8A7365F-F320-57BD-521F-77C5F78EA5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FPA – Function Point Analysis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B7ED8B-E333-4182-B8E3-AC89987FF075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6790BB4-17C8-D28C-6944-755635B0CAE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0C4B1F-099E-7692-B089-56E604FC5366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628F75C9-447D-F04F-43AB-48E8250EA6CC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0BEEA-687A-DD55-0A2F-EE478C06E6FD}"/>
              </a:ext>
            </a:extLst>
          </p:cNvPr>
          <p:cNvSpPr txBox="1"/>
          <p:nvPr/>
        </p:nvSpPr>
        <p:spPr>
          <a:xfrm>
            <a:off x="787966" y="2309398"/>
            <a:ext cx="754615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Do We Need FPA?</a:t>
            </a:r>
          </a:p>
          <a:p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To Make Estimation </a:t>
            </a:r>
            <a:r>
              <a:rPr lang="en-US" dirty="0"/>
              <a:t>Technology independent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To Measure Software Size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To Improve Estimation Accuracy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To Support Better Project Planning</a:t>
            </a:r>
          </a:p>
          <a:p>
            <a:r>
              <a:rPr lang="en-US" dirty="0"/>
              <a:t>	With a clear size measure, teams can plan:</a:t>
            </a:r>
          </a:p>
          <a:p>
            <a:r>
              <a:rPr lang="en-US" dirty="0"/>
              <a:t>		Effort, staffing, timelines, budgets</a:t>
            </a:r>
          </a:p>
          <a:p>
            <a:endParaRPr lang="en-US" dirty="0"/>
          </a:p>
          <a:p>
            <a:r>
              <a:rPr lang="en-US" dirty="0"/>
              <a:t>5. To Strengthen Requirement Understanding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DAA5DC-A972-5290-03C3-BD44755B7D29}"/>
              </a:ext>
            </a:extLst>
          </p:cNvPr>
          <p:cNvSpPr txBox="1"/>
          <p:nvPr/>
        </p:nvSpPr>
        <p:spPr>
          <a:xfrm>
            <a:off x="1457621" y="5325734"/>
            <a:ext cx="4576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FPA forces analysts to clearly identify: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2813AB-2BBC-AA2F-8B7B-9A03569ADFFA}"/>
              </a:ext>
            </a:extLst>
          </p:cNvPr>
          <p:cNvSpPr txBox="1"/>
          <p:nvPr/>
        </p:nvSpPr>
        <p:spPr>
          <a:xfrm>
            <a:off x="2133600" y="5675574"/>
            <a:ext cx="4114800" cy="120032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stores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interactions</a:t>
            </a:r>
          </a:p>
        </p:txBody>
      </p:sp>
    </p:spTree>
    <p:extLst>
      <p:ext uri="{BB962C8B-B14F-4D97-AF65-F5344CB8AC3E}">
        <p14:creationId xmlns:p14="http://schemas.microsoft.com/office/powerpoint/2010/main" val="21492349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3F0D98-CF0F-4B1F-F112-27C0D38E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6233C9D-A0B7-DCBB-241E-3856547B6A85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845BA48-451E-ADDE-F380-6F9FD9399D4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A73AE16-162D-D469-01FC-E7C979BCF463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AAA364-DD10-0B4A-06B5-EAC1E40251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FPA – Function Point Analysis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E390F0-BE0F-6EDE-CCE8-9569800B05F2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03D23EE-1FA3-8565-46B4-C44A66BEC41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4C8265-3FD3-816F-4D74-408DC9B48782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ABA8CB8B-0F9E-5EC9-ABF9-29CF245DEE78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E231CD-D828-AFB7-4FA1-C1945200B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38192"/>
              </p:ext>
            </p:extLst>
          </p:nvPr>
        </p:nvGraphicFramePr>
        <p:xfrm>
          <a:off x="724849" y="2827655"/>
          <a:ext cx="7885752" cy="3291840"/>
        </p:xfrm>
        <a:graphic>
          <a:graphicData uri="http://schemas.openxmlformats.org/drawingml/2006/table">
            <a:tbl>
              <a:tblPr/>
              <a:tblGrid>
                <a:gridCol w="2628584">
                  <a:extLst>
                    <a:ext uri="{9D8B030D-6E8A-4147-A177-3AD203B41FA5}">
                      <a16:colId xmlns:a16="http://schemas.microsoft.com/office/drawing/2014/main" val="966600631"/>
                    </a:ext>
                  </a:extLst>
                </a:gridCol>
                <a:gridCol w="2628584">
                  <a:extLst>
                    <a:ext uri="{9D8B030D-6E8A-4147-A177-3AD203B41FA5}">
                      <a16:colId xmlns:a16="http://schemas.microsoft.com/office/drawing/2014/main" val="2070946491"/>
                    </a:ext>
                  </a:extLst>
                </a:gridCol>
                <a:gridCol w="2628584">
                  <a:extLst>
                    <a:ext uri="{9D8B030D-6E8A-4147-A177-3AD203B41FA5}">
                      <a16:colId xmlns:a16="http://schemas.microsoft.com/office/drawing/2014/main" val="222822723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13309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EI – External Inputs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 entering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Login form, registration, order entry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84064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EO – External Outputs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 leaving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Reports, invoices, emails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3489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EQ – External Queries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Input +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Search 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75866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ILF – Internal Logical Files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Internal data 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User table, product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298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EIF – External Interface Files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 from external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Payment gateway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091408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DD7B25E6-1763-655E-FE99-A42CB2593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49" y="2331194"/>
            <a:ext cx="332014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Elements Counted in FPA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2524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208C9E-A310-B2F0-D1C6-3D27D8CFB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E912591-0ECE-C6DC-B641-E095377A2274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FAAD816-7DBE-486E-7946-58C1DF6A3C3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4AAAA7D-B812-56AF-7F57-22A85161B91B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9815D13-0D47-C222-A419-3873B7158D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FPA Calculation Steps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F2C478-D297-330F-0112-A88F45D4B863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8B07E1A-5CAB-1533-3D41-50F4F67EC4B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998B19E-A593-30E2-AD87-107D0243A723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46D95FF5-E7BE-FC02-439E-5F1BE9130AC9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142FF49-455B-1C25-0211-B4D190097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49" y="2485082"/>
            <a:ext cx="43652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Count Unadjusted Function Points (UFP)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AFE902-9DD8-F965-ADC3-EA17B5C7C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536404"/>
              </p:ext>
            </p:extLst>
          </p:nvPr>
        </p:nvGraphicFramePr>
        <p:xfrm>
          <a:off x="514566" y="3685503"/>
          <a:ext cx="2536826" cy="1463040"/>
        </p:xfrm>
        <a:graphic>
          <a:graphicData uri="http://schemas.openxmlformats.org/drawingml/2006/table">
            <a:tbl>
              <a:tblPr/>
              <a:tblGrid>
                <a:gridCol w="1268413">
                  <a:extLst>
                    <a:ext uri="{9D8B030D-6E8A-4147-A177-3AD203B41FA5}">
                      <a16:colId xmlns:a16="http://schemas.microsoft.com/office/drawing/2014/main" val="3146346006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10136466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684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4551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16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7053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76C92D0-AA63-0DC8-CD74-FE6DF59966A7}"/>
              </a:ext>
            </a:extLst>
          </p:cNvPr>
          <p:cNvSpPr txBox="1"/>
          <p:nvPr/>
        </p:nvSpPr>
        <p:spPr>
          <a:xfrm>
            <a:off x="426302" y="3071813"/>
            <a:ext cx="4576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Weight Table</a:t>
            </a:r>
          </a:p>
          <a:p>
            <a:pPr>
              <a:buNone/>
            </a:pPr>
            <a:r>
              <a:rPr lang="en-US" b="1" dirty="0"/>
              <a:t>1. External Inputs (EI)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9FA5140-F560-150E-9A41-8CCB0F200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842319"/>
              </p:ext>
            </p:extLst>
          </p:nvPr>
        </p:nvGraphicFramePr>
        <p:xfrm>
          <a:off x="3389003" y="3751897"/>
          <a:ext cx="2536826" cy="1463040"/>
        </p:xfrm>
        <a:graphic>
          <a:graphicData uri="http://schemas.openxmlformats.org/drawingml/2006/table">
            <a:tbl>
              <a:tblPr/>
              <a:tblGrid>
                <a:gridCol w="1268413">
                  <a:extLst>
                    <a:ext uri="{9D8B030D-6E8A-4147-A177-3AD203B41FA5}">
                      <a16:colId xmlns:a16="http://schemas.microsoft.com/office/drawing/2014/main" val="3146346006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10136466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684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4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4551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5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16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7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7053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F86A112-7D8B-D35C-8C6B-F2529B67802C}"/>
              </a:ext>
            </a:extLst>
          </p:cNvPr>
          <p:cNvSpPr txBox="1"/>
          <p:nvPr/>
        </p:nvSpPr>
        <p:spPr>
          <a:xfrm>
            <a:off x="3147106" y="3334647"/>
            <a:ext cx="2916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 External Outputs (EO)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D87C6A-10C6-01C0-CFF5-F271D65B2670}"/>
              </a:ext>
            </a:extLst>
          </p:cNvPr>
          <p:cNvSpPr txBox="1"/>
          <p:nvPr/>
        </p:nvSpPr>
        <p:spPr>
          <a:xfrm>
            <a:off x="6189596" y="3348812"/>
            <a:ext cx="2871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 External Queries (EQ)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0A57308-4AB4-AB3D-8C1E-031F363FC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596587"/>
              </p:ext>
            </p:extLst>
          </p:nvPr>
        </p:nvGraphicFramePr>
        <p:xfrm>
          <a:off x="6356821" y="3772119"/>
          <a:ext cx="2536826" cy="1463040"/>
        </p:xfrm>
        <a:graphic>
          <a:graphicData uri="http://schemas.openxmlformats.org/drawingml/2006/table">
            <a:tbl>
              <a:tblPr/>
              <a:tblGrid>
                <a:gridCol w="1268413">
                  <a:extLst>
                    <a:ext uri="{9D8B030D-6E8A-4147-A177-3AD203B41FA5}">
                      <a16:colId xmlns:a16="http://schemas.microsoft.com/office/drawing/2014/main" val="3146346006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10136466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684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4551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16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70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097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5266F3-4202-EAEA-991D-6C517C24C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70A0309-2C5E-A965-4778-BA224F46E3C5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AFB3865-11C0-4E77-7A10-9DC61C35C45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4E80944-9DD1-8359-48AB-8FF340283967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6714C80-9BA0-451B-0BE7-D082A71FFF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FPA Calculation Steps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08975B7-07BC-EA8C-DFF6-0BF1E31D181A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E593692-F7C6-A86A-988D-2823DD7EF1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DC0713-7CC2-17BF-C3FD-F66E9E0682CB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945ECBE-701A-6AD6-A4A0-9F843F3C4280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FBAE0FA-BE93-5900-AA2E-82640720F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49" y="2485082"/>
            <a:ext cx="43652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Count Unadjusted Function Points (UFP)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8C94CF8-B82B-6730-1662-02F8C94D6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79266"/>
              </p:ext>
            </p:extLst>
          </p:nvPr>
        </p:nvGraphicFramePr>
        <p:xfrm>
          <a:off x="514566" y="3685503"/>
          <a:ext cx="2536826" cy="1463040"/>
        </p:xfrm>
        <a:graphic>
          <a:graphicData uri="http://schemas.openxmlformats.org/drawingml/2006/table">
            <a:tbl>
              <a:tblPr/>
              <a:tblGrid>
                <a:gridCol w="1268413">
                  <a:extLst>
                    <a:ext uri="{9D8B030D-6E8A-4147-A177-3AD203B41FA5}">
                      <a16:colId xmlns:a16="http://schemas.microsoft.com/office/drawing/2014/main" val="3146346006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10136466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684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7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4551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</a:t>
                      </a:r>
                      <a:r>
                        <a:rPr lang="en-IN" sz="1800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16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</a:t>
                      </a:r>
                      <a:r>
                        <a:rPr lang="en-IN" sz="180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7053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E789AB-E455-F600-FE54-B8BC29BA7265}"/>
              </a:ext>
            </a:extLst>
          </p:cNvPr>
          <p:cNvSpPr txBox="1"/>
          <p:nvPr/>
        </p:nvSpPr>
        <p:spPr>
          <a:xfrm>
            <a:off x="426302" y="3071813"/>
            <a:ext cx="4576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Weight Table</a:t>
            </a:r>
          </a:p>
          <a:p>
            <a:pPr>
              <a:buNone/>
            </a:pPr>
            <a:r>
              <a:rPr lang="en-US" b="1" dirty="0"/>
              <a:t>4. </a:t>
            </a:r>
            <a:r>
              <a:rPr lang="en-IN" b="1" dirty="0"/>
              <a:t>Internal Logical Files (ILF)</a:t>
            </a:r>
            <a:endParaRPr 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591060-4061-23C3-6131-84066F4F760D}"/>
              </a:ext>
            </a:extLst>
          </p:cNvPr>
          <p:cNvSpPr txBox="1"/>
          <p:nvPr/>
        </p:nvSpPr>
        <p:spPr>
          <a:xfrm>
            <a:off x="5090147" y="3331193"/>
            <a:ext cx="36275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5. External Interface Files (EIF)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A29B2A8-966F-A83D-EE55-93FBE441F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102118"/>
              </p:ext>
            </p:extLst>
          </p:nvPr>
        </p:nvGraphicFramePr>
        <p:xfrm>
          <a:off x="5257372" y="3754500"/>
          <a:ext cx="2536826" cy="1463040"/>
        </p:xfrm>
        <a:graphic>
          <a:graphicData uri="http://schemas.openxmlformats.org/drawingml/2006/table">
            <a:tbl>
              <a:tblPr/>
              <a:tblGrid>
                <a:gridCol w="1268413">
                  <a:extLst>
                    <a:ext uri="{9D8B030D-6E8A-4147-A177-3AD203B41FA5}">
                      <a16:colId xmlns:a16="http://schemas.microsoft.com/office/drawing/2014/main" val="3146346006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10136466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684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5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4551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7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16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</a:t>
                      </a:r>
                      <a:r>
                        <a:rPr lang="en-IN" sz="1800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70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8638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49300B-4F2A-D2AE-2AEF-289C51A7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523118A-EF34-6D8E-F46D-F9AA388E83C6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E807149-C370-3ACC-168A-E13AB7E0308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C3DCA7D-5A8A-2466-AA7F-8F69CFD28E2E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8CB523A-E4AF-E20F-B2E3-0E247C0ABC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Steps to Calculate– Function Point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7C8958-7142-958E-E927-0248DAB92FA8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F033388-7DE5-BB19-2EE0-AB8EB2BC370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B76306-CBDF-65C8-F500-3E6A2E79BBA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DB282F1-DECC-C3C9-3596-26FCB4B5E5E4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5914C9-8F77-C0F5-845F-D9379EC5EF4E}"/>
                  </a:ext>
                </a:extLst>
              </p:cNvPr>
              <p:cNvSpPr txBox="1"/>
              <p:nvPr/>
            </p:nvSpPr>
            <p:spPr>
              <a:xfrm>
                <a:off x="1339883" y="2746317"/>
                <a:ext cx="595067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Step 1: Calculate Unadjusted Function Points (UFP)</a:t>
                </a:r>
              </a:p>
              <a:p>
                <a:r>
                  <a:rPr lang="en-IN" dirty="0"/>
                  <a:t>	Item: Count*Complexity</a:t>
                </a:r>
              </a:p>
              <a:p>
                <a:r>
                  <a:rPr lang="en-IN" dirty="0"/>
                  <a:t>	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𝑈𝐹𝑃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items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:r>
                  <a:rPr lang="en-US" dirty="0"/>
                  <a:t>Step 2: Calculate Value Adjustment Factor (VAF)</a:t>
                </a:r>
              </a:p>
              <a:p>
                <a:endParaRPr lang="en-US" dirty="0"/>
              </a:p>
              <a:p>
                <a:r>
                  <a:rPr lang="en-IN" dirty="0"/>
                  <a:t>Step 3: Calculate VAF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smtClean="0">
                          <a:latin typeface="Cambria Math" panose="02040503050406030204" pitchFamily="18" charset="0"/>
                        </a:rPr>
                        <m:t>𝑉𝐴𝐹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01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IN" sz="1800" i="1"/>
                            <m:t>GSC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  <a:p>
                <a:endParaRPr lang="en-IN" dirty="0"/>
              </a:p>
              <a:p>
                <a:r>
                  <a:rPr lang="en-US" dirty="0"/>
                  <a:t>Step 4: Calculate Final Function Points (FP)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smtClean="0"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𝑈𝐹𝑃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𝑉𝐴𝐹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5914C9-8F77-C0F5-845F-D9379EC5E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883" y="2746317"/>
                <a:ext cx="5950670" cy="3416320"/>
              </a:xfrm>
              <a:prstGeom prst="rect">
                <a:avLst/>
              </a:prstGeom>
              <a:blipFill>
                <a:blip r:embed="rId4"/>
                <a:stretch>
                  <a:fillRect l="-922" t="-10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5790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6EBC2B-998B-3AF6-94C7-39266170C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BE60FDB-B508-8D2A-5632-A4D8164930F9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5515159-1504-6192-8B4E-25927051DF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954C4AE-5B76-7058-B632-4E05CE14FC1C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50D34E2-4DB2-8E0F-A175-1B93A15BA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04FFCBF-90E1-9987-2C79-EFB2FE25E0A4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F56E4E7-C08C-851C-F668-650D08ECC06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D89FC97-296F-886F-DA8D-A1E116F6C377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A389502-97CB-1341-366D-D6324948B216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6785B4-764C-835B-24A6-CAE36D79D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824621"/>
              </p:ext>
            </p:extLst>
          </p:nvPr>
        </p:nvGraphicFramePr>
        <p:xfrm>
          <a:off x="862962" y="3376295"/>
          <a:ext cx="7396164" cy="2194560"/>
        </p:xfrm>
        <a:graphic>
          <a:graphicData uri="http://schemas.openxmlformats.org/drawingml/2006/table">
            <a:tbl>
              <a:tblPr/>
              <a:tblGrid>
                <a:gridCol w="2465388">
                  <a:extLst>
                    <a:ext uri="{9D8B030D-6E8A-4147-A177-3AD203B41FA5}">
                      <a16:colId xmlns:a16="http://schemas.microsoft.com/office/drawing/2014/main" val="4208747175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3394429451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7434856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6705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External Inputs (EI)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0954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External Outputs (EO)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6702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External Queries (EQ)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9492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ILF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8986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975373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37F82C1B-2F77-87A4-561D-38ABC66EA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68" y="2517574"/>
            <a:ext cx="431400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Project: Online Shopping Website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Given Counts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018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624BCA-9BA7-F787-CCCF-A8BA14AA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4AB76AB-F99C-38A7-6D08-D83DC91185B2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FAE37B4-360A-21B5-9119-4A7FE37DAC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414E079-BDA1-678C-27DE-71543EBCDD07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1D1EBC6-FE1A-1D47-6484-E5519F6CEE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6A7C20-54E1-AA8F-16C5-8FDE085DAE2F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F16CF3A-8559-FDB3-907A-586B990A2E6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901586-AE27-0C8D-3629-C96B2A67341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32CE156-93CA-70C3-1EC4-6B08B4EBFBA1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E84296-926F-0DC1-B04D-02BC13EFAE88}"/>
                  </a:ext>
                </a:extLst>
              </p:cNvPr>
              <p:cNvSpPr txBox="1"/>
              <p:nvPr/>
            </p:nvSpPr>
            <p:spPr>
              <a:xfrm>
                <a:off x="1219200" y="2626915"/>
                <a:ext cx="5791200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200" b="1" dirty="0"/>
                  <a:t>Step 1: Calculate UFP</a:t>
                </a:r>
              </a:p>
              <a:p>
                <a:pPr>
                  <a:buNone/>
                </a:pPr>
                <a:endParaRPr lang="en-IN" sz="2200" b="1" dirty="0"/>
              </a:p>
              <a:p>
                <a:pPr lvl="7" algn="l"/>
                <a:r>
                  <a:rPr lang="en-IN" sz="2200" dirty="0"/>
                  <a:t>EI:  10 inputs × weight 4 = 40</a:t>
                </a:r>
              </a:p>
              <a:p>
                <a:pPr lvl="7" algn="l"/>
                <a:r>
                  <a:rPr lang="en-IN" sz="2200" dirty="0"/>
                  <a:t>EO: 6 outputs × weight 7 = 42</a:t>
                </a:r>
              </a:p>
              <a:p>
                <a:pPr lvl="7" algn="l"/>
                <a:r>
                  <a:rPr lang="en-IN" sz="2200" dirty="0"/>
                  <a:t>EQ: 8 queries × weight 3 = 24</a:t>
                </a:r>
              </a:p>
              <a:p>
                <a:pPr lvl="7" algn="l"/>
                <a:r>
                  <a:rPr lang="en-IN" sz="2200" dirty="0"/>
                  <a:t>ILF: 4 files × weight 10 = 40</a:t>
                </a:r>
              </a:p>
              <a:p>
                <a:pPr lvl="7" algn="l"/>
                <a:r>
                  <a:rPr lang="en-IN" sz="2200" dirty="0"/>
                  <a:t>EIF: 3 files × weight 5 = 15</a:t>
                </a:r>
              </a:p>
              <a:p>
                <a:pPr lvl="7" algn="l"/>
                <a:endParaRPr lang="en-IN" sz="2200" dirty="0"/>
              </a:p>
              <a:p>
                <a:r>
                  <a:rPr lang="en-IN" b="1" dirty="0"/>
                  <a:t>Total UFP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𝑈𝐹𝑃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42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161</m:t>
                      </m:r>
                    </m:oMath>
                  </m:oMathPara>
                </a14:m>
                <a:endParaRPr lang="en-IN" dirty="0"/>
              </a:p>
              <a:p>
                <a:pPr lvl="7" algn="l"/>
                <a:endParaRPr lang="en-IN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E84296-926F-0DC1-B04D-02BC13EFA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626915"/>
                <a:ext cx="5791200" cy="3693319"/>
              </a:xfrm>
              <a:prstGeom prst="rect">
                <a:avLst/>
              </a:prstGeom>
              <a:blipFill>
                <a:blip r:embed="rId4"/>
                <a:stretch>
                  <a:fillRect l="-1368" t="-9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09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8E193D-4115-B804-CE91-B88D0A93C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734197F-2228-4F88-1511-74C42D3D05FB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6364287-C29F-5651-623A-9B0FB52618B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5700DE6-0C65-B6EB-22FF-5D846E65EC81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BE292C6-B99C-A9A8-D151-02108CCD30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8C2FDA-DD82-0B26-4330-FCDCF64BE6F5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3D2A35A-5D40-BD17-D397-373AB8DF0C3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B4E02D-5977-0FF8-9360-922301901F00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4556C944-2781-FEC6-D5CC-426257C591DE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24056E-9D8B-6523-053C-23DF3900D317}"/>
              </a:ext>
            </a:extLst>
          </p:cNvPr>
          <p:cNvSpPr txBox="1"/>
          <p:nvPr/>
        </p:nvSpPr>
        <p:spPr>
          <a:xfrm>
            <a:off x="435246" y="2409916"/>
            <a:ext cx="868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2: Calculate Value Adjustment Factor (VAF)</a:t>
            </a:r>
          </a:p>
          <a:p>
            <a:r>
              <a:rPr lang="en-US" dirty="0"/>
              <a:t>There are </a:t>
            </a:r>
            <a:r>
              <a:rPr lang="en-US" b="1" dirty="0"/>
              <a:t>14 General System Characteristics (GSCs)</a:t>
            </a:r>
            <a:r>
              <a:rPr lang="en-US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016C1C-9F88-A41D-C7E8-346B5720BB59}"/>
              </a:ext>
            </a:extLst>
          </p:cNvPr>
          <p:cNvSpPr txBox="1"/>
          <p:nvPr/>
        </p:nvSpPr>
        <p:spPr>
          <a:xfrm>
            <a:off x="1334750" y="3006551"/>
            <a:ext cx="6172199" cy="507613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Data communications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Performance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Transaction rate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Reusability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Security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Complex processing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Distributed processing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User efficiency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Backup &amp; recovery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Data complexity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Maintainability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Training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Installation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On-line data entry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F0B108-D39F-8CDD-5E0F-4E45DF55C682}"/>
              </a:ext>
            </a:extLst>
          </p:cNvPr>
          <p:cNvSpPr txBox="1"/>
          <p:nvPr/>
        </p:nvSpPr>
        <p:spPr>
          <a:xfrm>
            <a:off x="614640" y="5982577"/>
            <a:ext cx="8328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is rated </a:t>
            </a:r>
            <a:r>
              <a:rPr lang="en-US" b="1" dirty="0"/>
              <a:t>0–5</a:t>
            </a:r>
            <a:r>
              <a:rPr lang="en-US" dirty="0"/>
              <a:t>				</a:t>
            </a:r>
            <a:r>
              <a:rPr lang="en-US" b="1" dirty="0"/>
              <a:t>Suppose total GSC score = 40</a:t>
            </a:r>
          </a:p>
        </p:txBody>
      </p:sp>
    </p:spTree>
    <p:extLst>
      <p:ext uri="{BB962C8B-B14F-4D97-AF65-F5344CB8AC3E}">
        <p14:creationId xmlns:p14="http://schemas.microsoft.com/office/powerpoint/2010/main" val="36432037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4C2AB9-AFB4-08C9-0A92-AF656352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B02FE0D-B16D-5A24-2D65-07047A76A480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A20692B-26B1-4D97-1FE6-982D2A49E27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EF6B979-4869-7AC2-1461-A6193FFDE1D0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DFE02EE-3FC8-E169-93CF-771C98CCD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449FBC-F31E-ECE6-20B2-663A9D30A497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35056EF-A555-0C08-8DF6-A9D49C8AEF1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DBF0767-4AE3-28E4-1474-B53D1741934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BBBE6C9A-1FE8-C7E6-4195-979802D83F3E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DCB36C-0835-36DC-8242-DDF1D1E96723}"/>
                  </a:ext>
                </a:extLst>
              </p:cNvPr>
              <p:cNvSpPr txBox="1"/>
              <p:nvPr/>
            </p:nvSpPr>
            <p:spPr>
              <a:xfrm>
                <a:off x="685800" y="2619020"/>
                <a:ext cx="731520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b="1" dirty="0"/>
                  <a:t>Step 3: Calculate VAF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𝑉𝐴𝐹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01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IN" sz="2400" i="1"/>
                            <m:t>GSC</m:t>
                          </m:r>
                        </m:e>
                      </m:d>
                    </m:oMath>
                  </m:oMathPara>
                </a14:m>
                <a:endParaRPr lang="ar-AE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𝑉𝐴𝐹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01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40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IN" sz="2400" b="1" dirty="0"/>
                  <a:t>Step 4: Calculate Final Function Points (FP)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𝑈𝐹𝑃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𝑉𝐴𝐹</m:t>
                      </m:r>
                    </m:oMath>
                  </m:oMathPara>
                </a14:m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161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05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169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en-IN" sz="2400" dirty="0"/>
              </a:p>
              <a:p>
                <a:endParaRPr lang="en-IN" sz="2400" b="1" dirty="0"/>
              </a:p>
              <a:p>
                <a:r>
                  <a:rPr lang="en-IN" sz="2400" b="1" dirty="0"/>
                  <a:t>Final Function Points = 169</a:t>
                </a:r>
                <a:endParaRPr lang="en-I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DCB36C-0835-36DC-8242-DDF1D1E96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619020"/>
                <a:ext cx="7315200" cy="3416320"/>
              </a:xfrm>
              <a:prstGeom prst="rect">
                <a:avLst/>
              </a:prstGeom>
              <a:blipFill>
                <a:blip r:embed="rId4"/>
                <a:stretch>
                  <a:fillRect l="-1333" t="-1250" b="-33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01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4E3FE0-17EF-808D-9281-A3548C3E2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D374FCE-EFAD-394A-DEA7-2419C696FD6A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86CD9FC-62BE-BCEE-31ED-A8596213881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6523C5-7FA1-0AE7-09B8-72AB80C3ECF2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069BB86-D012-AB1F-B44A-2DD2ED6280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DCAD2E-E87B-C110-D42D-B4492F804CC3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3874E9F-DE91-77B7-5E5E-7E2C9304A9E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9EBBC3-9581-3CD9-A027-9ED37DD8A5C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1DC3642-6AE5-E98D-AAB6-7792574B0254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02B9FC-127D-9142-F92C-9518EE696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4" y="2352712"/>
            <a:ext cx="9067800" cy="380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74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D020CB-E06F-E33E-2D3D-821C72B04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1E908F9-4203-F28F-A15F-429AA1AA2D62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72E2B7A-228D-A1AB-ECC2-6FE5D0DC680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9B1D024-6D67-BA80-D2E8-9E7149FEFD34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F85769F-144F-F28B-0E76-6AE78EDF8B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Project Scheduling &amp; Tracking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D05A57-D9BA-2E57-FE85-2CAB5AAB6A26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867FFC4-1A3D-C439-C0D4-E47E85F4810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C8FD5B-838B-D7B9-DD84-1C49797110D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DB1308E3-33FF-E0D3-3945-2484E33B861E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EF88D2-40C3-E89A-7767-885175924801}"/>
              </a:ext>
            </a:extLst>
          </p:cNvPr>
          <p:cNvSpPr txBox="1"/>
          <p:nvPr/>
        </p:nvSpPr>
        <p:spPr>
          <a:xfrm>
            <a:off x="1066800" y="2824693"/>
            <a:ext cx="76985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Scheduling Principles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Compartmentalization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Interdependency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Allocation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Effort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Milestones</a:t>
            </a:r>
          </a:p>
        </p:txBody>
      </p:sp>
    </p:spTree>
    <p:extLst>
      <p:ext uri="{BB962C8B-B14F-4D97-AF65-F5344CB8AC3E}">
        <p14:creationId xmlns:p14="http://schemas.microsoft.com/office/powerpoint/2010/main" val="15554009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70576E5-CDF1-24C5-439F-3D4FA285F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CA61848-3792-1564-85E5-3F0A75CE9C98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02357FB-9522-0790-357C-29E0F6DB02F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7F7DC3-9AE8-3A81-7A5D-916D1BBF4373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0FC17F9-E9DC-47DA-1C16-5611C7ED85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Scheduling methods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DA636F-1C11-49F0-033F-A25BE8ECA08D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19116BF-1379-FDE9-2CD1-B504C76EC60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D688EC-FF2F-613A-2BD6-C7F6149611EF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9D655CBE-B718-AD7F-7DEC-A5E35747C4E4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01BF2A-BA36-A76E-7818-5199FCA06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5" y="2334644"/>
            <a:ext cx="9144000" cy="395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335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064713-72C2-8666-4D31-379D94A0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B2E8A34-EDFF-CE55-1648-6CE095CDA543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D080481-AE27-864A-BF18-ADBD8953629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AD5A70C-0011-5828-8B75-DAFE5A247F8C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D551384-5A61-A989-26AC-1CE34DE7DC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Effort Distribution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9604827-C3FD-740E-D3DB-23EB2300B1E9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D63FB47-7ECE-189D-5911-600EF95A8D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E426234-FBB1-B5EE-202E-518AB7BFCD35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50D0F26-9E3B-7DCB-817A-AABCE848D250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C0F6FE-882D-12A3-FA28-949406DC58FD}"/>
              </a:ext>
            </a:extLst>
          </p:cNvPr>
          <p:cNvSpPr txBox="1"/>
          <p:nvPr/>
        </p:nvSpPr>
        <p:spPr>
          <a:xfrm>
            <a:off x="564007" y="2507514"/>
            <a:ext cx="79940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General guideline: </a:t>
            </a:r>
            <a:r>
              <a:rPr lang="en-US" b="1" dirty="0"/>
              <a:t>40-20-40 rule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40% </a:t>
            </a:r>
            <a:r>
              <a:rPr lang="en-US" dirty="0"/>
              <a:t>or more of all effort allocated to </a:t>
            </a:r>
            <a:r>
              <a:rPr lang="en-US" b="1" dirty="0"/>
              <a:t>analysis and design tasks </a:t>
            </a:r>
          </a:p>
          <a:p>
            <a:pPr>
              <a:buNone/>
            </a:pPr>
            <a:r>
              <a:rPr lang="en-US" b="1" dirty="0"/>
              <a:t>20% </a:t>
            </a:r>
            <a:r>
              <a:rPr lang="en-US" dirty="0"/>
              <a:t>of effort allocated to </a:t>
            </a:r>
            <a:r>
              <a:rPr lang="en-US" b="1" dirty="0"/>
              <a:t>programming </a:t>
            </a:r>
          </a:p>
          <a:p>
            <a:pPr>
              <a:buNone/>
            </a:pPr>
            <a:r>
              <a:rPr lang="en-US" b="1" dirty="0"/>
              <a:t>40% </a:t>
            </a:r>
            <a:r>
              <a:rPr lang="en-US" dirty="0"/>
              <a:t>of effort allocated to </a:t>
            </a:r>
            <a:r>
              <a:rPr lang="en-US" b="1" dirty="0"/>
              <a:t>testing</a:t>
            </a: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Although most software organizations encounter the following projects types: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4D28A8-30E5-0F38-F427-BDBCF5BC972D}"/>
              </a:ext>
            </a:extLst>
          </p:cNvPr>
          <p:cNvSpPr txBox="1"/>
          <p:nvPr/>
        </p:nvSpPr>
        <p:spPr>
          <a:xfrm>
            <a:off x="954447" y="4476273"/>
            <a:ext cx="7213191" cy="147732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Concept Development </a:t>
            </a:r>
          </a:p>
          <a:p>
            <a:pPr marL="342900" indent="-342900">
              <a:buAutoNum type="arabicPeriod"/>
            </a:pPr>
            <a:r>
              <a:rPr lang="en-US" dirty="0"/>
              <a:t>New Application Development </a:t>
            </a:r>
          </a:p>
          <a:p>
            <a:pPr marL="342900" indent="-342900">
              <a:buAutoNum type="arabicPeriod"/>
            </a:pPr>
            <a:r>
              <a:rPr lang="en-US" dirty="0"/>
              <a:t>Application Enhancement</a:t>
            </a:r>
          </a:p>
          <a:p>
            <a:pPr marL="342900" indent="-342900">
              <a:buAutoNum type="arabicPeriod"/>
            </a:pPr>
            <a:r>
              <a:rPr lang="en-US" dirty="0"/>
              <a:t> Application Maintenance</a:t>
            </a:r>
          </a:p>
          <a:p>
            <a:pPr marL="342900" indent="-342900">
              <a:buAutoNum type="arabicPeriod"/>
            </a:pPr>
            <a:r>
              <a:rPr lang="en-US" dirty="0"/>
              <a:t>Reengineering</a:t>
            </a:r>
          </a:p>
        </p:txBody>
      </p:sp>
    </p:spTree>
    <p:extLst>
      <p:ext uri="{BB962C8B-B14F-4D97-AF65-F5344CB8AC3E}">
        <p14:creationId xmlns:p14="http://schemas.microsoft.com/office/powerpoint/2010/main" val="21803804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B03B4D-5E97-9925-BBB1-091526FA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AB18920-8EF6-0CF1-1970-33610E8E0352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F616EAD-EB55-A9D4-F089-2DAAD71D825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0A891C3-7343-98EE-E599-7190826F81A0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05CE6A9-B55D-86DF-CDAF-166B8D920D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Risk analysis &amp; Management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31D066-BB0B-8C71-8879-BC1C9FFF5B0E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FA7A78C-BB2C-F635-A3CC-46E5B8171CE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2CF4346-6844-1A4C-C91E-8C486056D120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3C6786EE-4FB2-9AF1-A6D4-4AFFE3BF10E9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EACCD8-1C9E-7E9C-4034-3BC82BD25B4B}"/>
              </a:ext>
            </a:extLst>
          </p:cNvPr>
          <p:cNvSpPr txBox="1"/>
          <p:nvPr/>
        </p:nvSpPr>
        <p:spPr>
          <a:xfrm>
            <a:off x="914400" y="2765332"/>
            <a:ext cx="74699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Risk Analysis and Risk Management are systematic processes used to identify, assess, and control threats that could negatively impact an organization, project, or system. </a:t>
            </a:r>
          </a:p>
          <a:p>
            <a:endParaRPr lang="en-US" dirty="0"/>
          </a:p>
          <a:p>
            <a:r>
              <a:rPr lang="en-US" dirty="0"/>
              <a:t>These threats may come from financial uncertainty, legal liabilities, strategic failures, natural disasters, or cybersecurity incidents.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4683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A64685-3A5F-F995-C6A5-547E9D61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FFB68F2-7317-05FD-EA90-F57D6B159102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CBB8FD9-98A0-4D51-FBD5-7638E4937BE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D481451-93D5-E6C0-58A5-6A98581493FE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8D7F084-AFC8-091B-B28A-2D927605E3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Predictable Risk Categories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1E8C5C-BCAA-32DE-FB70-3B93A96D7AC2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64D9DEA-2925-8C21-7057-D795162594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983CC94-37BE-AE02-7792-9C8C388D0C95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6C8E4134-FF6A-7DF1-8A04-AC94D91BE7F1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DDD325-F6F9-5CE9-C47F-4BD9059FB9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20"/>
          <a:stretch>
            <a:fillRect/>
          </a:stretch>
        </p:blipFill>
        <p:spPr>
          <a:xfrm>
            <a:off x="108822" y="2281118"/>
            <a:ext cx="8904444" cy="401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642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7B466E-8EFD-921A-4512-6CFE2E21E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A7E0092-08DF-0085-48E1-357D5D241219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833D9E2-2221-D0B3-B97E-6DB0E00DBC9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090EA55-8D50-BFAC-7014-1A20D4F11225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3CFE7E-5AE1-97FA-0ECC-2053E7CFF4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Steps for Risk Management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A5A671-D64E-4197-0018-424349DE4562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7FD5088-D02D-1FBA-C677-93965AEBC5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40D0F6-6094-742E-8952-8020D967CBE1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5A18DA62-29F4-E394-A1BD-6DF3C5B8DCB5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185025-21F7-5CE6-74C6-C516AA999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352712"/>
            <a:ext cx="8908473" cy="382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6729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6D1471-7C04-52FD-39B5-E307598F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B8418B4-C354-74E7-1D92-08FC0A87B43C}"/>
              </a:ext>
            </a:extLst>
          </p:cNvPr>
          <p:cNvGrpSpPr/>
          <p:nvPr/>
        </p:nvGrpSpPr>
        <p:grpSpPr>
          <a:xfrm>
            <a:off x="0" y="158562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251C36F-FE42-2F15-20D1-1CBFF1A49AB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70E1AA9-7D2F-0BC7-F371-168EC7C1F881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49C1B39-D53A-241C-7B86-7630007EBF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709457"/>
            <a:ext cx="7441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RMMM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DE0843-FA4C-D2A5-DD2C-6A88B972A796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85C4F2F-E7DE-1B33-6707-4B0E8AF6D1F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30CFEAC-9D6B-F6FE-8FA5-87B320B79780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E8565E57-A84C-320A-0E12-44A669334221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40521F-43D0-638C-B87B-59822958845E}"/>
              </a:ext>
            </a:extLst>
          </p:cNvPr>
          <p:cNvSpPr txBox="1"/>
          <p:nvPr/>
        </p:nvSpPr>
        <p:spPr>
          <a:xfrm>
            <a:off x="685799" y="2765332"/>
            <a:ext cx="8375073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RMMM</a:t>
            </a:r>
            <a:r>
              <a:rPr lang="en-US" sz="2000" dirty="0"/>
              <a:t> - Mitigation, Monitoring, and Management</a:t>
            </a:r>
          </a:p>
          <a:p>
            <a:pPr>
              <a:buNone/>
            </a:pPr>
            <a:r>
              <a:rPr lang="en-US" sz="2000" dirty="0"/>
              <a:t>An effective strategy for dealing with risk must consider three issues</a:t>
            </a:r>
          </a:p>
          <a:p>
            <a:pPr>
              <a:buNone/>
            </a:pPr>
            <a:endParaRPr lang="en-US" sz="2000" dirty="0"/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Risk mitigation </a:t>
            </a:r>
            <a:r>
              <a:rPr lang="en-US" sz="2000" dirty="0"/>
              <a:t>(i.e., avoidance, try to stop the risk or reduce its effect)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Risk monitoring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Risk management </a:t>
            </a:r>
            <a:r>
              <a:rPr lang="en-US" sz="2000" dirty="0"/>
              <a:t>(Handle the risk if it actually happens)</a:t>
            </a:r>
          </a:p>
        </p:txBody>
      </p:sp>
    </p:spTree>
    <p:extLst>
      <p:ext uri="{BB962C8B-B14F-4D97-AF65-F5344CB8AC3E}">
        <p14:creationId xmlns:p14="http://schemas.microsoft.com/office/powerpoint/2010/main" val="1313690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51C6E6-9478-95BB-DDE4-67DD56801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82EFAB9-A1AC-5D19-EE7A-A41FFBCE5720}"/>
              </a:ext>
            </a:extLst>
          </p:cNvPr>
          <p:cNvGrpSpPr/>
          <p:nvPr/>
        </p:nvGrpSpPr>
        <p:grpSpPr>
          <a:xfrm>
            <a:off x="0" y="158562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F810324-541B-224F-DED5-D3B2609A45F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A0C8B80-3F33-C70B-F71B-532773D97170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F4A7D7B-38B4-CC88-07B2-1909FAA48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709457"/>
            <a:ext cx="7441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RMMM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8BE4EE-6FC1-2641-BC01-7370FCAC767F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27F1B78-36F3-3074-529A-CBDFFD933B4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B7AC20-2DED-171E-01A4-EF5EE307D18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37090996-8641-60E8-65C2-1FF8395A6911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F93B9-1AE2-1D27-D805-D6EDC36A3F14}"/>
              </a:ext>
            </a:extLst>
          </p:cNvPr>
          <p:cNvSpPr txBox="1"/>
          <p:nvPr/>
        </p:nvSpPr>
        <p:spPr>
          <a:xfrm>
            <a:off x="373507" y="2595319"/>
            <a:ext cx="837507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Risk Mitigation</a:t>
            </a:r>
          </a:p>
          <a:p>
            <a:r>
              <a:rPr lang="en-US" sz="2000" dirty="0"/>
              <a:t>Actions taken </a:t>
            </a:r>
            <a:r>
              <a:rPr lang="en-US" sz="2000" b="1" dirty="0"/>
              <a:t>in advance</a:t>
            </a:r>
            <a:r>
              <a:rPr lang="en-US" sz="2000" dirty="0"/>
              <a:t> to reduce the probability or impact of a risk.</a:t>
            </a:r>
          </a:p>
          <a:p>
            <a:r>
              <a:rPr lang="en-US" sz="2000" b="1" dirty="0"/>
              <a:t>Goal</a:t>
            </a:r>
            <a:r>
              <a:rPr lang="en-US" sz="2000" dirty="0"/>
              <a:t>: </a:t>
            </a:r>
            <a:r>
              <a:rPr lang="en-US" sz="2000" i="1" dirty="0"/>
              <a:t>Prevent the risk or reduce its damage</a:t>
            </a:r>
          </a:p>
          <a:p>
            <a:endParaRPr lang="en-US" sz="2000" i="1" dirty="0"/>
          </a:p>
          <a:p>
            <a:r>
              <a:rPr lang="en-US" sz="2000" b="1" dirty="0"/>
              <a:t>Risk Monitoring</a:t>
            </a:r>
          </a:p>
          <a:p>
            <a:r>
              <a:rPr lang="en-US" sz="2000" dirty="0"/>
              <a:t>Continuous tracking of identified risks to detect early warning signs.</a:t>
            </a:r>
          </a:p>
          <a:p>
            <a:r>
              <a:rPr lang="en-US" sz="2000" b="1" dirty="0"/>
              <a:t>Goal: </a:t>
            </a:r>
            <a:r>
              <a:rPr lang="en-US" sz="2000" i="1" dirty="0"/>
              <a:t>Know when a risk is about to happen</a:t>
            </a:r>
          </a:p>
          <a:p>
            <a:endParaRPr lang="en-US" sz="2000" i="1" dirty="0"/>
          </a:p>
          <a:p>
            <a:r>
              <a:rPr lang="en-US" sz="2000" b="1" dirty="0"/>
              <a:t>Risk Management</a:t>
            </a:r>
          </a:p>
          <a:p>
            <a:r>
              <a:rPr lang="en-US" sz="2000" dirty="0"/>
              <a:t>Actions taken </a:t>
            </a:r>
            <a:r>
              <a:rPr lang="en-US" sz="2000" b="1" dirty="0"/>
              <a:t>when a risk occurs</a:t>
            </a:r>
            <a:r>
              <a:rPr lang="en-US" sz="2000" dirty="0"/>
              <a:t> (contingency plans).</a:t>
            </a:r>
          </a:p>
          <a:p>
            <a:r>
              <a:rPr lang="en-US" sz="2000" b="1" dirty="0"/>
              <a:t>Goal</a:t>
            </a:r>
            <a:r>
              <a:rPr lang="en-US" sz="2000" dirty="0"/>
              <a:t>: </a:t>
            </a:r>
            <a:r>
              <a:rPr lang="en-US" sz="2000" i="1" dirty="0"/>
              <a:t>Control damage and recover quickly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290647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B9BD7F-0917-335E-25FA-AFA5A951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2B86868-71A0-3EE8-F931-615017F685EB}"/>
              </a:ext>
            </a:extLst>
          </p:cNvPr>
          <p:cNvGrpSpPr/>
          <p:nvPr/>
        </p:nvGrpSpPr>
        <p:grpSpPr>
          <a:xfrm>
            <a:off x="0" y="158562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68B57C1-4B86-8E83-B9D9-92593B1953F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620A066-2585-76A0-8C88-92EA0680B933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12F9302-0C94-F069-58FA-FD89DCEFD0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709457"/>
            <a:ext cx="7441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Risk Estimation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95169A-8422-8D72-F0D0-4EBA2674A45C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B94A56C-96A7-FC01-3A05-BAB77B1B05D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97A2DC1-1CE5-A9BB-5304-AB1C75C6E0F7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D679AE61-BF09-3622-40B9-5B01A9B7833C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DFA5B-7957-645A-646E-8F0A4ADAC43C}"/>
              </a:ext>
            </a:extLst>
          </p:cNvPr>
          <p:cNvSpPr txBox="1"/>
          <p:nvPr/>
        </p:nvSpPr>
        <p:spPr>
          <a:xfrm>
            <a:off x="609600" y="2765332"/>
            <a:ext cx="7848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Risk estimation is a part of risk assessment that </a:t>
            </a:r>
            <a:r>
              <a:rPr lang="en-US" b="1" dirty="0"/>
              <a:t>measures the probability and impact</a:t>
            </a:r>
            <a:r>
              <a:rPr lang="en-US" dirty="0"/>
              <a:t> of identified risks to determine their severity. It provides a </a:t>
            </a:r>
            <a:r>
              <a:rPr lang="en-US" b="1" dirty="0"/>
              <a:t>numerical or qualitative value</a:t>
            </a:r>
            <a:r>
              <a:rPr lang="en-US" dirty="0"/>
              <a:t> to express how serious a risk is.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Uses descriptive scales.</a:t>
            </a:r>
          </a:p>
          <a:p>
            <a:r>
              <a:rPr lang="en-US" b="1" dirty="0"/>
              <a:t>Common Scale</a:t>
            </a:r>
          </a:p>
          <a:p>
            <a:r>
              <a:rPr lang="en-US" dirty="0"/>
              <a:t>Likelihood: 1 (Low) to 3 (High)</a:t>
            </a:r>
          </a:p>
          <a:p>
            <a:r>
              <a:rPr lang="en-US" dirty="0"/>
              <a:t>Impact: 1 (Low) to 3 (High)</a:t>
            </a:r>
          </a:p>
          <a:p>
            <a:r>
              <a:rPr lang="en-US" b="1" dirty="0"/>
              <a:t>Risk Score = Likelihood × Impact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7669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A048CC8-027B-2901-C1B4-9FE01C2A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35068C8-EFF4-989D-5548-D7522D39F492}"/>
              </a:ext>
            </a:extLst>
          </p:cNvPr>
          <p:cNvGrpSpPr/>
          <p:nvPr/>
        </p:nvGrpSpPr>
        <p:grpSpPr>
          <a:xfrm>
            <a:off x="0" y="158562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08BFF5-C669-0B04-DEF2-0E25E76E7A4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FD3E63B-28DA-1415-0890-169528658BB2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E1175FE-AB6C-07A2-1223-DC79390756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709457"/>
            <a:ext cx="7441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Risk Estimation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897339-CDC0-F590-FC65-CA2DB678EE09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8C25FF5-86B3-5C75-9ECC-EAE84C81082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B979B1-E305-3DCB-E2EF-F7FFF34C4FF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2CD7588F-679F-36B7-D3FE-5FEDCBD53026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F5A78F-1A8A-E377-1660-77A583833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752101"/>
              </p:ext>
            </p:extLst>
          </p:nvPr>
        </p:nvGraphicFramePr>
        <p:xfrm>
          <a:off x="990600" y="2633883"/>
          <a:ext cx="7396162" cy="1463040"/>
        </p:xfrm>
        <a:graphic>
          <a:graphicData uri="http://schemas.openxmlformats.org/drawingml/2006/table">
            <a:tbl>
              <a:tblPr/>
              <a:tblGrid>
                <a:gridCol w="3698081">
                  <a:extLst>
                    <a:ext uri="{9D8B030D-6E8A-4147-A177-3AD203B41FA5}">
                      <a16:colId xmlns:a16="http://schemas.microsoft.com/office/drawing/2014/main" val="3180852599"/>
                    </a:ext>
                  </a:extLst>
                </a:gridCol>
                <a:gridCol w="3698081">
                  <a:extLst>
                    <a:ext uri="{9D8B030D-6E8A-4147-A177-3AD203B41FA5}">
                      <a16:colId xmlns:a16="http://schemas.microsoft.com/office/drawing/2014/main" val="235054695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Likelihood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5764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Unlikely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187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Possible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303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Likely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89273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CA2662-B5A9-180D-573E-EC9CBDDAA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276892"/>
              </p:ext>
            </p:extLst>
          </p:nvPr>
        </p:nvGraphicFramePr>
        <p:xfrm>
          <a:off x="990600" y="4419277"/>
          <a:ext cx="7396162" cy="1463040"/>
        </p:xfrm>
        <a:graphic>
          <a:graphicData uri="http://schemas.openxmlformats.org/drawingml/2006/table">
            <a:tbl>
              <a:tblPr/>
              <a:tblGrid>
                <a:gridCol w="3698081">
                  <a:extLst>
                    <a:ext uri="{9D8B030D-6E8A-4147-A177-3AD203B41FA5}">
                      <a16:colId xmlns:a16="http://schemas.microsoft.com/office/drawing/2014/main" val="707117673"/>
                    </a:ext>
                  </a:extLst>
                </a:gridCol>
                <a:gridCol w="3698081">
                  <a:extLst>
                    <a:ext uri="{9D8B030D-6E8A-4147-A177-3AD203B41FA5}">
                      <a16:colId xmlns:a16="http://schemas.microsoft.com/office/drawing/2014/main" val="41856401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9254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Minor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63222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8718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Major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5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1448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C356DC-7792-73C2-ED88-33DFF7D4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3C28CBF-B31F-2D42-F055-1A31A8179943}"/>
              </a:ext>
            </a:extLst>
          </p:cNvPr>
          <p:cNvGrpSpPr/>
          <p:nvPr/>
        </p:nvGrpSpPr>
        <p:grpSpPr>
          <a:xfrm>
            <a:off x="0" y="158562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6419A57-A7CD-3410-C646-CF6E51407FE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E29185E-ED88-CED1-1477-4A32B5A68F44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C7E3FE9-C3E2-8780-0D1D-AB8BEDEBA4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709457"/>
            <a:ext cx="7441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Risk Estimation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927278D-0173-09E4-924A-D006FCDE5094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61A4999-52A0-E3A3-15AF-BF589D0E87E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5955D-6221-82F7-D10C-D19576003979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2913ECC5-7070-E68B-A9FF-883E68C45BFA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5D7B9-CB68-D62F-7C33-1E7ED792CACF}"/>
              </a:ext>
            </a:extLst>
          </p:cNvPr>
          <p:cNvSpPr txBox="1"/>
          <p:nvPr/>
        </p:nvSpPr>
        <p:spPr>
          <a:xfrm>
            <a:off x="1143000" y="2828835"/>
            <a:ext cx="6781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(Qualitative)</a:t>
            </a:r>
          </a:p>
          <a:p>
            <a:pPr>
              <a:buNone/>
            </a:pPr>
            <a:r>
              <a:rPr lang="en-US" dirty="0"/>
              <a:t>A data breach risk: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Likelihood =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Impact = 3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Calculate the Risk and say the risk is High or Low</a:t>
            </a:r>
          </a:p>
        </p:txBody>
      </p:sp>
    </p:spTree>
    <p:extLst>
      <p:ext uri="{BB962C8B-B14F-4D97-AF65-F5344CB8AC3E}">
        <p14:creationId xmlns:p14="http://schemas.microsoft.com/office/powerpoint/2010/main" val="16068043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61112"/>
            <a:ext cx="9144000" cy="497205"/>
          </a:xfrm>
          <a:custGeom>
            <a:avLst/>
            <a:gdLst/>
            <a:ahLst/>
            <a:cxnLst/>
            <a:rect l="l" t="t" r="r" b="b"/>
            <a:pathLst>
              <a:path w="9144000" h="497204">
                <a:moveTo>
                  <a:pt x="0" y="496886"/>
                </a:moveTo>
                <a:lnTo>
                  <a:pt x="9143999" y="496886"/>
                </a:lnTo>
                <a:lnTo>
                  <a:pt x="9143999" y="0"/>
                </a:lnTo>
                <a:lnTo>
                  <a:pt x="0" y="0"/>
                </a:lnTo>
                <a:lnTo>
                  <a:pt x="0" y="49688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61950"/>
            <a:ext cx="9144000" cy="5999480"/>
            <a:chOff x="0" y="361950"/>
            <a:chExt cx="9144000" cy="5999480"/>
          </a:xfrm>
        </p:grpSpPr>
        <p:sp>
          <p:nvSpPr>
            <p:cNvPr id="4" name="object 4"/>
            <p:cNvSpPr/>
            <p:nvPr/>
          </p:nvSpPr>
          <p:spPr>
            <a:xfrm>
              <a:off x="0" y="3214687"/>
              <a:ext cx="9144000" cy="2789555"/>
            </a:xfrm>
            <a:custGeom>
              <a:avLst/>
              <a:gdLst/>
              <a:ahLst/>
              <a:cxnLst/>
              <a:rect l="l" t="t" r="r" b="b"/>
              <a:pathLst>
                <a:path w="9144000" h="2789554">
                  <a:moveTo>
                    <a:pt x="0" y="2789236"/>
                  </a:moveTo>
                  <a:lnTo>
                    <a:pt x="9143999" y="2789236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27892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361950"/>
              <a:ext cx="6705599" cy="28574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3638" y="4000500"/>
              <a:ext cx="4276725" cy="571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8475" y="4946650"/>
              <a:ext cx="3067049" cy="2603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6003925"/>
              <a:ext cx="9144000" cy="357505"/>
            </a:xfrm>
            <a:custGeom>
              <a:avLst/>
              <a:gdLst/>
              <a:ahLst/>
              <a:cxnLst/>
              <a:rect l="l" t="t" r="r" b="b"/>
              <a:pathLst>
                <a:path w="9144000" h="357504">
                  <a:moveTo>
                    <a:pt x="9143999" y="357187"/>
                  </a:moveTo>
                  <a:lnTo>
                    <a:pt x="0" y="357187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357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41681" y="6013831"/>
            <a:ext cx="2458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F497D"/>
                </a:solidFill>
                <a:latin typeface="Calibri"/>
                <a:cs typeface="Calibri"/>
                <a:hlinkClick r:id="rId5"/>
              </a:rPr>
              <a:t>www.paruluniversity.ac.in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539</TotalTime>
  <Words>2412</Words>
  <Application>Microsoft Office PowerPoint</Application>
  <PresentationFormat>On-screen Show (4:3)</PresentationFormat>
  <Paragraphs>558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Cambria Math</vt:lpstr>
      <vt:lpstr>Times New Roman</vt:lpstr>
      <vt:lpstr>Office Theme</vt:lpstr>
      <vt:lpstr>PowerPoint Presentation</vt:lpstr>
      <vt:lpstr>Contents- Software Testing</vt:lpstr>
      <vt:lpstr>Management Spectrum</vt:lpstr>
      <vt:lpstr>Management Spectrum</vt:lpstr>
      <vt:lpstr>Management Spectrum</vt:lpstr>
      <vt:lpstr>W5HH Principle</vt:lpstr>
      <vt:lpstr>W5HH Principle</vt:lpstr>
      <vt:lpstr>W5HH Principle</vt:lpstr>
      <vt:lpstr>W5HH Principle</vt:lpstr>
      <vt:lpstr>W5HH Principle</vt:lpstr>
      <vt:lpstr>Project Scope and Feasibility</vt:lpstr>
      <vt:lpstr>Project Scope and Feasibility</vt:lpstr>
      <vt:lpstr>Feasibility Analysis</vt:lpstr>
      <vt:lpstr>Feasibility Analysis</vt:lpstr>
      <vt:lpstr>Effort Estimation</vt:lpstr>
      <vt:lpstr>Popular Estimation Techniques</vt:lpstr>
      <vt:lpstr>Popular Estimation Techniques</vt:lpstr>
      <vt:lpstr>COCOMO Model (Constructive Cost Model)</vt:lpstr>
      <vt:lpstr>COCOMO Model (Constructive Cost Model)</vt:lpstr>
      <vt:lpstr>Basic COCOMO Model Formula</vt:lpstr>
      <vt:lpstr>Software Development Project</vt:lpstr>
      <vt:lpstr>Software Development Project </vt:lpstr>
      <vt:lpstr>Basic COCOMO Model Formula</vt:lpstr>
      <vt:lpstr>Real-Time Example – Basic COCOMO</vt:lpstr>
      <vt:lpstr>Real-Time Example – Basic COCOMO</vt:lpstr>
      <vt:lpstr>Intermediate COCOMO</vt:lpstr>
      <vt:lpstr>Detailed / Complete COCOMO Model</vt:lpstr>
      <vt:lpstr>Detailed / Complete COCOMO Model</vt:lpstr>
      <vt:lpstr>FPA – Function Point Analysis</vt:lpstr>
      <vt:lpstr>FPA – Function Point Analysis</vt:lpstr>
      <vt:lpstr>FPA – Function Point Analysis</vt:lpstr>
      <vt:lpstr>FPA Calculation Steps</vt:lpstr>
      <vt:lpstr>FPA Calculation Steps</vt:lpstr>
      <vt:lpstr>Steps to Calculate– Function Point</vt:lpstr>
      <vt:lpstr>Real-Time Example – Function Point Calculation</vt:lpstr>
      <vt:lpstr>Real-Time Example – Function Point Calculation</vt:lpstr>
      <vt:lpstr>Real-Time Example – Function Point Calculation</vt:lpstr>
      <vt:lpstr>Real-Time Example – Function Point Calculation</vt:lpstr>
      <vt:lpstr>Real-Time Example – Function Point Calculation</vt:lpstr>
      <vt:lpstr>Project Scheduling &amp; Tracking</vt:lpstr>
      <vt:lpstr>Scheduling methods</vt:lpstr>
      <vt:lpstr>Effort Distribution</vt:lpstr>
      <vt:lpstr>Risk analysis &amp; Management</vt:lpstr>
      <vt:lpstr>Predictable Risk Categories</vt:lpstr>
      <vt:lpstr>Steps for Risk Management</vt:lpstr>
      <vt:lpstr>RMMM</vt:lpstr>
      <vt:lpstr>RMMM</vt:lpstr>
      <vt:lpstr>Risk Estimation</vt:lpstr>
      <vt:lpstr>Risk Estimation</vt:lpstr>
      <vt:lpstr>Risk Estimation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Kedar</dc:creator>
  <cp:lastModifiedBy>kedar pinniboyina</cp:lastModifiedBy>
  <cp:revision>30</cp:revision>
  <dcterms:created xsi:type="dcterms:W3CDTF">2025-11-20T17:08:26Z</dcterms:created>
  <dcterms:modified xsi:type="dcterms:W3CDTF">2025-12-17T16:46:23Z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2025-11-20T00:00:00Z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2025-11-20T00:00:00Z</vt:filetime>
  </property>
</Properties>
</file>