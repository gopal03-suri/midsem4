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gXGejD7rXvZrZ59n79Q761sUlioA=="/>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2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 name="Google Shape;46;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2"/>
        <p:cNvGrpSpPr/>
        <p:nvPr/>
      </p:nvGrpSpPr>
      <p:grpSpPr>
        <a:xfrm>
          <a:off x="0" y="0"/>
          <a:ext cx="0" cy="0"/>
          <a:chOff x="0" y="0"/>
          <a:chExt cx="0" cy="0"/>
        </a:xfrm>
      </p:grpSpPr>
      <p:sp>
        <p:nvSpPr>
          <p:cNvPr id="13" name="Google Shape;13;p42"/>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864">
              <a:solidFill>
                <a:schemeClr val="dk1"/>
              </a:solidFill>
              <a:latin typeface="Calibri"/>
              <a:ea typeface="Calibri"/>
              <a:cs typeface="Calibri"/>
              <a:sym typeface="Calibri"/>
            </a:endParaRPr>
          </a:p>
        </p:txBody>
      </p:sp>
      <p:sp>
        <p:nvSpPr>
          <p:cNvPr id="14" name="Google Shape;14;p42"/>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50" b="1">
                <a:solidFill>
                  <a:srgbClr val="FFFFFF"/>
                </a:solidFill>
                <a:latin typeface="Calibri"/>
                <a:ea typeface="Calibri"/>
                <a:cs typeface="Calibri"/>
                <a:sym typeface="Calibri"/>
              </a:rPr>
              <a:t>Introduction &amp;</a:t>
            </a:r>
            <a:r>
              <a:rPr lang="en-US" sz="4050">
                <a:solidFill>
                  <a:schemeClr val="dk1"/>
                </a:solidFill>
                <a:latin typeface="Calibri"/>
                <a:ea typeface="Calibri"/>
                <a:cs typeface="Calibri"/>
                <a:sym typeface="Calibri"/>
              </a:rPr>
              <a:t> </a:t>
            </a:r>
            <a:r>
              <a:rPr lang="en-US" sz="4050" b="1">
                <a:solidFill>
                  <a:srgbClr val="FFFFFF"/>
                </a:solidFill>
                <a:latin typeface="Calibri"/>
                <a:ea typeface="Calibri"/>
                <a:cs typeface="Calibri"/>
                <a:sym typeface="Calibri"/>
              </a:rPr>
              <a:t>Programming with </a:t>
            </a:r>
            <a:br>
              <a:rPr lang="en-US" sz="4050" b="1">
                <a:solidFill>
                  <a:srgbClr val="FFFFFF"/>
                </a:solidFill>
                <a:latin typeface="Calibri"/>
                <a:ea typeface="Calibri"/>
                <a:cs typeface="Calibri"/>
                <a:sym typeface="Calibri"/>
              </a:rPr>
            </a:br>
            <a:r>
              <a:rPr lang="en-US" sz="4050" b="1">
                <a:solidFill>
                  <a:srgbClr val="FFFFFF"/>
                </a:solidFill>
                <a:latin typeface="Calibri"/>
                <a:ea typeface="Calibri"/>
                <a:cs typeface="Calibri"/>
                <a:sym typeface="Calibri"/>
              </a:rPr>
              <a:t>ESP8266</a:t>
            </a:r>
            <a:endParaRPr sz="4050">
              <a:solidFill>
                <a:schemeClr val="dk1"/>
              </a:solidFill>
              <a:latin typeface="Calibri"/>
              <a:ea typeface="Calibri"/>
              <a:cs typeface="Calibri"/>
              <a:sym typeface="Calibri"/>
            </a:endParaRPr>
          </a:p>
        </p:txBody>
      </p:sp>
      <p:grpSp>
        <p:nvGrpSpPr>
          <p:cNvPr id="15" name="Google Shape;15;p42"/>
          <p:cNvGrpSpPr/>
          <p:nvPr/>
        </p:nvGrpSpPr>
        <p:grpSpPr>
          <a:xfrm>
            <a:off x="228065" y="208814"/>
            <a:ext cx="8832808" cy="695162"/>
            <a:chOff x="228065" y="208814"/>
            <a:chExt cx="8832808" cy="695162"/>
          </a:xfrm>
        </p:grpSpPr>
        <p:pic>
          <p:nvPicPr>
            <p:cNvPr id="16" name="Google Shape;16;p42"/>
            <p:cNvPicPr preferRelativeResize="0"/>
            <p:nvPr/>
          </p:nvPicPr>
          <p:blipFill rotWithShape="1">
            <a:blip r:embed="rId2">
              <a:alphaModFix/>
            </a:blip>
            <a:srcRect r="30913"/>
            <a:stretch/>
          </p:blipFill>
          <p:spPr>
            <a:xfrm>
              <a:off x="228065" y="208814"/>
              <a:ext cx="5829835" cy="695162"/>
            </a:xfrm>
            <a:prstGeom prst="rect">
              <a:avLst/>
            </a:prstGeom>
            <a:noFill/>
            <a:ln>
              <a:noFill/>
            </a:ln>
          </p:spPr>
        </p:pic>
        <p:sp>
          <p:nvSpPr>
            <p:cNvPr id="17" name="Google Shape;17;p42"/>
            <p:cNvSpPr txBox="1"/>
            <p:nvPr/>
          </p:nvSpPr>
          <p:spPr>
            <a:xfrm>
              <a:off x="6691746" y="264007"/>
              <a:ext cx="236912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F487C"/>
                  </a:solidFill>
                  <a:latin typeface="Calibri"/>
                  <a:ea typeface="Calibri"/>
                  <a:cs typeface="Calibri"/>
                  <a:sym typeface="Calibri"/>
                </a:rPr>
                <a:t>CSE- AI &amp; ML</a:t>
              </a:r>
              <a:endParaRPr sz="3200" b="1">
                <a:solidFill>
                  <a:srgbClr val="1F487C"/>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ex Layout">
  <p:cSld name="Index Layout">
    <p:spTree>
      <p:nvGrpSpPr>
        <p:cNvPr id="1" name="Shape 18"/>
        <p:cNvGrpSpPr/>
        <p:nvPr/>
      </p:nvGrpSpPr>
      <p:grpSpPr>
        <a:xfrm>
          <a:off x="0" y="0"/>
          <a:ext cx="0" cy="0"/>
          <a:chOff x="0" y="0"/>
          <a:chExt cx="0" cy="0"/>
        </a:xfrm>
      </p:grpSpPr>
      <p:grpSp>
        <p:nvGrpSpPr>
          <p:cNvPr id="19" name="Google Shape;19;p43"/>
          <p:cNvGrpSpPr/>
          <p:nvPr/>
        </p:nvGrpSpPr>
        <p:grpSpPr>
          <a:xfrm>
            <a:off x="445191" y="0"/>
            <a:ext cx="8698811" cy="6857999"/>
            <a:chOff x="-4801433" y="-1782234"/>
            <a:chExt cx="18084927" cy="14257864"/>
          </a:xfrm>
        </p:grpSpPr>
        <p:sp>
          <p:nvSpPr>
            <p:cNvPr id="20" name="Google Shape;20;p43"/>
            <p:cNvSpPr/>
            <p:nvPr/>
          </p:nvSpPr>
          <p:spPr>
            <a:xfrm>
              <a:off x="-4801433" y="1790698"/>
              <a:ext cx="12600815" cy="983098"/>
            </a:xfrm>
            <a:custGeom>
              <a:avLst/>
              <a:gdLst/>
              <a:ahLst/>
              <a:cxnLst/>
              <a:rect l="l" t="t" r="r" b="b"/>
              <a:pathLst>
                <a:path w="4610100" h="660400" extrusionOk="0">
                  <a:moveTo>
                    <a:pt x="0" y="660400"/>
                  </a:moveTo>
                  <a:lnTo>
                    <a:pt x="4610100" y="660400"/>
                  </a:lnTo>
                  <a:lnTo>
                    <a:pt x="4610100" y="0"/>
                  </a:lnTo>
                  <a:lnTo>
                    <a:pt x="0" y="0"/>
                  </a:lnTo>
                  <a:lnTo>
                    <a:pt x="0" y="660400"/>
                  </a:lnTo>
                  <a:close/>
                </a:path>
              </a:pathLst>
            </a:custGeom>
            <a:solidFill>
              <a:srgbClr val="64646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864">
                <a:solidFill>
                  <a:schemeClr val="dk1"/>
                </a:solidFill>
                <a:latin typeface="Calibri"/>
                <a:ea typeface="Calibri"/>
                <a:cs typeface="Calibri"/>
                <a:sym typeface="Calibri"/>
              </a:endParaRPr>
            </a:p>
          </p:txBody>
        </p:sp>
        <p:sp>
          <p:nvSpPr>
            <p:cNvPr id="21" name="Google Shape;21;p43"/>
            <p:cNvSpPr/>
            <p:nvPr/>
          </p:nvSpPr>
          <p:spPr>
            <a:xfrm>
              <a:off x="8339276" y="-1782234"/>
              <a:ext cx="4944218" cy="14257864"/>
            </a:xfrm>
            <a:custGeom>
              <a:avLst/>
              <a:gdLst/>
              <a:ahLst/>
              <a:cxnLst/>
              <a:rect l="l" t="t" r="r" b="b"/>
              <a:pathLst>
                <a:path w="2387600" h="10693400" extrusionOk="0">
                  <a:moveTo>
                    <a:pt x="0" y="0"/>
                  </a:moveTo>
                  <a:lnTo>
                    <a:pt x="2387600" y="0"/>
                  </a:lnTo>
                  <a:lnTo>
                    <a:pt x="2387600" y="10693400"/>
                  </a:lnTo>
                  <a:lnTo>
                    <a:pt x="0" y="10693400"/>
                  </a:lnTo>
                  <a:lnTo>
                    <a:pt x="0" y="0"/>
                  </a:lnTo>
                  <a:close/>
                </a:path>
              </a:pathLst>
            </a:custGeom>
            <a:solidFill>
              <a:srgbClr val="1F487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864">
                <a:solidFill>
                  <a:schemeClr val="dk1"/>
                </a:solidFill>
                <a:latin typeface="Calibri"/>
                <a:ea typeface="Calibri"/>
                <a:cs typeface="Calibri"/>
                <a:sym typeface="Calibri"/>
              </a:endParaRPr>
            </a:p>
          </p:txBody>
        </p:sp>
      </p:grpSp>
      <p:pic>
        <p:nvPicPr>
          <p:cNvPr id="22" name="Google Shape;22;p43"/>
          <p:cNvPicPr preferRelativeResize="0"/>
          <p:nvPr/>
        </p:nvPicPr>
        <p:blipFill rotWithShape="1">
          <a:blip r:embed="rId2">
            <a:alphaModFix/>
          </a:blip>
          <a:srcRect/>
          <a:stretch/>
        </p:blipFill>
        <p:spPr>
          <a:xfrm>
            <a:off x="352755" y="253736"/>
            <a:ext cx="4597617" cy="691804"/>
          </a:xfrm>
          <a:prstGeom prst="rect">
            <a:avLst/>
          </a:prstGeom>
          <a:noFill/>
          <a:ln>
            <a:noFill/>
          </a:ln>
        </p:spPr>
      </p:pic>
      <p:sp>
        <p:nvSpPr>
          <p:cNvPr id="23" name="Google Shape;23;p43"/>
          <p:cNvSpPr txBox="1"/>
          <p:nvPr/>
        </p:nvSpPr>
        <p:spPr>
          <a:xfrm>
            <a:off x="6765844" y="313165"/>
            <a:ext cx="248206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lt1"/>
                </a:solidFill>
                <a:latin typeface="Calibri"/>
                <a:ea typeface="Calibri"/>
                <a:cs typeface="Calibri"/>
                <a:sym typeface="Calibri"/>
              </a:rPr>
              <a:t>CSE-AI &amp; ML</a:t>
            </a:r>
            <a:endParaRPr sz="3200">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4"/>
        <p:cNvGrpSpPr/>
        <p:nvPr/>
      </p:nvGrpSpPr>
      <p:grpSpPr>
        <a:xfrm>
          <a:off x="0" y="0"/>
          <a:ext cx="0" cy="0"/>
          <a:chOff x="0" y="0"/>
          <a:chExt cx="0" cy="0"/>
        </a:xfrm>
      </p:grpSpPr>
      <p:sp>
        <p:nvSpPr>
          <p:cNvPr id="25" name="Google Shape;25;p44"/>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864">
              <a:solidFill>
                <a:schemeClr val="dk1"/>
              </a:solidFill>
              <a:latin typeface="Calibri"/>
              <a:ea typeface="Calibri"/>
              <a:cs typeface="Calibri"/>
              <a:sym typeface="Calibri"/>
            </a:endParaRPr>
          </a:p>
        </p:txBody>
      </p:sp>
      <p:grpSp>
        <p:nvGrpSpPr>
          <p:cNvPr id="26" name="Google Shape;26;p44"/>
          <p:cNvGrpSpPr/>
          <p:nvPr/>
        </p:nvGrpSpPr>
        <p:grpSpPr>
          <a:xfrm>
            <a:off x="228065" y="208814"/>
            <a:ext cx="8832808" cy="695162"/>
            <a:chOff x="228065" y="208814"/>
            <a:chExt cx="8832808" cy="695162"/>
          </a:xfrm>
        </p:grpSpPr>
        <p:pic>
          <p:nvPicPr>
            <p:cNvPr id="27" name="Google Shape;27;p44"/>
            <p:cNvPicPr preferRelativeResize="0"/>
            <p:nvPr/>
          </p:nvPicPr>
          <p:blipFill rotWithShape="1">
            <a:blip r:embed="rId2">
              <a:alphaModFix/>
            </a:blip>
            <a:srcRect r="30913"/>
            <a:stretch/>
          </p:blipFill>
          <p:spPr>
            <a:xfrm>
              <a:off x="228065" y="208814"/>
              <a:ext cx="5829835" cy="695162"/>
            </a:xfrm>
            <a:prstGeom prst="rect">
              <a:avLst/>
            </a:prstGeom>
            <a:noFill/>
            <a:ln>
              <a:noFill/>
            </a:ln>
          </p:spPr>
        </p:pic>
        <p:sp>
          <p:nvSpPr>
            <p:cNvPr id="28" name="Google Shape;28;p44"/>
            <p:cNvSpPr txBox="1"/>
            <p:nvPr/>
          </p:nvSpPr>
          <p:spPr>
            <a:xfrm>
              <a:off x="6691746" y="264007"/>
              <a:ext cx="236912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F487C"/>
                  </a:solidFill>
                  <a:latin typeface="Calibri"/>
                  <a:ea typeface="Calibri"/>
                  <a:cs typeface="Calibri"/>
                  <a:sym typeface="Calibri"/>
                </a:rPr>
                <a:t>CSE- AI &amp; ML</a:t>
              </a:r>
              <a:endParaRPr sz="3200" b="1">
                <a:solidFill>
                  <a:srgbClr val="1F487C"/>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31"/>
        <p:cNvGrpSpPr/>
        <p:nvPr/>
      </p:nvGrpSpPr>
      <p:grpSpPr>
        <a:xfrm>
          <a:off x="0" y="0"/>
          <a:ext cx="0" cy="0"/>
          <a:chOff x="0" y="0"/>
          <a:chExt cx="0" cy="0"/>
        </a:xfrm>
      </p:grpSpPr>
      <p:sp>
        <p:nvSpPr>
          <p:cNvPr id="32" name="Google Shape;32;p46"/>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864">
              <a:solidFill>
                <a:schemeClr val="dk1"/>
              </a:solidFill>
              <a:latin typeface="Calibri"/>
              <a:ea typeface="Calibri"/>
              <a:cs typeface="Calibri"/>
              <a:sym typeface="Calibri"/>
            </a:endParaRPr>
          </a:p>
        </p:txBody>
      </p:sp>
      <p:sp>
        <p:nvSpPr>
          <p:cNvPr id="33" name="Google Shape;33;p46"/>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54" b="1">
                <a:solidFill>
                  <a:schemeClr val="dk1"/>
                </a:solidFill>
                <a:latin typeface="Calibri"/>
                <a:ea typeface="Calibri"/>
                <a:cs typeface="Calibri"/>
                <a:sym typeface="Calibri"/>
              </a:rPr>
              <a:t> </a:t>
            </a:r>
            <a:r>
              <a:rPr lang="en-US" sz="864">
                <a:solidFill>
                  <a:schemeClr val="dk1"/>
                </a:solidFill>
                <a:latin typeface="Calibri"/>
                <a:ea typeface="Calibri"/>
                <a:cs typeface="Calibri"/>
                <a:sym typeface="Calibri"/>
              </a:rPr>
              <a:t/>
            </a:r>
            <a:br>
              <a:rPr lang="en-US" sz="864">
                <a:solidFill>
                  <a:schemeClr val="dk1"/>
                </a:solidFill>
                <a:latin typeface="Calibri"/>
                <a:ea typeface="Calibri"/>
                <a:cs typeface="Calibri"/>
                <a:sym typeface="Calibri"/>
              </a:rPr>
            </a:br>
            <a:endParaRPr sz="864">
              <a:solidFill>
                <a:schemeClr val="dk1"/>
              </a:solidFill>
              <a:latin typeface="Calibri"/>
              <a:ea typeface="Calibri"/>
              <a:cs typeface="Calibri"/>
              <a:sym typeface="Calibri"/>
            </a:endParaRPr>
          </a:p>
        </p:txBody>
      </p:sp>
      <p:grpSp>
        <p:nvGrpSpPr>
          <p:cNvPr id="34" name="Google Shape;34;p46"/>
          <p:cNvGrpSpPr/>
          <p:nvPr/>
        </p:nvGrpSpPr>
        <p:grpSpPr>
          <a:xfrm>
            <a:off x="228065" y="208814"/>
            <a:ext cx="8832808" cy="695162"/>
            <a:chOff x="228065" y="208814"/>
            <a:chExt cx="8832808" cy="695162"/>
          </a:xfrm>
        </p:grpSpPr>
        <p:pic>
          <p:nvPicPr>
            <p:cNvPr id="35" name="Google Shape;35;p46"/>
            <p:cNvPicPr preferRelativeResize="0"/>
            <p:nvPr/>
          </p:nvPicPr>
          <p:blipFill rotWithShape="1">
            <a:blip r:embed="rId2">
              <a:alphaModFix/>
            </a:blip>
            <a:srcRect r="30913"/>
            <a:stretch/>
          </p:blipFill>
          <p:spPr>
            <a:xfrm>
              <a:off x="228065" y="208814"/>
              <a:ext cx="5829835" cy="695162"/>
            </a:xfrm>
            <a:prstGeom prst="rect">
              <a:avLst/>
            </a:prstGeom>
            <a:noFill/>
            <a:ln>
              <a:noFill/>
            </a:ln>
          </p:spPr>
        </p:pic>
        <p:sp>
          <p:nvSpPr>
            <p:cNvPr id="36" name="Google Shape;36;p46"/>
            <p:cNvSpPr txBox="1"/>
            <p:nvPr/>
          </p:nvSpPr>
          <p:spPr>
            <a:xfrm>
              <a:off x="6691746" y="264007"/>
              <a:ext cx="236912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F487C"/>
                  </a:solidFill>
                  <a:latin typeface="Calibri"/>
                  <a:ea typeface="Calibri"/>
                  <a:cs typeface="Calibri"/>
                  <a:sym typeface="Calibri"/>
                </a:rPr>
                <a:t>CSE- AI &amp; ML</a:t>
              </a:r>
              <a:endParaRPr sz="3200" b="1">
                <a:solidFill>
                  <a:srgbClr val="1F487C"/>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1"/>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1"/>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software-engineering/scrum-software-development/"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u-viXjI_z84"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hyperlink" Target="https://en.wikipedia.org/wiki/Reliability_engineering" TargetMode="External"/><Relationship Id="rId4" Type="http://schemas.openxmlformats.org/officeDocument/2006/relationships/hyperlink" Target="https://www.youtube.com/watch?v=uotYuMg4sgc"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sciencedirect.com/topics/engineering/reliability-engineering"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www.google.com/search?q=Prevention+Through+Design&amp;sca_esv=ea0bf85f729d5e5e&amp;ei=gf-aadyZIrW5seMPnoK-gA0&amp;biw=1360&amp;bih=657&amp;ved=2ahUKEwiV4MimmO2SAxVaSmwGHXrrKToQgK4QegYIAQgAEAk&amp;uact=5&amp;oq=Safety+Engineering&amp;gs_lp=Egxnd3Mtd2l6LXNlcnAiElNhZmV0eSBFbmdpbmVlcmluZzIFEAAYgAQyBRAAGIAEMgUQABiABDIFEAAYgAQyBRAAGIAEMgUQABiABDIFEAAYgAQyBRAAGIAEMgUQABiABDIFEAAYgARIgXFQAFgAcAB4AZABAJgBrgKgAa4CqgEDMy0xuAEDyAEA-AEC-AEBmAIBoAK-ApgDAOIDBRIBMSBAkgcDMy0xoAfWA7IHAzMtMbgHvgLCBwMzLTHIBwqACAA&amp;sclient=gws-wiz-serp"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www.google.com/search?q=Risk+Management&amp;sca_esv=ea0bf85f729d5e5e&amp;ei=gf-aadyZIrW5seMPnoK-gA0&amp;biw=1360&amp;bih=657&amp;ved=2ahUKEwiV4MimmO2SAxVaSmwGHXrrKToQgK4QegYIAQgAEAs&amp;uact=5&amp;oq=Safety+Engineering&amp;gs_lp=Egxnd3Mtd2l6LXNlcnAiElNhZmV0eSBFbmdpbmVlcmluZzIFEAAYgAQyBRAAGIAEMgUQABiABDIFEAAYgAQyBRAAGIAEMgUQABiABDIFEAAYgAQyBRAAGIAEMgUQABiABDIFEAAYgARIgXFQAFgAcAB4AZABAJgBrgKgAa4CqgEDMy0xuAEDyAEA-AEC-AEBmAIBoAK-ApgDAOIDBRIBMSBAkgcDMy0xoAfWA7IHAzMtMbgHvgLCBwMzLTHIBwqACAA&amp;sclient=gws-wiz-serp"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www.google.com/search?q=Root+Cause+Analysis&amp;sca_esv=ea0bf85f729d5e5e&amp;ei=gf-aadyZIrW5seMPnoK-gA0&amp;biw=1360&amp;bih=657&amp;ved=2ahUKEwiV4MimmO2SAxVaSmwGHXrrKToQgK4QegYIAQgCEAU&amp;uact=5&amp;oq=Safety+Engineering&amp;gs_lp=Egxnd3Mtd2l6LXNlcnAiElNhZmV0eSBFbmdpbmVlcmluZzIFEAAYgAQyBRAAGIAEMgUQABiABDIFEAAYgAQyBRAAGIAEMgUQABiABDIFEAAYgAQyBRAAGIAEMgUQABiABDIFEAAYgARIgXFQAFgAcAB4AZABAJgBrgKgAa4CqgEDMy0xuAEDyAEA-AEC-AEBmAIBoAK-ApgDAOIDBRIBMSBAkgcDMy0xoAfWA7IHAzMtMbgHvgLCBwMzLTHIBwqACAA&amp;sclient=gws-wiz-serp" TargetMode="External"/><Relationship Id="rId5" Type="http://schemas.openxmlformats.org/officeDocument/2006/relationships/hyperlink" Target="https://www.google.com/search?q=Audit+and+Inspection&amp;sca_esv=ea0bf85f729d5e5e&amp;ei=gf-aadyZIrW5seMPnoK-gA0&amp;biw=1360&amp;bih=657&amp;ved=2ahUKEwiV4MimmO2SAxVaSmwGHXrrKToQgK4QegYIAQgCEAM&amp;uact=5&amp;oq=Safety+Engineering&amp;gs_lp=Egxnd3Mtd2l6LXNlcnAiElNhZmV0eSBFbmdpbmVlcmluZzIFEAAYgAQyBRAAGIAEMgUQABiABDIFEAAYgAQyBRAAGIAEMgUQABiABDIFEAAYgAQyBRAAGIAEMgUQABiABDIFEAAYgARIgXFQAFgAcAB4AZABAJgBrgKgAa4CqgEDMy0xuAEDyAEA-AEC-AEBmAIBoAK-ApgDAOIDBRIBMSBAkgcDMy0xoAfWA7IHAzMtMbgHvgLCBwMzLTHIBwqACAA&amp;sclient=gws-wiz-serp" TargetMode="External"/><Relationship Id="rId4" Type="http://schemas.openxmlformats.org/officeDocument/2006/relationships/hyperlink" Target="https://www.google.com/search?q=Compliance+and+Regulation&amp;sca_esv=ea0bf85f729d5e5e&amp;ei=gf-aadyZIrW5seMPnoK-gA0&amp;biw=1360&amp;bih=657&amp;ved=2ahUKEwiV4MimmO2SAxVaSmwGHXrrKToQgK4QegYIAQgCEAE&amp;uact=5&amp;oq=Safety+Engineering&amp;gs_lp=Egxnd3Mtd2l6LXNlcnAiElNhZmV0eSBFbmdpbmVlcmluZzIFEAAYgAQyBRAAGIAEMgUQABiABDIFEAAYgAQyBRAAGIAEMgUQABiABDIFEAAYgAQyBRAAGIAEMgUQABiABDIFEAAYgARIgXFQAFgAcAB4AZABAJgBrgKgAa4CqgEDMy0xuAEDyAEA-AEC-AEBmAIBoAK-ApgDAOIDBRIBMSBAkgcDMy0xoAfWA7IHAzMtMbgHvgLCBwMzLTHIBwqACAA&amp;sclient=gws-wiz-serp"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google.com/search?q=System+Safety+Engineering&amp;sca_esv=ea0bf85f729d5e5e&amp;ei=gf-aadyZIrW5seMPnoK-gA0&amp;biw=1360&amp;bih=657&amp;ved=2ahUKEwiV4MimmO2SAxVaSmwGHXrrKToQgK4QegYIAQgBEAM&amp;uact=5&amp;oq=Safety+Engineering&amp;gs_lp=Egxnd3Mtd2l6LXNlcnAiElNhZmV0eSBFbmdpbmVlcmluZzIFEAAYgAQyBRAAGIAEMgUQABiABDIFEAAYgAQyBRAAGIAEMgUQABiABDIFEAAYgAQyBRAAGIAEMgUQABiABDIFEAAYgARIgXFQAFgAcAB4AZABAJgBrgKgAa4CqgEDMy0xuAEDyAEA-AEC-AEBmAIBoAK-ApgDAOIDBRIBMSBAkgcDMy0xoAfWA7IHAzMtMbgHvgLCBwMzLTHIBwqACAA&amp;sclient=gws-wiz-serp"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hyperlink" Target="https://www.google.com/search?q=Human+Factors+Engineering&amp;sca_esv=ea0bf85f729d5e5e&amp;ei=gf-aadyZIrW5seMPnoK-gA0&amp;biw=1360&amp;bih=657&amp;ved=2ahUKEwiV4MimmO2SAxVaSmwGHXrrKToQgK4QegYIAQgBEAc&amp;uact=5&amp;oq=Safety+Engineering&amp;gs_lp=Egxnd3Mtd2l6LXNlcnAiElNhZmV0eSBFbmdpbmVlcmluZzIFEAAYgAQyBRAAGIAEMgUQABiABDIFEAAYgAQyBRAAGIAEMgUQABiABDIFEAAYgAQyBRAAGIAEMgUQABiABDIFEAAYgARIgXFQAFgAcAB4AZABAJgBrgKgAa4CqgEDMy0xuAEDyAEA-AEC-AEBmAIBoAK-ApgDAOIDBRIBMSBAkgcDMy0xoAfWA7IHAzMtMbgHvgLCBwMzLTHIBwqACAA&amp;sclient=gws-wiz-serp" TargetMode="External"/><Relationship Id="rId4" Type="http://schemas.openxmlformats.org/officeDocument/2006/relationships/hyperlink" Target="https://www.google.com/search?q=Process+Safety+Management&amp;sca_esv=ea0bf85f729d5e5e&amp;ei=gf-aadyZIrW5seMPnoK-gA0&amp;biw=1360&amp;bih=657&amp;ved=2ahUKEwiV4MimmO2SAxVaSmwGHXrrKToQgK4QegYIAQgBEAU&amp;uact=5&amp;oq=Safety+Engineering&amp;gs_lp=Egxnd3Mtd2l6LXNlcnAiElNhZmV0eSBFbmdpbmVlcmluZzIFEAAYgAQyBRAAGIAEMgUQABiABDIFEAAYgAQyBRAAGIAEMgUQABiABDIFEAAYgAQyBRAAGIAEMgUQABiABDIFEAAYgARIgXFQAFgAcAB4AZABAJgBrgKgAa4CqgEDMy0xuAEDyAEA-AEC-AEBmAIBoAK-ApgDAOIDBRIBMSBAkgcDMy0xoAfWA7IHAzMtMbgHvgLCBwMzLTHIBwqACAA&amp;sclient=gws-wiz-serp"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google.com/search?q=defense+in+depth&amp;sca_esv=ea0bf85f729d5e5e&amp;ei=gf-aadyZIrW5seMPnoK-gA0&amp;biw=1360&amp;bih=657&amp;ved=2ahUKEwi0jve3me2SAxUrzTgGHaaGGe4QgK4QegYIAQgBEAI&amp;uact=5&amp;oq=Security+Engineering&amp;gs_lp=Egxnd3Mtd2l6LXNlcnAiFFNlY3VyaXR5IEVuZ2luZWVyaW5nMgUQABiABDIFEAAYgAQyBRAAGIAEMgUQABiABDIFEC4YgAQyBRAAGIAEMgUQABiABDIFEAAYgAQyBRAAGIAEMgUQABiABEjEVVAAWABwAXgBkAEAmAGUAqABlAKqAQMyLTG4AQPIAQD4AQL4AQGYAgKgArICmAMA4gMFEgExIECSBwUxLjAuMaAHnAeyBwMyLTG4B6YCwgcDMy0yyAcWgAgA&amp;sclient=gws-wiz-serp"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www.google.com/search?q=least+privilege&amp;sca_esv=ea0bf85f729d5e5e&amp;ei=gf-aadyZIrW5seMPnoK-gA0&amp;biw=1360&amp;bih=657&amp;ved=2ahUKEwi0jve3me2SAxUrzTgGHaaGGe4QgK4QegYIAQgBEAM&amp;uact=5&amp;oq=Security+Engineering&amp;gs_lp=Egxnd3Mtd2l6LXNlcnAiFFNlY3VyaXR5IEVuZ2luZWVyaW5nMgUQABiABDIFEAAYgAQyBRAAGIAEMgUQABiABDIFEC4YgAQyBRAAGIAEMgUQABiABDIFEAAYgAQyBRAAGIAEMgUQABiABEjEVVAAWABwAXgBkAEAmAGUAqABlAKqAQMyLTG4AQPIAQD4AQL4AQGYAgKgArICmAMA4gMFEgExIECSBwUxLjAuMaAHnAeyBwMyLTG4B6YCwgcDMy0yyAcWgAgA&amp;sclient=gws-wiz-serp"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www.resilience-engineering-association.org/resources/where-do-i-start/"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1"/>
          <p:cNvSpPr/>
          <p:nvPr/>
        </p:nvSpPr>
        <p:spPr>
          <a:xfrm>
            <a:off x="0" y="1752600"/>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864">
              <a:solidFill>
                <a:schemeClr val="dk1"/>
              </a:solidFill>
              <a:latin typeface="Calibri"/>
              <a:ea typeface="Calibri"/>
              <a:cs typeface="Calibri"/>
              <a:sym typeface="Calibri"/>
            </a:endParaRPr>
          </a:p>
        </p:txBody>
      </p:sp>
      <p:sp>
        <p:nvSpPr>
          <p:cNvPr id="42" name="Google Shape;42;p1"/>
          <p:cNvSpPr/>
          <p:nvPr/>
        </p:nvSpPr>
        <p:spPr>
          <a:xfrm>
            <a:off x="304800" y="1752600"/>
            <a:ext cx="8235722" cy="2123618"/>
          </a:xfrm>
          <a:prstGeom prst="rect">
            <a:avLst/>
          </a:prstGeom>
          <a:noFill/>
          <a:ln>
            <a:noFill/>
          </a:ln>
        </p:spPr>
        <p:txBody>
          <a:bodyPr spcFirstLastPara="1" wrap="square" lIns="91425" tIns="45700" rIns="91425" bIns="45700" anchor="t" anchorCtr="0">
            <a:spAutoFit/>
          </a:bodyPr>
          <a:lstStyle/>
          <a:p>
            <a:pPr lvl="0" algn="ctr">
              <a:buClr>
                <a:schemeClr val="lt1"/>
              </a:buClr>
              <a:buSzPts val="4400"/>
            </a:pPr>
            <a:r>
              <a:rPr lang="en-US" sz="4400" b="1" dirty="0" smtClean="0">
                <a:solidFill>
                  <a:schemeClr val="lt1"/>
                </a:solidFill>
              </a:rPr>
              <a:t>CASE </a:t>
            </a:r>
            <a:r>
              <a:rPr lang="en-US" sz="4400" b="1" dirty="0" smtClean="0">
                <a:solidFill>
                  <a:schemeClr val="lt1"/>
                </a:solidFill>
              </a:rPr>
              <a:t>Tools and Advance Practices of System Dependability and </a:t>
            </a:r>
            <a:r>
              <a:rPr lang="en-US" sz="4400" b="1" dirty="0" smtClean="0">
                <a:solidFill>
                  <a:schemeClr val="lt1"/>
                </a:solidFill>
              </a:rPr>
              <a:t>Security</a:t>
            </a:r>
            <a:endParaRPr lang="en-US" sz="4400" b="1" dirty="0">
              <a:solidFill>
                <a:schemeClr val="lt1"/>
              </a:solidFill>
            </a:endParaRPr>
          </a:p>
        </p:txBody>
      </p:sp>
      <p:sp>
        <p:nvSpPr>
          <p:cNvPr id="43" name="Google Shape;43;p1"/>
          <p:cNvSpPr/>
          <p:nvPr/>
        </p:nvSpPr>
        <p:spPr>
          <a:xfrm>
            <a:off x="342741" y="5601409"/>
            <a:ext cx="3832829" cy="10156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700" b="1" dirty="0" smtClean="0">
                <a:solidFill>
                  <a:srgbClr val="FF0000"/>
                </a:solidFill>
                <a:latin typeface="Calibri"/>
                <a:ea typeface="Calibri"/>
                <a:cs typeface="Calibri"/>
                <a:sym typeface="Calibri"/>
              </a:rPr>
              <a:t>Dr. </a:t>
            </a:r>
            <a:r>
              <a:rPr lang="en-US" sz="2700" b="1" dirty="0" err="1" smtClean="0">
                <a:solidFill>
                  <a:srgbClr val="FF0000"/>
                </a:solidFill>
                <a:latin typeface="Calibri"/>
                <a:ea typeface="Calibri"/>
                <a:cs typeface="Calibri"/>
                <a:sym typeface="Calibri"/>
              </a:rPr>
              <a:t>Neeraj</a:t>
            </a:r>
            <a:r>
              <a:rPr lang="en-US" sz="2700" b="1" dirty="0" smtClean="0">
                <a:solidFill>
                  <a:srgbClr val="FF0000"/>
                </a:solidFill>
                <a:latin typeface="Calibri"/>
                <a:ea typeface="Calibri"/>
                <a:cs typeface="Calibri"/>
                <a:sym typeface="Calibri"/>
              </a:rPr>
              <a:t> </a:t>
            </a:r>
            <a:r>
              <a:rPr lang="en-US" sz="2700" b="1" dirty="0" err="1" smtClean="0">
                <a:solidFill>
                  <a:srgbClr val="FF0000"/>
                </a:solidFill>
                <a:latin typeface="Calibri"/>
                <a:ea typeface="Calibri"/>
                <a:cs typeface="Calibri"/>
                <a:sym typeface="Calibri"/>
              </a:rPr>
              <a:t>Sahu</a:t>
            </a:r>
            <a:r>
              <a:rPr lang="en-US" sz="1058" b="1" dirty="0">
                <a:solidFill>
                  <a:srgbClr val="FF0000"/>
                </a:solidFill>
                <a:latin typeface="Calibri"/>
                <a:ea typeface="Calibri"/>
                <a:cs typeface="Calibri"/>
                <a:sym typeface="Calibri"/>
              </a:rPr>
              <a:t/>
            </a:r>
            <a:br>
              <a:rPr lang="en-US" sz="1058" b="1" dirty="0">
                <a:solidFill>
                  <a:srgbClr val="FF0000"/>
                </a:solidFill>
                <a:latin typeface="Calibri"/>
                <a:ea typeface="Calibri"/>
                <a:cs typeface="Calibri"/>
                <a:sym typeface="Calibri"/>
              </a:rPr>
            </a:br>
            <a:r>
              <a:rPr lang="en-US" sz="1800" b="1" dirty="0" smtClean="0">
                <a:solidFill>
                  <a:srgbClr val="FF0000"/>
                </a:solidFill>
                <a:latin typeface="Calibri"/>
                <a:ea typeface="Calibri"/>
                <a:cs typeface="Calibri"/>
                <a:sym typeface="Calibri"/>
              </a:rPr>
              <a:t>Associate Professor</a:t>
            </a:r>
            <a:endParaRPr sz="1800">
              <a:solidFill>
                <a:srgbClr val="FF0000"/>
              </a:solidFill>
              <a:latin typeface="Calibri"/>
              <a:ea typeface="Calibri"/>
              <a:cs typeface="Calibri"/>
              <a:sym typeface="Calibri"/>
            </a:endParaRPr>
          </a:p>
          <a:p>
            <a:pPr marL="0" marR="0" lvl="0" indent="0" algn="l" rtl="0">
              <a:spcBef>
                <a:spcPts val="0"/>
              </a:spcBef>
              <a:spcAft>
                <a:spcPts val="0"/>
              </a:spcAft>
              <a:buNone/>
            </a:pPr>
            <a:r>
              <a:rPr lang="en-US" sz="1500" b="1" dirty="0" smtClean="0">
                <a:solidFill>
                  <a:srgbClr val="FF0000"/>
                </a:solidFill>
                <a:latin typeface="Calibri"/>
                <a:ea typeface="Calibri"/>
                <a:cs typeface="Calibri"/>
                <a:sym typeface="Calibri"/>
              </a:rPr>
              <a:t>CSE-AIML</a:t>
            </a:r>
            <a:endParaRPr sz="1500">
              <a:solidFill>
                <a:srgbClr val="FF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2"/>
          <p:cNvSpPr txBox="1"/>
          <p:nvPr/>
        </p:nvSpPr>
        <p:spPr>
          <a:xfrm>
            <a:off x="414983" y="1757031"/>
            <a:ext cx="59601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highlight>
                  <a:srgbClr val="646464"/>
                </a:highlight>
                <a:latin typeface="Calibri"/>
                <a:ea typeface="Calibri"/>
                <a:cs typeface="Calibri"/>
                <a:sym typeface="Calibri"/>
              </a:rPr>
              <a:t>CONTENT</a:t>
            </a:r>
            <a:endParaRPr>
              <a:solidFill>
                <a:schemeClr val="lt1"/>
              </a:solidFill>
              <a:highlight>
                <a:srgbClr val="646464"/>
              </a:highlight>
            </a:endParaRPr>
          </a:p>
        </p:txBody>
      </p:sp>
      <p:sp>
        <p:nvSpPr>
          <p:cNvPr id="49" name="Google Shape;49;p2"/>
          <p:cNvSpPr txBox="1"/>
          <p:nvPr/>
        </p:nvSpPr>
        <p:spPr>
          <a:xfrm>
            <a:off x="414982" y="2218356"/>
            <a:ext cx="6290617" cy="2098996"/>
          </a:xfrm>
          <a:prstGeom prst="rect">
            <a:avLst/>
          </a:prstGeom>
          <a:noFill/>
          <a:ln>
            <a:noFill/>
          </a:ln>
        </p:spPr>
        <p:txBody>
          <a:bodyPr spcFirstLastPara="1" wrap="square" lIns="91425" tIns="45700" rIns="91425" bIns="45700" anchor="t" anchorCtr="0">
            <a:spAutoFit/>
          </a:bodyPr>
          <a:lstStyle/>
          <a:p>
            <a:pPr marL="457200" lvl="0" indent="-330200">
              <a:buSzPts val="1600"/>
              <a:buAutoNum type="arabicPeriod"/>
            </a:pPr>
            <a:r>
              <a:rPr lang="en-US" sz="1600" dirty="0" smtClean="0"/>
              <a:t>Computer Aided Software </a:t>
            </a:r>
            <a:r>
              <a:rPr lang="en-US" sz="1600" dirty="0" smtClean="0"/>
              <a:t>Engineering Tools</a:t>
            </a:r>
            <a:r>
              <a:rPr lang="en-US" sz="1600" dirty="0" smtClean="0">
                <a:solidFill>
                  <a:schemeClr val="dk1"/>
                </a:solidFill>
                <a:highlight>
                  <a:schemeClr val="lt1"/>
                </a:highlight>
              </a:rPr>
              <a:t>………3 </a:t>
            </a:r>
            <a:endParaRPr sz="1600">
              <a:solidFill>
                <a:schemeClr val="dk1"/>
              </a:solidFill>
              <a:highlight>
                <a:schemeClr val="lt1"/>
              </a:highlight>
            </a:endParaRPr>
          </a:p>
          <a:p>
            <a:pPr marL="457200" lvl="0" indent="-330200">
              <a:buSzPts val="1600"/>
              <a:buAutoNum type="arabicPeriod"/>
            </a:pPr>
            <a:r>
              <a:rPr lang="en-US" sz="1600" dirty="0" smtClean="0"/>
              <a:t>SCRUM Developments</a:t>
            </a:r>
            <a:r>
              <a:rPr lang="en-US" sz="1600" dirty="0" smtClean="0">
                <a:solidFill>
                  <a:schemeClr val="dk1"/>
                </a:solidFill>
                <a:highlight>
                  <a:schemeClr val="lt1"/>
                </a:highlight>
              </a:rPr>
              <a:t>……………………………..…6</a:t>
            </a:r>
            <a:endParaRPr sz="1600">
              <a:solidFill>
                <a:schemeClr val="dk1"/>
              </a:solidFill>
              <a:highlight>
                <a:schemeClr val="lt1"/>
              </a:highlight>
            </a:endParaRPr>
          </a:p>
          <a:p>
            <a:pPr marL="457200" lvl="0" indent="-330200">
              <a:buSzPts val="1600"/>
              <a:buAutoNum type="arabicPeriod"/>
            </a:pPr>
            <a:r>
              <a:rPr lang="en-US" sz="1600" dirty="0" smtClean="0"/>
              <a:t>Dependable System</a:t>
            </a:r>
            <a:r>
              <a:rPr lang="en-US" sz="1600" dirty="0" smtClean="0">
                <a:solidFill>
                  <a:schemeClr val="dk1"/>
                </a:solidFill>
                <a:highlight>
                  <a:schemeClr val="lt1"/>
                </a:highlight>
              </a:rPr>
              <a:t>………………………………….10                                                       </a:t>
            </a:r>
            <a:endParaRPr sz="1600">
              <a:solidFill>
                <a:schemeClr val="dk1"/>
              </a:solidFill>
              <a:highlight>
                <a:schemeClr val="lt1"/>
              </a:highlight>
            </a:endParaRPr>
          </a:p>
          <a:p>
            <a:pPr marL="457200" lvl="0" indent="-330200">
              <a:buClr>
                <a:schemeClr val="dk1"/>
              </a:buClr>
              <a:buSzPts val="1600"/>
              <a:buAutoNum type="arabicPeriod"/>
            </a:pPr>
            <a:r>
              <a:rPr lang="en-US" sz="1600" dirty="0" smtClean="0"/>
              <a:t>Reliability Engineering</a:t>
            </a:r>
            <a:r>
              <a:rPr lang="en-US" sz="1600" dirty="0" smtClean="0">
                <a:solidFill>
                  <a:schemeClr val="dk1"/>
                </a:solidFill>
                <a:highlight>
                  <a:schemeClr val="lt1"/>
                </a:highlight>
              </a:rPr>
              <a:t>………………………………..12</a:t>
            </a:r>
            <a:endParaRPr sz="1600" smtClean="0">
              <a:solidFill>
                <a:schemeClr val="dk1"/>
              </a:solidFill>
              <a:highlight>
                <a:schemeClr val="lt1"/>
              </a:highlight>
            </a:endParaRPr>
          </a:p>
          <a:p>
            <a:pPr marL="457200" lvl="0" indent="-330200">
              <a:buClr>
                <a:schemeClr val="dk1"/>
              </a:buClr>
              <a:buSzPts val="1600"/>
              <a:buAutoNum type="arabicPeriod"/>
            </a:pPr>
            <a:r>
              <a:rPr lang="en-US" sz="1600" dirty="0" smtClean="0"/>
              <a:t>Safety Engineering</a:t>
            </a:r>
            <a:r>
              <a:rPr lang="en-US" sz="1600" dirty="0" smtClean="0">
                <a:solidFill>
                  <a:schemeClr val="dk1"/>
                </a:solidFill>
                <a:highlight>
                  <a:schemeClr val="lt1"/>
                </a:highlight>
              </a:rPr>
              <a:t>……………………………………14</a:t>
            </a:r>
            <a:endParaRPr sz="1600" smtClean="0">
              <a:solidFill>
                <a:schemeClr val="dk1"/>
              </a:solidFill>
              <a:highlight>
                <a:schemeClr val="lt1"/>
              </a:highlight>
            </a:endParaRPr>
          </a:p>
          <a:p>
            <a:pPr marL="457200" lvl="0" indent="-330200">
              <a:lnSpc>
                <a:spcPct val="115000"/>
              </a:lnSpc>
              <a:buClr>
                <a:schemeClr val="dk1"/>
              </a:buClr>
              <a:buSzPts val="1600"/>
              <a:buAutoNum type="arabicPeriod"/>
            </a:pPr>
            <a:r>
              <a:rPr lang="en-US" sz="1600" dirty="0" smtClean="0"/>
              <a:t>Security </a:t>
            </a:r>
            <a:r>
              <a:rPr lang="en-US" sz="1600" dirty="0" smtClean="0"/>
              <a:t>Engineering</a:t>
            </a:r>
            <a:r>
              <a:rPr lang="en-US" sz="1600" dirty="0" smtClean="0">
                <a:solidFill>
                  <a:srgbClr val="273239"/>
                </a:solidFill>
                <a:highlight>
                  <a:srgbClr val="FFFFFF"/>
                </a:highlight>
              </a:rPr>
              <a:t>………………………………….17</a:t>
            </a:r>
            <a:endParaRPr sz="1600">
              <a:solidFill>
                <a:srgbClr val="273239"/>
              </a:solidFill>
              <a:highlight>
                <a:srgbClr val="FFFFFF"/>
              </a:highlight>
            </a:endParaRPr>
          </a:p>
          <a:p>
            <a:pPr marL="457200" lvl="0" indent="-330200">
              <a:buClr>
                <a:schemeClr val="dk1"/>
              </a:buClr>
              <a:buSzPts val="1600"/>
              <a:buAutoNum type="arabicPeriod"/>
            </a:pPr>
            <a:r>
              <a:rPr lang="en-US" sz="1600" dirty="0" smtClean="0"/>
              <a:t>Resilience </a:t>
            </a:r>
            <a:r>
              <a:rPr lang="en-US" sz="1600" dirty="0" smtClean="0"/>
              <a:t>Engineering</a:t>
            </a:r>
            <a:r>
              <a:rPr lang="en-US" sz="1600" dirty="0" smtClean="0">
                <a:solidFill>
                  <a:schemeClr val="dk1"/>
                </a:solidFill>
                <a:highlight>
                  <a:schemeClr val="lt1"/>
                </a:highlight>
              </a:rPr>
              <a:t>……………………………....19</a:t>
            </a:r>
            <a:endParaRPr sz="1600">
              <a:solidFill>
                <a:schemeClr val="dk1"/>
              </a:solidFill>
              <a:highlight>
                <a:schemeClr val="lt1"/>
              </a:highlight>
            </a:endParaRPr>
          </a:p>
          <a:p>
            <a:pPr marL="0" marR="0" lvl="0" indent="0" algn="l" rtl="0">
              <a:spcBef>
                <a:spcPts val="0"/>
              </a:spcBef>
              <a:spcAft>
                <a:spcPts val="0"/>
              </a:spcAft>
              <a:buNone/>
            </a:pPr>
            <a:endParaRPr sz="1600">
              <a:solidFill>
                <a:schemeClr val="dk1"/>
              </a:solidFill>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3"/>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55" name="Google Shape;55;p3"/>
          <p:cNvCxnSpPr/>
          <p:nvPr/>
        </p:nvCxnSpPr>
        <p:spPr>
          <a:xfrm>
            <a:off x="0" y="1009464"/>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56" name="Google Shape;56;p3"/>
          <p:cNvSpPr txBox="1"/>
          <p:nvPr/>
        </p:nvSpPr>
        <p:spPr>
          <a:xfrm>
            <a:off x="446942" y="1131297"/>
            <a:ext cx="8254500" cy="45242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lt1"/>
                </a:solidFill>
                <a:latin typeface="Calibri"/>
                <a:ea typeface="Calibri"/>
                <a:cs typeface="Calibri"/>
                <a:sym typeface="Calibri"/>
              </a:rPr>
              <a:t>Introduction</a:t>
            </a:r>
            <a:endParaRPr sz="1800" b="1">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US" sz="2000" dirty="0">
                <a:solidFill>
                  <a:schemeClr val="dk1"/>
                </a:solidFill>
                <a:latin typeface="Calibri"/>
                <a:ea typeface="Calibri"/>
                <a:cs typeface="Calibri"/>
                <a:sym typeface="Calibri"/>
              </a:rPr>
              <a:t>   </a:t>
            </a:r>
            <a:endParaRPr lang="en-US" sz="2000"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US" sz="2400" b="1" dirty="0" smtClean="0">
                <a:solidFill>
                  <a:schemeClr val="tx1"/>
                </a:solidFill>
                <a:latin typeface="Calibri"/>
                <a:ea typeface="Calibri"/>
                <a:cs typeface="Calibri"/>
                <a:sym typeface="Calibri"/>
              </a:rPr>
              <a:t>Definition </a:t>
            </a:r>
            <a:endParaRPr lang="en-US" sz="2400" b="1" dirty="0" smtClean="0">
              <a:solidFill>
                <a:schemeClr val="tx1"/>
              </a:solidFill>
              <a:latin typeface="Calibri"/>
              <a:ea typeface="Calibri"/>
              <a:cs typeface="Calibri"/>
              <a:sym typeface="Calibri"/>
            </a:endParaRPr>
          </a:p>
          <a:p>
            <a:pPr marL="457200" indent="-381000" algn="just">
              <a:spcBef>
                <a:spcPts val="1200"/>
              </a:spcBef>
              <a:buClr>
                <a:srgbClr val="1E4E79"/>
              </a:buClr>
              <a:buSzPts val="2400"/>
            </a:pPr>
            <a:r>
              <a:rPr lang="en-US" sz="2400" dirty="0" smtClean="0">
                <a:solidFill>
                  <a:schemeClr val="tx1"/>
                </a:solidFill>
                <a:latin typeface="Calibri"/>
                <a:ea typeface="Calibri"/>
                <a:cs typeface="Calibri"/>
                <a:sym typeface="Calibri"/>
              </a:rPr>
              <a:t>    CASE </a:t>
            </a:r>
            <a:r>
              <a:rPr lang="en-US" sz="2400" dirty="0" smtClean="0">
                <a:solidFill>
                  <a:schemeClr val="tx1"/>
                </a:solidFill>
                <a:latin typeface="Calibri"/>
                <a:ea typeface="Calibri"/>
                <a:cs typeface="Calibri"/>
                <a:sym typeface="Calibri"/>
              </a:rPr>
              <a:t>Tools are software applications used to automate, manage, and simplify various phases of the Software Development Life Cycle (SDLC).</a:t>
            </a:r>
            <a:endParaRPr lang="en-US" sz="2400" dirty="0" smtClean="0">
              <a:solidFill>
                <a:schemeClr val="tx1"/>
              </a:solidFill>
              <a:latin typeface="Calibri"/>
              <a:ea typeface="Calibri"/>
              <a:cs typeface="Calibri"/>
              <a:sym typeface="Calibri"/>
            </a:endParaRPr>
          </a:p>
          <a:p>
            <a:pPr marL="457200" indent="-381000" algn="just">
              <a:spcBef>
                <a:spcPts val="1200"/>
              </a:spcBef>
              <a:buClr>
                <a:srgbClr val="1E4E79"/>
              </a:buClr>
              <a:buSzPts val="2400"/>
            </a:pPr>
            <a:r>
              <a:rPr lang="en-US" sz="2400" b="1" dirty="0" smtClean="0">
                <a:solidFill>
                  <a:schemeClr val="tx1"/>
                </a:solidFill>
                <a:latin typeface="Calibri"/>
                <a:ea typeface="Calibri"/>
                <a:cs typeface="Calibri"/>
                <a:sym typeface="Calibri"/>
              </a:rPr>
              <a:t>Purpose:</a:t>
            </a:r>
            <a:r>
              <a:rPr lang="en-US" sz="2400" b="1" dirty="0" smtClean="0">
                <a:solidFill>
                  <a:srgbClr val="1E4E79"/>
                </a:solidFill>
                <a:latin typeface="Calibri"/>
                <a:ea typeface="Calibri"/>
                <a:cs typeface="Calibri"/>
                <a:sym typeface="Calibri"/>
              </a:rPr>
              <a:t> </a:t>
            </a:r>
            <a:r>
              <a:rPr lang="en-US" sz="2400" dirty="0" smtClean="0">
                <a:solidFill>
                  <a:schemeClr val="tx1"/>
                </a:solidFill>
                <a:latin typeface="Calibri"/>
                <a:ea typeface="Calibri"/>
                <a:cs typeface="Calibri"/>
                <a:sym typeface="Calibri"/>
              </a:rPr>
              <a:t>To improve software quality, increase development speed (productivity), reduce costs, and ensure consistency across the project. </a:t>
            </a:r>
          </a:p>
          <a:p>
            <a:pPr marL="457200" indent="-381000" algn="just">
              <a:spcBef>
                <a:spcPts val="1200"/>
              </a:spcBef>
              <a:buClr>
                <a:srgbClr val="1E4E79"/>
              </a:buClr>
              <a:buSzPts val="2400"/>
              <a:buFont typeface="Calibri"/>
              <a:buAutoNum type="arabicPeriod"/>
            </a:pPr>
            <a:endParaRPr lang="en-US" sz="2400" b="1" dirty="0">
              <a:solidFill>
                <a:srgbClr val="1E4E79"/>
              </a:solidFill>
              <a:latin typeface="Calibri"/>
              <a:ea typeface="Calibri"/>
              <a:cs typeface="Calibri"/>
              <a:sym typeface="Calibri"/>
            </a:endParaRPr>
          </a:p>
        </p:txBody>
      </p:sp>
      <p:sp>
        <p:nvSpPr>
          <p:cNvPr id="57" name="Google Shape;57;p3"/>
          <p:cNvSpPr/>
          <p:nvPr/>
        </p:nvSpPr>
        <p:spPr>
          <a:xfrm>
            <a:off x="2513" y="1208922"/>
            <a:ext cx="9143365" cy="6375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864">
              <a:solidFill>
                <a:schemeClr val="dk1"/>
              </a:solidFill>
              <a:latin typeface="Calibri"/>
              <a:ea typeface="Calibri"/>
              <a:cs typeface="Calibri"/>
              <a:sym typeface="Calibri"/>
            </a:endParaRPr>
          </a:p>
        </p:txBody>
      </p:sp>
      <p:sp>
        <p:nvSpPr>
          <p:cNvPr id="58" name="Google Shape;58;p3"/>
          <p:cNvSpPr txBox="1"/>
          <p:nvPr/>
        </p:nvSpPr>
        <p:spPr>
          <a:xfrm>
            <a:off x="1013250" y="1273725"/>
            <a:ext cx="7117500" cy="507801"/>
          </a:xfrm>
          <a:prstGeom prst="rect">
            <a:avLst/>
          </a:prstGeom>
          <a:noFill/>
          <a:ln>
            <a:noFill/>
          </a:ln>
        </p:spPr>
        <p:txBody>
          <a:bodyPr spcFirstLastPara="1" wrap="square" lIns="91425" tIns="91425" rIns="91425" bIns="91425" anchor="t" anchorCtr="0">
            <a:spAutoFit/>
          </a:bodyPr>
          <a:lstStyle/>
          <a:p>
            <a:pPr lvl="0" algn="ctr"/>
            <a:r>
              <a:rPr lang="en-US" sz="2100" dirty="0" smtClean="0">
                <a:solidFill>
                  <a:schemeClr val="lt1"/>
                </a:solidFill>
                <a:highlight>
                  <a:srgbClr val="1F487C"/>
                </a:highlight>
              </a:rPr>
              <a:t>COMPUTER AIDED SOFTWARE ENGINEERING TOOLS                                                           </a:t>
            </a:r>
            <a:endParaRPr lang="en-US" sz="2100" dirty="0">
              <a:solidFill>
                <a:schemeClr val="lt1"/>
              </a:solidFill>
              <a:highlight>
                <a:srgbClr val="1F487C"/>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70250" y="1764975"/>
            <a:ext cx="8795400" cy="3785611"/>
          </a:xfrm>
          <a:prstGeom prst="rect">
            <a:avLst/>
          </a:prstGeom>
          <a:noFill/>
          <a:ln>
            <a:noFill/>
          </a:ln>
        </p:spPr>
        <p:txBody>
          <a:bodyPr spcFirstLastPara="1" wrap="square" lIns="91425" tIns="45700" rIns="91425" bIns="45700" anchor="t" anchorCtr="0">
            <a:spAutoFit/>
          </a:bodyPr>
          <a:lstStyle/>
          <a:p>
            <a:pPr lvl="0" algn="just"/>
            <a:r>
              <a:rPr lang="en-US" sz="2400" b="1" dirty="0" smtClean="0">
                <a:solidFill>
                  <a:schemeClr val="tx1"/>
                </a:solidFill>
                <a:latin typeface="Calibri"/>
                <a:ea typeface="Calibri"/>
                <a:cs typeface="Calibri"/>
                <a:sym typeface="Calibri"/>
              </a:rPr>
              <a:t>Central Repository (Data Dictionary):</a:t>
            </a:r>
            <a:r>
              <a:rPr lang="en-US" sz="2400" dirty="0" smtClean="0">
                <a:solidFill>
                  <a:schemeClr val="tx1"/>
                </a:solidFill>
                <a:latin typeface="Calibri"/>
                <a:ea typeface="Calibri"/>
                <a:cs typeface="Calibri"/>
                <a:sym typeface="Calibri"/>
              </a:rPr>
              <a:t> A central database storing all project information, diagrams, reports, and documentation to ensure consistency.</a:t>
            </a:r>
          </a:p>
          <a:p>
            <a:pPr lvl="0" algn="just"/>
            <a:r>
              <a:rPr lang="en-US" sz="2400" b="1" dirty="0" smtClean="0">
                <a:solidFill>
                  <a:schemeClr val="tx1"/>
                </a:solidFill>
                <a:latin typeface="Calibri"/>
                <a:ea typeface="Calibri"/>
                <a:cs typeface="Calibri"/>
                <a:sym typeface="Calibri"/>
              </a:rPr>
              <a:t>Upper CASE Tools (Front-end):</a:t>
            </a:r>
            <a:r>
              <a:rPr lang="en-US" sz="2400" dirty="0" smtClean="0">
                <a:solidFill>
                  <a:schemeClr val="tx1"/>
                </a:solidFill>
                <a:latin typeface="Calibri"/>
                <a:ea typeface="Calibri"/>
                <a:cs typeface="Calibri"/>
                <a:sym typeface="Calibri"/>
              </a:rPr>
              <a:t> Focus on early SDLC phases: Planning, Requirements Analysis, and Design (e.g., modeling tools).</a:t>
            </a:r>
          </a:p>
          <a:p>
            <a:pPr lvl="0" algn="just"/>
            <a:r>
              <a:rPr lang="en-US" sz="2400" b="1" dirty="0" smtClean="0">
                <a:solidFill>
                  <a:schemeClr val="tx1"/>
                </a:solidFill>
                <a:latin typeface="Calibri"/>
                <a:ea typeface="Calibri"/>
                <a:cs typeface="Calibri"/>
                <a:sym typeface="Calibri"/>
              </a:rPr>
              <a:t>Lower CASE Tools (Back-end):</a:t>
            </a:r>
            <a:r>
              <a:rPr lang="en-US" sz="2400" dirty="0" smtClean="0">
                <a:solidFill>
                  <a:schemeClr val="tx1"/>
                </a:solidFill>
                <a:latin typeface="Calibri"/>
                <a:ea typeface="Calibri"/>
                <a:cs typeface="Calibri"/>
                <a:sym typeface="Calibri"/>
              </a:rPr>
              <a:t> Focus on later SDLC phases: Implementation, Testing, and Maintenance (e.g., code generators, debuggers).</a:t>
            </a:r>
          </a:p>
          <a:p>
            <a:pPr lvl="0" algn="just"/>
            <a:r>
              <a:rPr lang="en-US" sz="2400" b="1" dirty="0" smtClean="0">
                <a:solidFill>
                  <a:schemeClr val="tx1"/>
                </a:solidFill>
                <a:latin typeface="Calibri"/>
                <a:ea typeface="Calibri"/>
                <a:cs typeface="Calibri"/>
                <a:sym typeface="Calibri"/>
              </a:rPr>
              <a:t>Integrated CASE (I-CASE):</a:t>
            </a:r>
            <a:r>
              <a:rPr lang="en-US" sz="2400" dirty="0" smtClean="0">
                <a:solidFill>
                  <a:schemeClr val="tx1"/>
                </a:solidFill>
                <a:latin typeface="Calibri"/>
                <a:ea typeface="Calibri"/>
                <a:cs typeface="Calibri"/>
                <a:sym typeface="Calibri"/>
              </a:rPr>
              <a:t> Tools that support the entire SDLC, combining upper and lower functionalities. </a:t>
            </a:r>
          </a:p>
        </p:txBody>
      </p:sp>
      <p:sp>
        <p:nvSpPr>
          <p:cNvPr id="66" name="Google Shape;66;p4"/>
          <p:cNvSpPr/>
          <p:nvPr/>
        </p:nvSpPr>
        <p:spPr>
          <a:xfrm>
            <a:off x="2525" y="10874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Components </a:t>
            </a:r>
            <a:r>
              <a:rPr lang="en-US" sz="2400" b="1" dirty="0" smtClean="0">
                <a:solidFill>
                  <a:schemeClr val="lt1"/>
                </a:solidFill>
                <a:latin typeface="Calibri"/>
                <a:ea typeface="Calibri"/>
                <a:cs typeface="Calibri"/>
                <a:sym typeface="Calibri"/>
              </a:rPr>
              <a:t>of CASE Tools</a:t>
            </a:r>
          </a:p>
          <a:p>
            <a:pPr marL="0" lvl="0" indent="0" algn="ctr" rtl="0">
              <a:spcBef>
                <a:spcPts val="0"/>
              </a:spcBef>
              <a:spcAft>
                <a:spcPts val="0"/>
              </a:spcAft>
              <a:buClr>
                <a:schemeClr val="dk1"/>
              </a:buClr>
              <a:buSzPts val="1100"/>
              <a:buFont typeface="Arial"/>
              <a:buNone/>
            </a:pPr>
            <a:endParaRPr sz="2400" b="1">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70250" y="1764975"/>
            <a:ext cx="8795400" cy="4524275"/>
          </a:xfrm>
          <a:prstGeom prst="rect">
            <a:avLst/>
          </a:prstGeom>
          <a:noFill/>
          <a:ln>
            <a:noFill/>
          </a:ln>
        </p:spPr>
        <p:txBody>
          <a:bodyPr spcFirstLastPara="1" wrap="square" lIns="91425" tIns="45700" rIns="91425" bIns="45700" anchor="t" anchorCtr="0">
            <a:spAutoFit/>
          </a:bodyPr>
          <a:lstStyle/>
          <a:p>
            <a:pPr lvl="0" algn="just"/>
            <a:r>
              <a:rPr lang="en-US" sz="2400" b="1" dirty="0" smtClean="0">
                <a:solidFill>
                  <a:schemeClr val="tx1"/>
                </a:solidFill>
                <a:latin typeface="Calibri"/>
                <a:ea typeface="Calibri"/>
                <a:cs typeface="Calibri"/>
                <a:sym typeface="Calibri"/>
              </a:rPr>
              <a:t>Diagramming Tools:</a:t>
            </a:r>
            <a:r>
              <a:rPr lang="en-US" sz="2400" dirty="0" smtClean="0">
                <a:solidFill>
                  <a:schemeClr val="tx1"/>
                </a:solidFill>
                <a:latin typeface="Calibri"/>
                <a:ea typeface="Calibri"/>
                <a:cs typeface="Calibri"/>
                <a:sym typeface="Calibri"/>
              </a:rPr>
              <a:t> Create visual models (Flowcharts, Entity-Relationship Diagrams, Data Flow Diagrams).</a:t>
            </a:r>
          </a:p>
          <a:p>
            <a:pPr lvl="0" algn="just"/>
            <a:r>
              <a:rPr lang="en-US" sz="2400" b="1" dirty="0" smtClean="0">
                <a:solidFill>
                  <a:schemeClr val="tx1"/>
                </a:solidFill>
                <a:latin typeface="Calibri"/>
                <a:ea typeface="Calibri"/>
                <a:cs typeface="Calibri"/>
                <a:sym typeface="Calibri"/>
              </a:rPr>
              <a:t>UML Modeling Tools: </a:t>
            </a:r>
            <a:r>
              <a:rPr lang="en-US" sz="2400" dirty="0" smtClean="0">
                <a:solidFill>
                  <a:schemeClr val="tx1"/>
                </a:solidFill>
                <a:latin typeface="Calibri"/>
                <a:ea typeface="Calibri"/>
                <a:cs typeface="Calibri"/>
                <a:sym typeface="Calibri"/>
              </a:rPr>
              <a:t>Used for object-oriented analysis and design (e.g., Rational Rose).</a:t>
            </a:r>
          </a:p>
          <a:p>
            <a:pPr lvl="0" algn="just"/>
            <a:r>
              <a:rPr lang="en-US" sz="2400" b="1" dirty="0" smtClean="0">
                <a:solidFill>
                  <a:schemeClr val="tx1"/>
                </a:solidFill>
                <a:latin typeface="Calibri"/>
                <a:ea typeface="Calibri"/>
                <a:cs typeface="Calibri"/>
                <a:sym typeface="Calibri"/>
              </a:rPr>
              <a:t>Code Generators:</a:t>
            </a:r>
            <a:r>
              <a:rPr lang="en-US" sz="2400" dirty="0" smtClean="0">
                <a:solidFill>
                  <a:schemeClr val="tx1"/>
                </a:solidFill>
                <a:latin typeface="Calibri"/>
                <a:ea typeface="Calibri"/>
                <a:cs typeface="Calibri"/>
                <a:sym typeface="Calibri"/>
              </a:rPr>
              <a:t> Automatically generate source code from design models.</a:t>
            </a:r>
          </a:p>
          <a:p>
            <a:pPr lvl="0" algn="just"/>
            <a:r>
              <a:rPr lang="en-US" sz="2400" b="1" dirty="0" smtClean="0">
                <a:solidFill>
                  <a:schemeClr val="tx1"/>
                </a:solidFill>
                <a:latin typeface="Calibri"/>
                <a:ea typeface="Calibri"/>
                <a:cs typeface="Calibri"/>
                <a:sym typeface="Calibri"/>
              </a:rPr>
              <a:t>Testing Tools: </a:t>
            </a:r>
            <a:r>
              <a:rPr lang="en-US" sz="2400" dirty="0" smtClean="0">
                <a:solidFill>
                  <a:schemeClr val="tx1"/>
                </a:solidFill>
                <a:latin typeface="Calibri"/>
                <a:ea typeface="Calibri"/>
                <a:cs typeface="Calibri"/>
                <a:sym typeface="Calibri"/>
              </a:rPr>
              <a:t>Automate testing (e.g., Selenium for web applications, </a:t>
            </a:r>
            <a:r>
              <a:rPr lang="en-US" sz="2400" dirty="0" err="1" smtClean="0">
                <a:solidFill>
                  <a:schemeClr val="tx1"/>
                </a:solidFill>
                <a:latin typeface="Calibri"/>
                <a:ea typeface="Calibri"/>
                <a:cs typeface="Calibri"/>
                <a:sym typeface="Calibri"/>
              </a:rPr>
              <a:t>JUnit</a:t>
            </a:r>
            <a:r>
              <a:rPr lang="en-US" sz="2400" dirty="0" smtClean="0">
                <a:solidFill>
                  <a:schemeClr val="tx1"/>
                </a:solidFill>
                <a:latin typeface="Calibri"/>
                <a:ea typeface="Calibri"/>
                <a:cs typeface="Calibri"/>
                <a:sym typeface="Calibri"/>
              </a:rPr>
              <a:t>).</a:t>
            </a:r>
          </a:p>
          <a:p>
            <a:pPr lvl="0" algn="just"/>
            <a:r>
              <a:rPr lang="en-US" sz="2400" b="1" dirty="0" smtClean="0">
                <a:solidFill>
                  <a:schemeClr val="tx1"/>
                </a:solidFill>
                <a:latin typeface="Calibri"/>
                <a:ea typeface="Calibri"/>
                <a:cs typeface="Calibri"/>
                <a:sym typeface="Calibri"/>
              </a:rPr>
              <a:t>Documentation Tools:</a:t>
            </a:r>
            <a:r>
              <a:rPr lang="en-US" sz="2400" dirty="0" smtClean="0">
                <a:solidFill>
                  <a:schemeClr val="tx1"/>
                </a:solidFill>
                <a:latin typeface="Calibri"/>
                <a:ea typeface="Calibri"/>
                <a:cs typeface="Calibri"/>
                <a:sym typeface="Calibri"/>
              </a:rPr>
              <a:t> Generate technical documentation and user manuals.</a:t>
            </a:r>
          </a:p>
          <a:p>
            <a:pPr lvl="0" algn="just"/>
            <a:r>
              <a:rPr lang="en-US" sz="2400" b="1" dirty="0" smtClean="0">
                <a:solidFill>
                  <a:schemeClr val="tx1"/>
                </a:solidFill>
                <a:latin typeface="Calibri"/>
                <a:ea typeface="Calibri"/>
                <a:cs typeface="Calibri"/>
                <a:sym typeface="Calibri"/>
              </a:rPr>
              <a:t>Version Control/Configuration Management Tools:</a:t>
            </a:r>
            <a:r>
              <a:rPr lang="en-US" sz="2400" dirty="0" smtClean="0">
                <a:solidFill>
                  <a:schemeClr val="tx1"/>
                </a:solidFill>
                <a:latin typeface="Calibri"/>
                <a:ea typeface="Calibri"/>
                <a:cs typeface="Calibri"/>
                <a:sym typeface="Calibri"/>
              </a:rPr>
              <a:t> Track changes to code (e.g., </a:t>
            </a:r>
            <a:r>
              <a:rPr lang="en-US" sz="2400" dirty="0" err="1" smtClean="0">
                <a:solidFill>
                  <a:schemeClr val="tx1"/>
                </a:solidFill>
                <a:latin typeface="Calibri"/>
                <a:ea typeface="Calibri"/>
                <a:cs typeface="Calibri"/>
                <a:sym typeface="Calibri"/>
              </a:rPr>
              <a:t>Git</a:t>
            </a:r>
            <a:r>
              <a:rPr lang="en-US" sz="2400" dirty="0" smtClean="0">
                <a:solidFill>
                  <a:schemeClr val="tx1"/>
                </a:solidFill>
                <a:latin typeface="Calibri"/>
                <a:ea typeface="Calibri"/>
                <a:cs typeface="Calibri"/>
                <a:sym typeface="Calibri"/>
              </a:rPr>
              <a:t>, SVN). </a:t>
            </a:r>
          </a:p>
        </p:txBody>
      </p:sp>
      <p:sp>
        <p:nvSpPr>
          <p:cNvPr id="66" name="Google Shape;66;p4"/>
          <p:cNvSpPr/>
          <p:nvPr/>
        </p:nvSpPr>
        <p:spPr>
          <a:xfrm>
            <a:off x="635"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Types </a:t>
            </a:r>
            <a:r>
              <a:rPr lang="en-US" sz="2400" b="1" dirty="0" smtClean="0">
                <a:solidFill>
                  <a:schemeClr val="lt1"/>
                </a:solidFill>
                <a:latin typeface="Calibri"/>
                <a:ea typeface="Calibri"/>
                <a:cs typeface="Calibri"/>
                <a:sym typeface="Calibri"/>
              </a:rPr>
              <a:t>of CASE Tools</a:t>
            </a:r>
          </a:p>
          <a:p>
            <a:pPr marL="0" lvl="0" indent="0" algn="ctr">
              <a:buClr>
                <a:schemeClr val="dk1"/>
              </a:buClr>
              <a:buSzPts val="1100"/>
              <a:buFont typeface="Arial"/>
              <a:buNone/>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70250" y="1764975"/>
            <a:ext cx="8795400" cy="2308284"/>
          </a:xfrm>
          <a:prstGeom prst="rect">
            <a:avLst/>
          </a:prstGeom>
          <a:noFill/>
          <a:ln>
            <a:noFill/>
          </a:ln>
        </p:spPr>
        <p:txBody>
          <a:bodyPr spcFirstLastPara="1" wrap="square" lIns="91425" tIns="45700" rIns="91425" bIns="45700" anchor="t" anchorCtr="0">
            <a:spAutoFit/>
          </a:bodyPr>
          <a:lstStyle/>
          <a:p>
            <a:pPr lvl="0" algn="just"/>
            <a:r>
              <a:rPr lang="en-US" sz="2400" dirty="0" smtClean="0"/>
              <a:t>Scrum is an Agile framework for developing, delivering, and sustaining complex products through collaboration, accountability, and iterative progress. It uses fixed-length iterations called "Sprints" (usually 2-4 weeks) to deliver incremental, high-value product updates, allowing teams to adapt quickly to changing requirements.</a:t>
            </a:r>
            <a:endParaRPr lang="en-US" sz="2400" dirty="0" smtClean="0">
              <a:solidFill>
                <a:schemeClr val="tx1"/>
              </a:solidFill>
              <a:latin typeface="Calibri"/>
              <a:ea typeface="Calibri"/>
              <a:cs typeface="Calibri"/>
              <a:sym typeface="Calibri"/>
            </a:endParaRPr>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SCRUM</a:t>
            </a:r>
            <a:r>
              <a:rPr lang="en-US" sz="2400" dirty="0" smtClean="0"/>
              <a:t> </a:t>
            </a:r>
            <a:r>
              <a:rPr lang="en-US" sz="2400" b="1" dirty="0" smtClean="0">
                <a:solidFill>
                  <a:schemeClr val="lt1"/>
                </a:solidFill>
                <a:latin typeface="Calibri"/>
                <a:ea typeface="Calibri"/>
                <a:cs typeface="Calibri"/>
                <a:sym typeface="Calibri"/>
              </a:rPr>
              <a:t>Developments</a:t>
            </a:r>
          </a:p>
          <a:p>
            <a:pPr marL="0" lvl="0" indent="0" algn="ctr">
              <a:buClr>
                <a:schemeClr val="dk1"/>
              </a:buClr>
              <a:buSzPts val="1100"/>
              <a:buFont typeface="Arial"/>
              <a:buNone/>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SCRUM</a:t>
            </a:r>
            <a:r>
              <a:rPr lang="en-US" sz="2400" dirty="0" smtClean="0"/>
              <a:t> </a:t>
            </a:r>
            <a:r>
              <a:rPr lang="en-US" sz="2400" b="1" dirty="0" smtClean="0">
                <a:solidFill>
                  <a:schemeClr val="lt1"/>
                </a:solidFill>
                <a:latin typeface="Calibri"/>
                <a:ea typeface="Calibri"/>
                <a:cs typeface="Calibri"/>
                <a:sym typeface="Calibri"/>
              </a:rPr>
              <a:t>Developments</a:t>
            </a:r>
          </a:p>
          <a:p>
            <a:pPr marL="0" lvl="0" indent="0" algn="ctr">
              <a:buClr>
                <a:schemeClr val="dk1"/>
              </a:buClr>
              <a:buSzPts val="1100"/>
              <a:buFont typeface="Arial"/>
              <a:buNone/>
            </a:pPr>
            <a:endParaRPr lang="en-US" sz="2400" b="1" dirty="0">
              <a:solidFill>
                <a:schemeClr val="lt1"/>
              </a:solidFill>
              <a:latin typeface="Calibri"/>
              <a:ea typeface="Calibri"/>
              <a:cs typeface="Calibri"/>
              <a:sym typeface="Calibri"/>
            </a:endParaRPr>
          </a:p>
        </p:txBody>
      </p:sp>
      <p:pic>
        <p:nvPicPr>
          <p:cNvPr id="44034" name="Picture 2" descr="E:\unit 7\1_e1UuaThtsV0qp28aln0DMw.jpg"/>
          <p:cNvPicPr>
            <a:picLocks noChangeAspect="1" noChangeArrowheads="1"/>
          </p:cNvPicPr>
          <p:nvPr/>
        </p:nvPicPr>
        <p:blipFill>
          <a:blip r:embed="rId3"/>
          <a:srcRect/>
          <a:stretch>
            <a:fillRect/>
          </a:stretch>
        </p:blipFill>
        <p:spPr bwMode="auto">
          <a:xfrm>
            <a:off x="685800" y="1905000"/>
            <a:ext cx="8153400" cy="44958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70250" y="1764975"/>
            <a:ext cx="8795400" cy="5262939"/>
          </a:xfrm>
          <a:prstGeom prst="rect">
            <a:avLst/>
          </a:prstGeom>
          <a:noFill/>
          <a:ln>
            <a:noFill/>
          </a:ln>
        </p:spPr>
        <p:txBody>
          <a:bodyPr spcFirstLastPara="1" wrap="square" lIns="91425" tIns="45700" rIns="91425" bIns="45700" anchor="t" anchorCtr="0">
            <a:spAutoFit/>
          </a:bodyPr>
          <a:lstStyle/>
          <a:p>
            <a:pPr algn="just"/>
            <a:r>
              <a:rPr lang="en-US" sz="2400" dirty="0" smtClean="0"/>
              <a:t>Key Components of Scrum Development:</a:t>
            </a:r>
          </a:p>
          <a:p>
            <a:pPr algn="just"/>
            <a:endParaRPr lang="en-US" sz="2400" dirty="0" smtClean="0"/>
          </a:p>
          <a:p>
            <a:pPr algn="just"/>
            <a:r>
              <a:rPr lang="en-US" sz="2400" dirty="0" smtClean="0"/>
              <a:t>Roles: The Scrum Team consists of the </a:t>
            </a:r>
            <a:r>
              <a:rPr lang="en-US" sz="2400" dirty="0" smtClean="0">
                <a:hlinkClick r:id="rId3"/>
              </a:rPr>
              <a:t>Product Owner</a:t>
            </a:r>
            <a:r>
              <a:rPr lang="en-US" sz="2400" dirty="0" smtClean="0"/>
              <a:t> (defines requirements/priorities), Scrum Master (facilitates process/removes impediments), and Development Team (cross-functional, self-organizing members who build the product).</a:t>
            </a:r>
          </a:p>
          <a:p>
            <a:pPr algn="just"/>
            <a:endParaRPr lang="en-US" sz="2400" dirty="0" smtClean="0"/>
          </a:p>
          <a:p>
            <a:pPr algn="just"/>
            <a:r>
              <a:rPr lang="en-US" sz="2400" dirty="0" smtClean="0"/>
              <a:t>Artifacts:</a:t>
            </a:r>
          </a:p>
          <a:p>
            <a:pPr algn="just"/>
            <a:r>
              <a:rPr lang="en-US" sz="2400" dirty="0" smtClean="0"/>
              <a:t>Product Backlog: An ordered list of everything needed in the product.</a:t>
            </a:r>
          </a:p>
          <a:p>
            <a:pPr algn="just"/>
            <a:endParaRPr lang="en-US" sz="2400" dirty="0" smtClean="0"/>
          </a:p>
          <a:p>
            <a:pPr algn="just"/>
            <a:endParaRPr lang="en-US" sz="2400" dirty="0" smtClean="0"/>
          </a:p>
          <a:p>
            <a:pPr algn="just"/>
            <a:endParaRPr lang="en-US" sz="2400" dirty="0" smtClean="0">
              <a:sym typeface="Calibri"/>
            </a:endParaRPr>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SCRUM</a:t>
            </a:r>
            <a:r>
              <a:rPr lang="en-US" sz="2400" dirty="0" smtClean="0"/>
              <a:t> </a:t>
            </a:r>
            <a:r>
              <a:rPr lang="en-US" sz="2400" b="1" dirty="0" smtClean="0">
                <a:solidFill>
                  <a:schemeClr val="lt1"/>
                </a:solidFill>
                <a:latin typeface="Calibri"/>
                <a:ea typeface="Calibri"/>
                <a:cs typeface="Calibri"/>
                <a:sym typeface="Calibri"/>
              </a:rPr>
              <a:t>Developments</a:t>
            </a:r>
          </a:p>
          <a:p>
            <a:pPr marL="0" lvl="0" indent="0" algn="ctr">
              <a:buClr>
                <a:schemeClr val="dk1"/>
              </a:buClr>
              <a:buSzPts val="1100"/>
              <a:buFont typeface="Arial"/>
              <a:buNone/>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5262939"/>
          </a:xfrm>
          <a:prstGeom prst="rect">
            <a:avLst/>
          </a:prstGeom>
          <a:noFill/>
          <a:ln>
            <a:noFill/>
          </a:ln>
        </p:spPr>
        <p:txBody>
          <a:bodyPr spcFirstLastPara="1" wrap="square" lIns="91425" tIns="45700" rIns="91425" bIns="45700" anchor="t" anchorCtr="0">
            <a:spAutoFit/>
          </a:bodyPr>
          <a:lstStyle/>
          <a:p>
            <a:pPr algn="just"/>
            <a:r>
              <a:rPr lang="en-US" sz="2400" dirty="0" smtClean="0"/>
              <a:t>Sprint </a:t>
            </a:r>
            <a:r>
              <a:rPr lang="en-US" sz="2400" dirty="0" smtClean="0"/>
              <a:t>Backlog: The set of items selected for the current Sprint.</a:t>
            </a:r>
            <a:endParaRPr lang="en-US" sz="2400" dirty="0" smtClean="0"/>
          </a:p>
          <a:p>
            <a:pPr algn="just"/>
            <a:r>
              <a:rPr lang="en-US" sz="2400" dirty="0" smtClean="0"/>
              <a:t>Increment: The usable, "Done" product functionality produced at the end of a Sprint.</a:t>
            </a:r>
          </a:p>
          <a:p>
            <a:pPr algn="just"/>
            <a:endParaRPr lang="en-US" sz="2400" dirty="0" smtClean="0"/>
          </a:p>
          <a:p>
            <a:pPr algn="just"/>
            <a:r>
              <a:rPr lang="en-US" sz="2400" dirty="0" smtClean="0"/>
              <a:t>Events </a:t>
            </a:r>
            <a:r>
              <a:rPr lang="en-US" sz="2400" dirty="0" smtClean="0"/>
              <a:t>(Ceremonies):</a:t>
            </a:r>
          </a:p>
          <a:p>
            <a:pPr algn="just"/>
            <a:r>
              <a:rPr lang="en-US" sz="2400" dirty="0" smtClean="0"/>
              <a:t>Sprint Planning: Defines what will be delivered.</a:t>
            </a:r>
          </a:p>
          <a:p>
            <a:pPr algn="just"/>
            <a:r>
              <a:rPr lang="en-US" sz="2400" dirty="0" smtClean="0"/>
              <a:t>Daily Scrum (Stand-up): 15-minute daily meeting to synchronize activities.</a:t>
            </a:r>
          </a:p>
          <a:p>
            <a:pPr algn="just"/>
            <a:endParaRPr lang="en-US" sz="2400" dirty="0" smtClean="0"/>
          </a:p>
          <a:p>
            <a:pPr algn="just"/>
            <a:r>
              <a:rPr lang="en-US" sz="2400" dirty="0" smtClean="0"/>
              <a:t>Sprint Review: Demo of the increment to stakeholders for feedback</a:t>
            </a:r>
            <a:r>
              <a:rPr lang="en-US" sz="2400" dirty="0" smtClean="0"/>
              <a:t>.</a:t>
            </a:r>
          </a:p>
          <a:p>
            <a:pPr algn="just"/>
            <a:r>
              <a:rPr lang="en-US" sz="2400" dirty="0" smtClean="0"/>
              <a:t>Sprint </a:t>
            </a:r>
            <a:r>
              <a:rPr lang="en-US" sz="2400" dirty="0" smtClean="0"/>
              <a:t>Retrospective: Team reflection to improve processes for the next sprint</a:t>
            </a:r>
          </a:p>
          <a:p>
            <a:pPr algn="just"/>
            <a:endParaRPr lang="en-US" sz="2400" dirty="0" smtClean="0">
              <a:sym typeface="Calibri"/>
            </a:endParaRPr>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SCRUM</a:t>
            </a:r>
            <a:r>
              <a:rPr lang="en-US" sz="2400" dirty="0" smtClean="0"/>
              <a:t> </a:t>
            </a:r>
            <a:r>
              <a:rPr lang="en-US" sz="2400" b="1" dirty="0" smtClean="0">
                <a:solidFill>
                  <a:schemeClr val="lt1"/>
                </a:solidFill>
                <a:latin typeface="Calibri"/>
                <a:ea typeface="Calibri"/>
                <a:cs typeface="Calibri"/>
                <a:sym typeface="Calibri"/>
              </a:rPr>
              <a:t>Developments</a:t>
            </a:r>
          </a:p>
          <a:p>
            <a:pPr marL="0" lvl="0" indent="0" algn="ctr">
              <a:buClr>
                <a:schemeClr val="dk1"/>
              </a:buClr>
              <a:buSzPts val="1100"/>
              <a:buFont typeface="Arial"/>
              <a:buNone/>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3785611"/>
          </a:xfrm>
          <a:prstGeom prst="rect">
            <a:avLst/>
          </a:prstGeom>
          <a:noFill/>
          <a:ln>
            <a:noFill/>
          </a:ln>
        </p:spPr>
        <p:txBody>
          <a:bodyPr spcFirstLastPara="1" wrap="square" lIns="91425" tIns="45700" rIns="91425" bIns="45700" anchor="t" anchorCtr="0">
            <a:spAutoFit/>
          </a:bodyPr>
          <a:lstStyle/>
          <a:p>
            <a:pPr algn="just"/>
            <a:r>
              <a:rPr lang="en-US" sz="2400" b="1" dirty="0" smtClean="0"/>
              <a:t>What is System Dependability?</a:t>
            </a:r>
          </a:p>
          <a:p>
            <a:pPr algn="just"/>
            <a:r>
              <a:rPr lang="en-US" sz="2400" dirty="0" smtClean="0"/>
              <a:t>Dependability refers to the trustworthiness of a computer system, ensuring that it delivers services reliably and securely. It includes: </a:t>
            </a:r>
          </a:p>
          <a:p>
            <a:pPr lvl="0" algn="just"/>
            <a:endParaRPr lang="en-US" sz="2400" dirty="0" smtClean="0"/>
          </a:p>
          <a:p>
            <a:pPr lvl="0" algn="just"/>
            <a:r>
              <a:rPr lang="en-US" sz="2400" b="1" dirty="0" smtClean="0"/>
              <a:t>Availability</a:t>
            </a:r>
            <a:r>
              <a:rPr lang="en-US" sz="2400" b="1" dirty="0" smtClean="0"/>
              <a:t>:</a:t>
            </a:r>
            <a:r>
              <a:rPr lang="en-US" sz="2400" dirty="0" smtClean="0"/>
              <a:t> Ready for service when requested.</a:t>
            </a:r>
            <a:endParaRPr lang="en-US" sz="2400" dirty="0" smtClean="0"/>
          </a:p>
          <a:p>
            <a:pPr lvl="0" algn="just"/>
            <a:r>
              <a:rPr lang="en-US" sz="2400" b="1" dirty="0" smtClean="0"/>
              <a:t>Reliability:</a:t>
            </a:r>
            <a:r>
              <a:rPr lang="en-US" sz="2400" dirty="0" smtClean="0"/>
              <a:t> Service is delivered as specified.</a:t>
            </a:r>
          </a:p>
          <a:p>
            <a:pPr lvl="0" algn="just"/>
            <a:r>
              <a:rPr lang="en-US" sz="2400" b="1" dirty="0" smtClean="0"/>
              <a:t>Safety: </a:t>
            </a:r>
            <a:r>
              <a:rPr lang="en-US" sz="2400" dirty="0" smtClean="0"/>
              <a:t>System does not cause damage in case of failure.</a:t>
            </a:r>
          </a:p>
          <a:p>
            <a:pPr lvl="0" algn="just"/>
            <a:r>
              <a:rPr lang="en-US" sz="2400" b="1" dirty="0" smtClean="0"/>
              <a:t>Security: </a:t>
            </a:r>
            <a:r>
              <a:rPr lang="en-US" sz="2400" dirty="0" smtClean="0"/>
              <a:t>Protection against accidental or deliberate intrusion. </a:t>
            </a:r>
          </a:p>
          <a:p>
            <a:pPr algn="just"/>
            <a:endParaRPr lang="en-US" sz="2400" dirty="0" smtClean="0">
              <a:sym typeface="Calibri"/>
            </a:endParaRPr>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Dependable</a:t>
            </a:r>
            <a:r>
              <a:rPr lang="en-US" sz="2400" dirty="0" smtClean="0"/>
              <a:t> </a:t>
            </a:r>
            <a:r>
              <a:rPr lang="en-US" sz="2400" b="1" dirty="0" smtClean="0">
                <a:solidFill>
                  <a:schemeClr val="lt1"/>
                </a:solidFill>
                <a:latin typeface="Calibri"/>
                <a:ea typeface="Calibri"/>
                <a:cs typeface="Calibri"/>
                <a:sym typeface="Calibri"/>
              </a:rPr>
              <a:t>System</a:t>
            </a:r>
          </a:p>
          <a:p>
            <a:pPr marL="0" lvl="0" indent="0" algn="ctr">
              <a:buClr>
                <a:schemeClr val="dk1"/>
              </a:buClr>
              <a:buSzPts val="1100"/>
              <a:buFont typeface="Arial"/>
              <a:buNone/>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4524275"/>
          </a:xfrm>
          <a:prstGeom prst="rect">
            <a:avLst/>
          </a:prstGeom>
          <a:noFill/>
          <a:ln>
            <a:noFill/>
          </a:ln>
        </p:spPr>
        <p:txBody>
          <a:bodyPr spcFirstLastPara="1" wrap="square" lIns="91425" tIns="45700" rIns="91425" bIns="45700" anchor="t" anchorCtr="0">
            <a:spAutoFit/>
          </a:bodyPr>
          <a:lstStyle/>
          <a:p>
            <a:pPr lvl="0" algn="just"/>
            <a:r>
              <a:rPr lang="en-US" sz="2400" b="1" dirty="0" smtClean="0"/>
              <a:t>Redundancy:</a:t>
            </a:r>
            <a:r>
              <a:rPr lang="en-US" sz="2400" dirty="0" smtClean="0"/>
              <a:t> Implementing multiple components to perform the same task to avoid single points of failure.</a:t>
            </a:r>
          </a:p>
          <a:p>
            <a:pPr lvl="0" algn="just"/>
            <a:r>
              <a:rPr lang="en-US" sz="2400" b="1" dirty="0" smtClean="0"/>
              <a:t>Process-Oriented Approaches:</a:t>
            </a:r>
            <a:r>
              <a:rPr lang="en-US" sz="2400" dirty="0" smtClean="0"/>
              <a:t> Using formal methods, rigorous testing, and structured development life cycles (e.g., Agile with continuous integration).</a:t>
            </a:r>
          </a:p>
          <a:p>
            <a:pPr lvl="0" algn="just"/>
            <a:r>
              <a:rPr lang="en-US" sz="2400" b="1" dirty="0" smtClean="0"/>
              <a:t>Fault Tolerance:</a:t>
            </a:r>
            <a:r>
              <a:rPr lang="en-US" sz="2400" dirty="0" smtClean="0"/>
              <a:t> Designing systems to continue operating even when components fail (e.g., recovery blocks, N-version programming).</a:t>
            </a:r>
          </a:p>
          <a:p>
            <a:pPr lvl="0" algn="just"/>
            <a:r>
              <a:rPr lang="en-US" sz="2400" b="1" dirty="0" smtClean="0"/>
              <a:t>Defensive Programming:</a:t>
            </a:r>
            <a:r>
              <a:rPr lang="en-US" sz="2400" dirty="0" smtClean="0"/>
              <a:t> Writing code that anticipates errors, checks input validity, and handles exceptions.</a:t>
            </a:r>
          </a:p>
          <a:p>
            <a:pPr lvl="0" algn="just"/>
            <a:r>
              <a:rPr lang="en-US" sz="2400" b="1" dirty="0" smtClean="0"/>
              <a:t>Re-engineering:</a:t>
            </a:r>
            <a:r>
              <a:rPr lang="en-US" sz="2400" dirty="0" smtClean="0"/>
              <a:t> Updating legacy systems to improve dependability without changing functionality. </a:t>
            </a:r>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Advanced</a:t>
            </a:r>
            <a:r>
              <a:rPr lang="en-US" sz="2400" dirty="0" smtClean="0"/>
              <a:t> </a:t>
            </a:r>
            <a:r>
              <a:rPr lang="en-US" sz="2400" b="1" dirty="0" smtClean="0">
                <a:solidFill>
                  <a:schemeClr val="lt1"/>
                </a:solidFill>
                <a:latin typeface="Calibri"/>
                <a:ea typeface="Calibri"/>
                <a:cs typeface="Calibri"/>
                <a:sym typeface="Calibri"/>
              </a:rPr>
              <a:t>Practices</a:t>
            </a:r>
            <a:r>
              <a:rPr lang="en-US" sz="2400" dirty="0" smtClean="0"/>
              <a:t> </a:t>
            </a:r>
            <a:r>
              <a:rPr lang="en-US" sz="2400" b="1" dirty="0" smtClean="0">
                <a:solidFill>
                  <a:schemeClr val="lt1"/>
                </a:solidFill>
                <a:latin typeface="Calibri"/>
                <a:ea typeface="Calibri"/>
                <a:cs typeface="Calibri"/>
                <a:sym typeface="Calibri"/>
              </a:rPr>
              <a:t>for</a:t>
            </a:r>
            <a:r>
              <a:rPr lang="en-US" sz="2400" dirty="0" smtClean="0"/>
              <a:t> </a:t>
            </a:r>
            <a:r>
              <a:rPr lang="en-US" sz="2400" b="1" dirty="0" smtClean="0">
                <a:solidFill>
                  <a:schemeClr val="lt1"/>
                </a:solidFill>
                <a:latin typeface="Calibri"/>
                <a:ea typeface="Calibri"/>
                <a:cs typeface="Calibri"/>
                <a:sym typeface="Calibri"/>
              </a:rPr>
              <a:t>Dependability</a:t>
            </a:r>
          </a:p>
          <a:p>
            <a:pPr marL="0" lvl="0" indent="0" algn="ctr">
              <a:buClr>
                <a:schemeClr val="dk1"/>
              </a:buClr>
              <a:buSzPts val="1100"/>
              <a:buFont typeface="Arial"/>
              <a:buNone/>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4524275"/>
          </a:xfrm>
          <a:prstGeom prst="rect">
            <a:avLst/>
          </a:prstGeom>
          <a:noFill/>
          <a:ln>
            <a:noFill/>
          </a:ln>
        </p:spPr>
        <p:txBody>
          <a:bodyPr spcFirstLastPara="1" wrap="square" lIns="91425" tIns="45700" rIns="91425" bIns="45700" anchor="t" anchorCtr="0">
            <a:spAutoFit/>
          </a:bodyPr>
          <a:lstStyle/>
          <a:p>
            <a:pPr lvl="0" algn="just"/>
            <a:r>
              <a:rPr lang="en-US" sz="2400" dirty="0" smtClean="0"/>
              <a:t>Reliability engineering is a sub-discipline of systems engineering focused on ensuring products, systems, or processes perform intended functions without failure over a specified time. It utilizes techniques like </a:t>
            </a:r>
            <a:r>
              <a:rPr lang="en-US" sz="2400" dirty="0" smtClean="0">
                <a:hlinkClick r:id="rId3"/>
              </a:rPr>
              <a:t>Failure Modes and Effects Analysis (FMEA)</a:t>
            </a:r>
            <a:r>
              <a:rPr lang="en-US" sz="2400" dirty="0" smtClean="0"/>
              <a:t>, </a:t>
            </a:r>
            <a:r>
              <a:rPr lang="en-US" sz="2400" dirty="0" smtClean="0">
                <a:hlinkClick r:id="rId4"/>
              </a:rPr>
              <a:t>fault tree analysis</a:t>
            </a:r>
            <a:r>
              <a:rPr lang="en-US" sz="2400" dirty="0" smtClean="0"/>
              <a:t>, and </a:t>
            </a:r>
            <a:r>
              <a:rPr lang="en-US" sz="2400" dirty="0" smtClean="0">
                <a:hlinkClick r:id="rId5"/>
              </a:rPr>
              <a:t>physics of failure</a:t>
            </a:r>
            <a:r>
              <a:rPr lang="en-US" sz="2400" dirty="0" smtClean="0"/>
              <a:t> to predict, mitigate, and manage risks and failure, optimizing asset life cycles and reducing costs.</a:t>
            </a:r>
          </a:p>
          <a:p>
            <a:pPr lvl="0" algn="just"/>
            <a:endParaRPr lang="en-US" sz="2400" dirty="0" smtClean="0"/>
          </a:p>
          <a:p>
            <a:pPr algn="just"/>
            <a:r>
              <a:rPr lang="en-US" sz="2400" b="1" dirty="0" smtClean="0"/>
              <a:t>Key aspects of reliability engineering include:</a:t>
            </a:r>
          </a:p>
          <a:p>
            <a:pPr algn="just"/>
            <a:r>
              <a:rPr lang="en-US" sz="2400" b="1" dirty="0" smtClean="0"/>
              <a:t>Core Pillars:</a:t>
            </a:r>
            <a:r>
              <a:rPr lang="en-US" sz="2400" dirty="0" smtClean="0"/>
              <a:t> Reliability (probability of failure-free operation), Availability (uptime percentage), and Maintainability (ease of repair).</a:t>
            </a:r>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Reliability</a:t>
            </a:r>
            <a:r>
              <a:rPr lang="en-US" sz="2400" dirty="0" smtClean="0"/>
              <a:t> </a:t>
            </a:r>
            <a:r>
              <a:rPr lang="en-US" sz="2400" b="1" dirty="0" smtClean="0">
                <a:solidFill>
                  <a:schemeClr val="lt1"/>
                </a:solidFill>
                <a:latin typeface="Calibri"/>
                <a:ea typeface="Calibri"/>
                <a:cs typeface="Calibri"/>
                <a:sym typeface="Calibri"/>
              </a:rPr>
              <a:t>engineering</a:t>
            </a:r>
            <a:r>
              <a:rPr lang="en-US" sz="2400" dirty="0" smtClean="0"/>
              <a:t> </a:t>
            </a:r>
            <a:endParaRPr lang="en-US" sz="2400" b="1" dirty="0" smtClean="0">
              <a:solidFill>
                <a:schemeClr val="lt1"/>
              </a:solidFill>
              <a:latin typeface="Calibri"/>
              <a:ea typeface="Calibri"/>
              <a:cs typeface="Calibri"/>
              <a:sym typeface="Calibri"/>
            </a:endParaRPr>
          </a:p>
          <a:p>
            <a:pPr marL="0" lvl="0" indent="0" algn="ctr">
              <a:buClr>
                <a:schemeClr val="dk1"/>
              </a:buClr>
              <a:buSzPts val="1100"/>
              <a:buFont typeface="Arial"/>
              <a:buNone/>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3785611"/>
          </a:xfrm>
          <a:prstGeom prst="rect">
            <a:avLst/>
          </a:prstGeom>
          <a:noFill/>
          <a:ln>
            <a:noFill/>
          </a:ln>
        </p:spPr>
        <p:txBody>
          <a:bodyPr spcFirstLastPara="1" wrap="square" lIns="91425" tIns="45700" rIns="91425" bIns="45700" anchor="t" anchorCtr="0">
            <a:spAutoFit/>
          </a:bodyPr>
          <a:lstStyle/>
          <a:p>
            <a:pPr algn="just"/>
            <a:r>
              <a:rPr lang="en-US" sz="2400" b="1" dirty="0" smtClean="0"/>
              <a:t>Key Techniques:</a:t>
            </a:r>
            <a:r>
              <a:rPr lang="en-US" sz="2400" dirty="0" smtClean="0"/>
              <a:t> Root Cause Analysis (RCA), </a:t>
            </a:r>
            <a:r>
              <a:rPr lang="en-US" sz="2400" dirty="0" smtClean="0">
                <a:hlinkClick r:id="rId3"/>
              </a:rPr>
              <a:t>Reliability Modeling</a:t>
            </a:r>
            <a:r>
              <a:rPr lang="en-US" sz="2400" dirty="0" smtClean="0"/>
              <a:t>, and Accelerated Life Testing (ALT</a:t>
            </a:r>
            <a:r>
              <a:rPr lang="en-US" sz="2400" dirty="0" smtClean="0"/>
              <a:t>).</a:t>
            </a:r>
          </a:p>
          <a:p>
            <a:pPr algn="just"/>
            <a:endParaRPr lang="en-US" sz="2400" dirty="0" smtClean="0"/>
          </a:p>
          <a:p>
            <a:pPr algn="just"/>
            <a:r>
              <a:rPr lang="en-US" sz="2400" b="1" dirty="0" smtClean="0"/>
              <a:t>Objectives: </a:t>
            </a:r>
            <a:r>
              <a:rPr lang="en-US" sz="2400" dirty="0" smtClean="0"/>
              <a:t>Enhance safety, increase product life, minimize maintenance costs, and maximize customer satisfaction</a:t>
            </a:r>
            <a:r>
              <a:rPr lang="en-US" sz="2400" dirty="0" smtClean="0"/>
              <a:t>.</a:t>
            </a:r>
          </a:p>
          <a:p>
            <a:pPr algn="just"/>
            <a:endParaRPr lang="en-US" sz="2400" dirty="0" smtClean="0"/>
          </a:p>
          <a:p>
            <a:pPr algn="just"/>
            <a:r>
              <a:rPr lang="en-US" sz="2400" b="1" dirty="0" smtClean="0"/>
              <a:t>Applications: </a:t>
            </a:r>
            <a:r>
              <a:rPr lang="en-US" sz="2400" dirty="0" smtClean="0"/>
              <a:t>Essential in industries like manufacturing, aerospace, nuclear, and software (Site Reliability Engineering - SRE).</a:t>
            </a:r>
          </a:p>
          <a:p>
            <a:pPr lvl="0" algn="just"/>
            <a:endParaRPr lang="en-US" sz="2400" dirty="0" smtClean="0"/>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Reliability</a:t>
            </a:r>
            <a:r>
              <a:rPr lang="en-US" sz="2400" dirty="0" smtClean="0"/>
              <a:t> </a:t>
            </a:r>
            <a:r>
              <a:rPr lang="en-US" sz="2400" b="1" dirty="0" smtClean="0">
                <a:solidFill>
                  <a:schemeClr val="lt1"/>
                </a:solidFill>
                <a:latin typeface="Calibri"/>
                <a:ea typeface="Calibri"/>
                <a:cs typeface="Calibri"/>
                <a:sym typeface="Calibri"/>
              </a:rPr>
              <a:t>engineering</a:t>
            </a:r>
            <a:r>
              <a:rPr lang="en-US" sz="2400" dirty="0" smtClean="0"/>
              <a:t> </a:t>
            </a:r>
            <a:endParaRPr lang="en-US" sz="2400" b="1" dirty="0" smtClean="0">
              <a:solidFill>
                <a:schemeClr val="lt1"/>
              </a:solidFill>
              <a:latin typeface="Calibri"/>
              <a:ea typeface="Calibri"/>
              <a:cs typeface="Calibri"/>
              <a:sym typeface="Calibri"/>
            </a:endParaRPr>
          </a:p>
          <a:p>
            <a:pPr algn="ctr">
              <a:buClr>
                <a:schemeClr val="dk1"/>
              </a:buClr>
              <a:buSzPts val="1100"/>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6370934"/>
          </a:xfrm>
          <a:prstGeom prst="rect">
            <a:avLst/>
          </a:prstGeom>
          <a:noFill/>
          <a:ln>
            <a:noFill/>
          </a:ln>
        </p:spPr>
        <p:txBody>
          <a:bodyPr spcFirstLastPara="1" wrap="square" lIns="91425" tIns="45700" rIns="91425" bIns="45700" anchor="t" anchorCtr="0">
            <a:spAutoFit/>
          </a:bodyPr>
          <a:lstStyle/>
          <a:p>
            <a:pPr algn="just"/>
            <a:r>
              <a:rPr lang="en-US" sz="2400" dirty="0" smtClean="0"/>
              <a:t>Safety engineering is a specialized discipline focused on preventing accidents, injuries, and system failures by identifying hazards and designing, implementing, and auditing safety systems. It ensures that industrial, chemical, and mechanical systems operate within safe limits, combining engineering principles with risk analysis to protect people and assets.</a:t>
            </a:r>
          </a:p>
          <a:p>
            <a:pPr algn="just"/>
            <a:endParaRPr lang="en-US" sz="2400" dirty="0" smtClean="0"/>
          </a:p>
          <a:p>
            <a:r>
              <a:rPr lang="en-US" sz="2400" b="1" dirty="0" smtClean="0"/>
              <a:t>Key Aspects of Safety Engineering</a:t>
            </a:r>
            <a:endParaRPr lang="en-US" sz="2400" dirty="0" smtClean="0"/>
          </a:p>
          <a:p>
            <a:r>
              <a:rPr lang="en-US" sz="2400" b="1" dirty="0" smtClean="0">
                <a:hlinkClick r:id="rId3"/>
              </a:rPr>
              <a:t>Prevention Through Design</a:t>
            </a:r>
            <a:r>
              <a:rPr lang="en-US" sz="2400" b="1" dirty="0" smtClean="0"/>
              <a:t>:</a:t>
            </a:r>
            <a:r>
              <a:rPr lang="en-US" sz="2400" dirty="0" smtClean="0"/>
              <a:t> Safety engineers design safer equipment,, implement machine guards, and optimize, workflow to eliminate hazards at the source rather than relying solely on personal protective equipment</a:t>
            </a:r>
            <a:r>
              <a:rPr lang="en-US" sz="2400" dirty="0" smtClean="0"/>
              <a:t>.</a:t>
            </a:r>
          </a:p>
          <a:p>
            <a:endParaRPr lang="en-US" sz="2400" dirty="0" smtClean="0"/>
          </a:p>
          <a:p>
            <a:endParaRPr lang="en-US" sz="2400" dirty="0" smtClean="0"/>
          </a:p>
          <a:p>
            <a:endParaRPr lang="en-US" sz="2400" dirty="0" smtClean="0"/>
          </a:p>
          <a:p>
            <a:endParaRPr lang="en-US" sz="2400" dirty="0" smtClean="0"/>
          </a:p>
          <a:p>
            <a:pPr algn="just"/>
            <a:endParaRPr lang="en-US" sz="2400" dirty="0" smtClean="0"/>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sym typeface="Calibri"/>
              </a:rPr>
              <a:t>Safety</a:t>
            </a:r>
            <a:r>
              <a:rPr lang="en-US" sz="2400" dirty="0" smtClean="0"/>
              <a:t> </a:t>
            </a:r>
            <a:r>
              <a:rPr lang="en-US" sz="2400" b="1" dirty="0" smtClean="0">
                <a:solidFill>
                  <a:schemeClr val="lt1"/>
                </a:solidFill>
                <a:latin typeface="Calibri"/>
                <a:ea typeface="Calibri"/>
                <a:cs typeface="Calibri"/>
                <a:sym typeface="Calibri"/>
              </a:rPr>
              <a:t>engineering</a:t>
            </a:r>
            <a:r>
              <a:rPr lang="en-US" sz="2400" dirty="0" smtClean="0"/>
              <a:t> </a:t>
            </a:r>
            <a:endParaRPr lang="en-US" sz="2400" b="1" dirty="0" smtClean="0">
              <a:solidFill>
                <a:schemeClr val="lt1"/>
              </a:solidFill>
              <a:latin typeface="Calibri"/>
              <a:ea typeface="Calibri"/>
              <a:cs typeface="Calibri"/>
              <a:sym typeface="Calibri"/>
            </a:endParaRPr>
          </a:p>
          <a:p>
            <a:pPr algn="ctr">
              <a:buClr>
                <a:schemeClr val="dk1"/>
              </a:buClr>
              <a:buSzPts val="1100"/>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5262939"/>
          </a:xfrm>
          <a:prstGeom prst="rect">
            <a:avLst/>
          </a:prstGeom>
          <a:noFill/>
          <a:ln>
            <a:noFill/>
          </a:ln>
        </p:spPr>
        <p:txBody>
          <a:bodyPr spcFirstLastPara="1" wrap="square" lIns="91425" tIns="45700" rIns="91425" bIns="45700" anchor="t" anchorCtr="0">
            <a:spAutoFit/>
          </a:bodyPr>
          <a:lstStyle/>
          <a:p>
            <a:pPr algn="just"/>
            <a:r>
              <a:rPr lang="en-US" sz="2400" b="1" dirty="0" smtClean="0">
                <a:hlinkClick r:id="rId3"/>
              </a:rPr>
              <a:t>Risk </a:t>
            </a:r>
            <a:r>
              <a:rPr lang="en-US" sz="2400" b="1" dirty="0" smtClean="0">
                <a:hlinkClick r:id="rId3"/>
              </a:rPr>
              <a:t>Management</a:t>
            </a:r>
            <a:r>
              <a:rPr lang="en-US" sz="2400" b="1" dirty="0" smtClean="0"/>
              <a:t>:</a:t>
            </a:r>
            <a:r>
              <a:rPr lang="en-US" sz="2400" dirty="0" smtClean="0"/>
              <a:t> They conduct hazard, analysis (e.g., for fire, explosion, chemical exposure) and evaluate the severity of potential incidents</a:t>
            </a:r>
            <a:r>
              <a:rPr lang="en-US" sz="2400" dirty="0" smtClean="0"/>
              <a:t>.</a:t>
            </a:r>
          </a:p>
          <a:p>
            <a:pPr algn="just"/>
            <a:endParaRPr lang="en-US" sz="2400" dirty="0" smtClean="0"/>
          </a:p>
          <a:p>
            <a:pPr algn="just"/>
            <a:r>
              <a:rPr lang="en-US" sz="2400" b="1" dirty="0" smtClean="0">
                <a:hlinkClick r:id="rId4"/>
              </a:rPr>
              <a:t>Compliance and Regulation</a:t>
            </a:r>
            <a:r>
              <a:rPr lang="en-US" sz="2400" b="1" dirty="0" smtClean="0"/>
              <a:t>:</a:t>
            </a:r>
            <a:r>
              <a:rPr lang="en-US" sz="2400" dirty="0" smtClean="0"/>
              <a:t> Safety engineers ensure, workplaces adhere to local and international safety standards and regulations</a:t>
            </a:r>
            <a:r>
              <a:rPr lang="en-US" sz="2400" dirty="0" smtClean="0"/>
              <a:t>.</a:t>
            </a:r>
          </a:p>
          <a:p>
            <a:pPr algn="just"/>
            <a:r>
              <a:rPr lang="en-US" sz="2400" b="1" dirty="0" smtClean="0">
                <a:hlinkClick r:id="rId5"/>
              </a:rPr>
              <a:t>Audit </a:t>
            </a:r>
            <a:r>
              <a:rPr lang="en-US" sz="2400" b="1" dirty="0" smtClean="0">
                <a:hlinkClick r:id="rId5"/>
              </a:rPr>
              <a:t>and Inspection</a:t>
            </a:r>
            <a:r>
              <a:rPr lang="en-US" sz="2400" b="1" dirty="0" smtClean="0"/>
              <a:t>:</a:t>
            </a:r>
            <a:r>
              <a:rPr lang="en-US" sz="2400" dirty="0" smtClean="0"/>
              <a:t> They perform regular inspections to ensure machinery is properly maintained and safety procedures are followed</a:t>
            </a:r>
            <a:r>
              <a:rPr lang="en-US" sz="2400" dirty="0" smtClean="0"/>
              <a:t>.</a:t>
            </a:r>
          </a:p>
          <a:p>
            <a:pPr algn="just"/>
            <a:r>
              <a:rPr lang="en-US" sz="2400" b="1" dirty="0" smtClean="0">
                <a:hlinkClick r:id="rId6"/>
              </a:rPr>
              <a:t>Root </a:t>
            </a:r>
            <a:r>
              <a:rPr lang="en-US" sz="2400" b="1" dirty="0" smtClean="0">
                <a:hlinkClick r:id="rId6"/>
              </a:rPr>
              <a:t>Cause Analysis</a:t>
            </a:r>
            <a:r>
              <a:rPr lang="en-US" sz="2400" b="1" dirty="0" smtClean="0"/>
              <a:t>:</a:t>
            </a:r>
            <a:r>
              <a:rPr lang="en-US" sz="2400" dirty="0" smtClean="0"/>
              <a:t> When incidents occur, safety engineers analyze, the causes to prevent recurrence</a:t>
            </a:r>
            <a:r>
              <a:rPr lang="en-US" sz="2400" dirty="0" smtClean="0"/>
              <a:t>.</a:t>
            </a:r>
          </a:p>
          <a:p>
            <a:endParaRPr lang="en-US" sz="2400" dirty="0" smtClean="0"/>
          </a:p>
          <a:p>
            <a:pPr algn="just"/>
            <a:endParaRPr lang="en-US" sz="2400" dirty="0" smtClean="0"/>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sym typeface="Calibri"/>
              </a:rPr>
              <a:t>Safety</a:t>
            </a:r>
            <a:r>
              <a:rPr lang="en-US" sz="2400" dirty="0" smtClean="0"/>
              <a:t> </a:t>
            </a:r>
            <a:r>
              <a:rPr lang="en-US" sz="2400" b="1" dirty="0" smtClean="0">
                <a:solidFill>
                  <a:schemeClr val="lt1"/>
                </a:solidFill>
                <a:latin typeface="Calibri"/>
                <a:ea typeface="Calibri"/>
                <a:cs typeface="Calibri"/>
                <a:sym typeface="Calibri"/>
              </a:rPr>
              <a:t>engineering</a:t>
            </a:r>
            <a:r>
              <a:rPr lang="en-US" sz="2400" dirty="0" smtClean="0"/>
              <a:t> </a:t>
            </a:r>
            <a:endParaRPr lang="en-US" sz="2400" b="1" dirty="0" smtClean="0">
              <a:solidFill>
                <a:schemeClr val="lt1"/>
              </a:solidFill>
              <a:latin typeface="Calibri"/>
              <a:ea typeface="Calibri"/>
              <a:cs typeface="Calibri"/>
              <a:sym typeface="Calibri"/>
            </a:endParaRPr>
          </a:p>
          <a:p>
            <a:pPr algn="ctr">
              <a:buClr>
                <a:schemeClr val="dk1"/>
              </a:buClr>
              <a:buSzPts val="1100"/>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4524275"/>
          </a:xfrm>
          <a:prstGeom prst="rect">
            <a:avLst/>
          </a:prstGeom>
          <a:noFill/>
          <a:ln>
            <a:noFill/>
          </a:ln>
        </p:spPr>
        <p:txBody>
          <a:bodyPr spcFirstLastPara="1" wrap="square" lIns="91425" tIns="45700" rIns="91425" bIns="45700" anchor="t" anchorCtr="0">
            <a:spAutoFit/>
          </a:bodyPr>
          <a:lstStyle/>
          <a:p>
            <a:pPr algn="just"/>
            <a:r>
              <a:rPr lang="en-US" sz="2400" b="1" dirty="0" smtClean="0"/>
              <a:t>Core </a:t>
            </a:r>
            <a:r>
              <a:rPr lang="en-US" sz="2400" b="1" dirty="0" smtClean="0"/>
              <a:t>Components</a:t>
            </a:r>
            <a:endParaRPr lang="en-US" sz="2400" dirty="0" smtClean="0"/>
          </a:p>
          <a:p>
            <a:pPr algn="just"/>
            <a:r>
              <a:rPr lang="en-US" sz="2400" b="1" dirty="0" smtClean="0">
                <a:hlinkClick r:id="rId3"/>
              </a:rPr>
              <a:t>System Safety Engineering</a:t>
            </a:r>
            <a:r>
              <a:rPr lang="en-US" sz="2400" b="1" dirty="0" smtClean="0"/>
              <a:t>:</a:t>
            </a:r>
            <a:r>
              <a:rPr lang="en-US" sz="2400" dirty="0" smtClean="0"/>
              <a:t> Ensures that, complex, high-risk, systems (like, aerospace or, chemical plants) behave safely even if components fail</a:t>
            </a:r>
            <a:r>
              <a:rPr lang="en-US" sz="2400" dirty="0" smtClean="0"/>
              <a:t>.</a:t>
            </a:r>
          </a:p>
          <a:p>
            <a:pPr algn="just"/>
            <a:endParaRPr lang="en-US" sz="2400" dirty="0" smtClean="0"/>
          </a:p>
          <a:p>
            <a:pPr algn="just"/>
            <a:r>
              <a:rPr lang="en-US" sz="2400" b="1" dirty="0" smtClean="0">
                <a:hlinkClick r:id="rId4"/>
              </a:rPr>
              <a:t>Process Safety Management</a:t>
            </a:r>
            <a:r>
              <a:rPr lang="en-US" sz="2400" b="1" dirty="0" smtClean="0"/>
              <a:t>:</a:t>
            </a:r>
            <a:r>
              <a:rPr lang="en-US" sz="2400" dirty="0" smtClean="0"/>
              <a:t> Focuses on preventing, releases of, hazardous, materials or energy</a:t>
            </a:r>
            <a:r>
              <a:rPr lang="en-US" sz="2400" dirty="0" smtClean="0"/>
              <a:t>.</a:t>
            </a:r>
          </a:p>
          <a:p>
            <a:pPr algn="just"/>
            <a:endParaRPr lang="en-US" sz="2400" dirty="0" smtClean="0"/>
          </a:p>
          <a:p>
            <a:pPr algn="just"/>
            <a:r>
              <a:rPr lang="en-US" sz="2400" b="1" dirty="0" smtClean="0">
                <a:hlinkClick r:id="rId5"/>
              </a:rPr>
              <a:t>Human Factors Engineering</a:t>
            </a:r>
            <a:r>
              <a:rPr lang="en-US" sz="2400" b="1" dirty="0" smtClean="0"/>
              <a:t>:</a:t>
            </a:r>
            <a:r>
              <a:rPr lang="en-US" sz="2400" dirty="0" smtClean="0"/>
              <a:t> Accounts for human behavior and, limitations in system design to reduce errors</a:t>
            </a:r>
          </a:p>
          <a:p>
            <a:endParaRPr lang="en-US" sz="2400" dirty="0" smtClean="0"/>
          </a:p>
          <a:p>
            <a:pPr algn="just"/>
            <a:endParaRPr lang="en-US" sz="2400" dirty="0" smtClean="0"/>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sym typeface="Calibri"/>
              </a:rPr>
              <a:t>Safety</a:t>
            </a:r>
            <a:r>
              <a:rPr lang="en-US" sz="2400" dirty="0" smtClean="0"/>
              <a:t> </a:t>
            </a:r>
            <a:r>
              <a:rPr lang="en-US" sz="2400" b="1" dirty="0" smtClean="0">
                <a:solidFill>
                  <a:schemeClr val="lt1"/>
                </a:solidFill>
                <a:latin typeface="Calibri"/>
                <a:ea typeface="Calibri"/>
                <a:cs typeface="Calibri"/>
                <a:sym typeface="Calibri"/>
              </a:rPr>
              <a:t>engineering</a:t>
            </a:r>
            <a:r>
              <a:rPr lang="en-US" sz="2400" dirty="0" smtClean="0"/>
              <a:t> </a:t>
            </a:r>
            <a:endParaRPr lang="en-US" sz="2400" b="1" dirty="0" smtClean="0">
              <a:solidFill>
                <a:schemeClr val="lt1"/>
              </a:solidFill>
              <a:latin typeface="Calibri"/>
              <a:ea typeface="Calibri"/>
              <a:cs typeface="Calibri"/>
              <a:sym typeface="Calibri"/>
            </a:endParaRPr>
          </a:p>
          <a:p>
            <a:pPr algn="ctr">
              <a:buClr>
                <a:schemeClr val="dk1"/>
              </a:buClr>
              <a:buSzPts val="1100"/>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5632271"/>
          </a:xfrm>
          <a:prstGeom prst="rect">
            <a:avLst/>
          </a:prstGeom>
          <a:noFill/>
          <a:ln>
            <a:noFill/>
          </a:ln>
        </p:spPr>
        <p:txBody>
          <a:bodyPr spcFirstLastPara="1" wrap="square" lIns="91425" tIns="45700" rIns="91425" bIns="45700" anchor="t" anchorCtr="0">
            <a:spAutoFit/>
          </a:bodyPr>
          <a:lstStyle/>
          <a:p>
            <a:pPr algn="just"/>
            <a:r>
              <a:rPr lang="en-US" sz="2400" dirty="0" smtClean="0"/>
              <a:t>Security engineering is an interdisciplinary, proactive field focused on designing, implementing, and maintaining secure, resilient information systems to prevent unauthorized access and malicious behavior. It involves integrating security controls early in the development lifecycle to manage risk, utilizing tools like firewalls, SIEM, and cryptography</a:t>
            </a:r>
            <a:r>
              <a:rPr lang="en-US" sz="2400" dirty="0" smtClean="0"/>
              <a:t>.</a:t>
            </a:r>
          </a:p>
          <a:p>
            <a:pPr algn="just"/>
            <a:endParaRPr lang="en-US" sz="2400" dirty="0" smtClean="0"/>
          </a:p>
          <a:p>
            <a:pPr algn="just"/>
            <a:r>
              <a:rPr lang="en-US" sz="2400" dirty="0" smtClean="0"/>
              <a:t>Key aspects of security engineering include:</a:t>
            </a:r>
          </a:p>
          <a:p>
            <a:pPr algn="just"/>
            <a:r>
              <a:rPr lang="en-US" sz="2400" b="1" dirty="0" smtClean="0"/>
              <a:t>Proactive Security:</a:t>
            </a:r>
            <a:r>
              <a:rPr lang="en-US" sz="2400" dirty="0" smtClean="0"/>
              <a:t> Instead of just responding to incidents, security engineers anticipate, identify, and mitigate risks, often using techniques like penetration testing</a:t>
            </a:r>
            <a:r>
              <a:rPr lang="en-US" sz="2400" dirty="0" smtClean="0"/>
              <a:t>.</a:t>
            </a:r>
          </a:p>
          <a:p>
            <a:pPr algn="just"/>
            <a:endParaRPr lang="en-US" sz="2400" dirty="0" smtClean="0"/>
          </a:p>
          <a:p>
            <a:pPr algn="just"/>
            <a:endParaRPr lang="en-US" sz="2400" dirty="0" smtClean="0"/>
          </a:p>
          <a:p>
            <a:pPr algn="just"/>
            <a:endParaRPr lang="en-US" sz="2400" dirty="0" smtClean="0"/>
          </a:p>
          <a:p>
            <a:pPr algn="just"/>
            <a:endParaRPr lang="en-US" sz="2400" dirty="0" smtClean="0"/>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 </a:t>
            </a:r>
            <a:r>
              <a:rPr lang="en-US" sz="2400" b="1" dirty="0" smtClean="0">
                <a:solidFill>
                  <a:schemeClr val="lt1"/>
                </a:solidFill>
                <a:latin typeface="Calibri"/>
                <a:sym typeface="Calibri"/>
              </a:rPr>
              <a:t>Security</a:t>
            </a:r>
            <a:r>
              <a:rPr lang="en-US" sz="2400" dirty="0" smtClean="0"/>
              <a:t> </a:t>
            </a:r>
            <a:r>
              <a:rPr lang="en-US" sz="2400" b="1" dirty="0" smtClean="0">
                <a:solidFill>
                  <a:schemeClr val="lt1"/>
                </a:solidFill>
                <a:latin typeface="Calibri"/>
                <a:sym typeface="Calibri"/>
              </a:rPr>
              <a:t>Engineering</a:t>
            </a:r>
            <a:r>
              <a:rPr lang="en-US" sz="2400" dirty="0" smtClean="0"/>
              <a:t> </a:t>
            </a:r>
            <a:endParaRPr lang="en-US" sz="2400" b="1" dirty="0" smtClean="0">
              <a:solidFill>
                <a:schemeClr val="lt1"/>
              </a:solidFill>
              <a:latin typeface="Calibri"/>
              <a:ea typeface="Calibri"/>
              <a:cs typeface="Calibri"/>
              <a:sym typeface="Calibri"/>
            </a:endParaRPr>
          </a:p>
          <a:p>
            <a:pPr algn="ctr">
              <a:buClr>
                <a:schemeClr val="dk1"/>
              </a:buClr>
              <a:buSzPts val="1100"/>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5632271"/>
          </a:xfrm>
          <a:prstGeom prst="rect">
            <a:avLst/>
          </a:prstGeom>
          <a:noFill/>
          <a:ln>
            <a:noFill/>
          </a:ln>
        </p:spPr>
        <p:txBody>
          <a:bodyPr spcFirstLastPara="1" wrap="square" lIns="91425" tIns="45700" rIns="91425" bIns="45700" anchor="t" anchorCtr="0">
            <a:spAutoFit/>
          </a:bodyPr>
          <a:lstStyle/>
          <a:p>
            <a:pPr algn="just"/>
            <a:r>
              <a:rPr lang="en-US" sz="2400" b="1" dirty="0" smtClean="0"/>
              <a:t>Core </a:t>
            </a:r>
            <a:r>
              <a:rPr lang="en-US" sz="2400" b="1" dirty="0" smtClean="0"/>
              <a:t>Functions:</a:t>
            </a:r>
            <a:r>
              <a:rPr lang="en-US" sz="2400" dirty="0" smtClean="0"/>
              <a:t> Responsibilities include designing secure network architectures, implementing encryption, managing access controls, and developing automated tools for security monitoring.</a:t>
            </a:r>
          </a:p>
          <a:p>
            <a:pPr algn="just"/>
            <a:r>
              <a:rPr lang="en-US" sz="2400" b="1" dirty="0" smtClean="0"/>
              <a:t>Skill Set:</a:t>
            </a:r>
            <a:r>
              <a:rPr lang="en-US" sz="2400" dirty="0" smtClean="0"/>
              <a:t> Strong foundations in coding (Python, C++), networking, cryptography, and operating system security are crucial</a:t>
            </a:r>
            <a:r>
              <a:rPr lang="en-US" sz="2400" dirty="0" smtClean="0"/>
              <a:t>.</a:t>
            </a:r>
          </a:p>
          <a:p>
            <a:pPr algn="just"/>
            <a:r>
              <a:rPr lang="en-US" sz="2400" b="1" dirty="0" smtClean="0"/>
              <a:t>Key </a:t>
            </a:r>
            <a:r>
              <a:rPr lang="en-US" sz="2400" b="1" dirty="0" smtClean="0"/>
              <a:t>Principles:</a:t>
            </a:r>
            <a:r>
              <a:rPr lang="en-US" sz="2400" dirty="0" smtClean="0"/>
              <a:t> Security engineers rely on principles like </a:t>
            </a:r>
            <a:r>
              <a:rPr lang="en-US" sz="2400" dirty="0" smtClean="0">
                <a:hlinkClick r:id="rId3"/>
              </a:rPr>
              <a:t>defense in depth</a:t>
            </a:r>
            <a:r>
              <a:rPr lang="en-US" sz="2400" dirty="0" smtClean="0"/>
              <a:t> (layered security) and the principle of </a:t>
            </a:r>
            <a:r>
              <a:rPr lang="en-US" sz="2400" dirty="0" smtClean="0">
                <a:hlinkClick r:id="rId4"/>
              </a:rPr>
              <a:t>least privilege</a:t>
            </a:r>
            <a:r>
              <a:rPr lang="en-US" sz="2400" dirty="0" smtClean="0"/>
              <a:t>.</a:t>
            </a:r>
          </a:p>
          <a:p>
            <a:pPr algn="just"/>
            <a:r>
              <a:rPr lang="en-US" sz="2400" b="1" dirty="0" smtClean="0"/>
              <a:t>Interdisciplinary </a:t>
            </a:r>
            <a:r>
              <a:rPr lang="en-US" sz="2400" b="1" dirty="0" smtClean="0"/>
              <a:t>Scope:</a:t>
            </a:r>
            <a:r>
              <a:rPr lang="en-US" sz="2400" dirty="0" smtClean="0"/>
              <a:t> The field integrates knowledge from computer science with psychology, sociology, economics, and physics to build dependable systems. </a:t>
            </a:r>
          </a:p>
          <a:p>
            <a:pPr algn="just"/>
            <a:endParaRPr lang="en-US" sz="2400" dirty="0" smtClean="0"/>
          </a:p>
          <a:p>
            <a:pPr algn="just"/>
            <a:endParaRPr lang="en-US" sz="2400" dirty="0" smtClean="0"/>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 </a:t>
            </a:r>
            <a:r>
              <a:rPr lang="en-US" sz="2400" b="1" dirty="0" smtClean="0">
                <a:solidFill>
                  <a:schemeClr val="lt1"/>
                </a:solidFill>
                <a:latin typeface="Calibri"/>
                <a:sym typeface="Calibri"/>
              </a:rPr>
              <a:t>Security</a:t>
            </a:r>
            <a:r>
              <a:rPr lang="en-US" sz="2400" dirty="0" smtClean="0"/>
              <a:t> </a:t>
            </a:r>
            <a:r>
              <a:rPr lang="en-US" sz="2400" b="1" dirty="0" smtClean="0">
                <a:solidFill>
                  <a:schemeClr val="lt1"/>
                </a:solidFill>
                <a:latin typeface="Calibri"/>
                <a:sym typeface="Calibri"/>
              </a:rPr>
              <a:t>Engineering</a:t>
            </a:r>
            <a:r>
              <a:rPr lang="en-US" sz="2400" dirty="0" smtClean="0"/>
              <a:t> </a:t>
            </a:r>
            <a:endParaRPr lang="en-US" sz="2400" b="1" dirty="0" smtClean="0">
              <a:solidFill>
                <a:schemeClr val="lt1"/>
              </a:solidFill>
              <a:latin typeface="Calibri"/>
              <a:ea typeface="Calibri"/>
              <a:cs typeface="Calibri"/>
              <a:sym typeface="Calibri"/>
            </a:endParaRPr>
          </a:p>
          <a:p>
            <a:pPr algn="ctr">
              <a:buClr>
                <a:schemeClr val="dk1"/>
              </a:buClr>
              <a:buSzPts val="1100"/>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6001603"/>
          </a:xfrm>
          <a:prstGeom prst="rect">
            <a:avLst/>
          </a:prstGeom>
          <a:noFill/>
          <a:ln>
            <a:noFill/>
          </a:ln>
        </p:spPr>
        <p:txBody>
          <a:bodyPr spcFirstLastPara="1" wrap="square" lIns="91425" tIns="45700" rIns="91425" bIns="45700" anchor="t" anchorCtr="0">
            <a:spAutoFit/>
          </a:bodyPr>
          <a:lstStyle/>
          <a:p>
            <a:pPr algn="just"/>
            <a:r>
              <a:rPr lang="en-US" sz="2400" dirty="0" smtClean="0"/>
              <a:t>Resilience engineering is a safety and operational discipline focused on building systems that can anticipate, absorb, adapt to, and recover from unexpected disruptions or failures. Unlike traditional safety methods that focus on preventing specific hazards (Safety-I), it emphasizes the ability to sustain operations under changing conditions and learn from both successes and failures. </a:t>
            </a:r>
            <a:endParaRPr lang="en-US" sz="2400" dirty="0" smtClean="0"/>
          </a:p>
          <a:p>
            <a:pPr algn="just"/>
            <a:endParaRPr lang="en-US" sz="2400" dirty="0" smtClean="0"/>
          </a:p>
          <a:p>
            <a:pPr algn="just"/>
            <a:r>
              <a:rPr lang="en-US" sz="2400" b="1" dirty="0" smtClean="0"/>
              <a:t>Key Aspects of Resilience Engineering:</a:t>
            </a:r>
            <a:endParaRPr lang="en-US" sz="2400" dirty="0" smtClean="0"/>
          </a:p>
          <a:p>
            <a:pPr algn="just"/>
            <a:r>
              <a:rPr lang="en-US" sz="2400" b="1" dirty="0" smtClean="0"/>
              <a:t>Proactive Management:</a:t>
            </a:r>
            <a:r>
              <a:rPr lang="en-US" sz="2400" dirty="0" smtClean="0"/>
              <a:t> It shifts from reacting to incidents to actively identifying potential failure modes before they cause damage.</a:t>
            </a:r>
          </a:p>
          <a:p>
            <a:pPr algn="just"/>
            <a:endParaRPr lang="en-US" sz="2400" dirty="0" smtClean="0"/>
          </a:p>
          <a:p>
            <a:pPr algn="just"/>
            <a:endParaRPr lang="en-US" sz="2400" dirty="0" smtClean="0"/>
          </a:p>
          <a:p>
            <a:pPr algn="just"/>
            <a:endParaRPr lang="en-US" sz="2400" dirty="0" smtClean="0"/>
          </a:p>
          <a:p>
            <a:pPr algn="just"/>
            <a:endParaRPr lang="en-US" sz="2400" dirty="0" smtClean="0"/>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 </a:t>
            </a:r>
            <a:r>
              <a:rPr lang="en-US" sz="2400" b="1" dirty="0" smtClean="0">
                <a:solidFill>
                  <a:schemeClr val="lt1"/>
                </a:solidFill>
                <a:latin typeface="Calibri"/>
                <a:sym typeface="Calibri"/>
              </a:rPr>
              <a:t> </a:t>
            </a:r>
            <a:r>
              <a:rPr lang="en-US" sz="2400" b="1" dirty="0" smtClean="0">
                <a:solidFill>
                  <a:schemeClr val="lt1"/>
                </a:solidFill>
                <a:latin typeface="Calibri"/>
                <a:sym typeface="Calibri"/>
              </a:rPr>
              <a:t>Resilience</a:t>
            </a:r>
            <a:r>
              <a:rPr lang="en-US" sz="2400" dirty="0" smtClean="0"/>
              <a:t> </a:t>
            </a:r>
            <a:r>
              <a:rPr lang="en-US" sz="2400" b="1" dirty="0" smtClean="0">
                <a:solidFill>
                  <a:schemeClr val="lt1"/>
                </a:solidFill>
                <a:latin typeface="Calibri"/>
                <a:sym typeface="Calibri"/>
              </a:rPr>
              <a:t>engineering</a:t>
            </a:r>
            <a:r>
              <a:rPr lang="en-US" sz="2400" dirty="0" smtClean="0"/>
              <a:t> </a:t>
            </a:r>
            <a:endParaRPr lang="en-US" sz="2400" b="1" dirty="0" smtClean="0">
              <a:solidFill>
                <a:schemeClr val="lt1"/>
              </a:solidFill>
              <a:latin typeface="Calibri"/>
              <a:ea typeface="Calibri"/>
              <a:cs typeface="Calibri"/>
              <a:sym typeface="Calibri"/>
            </a:endParaRPr>
          </a:p>
          <a:p>
            <a:pPr algn="ctr">
              <a:buClr>
                <a:schemeClr val="dk1"/>
              </a:buClr>
              <a:buSzPts val="1100"/>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6001603"/>
          </a:xfrm>
          <a:prstGeom prst="rect">
            <a:avLst/>
          </a:prstGeom>
          <a:noFill/>
          <a:ln>
            <a:noFill/>
          </a:ln>
        </p:spPr>
        <p:txBody>
          <a:bodyPr spcFirstLastPara="1" wrap="square" lIns="91425" tIns="45700" rIns="91425" bIns="45700" anchor="t" anchorCtr="0">
            <a:spAutoFit/>
          </a:bodyPr>
          <a:lstStyle/>
          <a:p>
            <a:pPr algn="just"/>
            <a:r>
              <a:rPr lang="en-US" sz="2400" b="1" dirty="0" smtClean="0"/>
              <a:t>Complex </a:t>
            </a:r>
            <a:r>
              <a:rPr lang="en-US" sz="2400" b="1" dirty="0" smtClean="0"/>
              <a:t>Adaptive Systems:</a:t>
            </a:r>
            <a:r>
              <a:rPr lang="en-US" sz="2400" dirty="0" smtClean="0"/>
              <a:t> It treats systems (e.g., IT, healthcare, aviation) holistically, acknowledging that, in modern, interconnected systems, failures are inevitable, necessitating systems that can adapt</a:t>
            </a:r>
            <a:r>
              <a:rPr lang="en-US" sz="2400" dirty="0" smtClean="0"/>
              <a:t>.</a:t>
            </a:r>
          </a:p>
          <a:p>
            <a:pPr algn="just"/>
            <a:endParaRPr lang="en-US" sz="2400" dirty="0" smtClean="0"/>
          </a:p>
          <a:p>
            <a:pPr algn="just"/>
            <a:r>
              <a:rPr lang="en-US" sz="2400" b="1" dirty="0" smtClean="0"/>
              <a:t>Safety-II Approach:</a:t>
            </a:r>
            <a:r>
              <a:rPr lang="en-US" sz="2400" dirty="0" smtClean="0"/>
              <a:t> It operates on the principle that to ensure safety, systems must be able to function under varying, often unpredictable conditions, rather than just eliminating failures</a:t>
            </a:r>
            <a:r>
              <a:rPr lang="en-US" sz="2400" dirty="0" smtClean="0"/>
              <a:t>.</a:t>
            </a:r>
          </a:p>
          <a:p>
            <a:pPr algn="just"/>
            <a:endParaRPr lang="en-US" sz="2400" b="1" dirty="0" smtClean="0"/>
          </a:p>
          <a:p>
            <a:pPr algn="just"/>
            <a:r>
              <a:rPr lang="en-US" sz="2400" b="1" dirty="0" smtClean="0"/>
              <a:t>Application </a:t>
            </a:r>
            <a:r>
              <a:rPr lang="en-US" sz="2400" b="1" dirty="0" smtClean="0"/>
              <a:t>Areas:</a:t>
            </a:r>
            <a:r>
              <a:rPr lang="en-US" sz="2400" dirty="0" smtClean="0"/>
              <a:t> It is used to build robust software (e.g., handling immense transaction loads), in </a:t>
            </a:r>
            <a:r>
              <a:rPr lang="en-US" sz="2400" dirty="0" err="1" smtClean="0"/>
              <a:t>cybersecurity</a:t>
            </a:r>
            <a:r>
              <a:rPr lang="en-US" sz="2400" dirty="0" smtClean="0"/>
              <a:t>, and in critical infrastructure like power plants and hospitals to maintain service continuity. </a:t>
            </a:r>
            <a:r>
              <a:rPr lang="en-US" sz="2400" dirty="0" smtClean="0"/>
              <a:t> </a:t>
            </a:r>
          </a:p>
          <a:p>
            <a:pPr algn="just"/>
            <a:endParaRPr lang="en-US" sz="2400" dirty="0" smtClean="0"/>
          </a:p>
          <a:p>
            <a:pPr algn="just"/>
            <a:endParaRPr lang="en-US" sz="2400" dirty="0" smtClean="0"/>
          </a:p>
          <a:p>
            <a:pPr algn="just"/>
            <a:endParaRPr lang="en-US" sz="2400" dirty="0" smtClean="0"/>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 </a:t>
            </a:r>
            <a:r>
              <a:rPr lang="en-US" sz="2400" b="1" dirty="0" smtClean="0">
                <a:solidFill>
                  <a:schemeClr val="lt1"/>
                </a:solidFill>
                <a:latin typeface="Calibri"/>
                <a:sym typeface="Calibri"/>
              </a:rPr>
              <a:t> </a:t>
            </a:r>
            <a:r>
              <a:rPr lang="en-US" sz="2400" b="1" dirty="0" smtClean="0">
                <a:solidFill>
                  <a:schemeClr val="lt1"/>
                </a:solidFill>
                <a:latin typeface="Calibri"/>
                <a:sym typeface="Calibri"/>
              </a:rPr>
              <a:t>Resilience</a:t>
            </a:r>
            <a:r>
              <a:rPr lang="en-US" sz="2400" dirty="0" smtClean="0"/>
              <a:t> </a:t>
            </a:r>
            <a:r>
              <a:rPr lang="en-US" sz="2400" b="1" dirty="0" smtClean="0">
                <a:solidFill>
                  <a:schemeClr val="lt1"/>
                </a:solidFill>
                <a:latin typeface="Calibri"/>
                <a:sym typeface="Calibri"/>
              </a:rPr>
              <a:t>engineering</a:t>
            </a:r>
            <a:r>
              <a:rPr lang="en-US" sz="2400" dirty="0" smtClean="0"/>
              <a:t> </a:t>
            </a:r>
            <a:endParaRPr lang="en-US" sz="2400" b="1" dirty="0" smtClean="0">
              <a:solidFill>
                <a:schemeClr val="lt1"/>
              </a:solidFill>
              <a:latin typeface="Calibri"/>
              <a:ea typeface="Calibri"/>
              <a:cs typeface="Calibri"/>
              <a:sym typeface="Calibri"/>
            </a:endParaRPr>
          </a:p>
          <a:p>
            <a:pPr algn="ctr">
              <a:buClr>
                <a:schemeClr val="dk1"/>
              </a:buClr>
              <a:buSzPts val="1100"/>
            </a:pPr>
            <a:endParaRPr lang="en-US" sz="2400" b="1" dirty="0">
              <a:solidFill>
                <a:schemeClr val="lt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54577" y="1023576"/>
            <a:ext cx="1847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2"/>
              </a:solidFill>
              <a:latin typeface="Calibri"/>
              <a:ea typeface="Calibri"/>
              <a:cs typeface="Calibri"/>
              <a:sym typeface="Calibri"/>
            </a:endParaRPr>
          </a:p>
        </p:txBody>
      </p:sp>
      <p:cxnSp>
        <p:nvCxnSpPr>
          <p:cNvPr id="64" name="Google Shape;64;p4"/>
          <p:cNvCxnSpPr/>
          <p:nvPr/>
        </p:nvCxnSpPr>
        <p:spPr>
          <a:xfrm>
            <a:off x="0" y="1023576"/>
            <a:ext cx="9144000" cy="0"/>
          </a:xfrm>
          <a:prstGeom prst="straightConnector1">
            <a:avLst/>
          </a:prstGeom>
          <a:noFill/>
          <a:ln w="9525" cap="flat" cmpd="sng">
            <a:solidFill>
              <a:schemeClr val="accent1"/>
            </a:solidFill>
            <a:prstDash val="solid"/>
            <a:miter lim="800000"/>
            <a:headEnd type="none" w="sm" len="sm"/>
            <a:tailEnd type="none" w="sm" len="sm"/>
          </a:ln>
        </p:spPr>
      </p:cxnSp>
      <p:sp>
        <p:nvSpPr>
          <p:cNvPr id="65" name="Google Shape;65;p4"/>
          <p:cNvSpPr txBox="1"/>
          <p:nvPr/>
        </p:nvSpPr>
        <p:spPr>
          <a:xfrm>
            <a:off x="0" y="1600200"/>
            <a:ext cx="8795400" cy="5262939"/>
          </a:xfrm>
          <a:prstGeom prst="rect">
            <a:avLst/>
          </a:prstGeom>
          <a:noFill/>
          <a:ln>
            <a:noFill/>
          </a:ln>
        </p:spPr>
        <p:txBody>
          <a:bodyPr spcFirstLastPara="1" wrap="square" lIns="91425" tIns="45700" rIns="91425" bIns="45700" anchor="t" anchorCtr="0">
            <a:spAutoFit/>
          </a:bodyPr>
          <a:lstStyle/>
          <a:p>
            <a:pPr algn="just"/>
            <a:r>
              <a:rPr lang="en-US" sz="2400" b="1" dirty="0" smtClean="0"/>
              <a:t>Components </a:t>
            </a:r>
            <a:r>
              <a:rPr lang="en-US" sz="2400" b="1" dirty="0" smtClean="0"/>
              <a:t>of a Resilient System:</a:t>
            </a:r>
            <a:endParaRPr lang="en-US" sz="2400" dirty="0" smtClean="0"/>
          </a:p>
          <a:p>
            <a:pPr algn="just"/>
            <a:r>
              <a:rPr lang="en-US" sz="2400" dirty="0" smtClean="0">
                <a:hlinkClick r:id="rId3"/>
              </a:rPr>
              <a:t>Robustness</a:t>
            </a:r>
            <a:r>
              <a:rPr lang="en-US" sz="2400" b="1" dirty="0" smtClean="0"/>
              <a:t>:</a:t>
            </a:r>
            <a:r>
              <a:rPr lang="en-US" sz="2400" dirty="0" smtClean="0"/>
              <a:t> The ability to withstand disturbances</a:t>
            </a:r>
            <a:r>
              <a:rPr lang="en-US" sz="2400" dirty="0" smtClean="0"/>
              <a:t>.</a:t>
            </a:r>
          </a:p>
          <a:p>
            <a:pPr algn="just"/>
            <a:endParaRPr lang="en-US" sz="2400" dirty="0" smtClean="0"/>
          </a:p>
          <a:p>
            <a:pPr algn="just"/>
            <a:r>
              <a:rPr lang="en-US" sz="2400" b="1" dirty="0" smtClean="0"/>
              <a:t>Adaptability:</a:t>
            </a:r>
            <a:r>
              <a:rPr lang="en-US" sz="2400" dirty="0" smtClean="0"/>
              <a:t> The capability to change or adjust to new conditions</a:t>
            </a:r>
            <a:r>
              <a:rPr lang="en-US" sz="2400" dirty="0" smtClean="0"/>
              <a:t>.</a:t>
            </a:r>
          </a:p>
          <a:p>
            <a:pPr algn="just"/>
            <a:endParaRPr lang="en-US" sz="2400" dirty="0" smtClean="0"/>
          </a:p>
          <a:p>
            <a:pPr algn="just"/>
            <a:r>
              <a:rPr lang="en-US" sz="2400" b="1" dirty="0" smtClean="0"/>
              <a:t>Recoverability:</a:t>
            </a:r>
            <a:r>
              <a:rPr lang="en-US" sz="2400" dirty="0" smtClean="0"/>
              <a:t> The capacity to return to a stable state after a disruption. </a:t>
            </a:r>
            <a:endParaRPr lang="en-US" sz="2400" dirty="0" smtClean="0"/>
          </a:p>
          <a:p>
            <a:pPr algn="just"/>
            <a:endParaRPr lang="en-US" sz="2400" dirty="0" smtClean="0"/>
          </a:p>
          <a:p>
            <a:pPr algn="just"/>
            <a:r>
              <a:rPr lang="en-US" sz="2400" dirty="0" smtClean="0"/>
              <a:t>Resilience engineering ensures systems are not just safe, but also flexible and efficient in unpredictable environments. </a:t>
            </a:r>
          </a:p>
          <a:p>
            <a:pPr algn="just"/>
            <a:endParaRPr lang="en-US" sz="2400" dirty="0" smtClean="0"/>
          </a:p>
          <a:p>
            <a:pPr algn="just"/>
            <a:endParaRPr lang="en-US" sz="2400" dirty="0" smtClean="0"/>
          </a:p>
          <a:p>
            <a:pPr algn="just"/>
            <a:endParaRPr lang="en-US" sz="2400" dirty="0" smtClean="0"/>
          </a:p>
        </p:txBody>
      </p:sp>
      <p:sp>
        <p:nvSpPr>
          <p:cNvPr id="66" name="Google Shape;66;p4"/>
          <p:cNvSpPr/>
          <p:nvPr/>
        </p:nvSpPr>
        <p:spPr>
          <a:xfrm>
            <a:off x="0" y="1066800"/>
            <a:ext cx="9143365" cy="519208"/>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algn="ctr">
              <a:buClr>
                <a:schemeClr val="dk1"/>
              </a:buClr>
              <a:buSzPts val="1100"/>
            </a:pPr>
            <a:r>
              <a:rPr lang="en-US" sz="2400" b="1" dirty="0" smtClean="0">
                <a:solidFill>
                  <a:schemeClr val="lt1"/>
                </a:solidFill>
                <a:latin typeface="Calibri"/>
                <a:ea typeface="Calibri"/>
                <a:cs typeface="Calibri"/>
                <a:sym typeface="Calibri"/>
              </a:rPr>
              <a:t> </a:t>
            </a:r>
            <a:r>
              <a:rPr lang="en-US" sz="2400" b="1" dirty="0" smtClean="0">
                <a:solidFill>
                  <a:schemeClr val="lt1"/>
                </a:solidFill>
                <a:latin typeface="Calibri"/>
                <a:sym typeface="Calibri"/>
              </a:rPr>
              <a:t> </a:t>
            </a:r>
            <a:r>
              <a:rPr lang="en-US" sz="2400" b="1" dirty="0" smtClean="0">
                <a:solidFill>
                  <a:schemeClr val="lt1"/>
                </a:solidFill>
                <a:latin typeface="Calibri"/>
                <a:sym typeface="Calibri"/>
              </a:rPr>
              <a:t>Resilience</a:t>
            </a:r>
            <a:r>
              <a:rPr lang="en-US" sz="2400" dirty="0" smtClean="0"/>
              <a:t> </a:t>
            </a:r>
            <a:r>
              <a:rPr lang="en-US" sz="2400" b="1" dirty="0" smtClean="0">
                <a:solidFill>
                  <a:schemeClr val="lt1"/>
                </a:solidFill>
                <a:latin typeface="Calibri"/>
                <a:sym typeface="Calibri"/>
              </a:rPr>
              <a:t>engineering</a:t>
            </a:r>
            <a:r>
              <a:rPr lang="en-US" sz="2400" dirty="0" smtClean="0"/>
              <a:t> </a:t>
            </a:r>
            <a:endParaRPr lang="en-US" sz="2400" b="1" dirty="0" smtClean="0">
              <a:solidFill>
                <a:schemeClr val="lt1"/>
              </a:solidFill>
              <a:latin typeface="Calibri"/>
              <a:ea typeface="Calibri"/>
              <a:cs typeface="Calibri"/>
              <a:sym typeface="Calibri"/>
            </a:endParaRPr>
          </a:p>
          <a:p>
            <a:pPr algn="ctr">
              <a:buClr>
                <a:schemeClr val="dk1"/>
              </a:buClr>
              <a:buSzPts val="1100"/>
            </a:pPr>
            <a:endParaRPr lang="en-US" sz="2400" b="1" dirty="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194</Words>
  <PresentationFormat>On-screen Show (4:3)</PresentationFormat>
  <Paragraphs>132</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neeraj</cp:lastModifiedBy>
  <cp:revision>26</cp:revision>
  <dcterms:created xsi:type="dcterms:W3CDTF">2024-12-13T07:18:04Z</dcterms:created>
  <dcterms:modified xsi:type="dcterms:W3CDTF">2026-02-22T13:34:45Z</dcterms:modified>
</cp:coreProperties>
</file>