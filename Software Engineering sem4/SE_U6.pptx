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8"/>
  </p:notesMasterIdLst>
  <p:sldIdLst>
    <p:sldId id="257" r:id="rId2"/>
    <p:sldId id="258" r:id="rId3"/>
    <p:sldId id="322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339" r:id="rId36"/>
    <p:sldId id="291" r:id="rId37"/>
    <p:sldId id="292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40" r:id="rId46"/>
    <p:sldId id="301" r:id="rId47"/>
    <p:sldId id="302" r:id="rId48"/>
    <p:sldId id="303" r:id="rId49"/>
    <p:sldId id="304" r:id="rId50"/>
    <p:sldId id="310" r:id="rId51"/>
    <p:sldId id="312" r:id="rId52"/>
    <p:sldId id="313" r:id="rId53"/>
    <p:sldId id="314" r:id="rId54"/>
    <p:sldId id="323" r:id="rId55"/>
    <p:sldId id="324" r:id="rId56"/>
    <p:sldId id="325" r:id="rId57"/>
    <p:sldId id="326" r:id="rId58"/>
    <p:sldId id="327" r:id="rId59"/>
    <p:sldId id="331" r:id="rId60"/>
    <p:sldId id="332" r:id="rId61"/>
    <p:sldId id="333" r:id="rId62"/>
    <p:sldId id="334" r:id="rId63"/>
    <p:sldId id="335" r:id="rId64"/>
    <p:sldId id="336" r:id="rId65"/>
    <p:sldId id="337" r:id="rId66"/>
    <p:sldId id="338" r:id="rId67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>
      <p:cViewPr varScale="1">
        <p:scale>
          <a:sx n="81" d="100"/>
          <a:sy n="81" d="100"/>
        </p:scale>
        <p:origin x="1526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81B67A-04D4-4725-9E9B-AF9BEA2DB19A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527F48-7CFA-4648-8465-9CF5BE0D0A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971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10">
            <a:extLst>
              <a:ext uri="{FF2B5EF4-FFF2-40B4-BE49-F238E27FC236}">
                <a16:creationId xmlns:a16="http://schemas.microsoft.com/office/drawing/2014/main" id="{467A548B-2855-EE3C-9FDB-FA244E04F391}"/>
              </a:ext>
            </a:extLst>
          </p:cNvPr>
          <p:cNvGrpSpPr/>
          <p:nvPr userDrawn="1"/>
        </p:nvGrpSpPr>
        <p:grpSpPr>
          <a:xfrm>
            <a:off x="377036" y="1"/>
            <a:ext cx="8698811" cy="6857999"/>
            <a:chOff x="-4801433" y="-1782234"/>
            <a:chExt cx="18084927" cy="14257864"/>
          </a:xfrm>
        </p:grpSpPr>
        <p:sp>
          <p:nvSpPr>
            <p:cNvPr id="7" name="object 11">
              <a:extLst>
                <a:ext uri="{FF2B5EF4-FFF2-40B4-BE49-F238E27FC236}">
                  <a16:creationId xmlns:a16="http://schemas.microsoft.com/office/drawing/2014/main" id="{6B8C205A-7087-CF38-99F4-B0053CB4FE60}"/>
                </a:ext>
              </a:extLst>
            </p:cNvPr>
            <p:cNvSpPr/>
            <p:nvPr/>
          </p:nvSpPr>
          <p:spPr>
            <a:xfrm>
              <a:off x="-4801433" y="1790698"/>
              <a:ext cx="12600815" cy="983098"/>
            </a:xfrm>
            <a:custGeom>
              <a:avLst/>
              <a:gdLst/>
              <a:ahLst/>
              <a:cxnLst/>
              <a:rect l="l" t="t" r="r" b="b"/>
              <a:pathLst>
                <a:path w="4610100" h="660400">
                  <a:moveTo>
                    <a:pt x="0" y="660400"/>
                  </a:moveTo>
                  <a:lnTo>
                    <a:pt x="4610100" y="660400"/>
                  </a:lnTo>
                  <a:lnTo>
                    <a:pt x="4610100" y="0"/>
                  </a:lnTo>
                  <a:lnTo>
                    <a:pt x="0" y="0"/>
                  </a:lnTo>
                  <a:lnTo>
                    <a:pt x="0" y="660400"/>
                  </a:lnTo>
                  <a:close/>
                </a:path>
              </a:pathLst>
            </a:custGeom>
            <a:solidFill>
              <a:srgbClr val="646464"/>
            </a:solidFill>
          </p:spPr>
          <p:txBody>
            <a:bodyPr wrap="square" lIns="0" tIns="0" rIns="0" bIns="0" rtlCol="0"/>
            <a:lstStyle/>
            <a:p>
              <a:endParaRPr sz="865"/>
            </a:p>
          </p:txBody>
        </p:sp>
        <p:sp>
          <p:nvSpPr>
            <p:cNvPr id="8" name="object 12">
              <a:extLst>
                <a:ext uri="{FF2B5EF4-FFF2-40B4-BE49-F238E27FC236}">
                  <a16:creationId xmlns:a16="http://schemas.microsoft.com/office/drawing/2014/main" id="{98F51262-3750-3A6F-3A92-74D6791C62FB}"/>
                </a:ext>
              </a:extLst>
            </p:cNvPr>
            <p:cNvSpPr/>
            <p:nvPr/>
          </p:nvSpPr>
          <p:spPr>
            <a:xfrm>
              <a:off x="8339276" y="-1782234"/>
              <a:ext cx="4944218" cy="14257864"/>
            </a:xfrm>
            <a:custGeom>
              <a:avLst/>
              <a:gdLst/>
              <a:ahLst/>
              <a:cxnLst/>
              <a:rect l="l" t="t" r="r" b="b"/>
              <a:pathLst>
                <a:path w="2387600" h="10693400">
                  <a:moveTo>
                    <a:pt x="0" y="0"/>
                  </a:moveTo>
                  <a:lnTo>
                    <a:pt x="2387600" y="0"/>
                  </a:lnTo>
                  <a:lnTo>
                    <a:pt x="2387600" y="10693400"/>
                  </a:lnTo>
                  <a:lnTo>
                    <a:pt x="0" y="10693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 sz="865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8F0743AE-05B8-728F-CB92-2C0BA30CB3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55" y="253736"/>
            <a:ext cx="4597617" cy="6918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6D257D0-4131-4888-983C-C92DFD3C1541}"/>
              </a:ext>
            </a:extLst>
          </p:cNvPr>
          <p:cNvSpPr txBox="1"/>
          <p:nvPr userDrawn="1"/>
        </p:nvSpPr>
        <p:spPr>
          <a:xfrm>
            <a:off x="6629400" y="293754"/>
            <a:ext cx="28014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CSE-AI &amp; ML</a:t>
            </a:r>
            <a:endParaRPr lang="en-IN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E14A5E2-5AF5-9BF9-6092-47DB459663EF}"/>
              </a:ext>
            </a:extLst>
          </p:cNvPr>
          <p:cNvGrpSpPr/>
          <p:nvPr userDrawn="1"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3EA7D79-652A-AEA1-E147-CBFC2E4323B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5A7A149-02A8-439C-10C9-7E409452798D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2" name="object 3">
            <a:extLst>
              <a:ext uri="{FF2B5EF4-FFF2-40B4-BE49-F238E27FC236}">
                <a16:creationId xmlns:a16="http://schemas.microsoft.com/office/drawing/2014/main" id="{5FF3F8BA-A523-0489-D6A2-253B8AF63491}"/>
              </a:ext>
            </a:extLst>
          </p:cNvPr>
          <p:cNvSpPr/>
          <p:nvPr userDrawn="1"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5BA4F14-9FC3-AC8B-9550-50B04280F4AA}"/>
              </a:ext>
            </a:extLst>
          </p:cNvPr>
          <p:cNvGrpSpPr/>
          <p:nvPr userDrawn="1"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199DCD3-0FEE-4E49-04F8-35CE84D6F74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CA16294-4CE8-4244-82D5-06B2D4FFDDC4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1" name="object 3">
            <a:extLst>
              <a:ext uri="{FF2B5EF4-FFF2-40B4-BE49-F238E27FC236}">
                <a16:creationId xmlns:a16="http://schemas.microsoft.com/office/drawing/2014/main" id="{84774D53-FAAF-2B9B-95DF-996373FF4AEA}"/>
              </a:ext>
            </a:extLst>
          </p:cNvPr>
          <p:cNvSpPr/>
          <p:nvPr userDrawn="1"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556791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1C74AEB-179E-9522-FB80-3A6792901FEC}"/>
              </a:ext>
            </a:extLst>
          </p:cNvPr>
          <p:cNvGrpSpPr/>
          <p:nvPr userDrawn="1"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84A9A1F-B994-071D-C394-B5D058AABCD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F60D1BA-7EFD-DEE0-21A9-EC5D9E9C57B8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9" name="object 3">
            <a:extLst>
              <a:ext uri="{FF2B5EF4-FFF2-40B4-BE49-F238E27FC236}">
                <a16:creationId xmlns:a16="http://schemas.microsoft.com/office/drawing/2014/main" id="{1CB06AE4-BAFC-A241-85ED-2FFC67BE2812}"/>
              </a:ext>
            </a:extLst>
          </p:cNvPr>
          <p:cNvSpPr/>
          <p:nvPr userDrawn="1"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418A933-E86D-8037-A701-758B86A1922D}"/>
              </a:ext>
            </a:extLst>
          </p:cNvPr>
          <p:cNvGrpSpPr/>
          <p:nvPr userDrawn="1"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794BEB2-FEC0-D51D-A7FB-9CCD45E6B94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D6EBE41-B014-4F4C-1761-C88F5DA91ECC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8" name="object 3">
            <a:extLst>
              <a:ext uri="{FF2B5EF4-FFF2-40B4-BE49-F238E27FC236}">
                <a16:creationId xmlns:a16="http://schemas.microsoft.com/office/drawing/2014/main" id="{55405AE3-DA08-8DE9-1C4C-750BDD0882BD}"/>
              </a:ext>
            </a:extLst>
          </p:cNvPr>
          <p:cNvSpPr/>
          <p:nvPr userDrawn="1"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57375" y="3071813"/>
            <a:ext cx="5430838" cy="28035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3525" y="1697673"/>
            <a:ext cx="8616950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9710" y="2580144"/>
            <a:ext cx="7396480" cy="3683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oogle.com/" TargetMode="Externa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5" Type="http://schemas.openxmlformats.org/officeDocument/2006/relationships/hyperlink" Target="http://www.paruluniversity.ac.in/" TargetMode="Externa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5071" y="1905000"/>
            <a:ext cx="8865802" cy="2803524"/>
            <a:chOff x="0" y="2571750"/>
            <a:chExt cx="8865802" cy="280352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2571750"/>
              <a:ext cx="5430838" cy="280352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3714750"/>
              <a:ext cx="8865802" cy="714375"/>
            </a:xfrm>
            <a:custGeom>
              <a:avLst/>
              <a:gdLst/>
              <a:ahLst/>
              <a:cxnLst/>
              <a:rect l="l" t="t" r="r" b="b"/>
              <a:pathLst>
                <a:path w="9144000" h="714375">
                  <a:moveTo>
                    <a:pt x="9143999" y="714374"/>
                  </a:moveTo>
                  <a:lnTo>
                    <a:pt x="0" y="714374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714374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66800" y="2343149"/>
            <a:ext cx="7312025" cy="1395895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R="22225" algn="ctr">
              <a:lnSpc>
                <a:spcPct val="100000"/>
              </a:lnSpc>
              <a:spcBef>
                <a:spcPts val="1285"/>
              </a:spcBef>
            </a:pPr>
            <a:r>
              <a:rPr sz="3500" b="1" spc="-25" dirty="0">
                <a:latin typeface="Calibri"/>
                <a:cs typeface="Calibri"/>
              </a:rPr>
              <a:t>Unit-</a:t>
            </a:r>
            <a:r>
              <a:rPr sz="3500" b="1" spc="-50" dirty="0">
                <a:latin typeface="Calibri"/>
                <a:cs typeface="Calibri"/>
              </a:rPr>
              <a:t>6</a:t>
            </a:r>
            <a:endParaRPr sz="35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190"/>
              </a:spcBef>
            </a:pPr>
            <a:r>
              <a:rPr sz="3500" b="1" dirty="0">
                <a:solidFill>
                  <a:srgbClr val="FFFFFF"/>
                </a:solidFill>
                <a:latin typeface="Calibri"/>
                <a:cs typeface="Calibri"/>
              </a:rPr>
              <a:t>Software</a:t>
            </a:r>
            <a:r>
              <a:rPr sz="3500" b="1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0" b="1" dirty="0">
                <a:solidFill>
                  <a:srgbClr val="FFFFFF"/>
                </a:solidFill>
                <a:latin typeface="Calibri"/>
                <a:cs typeface="Calibri"/>
              </a:rPr>
              <a:t>Testing</a:t>
            </a:r>
            <a:r>
              <a:rPr sz="3500" b="1" spc="-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0" b="1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3500" b="1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0" b="1" dirty="0">
                <a:solidFill>
                  <a:srgbClr val="FFFFFF"/>
                </a:solidFill>
                <a:latin typeface="Calibri"/>
                <a:cs typeface="Calibri"/>
              </a:rPr>
              <a:t>Quality</a:t>
            </a:r>
            <a:r>
              <a:rPr sz="3500" b="1" spc="-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0" b="1" spc="-10" dirty="0">
                <a:solidFill>
                  <a:srgbClr val="FFFFFF"/>
                </a:solidFill>
                <a:latin typeface="Calibri"/>
                <a:cs typeface="Calibri"/>
              </a:rPr>
              <a:t>assurance</a:t>
            </a:r>
            <a:endParaRPr sz="3500" dirty="0">
              <a:latin typeface="Calibri"/>
              <a:cs typeface="Calibri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8D6D9783-4E44-6D64-4827-A4C0D1480D90}"/>
              </a:ext>
            </a:extLst>
          </p:cNvPr>
          <p:cNvSpPr/>
          <p:nvPr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B39B6FF-EB1D-920B-8F1A-A74775DFC178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665B30F-284D-8294-DE39-CDBE5C77592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31DC6A8-A50F-CDDA-86F2-C3BB1AE43BC6}"/>
                </a:ext>
              </a:extLst>
            </p:cNvPr>
            <p:cNvSpPr txBox="1"/>
            <p:nvPr userDrawn="1"/>
          </p:nvSpPr>
          <p:spPr>
            <a:xfrm>
              <a:off x="6019800" y="264007"/>
              <a:ext cx="30410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3" name="object 6">
            <a:extLst>
              <a:ext uri="{FF2B5EF4-FFF2-40B4-BE49-F238E27FC236}">
                <a16:creationId xmlns:a16="http://schemas.microsoft.com/office/drawing/2014/main" id="{0AFC26B3-CD51-B0DA-9EFC-533637722915}"/>
              </a:ext>
            </a:extLst>
          </p:cNvPr>
          <p:cNvSpPr txBox="1"/>
          <p:nvPr/>
        </p:nvSpPr>
        <p:spPr>
          <a:xfrm>
            <a:off x="630810" y="5299327"/>
            <a:ext cx="2340990" cy="1549783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1190"/>
              </a:spcBef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Kedar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Pinniboyina</a:t>
            </a: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Assistant Professor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AI&amp;ML Department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Bef>
                <a:spcPts val="1190"/>
              </a:spcBef>
            </a:pPr>
            <a:endParaRPr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9710" y="2652152"/>
            <a:ext cx="6919978" cy="33983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+mj-lt"/>
              <a:buAutoNum type="arabicPeriod"/>
              <a:tabLst>
                <a:tab pos="158115" algn="l"/>
              </a:tabLst>
            </a:pPr>
            <a:r>
              <a:rPr sz="2000" b="1" spc="-10" dirty="0">
                <a:latin typeface="Calibri"/>
                <a:cs typeface="Calibri"/>
              </a:rPr>
              <a:t>Software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Testing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Concepts</a:t>
            </a:r>
            <a:r>
              <a:rPr lang="en-US" sz="2000" b="1" spc="-10" dirty="0">
                <a:latin typeface="Calibri"/>
                <a:cs typeface="Calibri"/>
              </a:rPr>
              <a:t>………………………………......4</a:t>
            </a:r>
            <a:endParaRPr sz="20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Font typeface="+mj-lt"/>
              <a:buAutoNum type="arabicPeriod"/>
              <a:tabLst>
                <a:tab pos="158115" algn="l"/>
              </a:tabLst>
            </a:pPr>
            <a:r>
              <a:rPr sz="2000" b="1" spc="-10" dirty="0">
                <a:latin typeface="Calibri"/>
                <a:cs typeface="Calibri"/>
              </a:rPr>
              <a:t>Psychology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of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testing</a:t>
            </a:r>
            <a:r>
              <a:rPr lang="en-US" sz="2000" b="1" spc="-10" dirty="0">
                <a:latin typeface="Calibri"/>
                <a:cs typeface="Calibri"/>
              </a:rPr>
              <a:t>……………………………………………5</a:t>
            </a:r>
            <a:endParaRPr sz="20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Font typeface="+mj-lt"/>
              <a:buAutoNum type="arabicPeriod"/>
              <a:tabLst>
                <a:tab pos="158115" algn="l"/>
              </a:tabLst>
            </a:pPr>
            <a:r>
              <a:rPr sz="2000" b="1" dirty="0">
                <a:latin typeface="Calibri"/>
                <a:cs typeface="Calibri"/>
              </a:rPr>
              <a:t>Testing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Process-</a:t>
            </a:r>
            <a:r>
              <a:rPr lang="en-US" sz="2000" b="1" spc="-10" dirty="0">
                <a:latin typeface="Calibri"/>
                <a:cs typeface="Calibri"/>
              </a:rPr>
              <a:t>……………………………………………………7</a:t>
            </a:r>
            <a:endParaRPr sz="2000" dirty="0">
              <a:latin typeface="Calibri"/>
              <a:cs typeface="Calibri"/>
            </a:endParaRPr>
          </a:p>
          <a:p>
            <a:pPr marL="673100" lvl="1" indent="-231775">
              <a:lnSpc>
                <a:spcPct val="100000"/>
              </a:lnSpc>
              <a:buFont typeface="Segoe UI Symbol"/>
              <a:buChar char="▪"/>
              <a:tabLst>
                <a:tab pos="673100" algn="l"/>
              </a:tabLst>
            </a:pPr>
            <a:r>
              <a:rPr sz="2000" b="1" dirty="0">
                <a:latin typeface="Calibri"/>
                <a:cs typeface="Calibri"/>
              </a:rPr>
              <a:t>test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plan,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test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case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design,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Execution</a:t>
            </a:r>
            <a:endParaRPr lang="en-US" sz="2000" b="1" spc="-1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Font typeface="+mj-lt"/>
              <a:buAutoNum type="arabicPeriod"/>
              <a:tabLst>
                <a:tab pos="158115" algn="l"/>
              </a:tabLst>
            </a:pPr>
            <a:r>
              <a:rPr lang="en-IN" sz="2000" b="1" dirty="0">
                <a:latin typeface="Calibri"/>
                <a:cs typeface="Calibri"/>
              </a:rPr>
              <a:t>Levels</a:t>
            </a:r>
            <a:r>
              <a:rPr lang="en-IN" sz="2000" b="1" spc="-55" dirty="0">
                <a:latin typeface="Calibri"/>
                <a:cs typeface="Calibri"/>
              </a:rPr>
              <a:t> </a:t>
            </a:r>
            <a:r>
              <a:rPr lang="en-IN" sz="2000" b="1" dirty="0">
                <a:latin typeface="Calibri"/>
                <a:cs typeface="Calibri"/>
              </a:rPr>
              <a:t>of</a:t>
            </a:r>
            <a:r>
              <a:rPr lang="en-IN" sz="2000" b="1" spc="-55" dirty="0">
                <a:latin typeface="Calibri"/>
                <a:cs typeface="Calibri"/>
              </a:rPr>
              <a:t> </a:t>
            </a:r>
            <a:r>
              <a:rPr lang="en-IN" sz="2000" b="1" spc="-10" dirty="0">
                <a:latin typeface="Calibri"/>
                <a:cs typeface="Calibri"/>
              </a:rPr>
              <a:t>testing…………………………………………………12 </a:t>
            </a:r>
          </a:p>
          <a:p>
            <a:pPr marL="469900" indent="-457200">
              <a:lnSpc>
                <a:spcPct val="100000"/>
              </a:lnSpc>
              <a:buFont typeface="+mj-lt"/>
              <a:buAutoNum type="arabicPeriod"/>
              <a:tabLst>
                <a:tab pos="158115" algn="l"/>
              </a:tabLst>
            </a:pPr>
            <a:r>
              <a:rPr sz="2000" b="1" spc="-20" dirty="0">
                <a:latin typeface="Calibri"/>
                <a:cs typeface="Calibri"/>
              </a:rPr>
              <a:t>Black-</a:t>
            </a:r>
            <a:r>
              <a:rPr sz="2000" b="1" dirty="0">
                <a:latin typeface="Calibri"/>
                <a:cs typeface="Calibri"/>
              </a:rPr>
              <a:t>Box</a:t>
            </a:r>
            <a:r>
              <a:rPr sz="2000" b="1" spc="-10" dirty="0">
                <a:latin typeface="Calibri"/>
                <a:cs typeface="Calibri"/>
              </a:rPr>
              <a:t> testing</a:t>
            </a:r>
            <a:r>
              <a:rPr lang="en-US" sz="2000" b="1" spc="-10" dirty="0">
                <a:latin typeface="Calibri"/>
                <a:cs typeface="Calibri"/>
              </a:rPr>
              <a:t>……………………………………………….18</a:t>
            </a:r>
            <a:endParaRPr sz="2000" dirty="0">
              <a:latin typeface="Calibri"/>
              <a:cs typeface="Calibri"/>
            </a:endParaRPr>
          </a:p>
          <a:p>
            <a:pPr marL="615315" lvl="1" indent="-231775">
              <a:lnSpc>
                <a:spcPct val="100000"/>
              </a:lnSpc>
              <a:buFont typeface="Segoe UI Symbol"/>
              <a:buChar char="▪"/>
              <a:tabLst>
                <a:tab pos="615315" algn="l"/>
              </a:tabLst>
            </a:pPr>
            <a:r>
              <a:rPr sz="2000" b="1" spc="-10" dirty="0">
                <a:latin typeface="Calibri"/>
                <a:cs typeface="Calibri"/>
              </a:rPr>
              <a:t>Boundary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value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analysis</a:t>
            </a:r>
            <a:endParaRPr sz="20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Font typeface="+mj-lt"/>
              <a:buAutoNum type="arabicPeriod"/>
              <a:tabLst>
                <a:tab pos="158115" algn="l"/>
              </a:tabLst>
            </a:pPr>
            <a:r>
              <a:rPr lang="en-US" sz="2000" b="1" dirty="0">
                <a:latin typeface="Calibri"/>
                <a:cs typeface="Calibri"/>
              </a:rPr>
              <a:t>Pairwise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testing</a:t>
            </a:r>
            <a:r>
              <a:rPr lang="en-US" sz="2000" b="1" spc="-10" dirty="0">
                <a:latin typeface="Calibri"/>
                <a:cs typeface="Calibri"/>
              </a:rPr>
              <a:t>…………………………………………..........23</a:t>
            </a:r>
            <a:endParaRPr sz="20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Font typeface="+mj-lt"/>
              <a:buAutoNum type="arabicPeriod"/>
              <a:tabLst>
                <a:tab pos="158115" algn="l"/>
              </a:tabLst>
            </a:pPr>
            <a:r>
              <a:rPr lang="en-US" sz="2000" b="1" dirty="0">
                <a:latin typeface="Calibri"/>
                <a:cs typeface="Calibri"/>
              </a:rPr>
              <a:t>State-based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testing</a:t>
            </a:r>
            <a:r>
              <a:rPr lang="en-US" sz="2000" b="1" spc="-10" dirty="0">
                <a:latin typeface="Calibri"/>
                <a:cs typeface="Calibri"/>
              </a:rPr>
              <a:t>……………………………………………..26</a:t>
            </a:r>
            <a:endParaRPr sz="20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Font typeface="+mj-lt"/>
              <a:buAutoNum type="arabicPeriod"/>
              <a:tabLst>
                <a:tab pos="158115" algn="l"/>
              </a:tabLst>
            </a:pPr>
            <a:r>
              <a:rPr sz="2000" b="1" spc="-20" dirty="0">
                <a:latin typeface="Calibri"/>
                <a:cs typeface="Calibri"/>
              </a:rPr>
              <a:t>White-</a:t>
            </a:r>
            <a:r>
              <a:rPr sz="2000" b="1" dirty="0">
                <a:latin typeface="Calibri"/>
                <a:cs typeface="Calibri"/>
              </a:rPr>
              <a:t>Box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testing</a:t>
            </a:r>
            <a:r>
              <a:rPr lang="en-US" sz="2000" b="1" spc="-10" dirty="0">
                <a:latin typeface="Calibri"/>
                <a:cs typeface="Calibri"/>
              </a:rPr>
              <a:t>………………………………………………32</a:t>
            </a:r>
            <a:endParaRPr sz="2000" dirty="0">
              <a:latin typeface="Calibri"/>
              <a:cs typeface="Calibri"/>
            </a:endParaRPr>
          </a:p>
          <a:p>
            <a:pPr marL="615315" lvl="1" indent="-231775">
              <a:lnSpc>
                <a:spcPct val="100000"/>
              </a:lnSpc>
              <a:buFont typeface="Segoe UI Symbol"/>
              <a:buChar char="▪"/>
              <a:tabLst>
                <a:tab pos="615315" algn="l"/>
              </a:tabLst>
            </a:pPr>
            <a:r>
              <a:rPr sz="2000" b="1" dirty="0">
                <a:latin typeface="Calibri"/>
                <a:cs typeface="Calibri"/>
              </a:rPr>
              <a:t>criteria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and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test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case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generation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and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tool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support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 idx="4294967295"/>
          </p:nvPr>
        </p:nvSpPr>
        <p:spPr>
          <a:xfrm>
            <a:off x="1066800" y="1697038"/>
            <a:ext cx="75501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Contents-</a:t>
            </a:r>
            <a:r>
              <a:rPr lang="en-IN" spc="-45" dirty="0"/>
              <a:t> </a:t>
            </a:r>
            <a:r>
              <a:rPr lang="en-IN" dirty="0"/>
              <a:t>Software</a:t>
            </a:r>
            <a:r>
              <a:rPr lang="en-IN" spc="-40" dirty="0"/>
              <a:t> </a:t>
            </a:r>
            <a:r>
              <a:rPr lang="en-IN" spc="-10" dirty="0"/>
              <a:t>Testing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ED1A1-8767-38EB-63AD-588C95F7E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3BD6E8-115B-0EB1-379E-295798CB588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066800" y="1697038"/>
            <a:ext cx="75501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Contents-</a:t>
            </a:r>
            <a:r>
              <a:rPr lang="en-IN" spc="-45" dirty="0"/>
              <a:t> </a:t>
            </a:r>
            <a:r>
              <a:rPr lang="en-IN" dirty="0"/>
              <a:t>Quality</a:t>
            </a:r>
            <a:r>
              <a:rPr lang="en-IN" spc="-85" dirty="0"/>
              <a:t> </a:t>
            </a:r>
            <a:r>
              <a:rPr lang="en-IN" spc="-10" dirty="0"/>
              <a:t>Assurance</a:t>
            </a:r>
          </a:p>
        </p:txBody>
      </p:sp>
      <p:sp>
        <p:nvSpPr>
          <p:cNvPr id="3" name="object 7">
            <a:extLst>
              <a:ext uri="{FF2B5EF4-FFF2-40B4-BE49-F238E27FC236}">
                <a16:creationId xmlns:a16="http://schemas.microsoft.com/office/drawing/2014/main" id="{764B6A0D-A0E4-8695-5BFD-2E5AADCB1FC9}"/>
              </a:ext>
            </a:extLst>
          </p:cNvPr>
          <p:cNvSpPr txBox="1"/>
          <p:nvPr/>
        </p:nvSpPr>
        <p:spPr>
          <a:xfrm>
            <a:off x="811718" y="3156207"/>
            <a:ext cx="6046282" cy="15517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+mj-lt"/>
              <a:buAutoNum type="arabicPeriod"/>
              <a:tabLst>
                <a:tab pos="158115" algn="l"/>
              </a:tabLst>
            </a:pPr>
            <a:r>
              <a:rPr sz="2000" b="1" dirty="0">
                <a:latin typeface="Calibri"/>
                <a:cs typeface="Calibri"/>
              </a:rPr>
              <a:t>Quality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Control</a:t>
            </a:r>
            <a:r>
              <a:rPr lang="en-US" sz="2000" b="1" spc="-10" dirty="0">
                <a:latin typeface="Calibri"/>
                <a:cs typeface="Calibri"/>
              </a:rPr>
              <a:t>…………………………………………48</a:t>
            </a:r>
            <a:endParaRPr sz="20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Font typeface="+mj-lt"/>
              <a:buAutoNum type="arabicPeriod"/>
              <a:tabLst>
                <a:tab pos="158115" algn="l"/>
              </a:tabLst>
            </a:pPr>
            <a:r>
              <a:rPr sz="2000" b="1" spc="-10" dirty="0">
                <a:latin typeface="Calibri"/>
                <a:cs typeface="Calibri"/>
              </a:rPr>
              <a:t>Assurance,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Cost,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Reviews</a:t>
            </a:r>
            <a:r>
              <a:rPr lang="en-US" sz="2000" b="1" spc="-10" dirty="0">
                <a:latin typeface="Calibri"/>
                <a:cs typeface="Calibri"/>
              </a:rPr>
              <a:t>………………………….50</a:t>
            </a:r>
            <a:endParaRPr sz="20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Font typeface="+mj-lt"/>
              <a:buAutoNum type="arabicPeriod"/>
              <a:tabLst>
                <a:tab pos="158115" algn="l"/>
              </a:tabLst>
            </a:pPr>
            <a:r>
              <a:rPr sz="2000" b="1" spc="-10" dirty="0">
                <a:latin typeface="Calibri"/>
                <a:cs typeface="Calibri"/>
              </a:rPr>
              <a:t>Software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Quality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Assurance</a:t>
            </a:r>
            <a:r>
              <a:rPr lang="en-US" sz="2000" b="1" spc="-10" dirty="0">
                <a:latin typeface="Calibri"/>
                <a:cs typeface="Calibri"/>
              </a:rPr>
              <a:t>………………………54</a:t>
            </a:r>
            <a:endParaRPr sz="2000" dirty="0">
              <a:latin typeface="Calibri"/>
              <a:cs typeface="Calibri"/>
            </a:endParaRPr>
          </a:p>
          <a:p>
            <a:pPr marL="469899" indent="-457200">
              <a:lnSpc>
                <a:spcPct val="100000"/>
              </a:lnSpc>
              <a:buFont typeface="+mj-lt"/>
              <a:buAutoNum type="arabicPeriod"/>
              <a:tabLst>
                <a:tab pos="214629" algn="l"/>
              </a:tabLst>
            </a:pPr>
            <a:r>
              <a:rPr sz="2000" b="1" spc="-10" dirty="0">
                <a:latin typeface="Calibri"/>
                <a:cs typeface="Calibri"/>
              </a:rPr>
              <a:t>Reliability</a:t>
            </a:r>
            <a:r>
              <a:rPr lang="en-US" sz="2000" b="1" spc="-10" dirty="0">
                <a:latin typeface="Calibri"/>
                <a:cs typeface="Calibri"/>
              </a:rPr>
              <a:t>………………………………………………….57</a:t>
            </a:r>
            <a:endParaRPr sz="20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Font typeface="+mj-lt"/>
              <a:buAutoNum type="arabicPeriod"/>
              <a:tabLst>
                <a:tab pos="158115" algn="l"/>
              </a:tabLst>
            </a:pPr>
            <a:r>
              <a:rPr sz="2000" b="1" dirty="0">
                <a:latin typeface="Calibri"/>
                <a:cs typeface="Calibri"/>
              </a:rPr>
              <a:t>Quality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Standards-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ISO9000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And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9001</a:t>
            </a:r>
            <a:r>
              <a:rPr lang="en-US" sz="2000" b="1" spc="-20" dirty="0">
                <a:latin typeface="Calibri"/>
                <a:cs typeface="Calibri"/>
              </a:rPr>
              <a:t>………..60</a:t>
            </a:r>
            <a:endParaRPr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91548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-895618" y="1746417"/>
            <a:ext cx="80772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82670" algn="l">
              <a:lnSpc>
                <a:spcPct val="100000"/>
              </a:lnSpc>
              <a:spcBef>
                <a:spcPts val="100"/>
              </a:spcBef>
            </a:pPr>
            <a:r>
              <a:rPr lang="en-IN" sz="3200" spc="-10" dirty="0"/>
              <a:t>Software</a:t>
            </a:r>
            <a:r>
              <a:rPr lang="en-IN" sz="3200" spc="-40" dirty="0"/>
              <a:t> </a:t>
            </a:r>
            <a:r>
              <a:rPr lang="en-IN" sz="3200" dirty="0"/>
              <a:t>Testing</a:t>
            </a:r>
            <a:r>
              <a:rPr lang="en-IN" sz="3200" spc="-35" dirty="0"/>
              <a:t> </a:t>
            </a:r>
            <a:r>
              <a:rPr spc="-10" dirty="0"/>
              <a:t>Concepts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26373" y="3593479"/>
            <a:ext cx="1022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450" dirty="0">
                <a:solidFill>
                  <a:srgbClr val="061C57"/>
                </a:solidFill>
                <a:latin typeface="Arial MT"/>
                <a:cs typeface="Arial MT"/>
              </a:rPr>
              <a:t>●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6373" y="4285629"/>
            <a:ext cx="1022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450" dirty="0">
                <a:solidFill>
                  <a:srgbClr val="061C57"/>
                </a:solidFill>
                <a:latin typeface="Arial MT"/>
                <a:cs typeface="Arial MT"/>
              </a:rPr>
              <a:t>●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6373" y="4695204"/>
            <a:ext cx="1022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450" dirty="0">
                <a:solidFill>
                  <a:srgbClr val="061C57"/>
                </a:solidFill>
                <a:latin typeface="Arial MT"/>
                <a:cs typeface="Arial MT"/>
              </a:rPr>
              <a:t>●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6373" y="2847354"/>
            <a:ext cx="8229600" cy="205105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492125" marR="8255" indent="-480059">
              <a:lnSpc>
                <a:spcPts val="2390"/>
              </a:lnSpc>
              <a:spcBef>
                <a:spcPts val="185"/>
              </a:spcBef>
              <a:buClr>
                <a:srgbClr val="061C57"/>
              </a:buClr>
              <a:buSzPct val="50000"/>
              <a:buFont typeface="Arial MT"/>
              <a:buChar char="●"/>
              <a:tabLst>
                <a:tab pos="492125" algn="l"/>
              </a:tabLst>
            </a:pPr>
            <a:r>
              <a:rPr sz="2000" dirty="0">
                <a:latin typeface="Calibri"/>
                <a:cs typeface="Calibri"/>
              </a:rPr>
              <a:t>Testing</a:t>
            </a:r>
            <a:r>
              <a:rPr sz="2000" spc="1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process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1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exercising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program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1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specific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intent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of </a:t>
            </a:r>
            <a:r>
              <a:rPr sz="2000" dirty="0">
                <a:latin typeface="Calibri"/>
                <a:cs typeface="Calibri"/>
              </a:rPr>
              <a:t>finding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errors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prior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delivery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user.</a:t>
            </a:r>
            <a:endParaRPr sz="2000">
              <a:latin typeface="Calibri"/>
              <a:cs typeface="Calibri"/>
            </a:endParaRPr>
          </a:p>
          <a:p>
            <a:pPr marL="492125" marR="5080">
              <a:lnSpc>
                <a:spcPts val="2390"/>
              </a:lnSpc>
              <a:spcBef>
                <a:spcPts val="95"/>
              </a:spcBef>
            </a:pPr>
            <a:r>
              <a:rPr sz="2000" dirty="0">
                <a:latin typeface="Calibri"/>
                <a:cs typeface="Calibri"/>
              </a:rPr>
              <a:t>To</a:t>
            </a:r>
            <a:r>
              <a:rPr sz="2000" spc="3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understand</a:t>
            </a:r>
            <a:r>
              <a:rPr sz="2000" spc="3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testing</a:t>
            </a:r>
            <a:r>
              <a:rPr sz="2000" spc="3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techniques</a:t>
            </a:r>
            <a:r>
              <a:rPr sz="2000" spc="3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3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3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geared</a:t>
            </a:r>
            <a:r>
              <a:rPr sz="2000" spc="3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3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discover</a:t>
            </a:r>
            <a:r>
              <a:rPr sz="2000" spc="3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program faults</a:t>
            </a:r>
            <a:endParaRPr sz="2000">
              <a:latin typeface="Calibri"/>
              <a:cs typeface="Calibri"/>
            </a:endParaRPr>
          </a:p>
          <a:p>
            <a:pPr marL="492125">
              <a:lnSpc>
                <a:spcPct val="100000"/>
              </a:lnSpc>
              <a:spcBef>
                <a:spcPts val="585"/>
              </a:spcBef>
            </a:pPr>
            <a:r>
              <a:rPr sz="2000" dirty="0">
                <a:latin typeface="Calibri"/>
                <a:cs typeface="Calibri"/>
              </a:rPr>
              <a:t>To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introduce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guidelines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interface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testing</a:t>
            </a:r>
            <a:endParaRPr sz="2000">
              <a:latin typeface="Calibri"/>
              <a:cs typeface="Calibri"/>
            </a:endParaRPr>
          </a:p>
          <a:p>
            <a:pPr marL="492125">
              <a:lnSpc>
                <a:spcPct val="100000"/>
              </a:lnSpc>
              <a:spcBef>
                <a:spcPts val="825"/>
              </a:spcBef>
            </a:pPr>
            <a:r>
              <a:rPr sz="2000" dirty="0">
                <a:latin typeface="Calibri"/>
                <a:cs typeface="Calibri"/>
              </a:rPr>
              <a:t>To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understand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specific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approaches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object-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oriented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testing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6373" y="5245113"/>
            <a:ext cx="68637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2125" indent="-479425">
              <a:lnSpc>
                <a:spcPct val="100000"/>
              </a:lnSpc>
              <a:spcBef>
                <a:spcPts val="100"/>
              </a:spcBef>
              <a:buClr>
                <a:srgbClr val="061C57"/>
              </a:buClr>
              <a:buSzPct val="50000"/>
              <a:buFont typeface="Arial MT"/>
              <a:buChar char="●"/>
              <a:tabLst>
                <a:tab pos="492125" algn="l"/>
              </a:tabLst>
            </a:pPr>
            <a:r>
              <a:rPr sz="2000" dirty="0">
                <a:latin typeface="Calibri"/>
                <a:cs typeface="Calibri"/>
              </a:rPr>
              <a:t>To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understand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principles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CASE</a:t>
            </a:r>
            <a:r>
              <a:rPr sz="2000" spc="2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tool</a:t>
            </a:r>
            <a:r>
              <a:rPr sz="2000" spc="3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support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testing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BA66039-16E0-17AE-F5CC-1838F7AC6435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A4AE8AB-6C6E-5572-3C2A-D81F05E9556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4B51CBA-6786-FB05-7190-2196F9997457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701614F1-FE4D-2F7B-6BAC-30288EF0A112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461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Psychology</a:t>
            </a:r>
            <a:r>
              <a:rPr spc="-65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spc="-10" dirty="0"/>
              <a:t>testing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11718" y="2843791"/>
            <a:ext cx="7461250" cy="1987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115" indent="-145415">
              <a:lnSpc>
                <a:spcPts val="2290"/>
              </a:lnSpc>
              <a:spcBef>
                <a:spcPts val="100"/>
              </a:spcBef>
              <a:buFont typeface="Arial"/>
              <a:buChar char="•"/>
              <a:tabLst>
                <a:tab pos="158115" algn="l"/>
              </a:tabLst>
            </a:pPr>
            <a:r>
              <a:rPr sz="2000" b="1" dirty="0">
                <a:latin typeface="Calibri"/>
                <a:cs typeface="Calibri"/>
              </a:rPr>
              <a:t>All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tests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should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be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traceable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to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customer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requirements.</a:t>
            </a:r>
            <a:endParaRPr sz="2000">
              <a:latin typeface="Calibri"/>
              <a:cs typeface="Calibri"/>
            </a:endParaRPr>
          </a:p>
          <a:p>
            <a:pPr marL="158115" indent="-145415">
              <a:lnSpc>
                <a:spcPts val="2175"/>
              </a:lnSpc>
              <a:buFont typeface="Arial"/>
              <a:buChar char="•"/>
              <a:tabLst>
                <a:tab pos="158115" algn="l"/>
              </a:tabLst>
            </a:pPr>
            <a:r>
              <a:rPr sz="2000" b="1" dirty="0">
                <a:latin typeface="Calibri"/>
                <a:cs typeface="Calibri"/>
              </a:rPr>
              <a:t>Tests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should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be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planned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long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before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testing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begins.</a:t>
            </a:r>
            <a:endParaRPr sz="2000">
              <a:latin typeface="Calibri"/>
              <a:cs typeface="Calibri"/>
            </a:endParaRPr>
          </a:p>
          <a:p>
            <a:pPr marL="100965" marR="240665" indent="-88900">
              <a:lnSpc>
                <a:spcPts val="2180"/>
              </a:lnSpc>
              <a:spcBef>
                <a:spcPts val="140"/>
              </a:spcBef>
              <a:buFont typeface="Arial"/>
              <a:buChar char="•"/>
              <a:tabLst>
                <a:tab pos="100965" algn="l"/>
                <a:tab pos="157480" algn="l"/>
              </a:tabLst>
            </a:pPr>
            <a:r>
              <a:rPr sz="2000" b="1" dirty="0">
                <a:latin typeface="Calibri"/>
                <a:cs typeface="Calibri"/>
              </a:rPr>
              <a:t>	Testing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should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begin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“in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the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small”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and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progress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toward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testing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spc="-25" dirty="0">
                <a:latin typeface="Calibri"/>
                <a:cs typeface="Calibri"/>
              </a:rPr>
              <a:t>“in </a:t>
            </a:r>
            <a:r>
              <a:rPr sz="2000" b="1" dirty="0">
                <a:latin typeface="Calibri"/>
                <a:cs typeface="Calibri"/>
              </a:rPr>
              <a:t>the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large.”</a:t>
            </a:r>
            <a:endParaRPr sz="2000">
              <a:latin typeface="Calibri"/>
              <a:cs typeface="Calibri"/>
            </a:endParaRPr>
          </a:p>
          <a:p>
            <a:pPr marL="158115" indent="-145415">
              <a:lnSpc>
                <a:spcPts val="2020"/>
              </a:lnSpc>
              <a:buFont typeface="Arial"/>
              <a:buChar char="•"/>
              <a:tabLst>
                <a:tab pos="158115" algn="l"/>
              </a:tabLst>
            </a:pPr>
            <a:r>
              <a:rPr sz="2000" b="1" spc="-10" dirty="0">
                <a:latin typeface="Calibri"/>
                <a:cs typeface="Calibri"/>
              </a:rPr>
              <a:t>Exhaustive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testing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is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not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possible.</a:t>
            </a:r>
            <a:endParaRPr sz="2000">
              <a:latin typeface="Calibri"/>
              <a:cs typeface="Calibri"/>
            </a:endParaRPr>
          </a:p>
          <a:p>
            <a:pPr marL="100965" marR="5080" indent="-88900">
              <a:lnSpc>
                <a:spcPts val="2180"/>
              </a:lnSpc>
              <a:spcBef>
                <a:spcPts val="145"/>
              </a:spcBef>
              <a:buFont typeface="Arial"/>
              <a:buChar char="•"/>
              <a:tabLst>
                <a:tab pos="100965" algn="l"/>
                <a:tab pos="157480" algn="l"/>
              </a:tabLst>
            </a:pPr>
            <a:r>
              <a:rPr sz="2000" b="1" dirty="0">
                <a:latin typeface="Calibri"/>
                <a:cs typeface="Calibri"/>
              </a:rPr>
              <a:t>	To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be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most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effective,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testing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should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be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conducted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by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an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independent </a:t>
            </a:r>
            <a:r>
              <a:rPr sz="2000" b="1" dirty="0">
                <a:latin typeface="Calibri"/>
                <a:cs typeface="Calibri"/>
              </a:rPr>
              <a:t>third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party.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28799"/>
            <a:ext cx="9144000" cy="4246538"/>
            <a:chOff x="0" y="1628799"/>
            <a:chExt cx="9144000" cy="4246538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1628799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635">
              <a:lnSpc>
                <a:spcPct val="100000"/>
              </a:lnSpc>
              <a:spcBef>
                <a:spcPts val="100"/>
              </a:spcBef>
            </a:pPr>
            <a:r>
              <a:rPr dirty="0"/>
              <a:t>Software</a:t>
            </a:r>
            <a:r>
              <a:rPr spc="-85" dirty="0"/>
              <a:t> </a:t>
            </a:r>
            <a:r>
              <a:rPr dirty="0"/>
              <a:t>testing</a:t>
            </a:r>
            <a:r>
              <a:rPr spc="-80" dirty="0"/>
              <a:t> </a:t>
            </a:r>
            <a:r>
              <a:rPr spc="-10" dirty="0"/>
              <a:t>phases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5F5634B2-4BFB-AAE9-8D20-DA4BB60533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9710" y="2580144"/>
            <a:ext cx="7396480" cy="615553"/>
          </a:xfrm>
        </p:spPr>
        <p:txBody>
          <a:bodyPr/>
          <a:lstStyle/>
          <a:p>
            <a:r>
              <a:rPr lang="en-IN" b="1" spc="-10" dirty="0"/>
              <a:t>Component</a:t>
            </a:r>
            <a:r>
              <a:rPr lang="en-IN" b="1" spc="-55" dirty="0"/>
              <a:t> </a:t>
            </a:r>
            <a:r>
              <a:rPr lang="en-IN" b="1" spc="-10" dirty="0"/>
              <a:t>testing</a:t>
            </a:r>
            <a:endParaRPr lang="en-IN" dirty="0"/>
          </a:p>
          <a:p>
            <a:endParaRPr lang="en-IN" dirty="0"/>
          </a:p>
        </p:txBody>
      </p:sp>
      <p:sp>
        <p:nvSpPr>
          <p:cNvPr id="9" name="object 9"/>
          <p:cNvSpPr txBox="1"/>
          <p:nvPr/>
        </p:nvSpPr>
        <p:spPr>
          <a:xfrm>
            <a:off x="833090" y="2951112"/>
            <a:ext cx="3784600" cy="130683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472440" marR="5080" indent="-460375">
              <a:lnSpc>
                <a:spcPct val="101499"/>
              </a:lnSpc>
              <a:spcBef>
                <a:spcPts val="65"/>
              </a:spcBef>
              <a:buChar char="•"/>
              <a:tabLst>
                <a:tab pos="472440" algn="l"/>
              </a:tabLst>
            </a:pPr>
            <a:r>
              <a:rPr sz="2000" spc="-10" dirty="0">
                <a:latin typeface="Calibri"/>
                <a:cs typeface="Calibri"/>
              </a:rPr>
              <a:t>Individual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program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components testing</a:t>
            </a:r>
            <a:endParaRPr sz="2000" dirty="0">
              <a:latin typeface="Calibri"/>
              <a:cs typeface="Calibri"/>
            </a:endParaRPr>
          </a:p>
          <a:p>
            <a:pPr marL="472440" marR="577215" indent="-460375">
              <a:lnSpc>
                <a:spcPts val="2380"/>
              </a:lnSpc>
              <a:spcBef>
                <a:spcPts val="570"/>
              </a:spcBef>
              <a:buChar char="•"/>
              <a:tabLst>
                <a:tab pos="472440" algn="l"/>
              </a:tabLst>
            </a:pPr>
            <a:r>
              <a:rPr sz="2000" dirty="0">
                <a:latin typeface="Calibri"/>
                <a:cs typeface="Calibri"/>
              </a:rPr>
              <a:t>Tests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derived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developer’s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experience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9765" y="4308361"/>
            <a:ext cx="24936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0700" indent="-508000">
              <a:lnSpc>
                <a:spcPct val="100000"/>
              </a:lnSpc>
              <a:spcBef>
                <a:spcPts val="100"/>
              </a:spcBef>
              <a:buClr>
                <a:srgbClr val="061C57"/>
              </a:buClr>
              <a:buSzPct val="50000"/>
              <a:buFont typeface="Segoe UI Symbol"/>
              <a:buChar char="❑"/>
              <a:tabLst>
                <a:tab pos="520700" algn="l"/>
              </a:tabLst>
            </a:pPr>
            <a:r>
              <a:rPr sz="2000" b="1" spc="-10" dirty="0">
                <a:latin typeface="Calibri"/>
                <a:cs typeface="Calibri"/>
              </a:rPr>
              <a:t>Integration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testing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3090" y="4681487"/>
            <a:ext cx="3879850" cy="16052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72440" marR="5080" indent="-460375">
              <a:lnSpc>
                <a:spcPct val="99700"/>
              </a:lnSpc>
              <a:spcBef>
                <a:spcPts val="105"/>
              </a:spcBef>
              <a:buChar char="•"/>
              <a:tabLst>
                <a:tab pos="472440" algn="l"/>
              </a:tabLst>
            </a:pPr>
            <a:r>
              <a:rPr sz="2000" dirty="0">
                <a:latin typeface="Calibri"/>
                <a:cs typeface="Calibri"/>
              </a:rPr>
              <a:t>Testing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groups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components integrated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create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system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or </a:t>
            </a:r>
            <a:r>
              <a:rPr sz="2000" spc="-20" dirty="0">
                <a:latin typeface="Calibri"/>
                <a:cs typeface="Calibri"/>
              </a:rPr>
              <a:t>sub-</a:t>
            </a:r>
            <a:r>
              <a:rPr sz="2000" spc="-10" dirty="0">
                <a:latin typeface="Calibri"/>
                <a:cs typeface="Calibri"/>
              </a:rPr>
              <a:t>system</a:t>
            </a:r>
            <a:endParaRPr sz="2000">
              <a:latin typeface="Calibri"/>
              <a:cs typeface="Calibri"/>
            </a:endParaRPr>
          </a:p>
          <a:p>
            <a:pPr marL="472440" marR="512445" indent="-460375">
              <a:lnSpc>
                <a:spcPts val="2380"/>
              </a:lnSpc>
              <a:spcBef>
                <a:spcPts val="570"/>
              </a:spcBef>
              <a:buChar char="•"/>
              <a:tabLst>
                <a:tab pos="472440" algn="l"/>
              </a:tabLst>
            </a:pPr>
            <a:r>
              <a:rPr sz="2000" dirty="0">
                <a:latin typeface="Calibri"/>
                <a:cs typeface="Calibri"/>
              </a:rPr>
              <a:t>Tests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based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system specification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20072" y="2996951"/>
            <a:ext cx="1656714" cy="504190"/>
          </a:xfrm>
          <a:prstGeom prst="rect">
            <a:avLst/>
          </a:prstGeom>
          <a:ln w="25399">
            <a:solidFill>
              <a:srgbClr val="385E88"/>
            </a:solidFill>
          </a:ln>
        </p:spPr>
        <p:txBody>
          <a:bodyPr vert="horz" wrap="square" lIns="0" tIns="87630" rIns="0" bIns="0" rtlCol="0">
            <a:spAutoFit/>
          </a:bodyPr>
          <a:lstStyle/>
          <a:p>
            <a:pPr marL="85725" marR="711200">
              <a:lnSpc>
                <a:spcPts val="1650"/>
              </a:lnSpc>
              <a:spcBef>
                <a:spcPts val="690"/>
              </a:spcBef>
            </a:pPr>
            <a:r>
              <a:rPr sz="1400" spc="-10" dirty="0">
                <a:latin typeface="Calibri"/>
                <a:cs typeface="Calibri"/>
              </a:rPr>
              <a:t>Component Testing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308304" y="2996951"/>
            <a:ext cx="1656714" cy="504190"/>
          </a:xfrm>
          <a:prstGeom prst="rect">
            <a:avLst/>
          </a:prstGeom>
          <a:ln w="25399">
            <a:solidFill>
              <a:srgbClr val="385E88"/>
            </a:solidFill>
          </a:ln>
        </p:spPr>
        <p:txBody>
          <a:bodyPr vert="horz" wrap="square" lIns="0" tIns="87630" rIns="0" bIns="0" rtlCol="0">
            <a:spAutoFit/>
          </a:bodyPr>
          <a:lstStyle/>
          <a:p>
            <a:pPr marL="157480" marR="686435">
              <a:lnSpc>
                <a:spcPts val="1650"/>
              </a:lnSpc>
              <a:spcBef>
                <a:spcPts val="690"/>
              </a:spcBef>
            </a:pPr>
            <a:r>
              <a:rPr sz="1400" spc="-10" dirty="0">
                <a:latin typeface="Calibri"/>
                <a:cs typeface="Calibri"/>
              </a:rPr>
              <a:t>Integration Testing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876256" y="3233505"/>
            <a:ext cx="422909" cy="31115"/>
            <a:chOff x="6876256" y="3233505"/>
            <a:chExt cx="422909" cy="31115"/>
          </a:xfrm>
        </p:grpSpPr>
        <p:sp>
          <p:nvSpPr>
            <p:cNvPr id="15" name="object 15"/>
            <p:cNvSpPr/>
            <p:nvPr/>
          </p:nvSpPr>
          <p:spPr>
            <a:xfrm>
              <a:off x="6876256" y="3248980"/>
              <a:ext cx="399415" cy="0"/>
            </a:xfrm>
            <a:custGeom>
              <a:avLst/>
              <a:gdLst/>
              <a:ahLst/>
              <a:cxnLst/>
              <a:rect l="l" t="t" r="r" b="b"/>
              <a:pathLst>
                <a:path w="399415">
                  <a:moveTo>
                    <a:pt x="0" y="0"/>
                  </a:moveTo>
                  <a:lnTo>
                    <a:pt x="399356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264901" y="3238268"/>
              <a:ext cx="29845" cy="21590"/>
            </a:xfrm>
            <a:custGeom>
              <a:avLst/>
              <a:gdLst/>
              <a:ahLst/>
              <a:cxnLst/>
              <a:rect l="l" t="t" r="r" b="b"/>
              <a:pathLst>
                <a:path w="29845" h="21589">
                  <a:moveTo>
                    <a:pt x="0" y="21423"/>
                  </a:moveTo>
                  <a:lnTo>
                    <a:pt x="10711" y="10711"/>
                  </a:lnTo>
                  <a:lnTo>
                    <a:pt x="0" y="0"/>
                  </a:lnTo>
                  <a:lnTo>
                    <a:pt x="29429" y="10711"/>
                  </a:lnTo>
                  <a:lnTo>
                    <a:pt x="0" y="214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264901" y="3238268"/>
              <a:ext cx="29845" cy="21590"/>
            </a:xfrm>
            <a:custGeom>
              <a:avLst/>
              <a:gdLst/>
              <a:ahLst/>
              <a:cxnLst/>
              <a:rect l="l" t="t" r="r" b="b"/>
              <a:pathLst>
                <a:path w="29845" h="21589">
                  <a:moveTo>
                    <a:pt x="10711" y="10711"/>
                  </a:moveTo>
                  <a:lnTo>
                    <a:pt x="0" y="21423"/>
                  </a:lnTo>
                  <a:lnTo>
                    <a:pt x="29429" y="10711"/>
                  </a:lnTo>
                  <a:lnTo>
                    <a:pt x="0" y="0"/>
                  </a:lnTo>
                  <a:lnTo>
                    <a:pt x="10711" y="10711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221089" y="3663312"/>
            <a:ext cx="14452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alibri"/>
                <a:cs typeface="Calibri"/>
              </a:rPr>
              <a:t>Software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developer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33891" y="3663312"/>
            <a:ext cx="148844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-10" dirty="0">
                <a:latin typeface="Calibri"/>
                <a:cs typeface="Calibri"/>
              </a:rPr>
              <a:t>Independent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testing </a:t>
            </a:r>
            <a:r>
              <a:rPr sz="1400" spc="-20" dirty="0">
                <a:latin typeface="Calibri"/>
                <a:cs typeface="Calibri"/>
              </a:rPr>
              <a:t>team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941169" y="4095360"/>
            <a:ext cx="200787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b="1" dirty="0">
                <a:latin typeface="Calibri"/>
                <a:cs typeface="Calibri"/>
              </a:rPr>
              <a:t>Figure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6.1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Software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testing phase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ADDD373-E776-CD54-3999-D9081EE904A6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3F30BEC6-8FAA-CD78-E264-A9B69092290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2805262-991B-DA51-B782-2C3B0B5E4EF9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31" name="object 3">
            <a:extLst>
              <a:ext uri="{FF2B5EF4-FFF2-40B4-BE49-F238E27FC236}">
                <a16:creationId xmlns:a16="http://schemas.microsoft.com/office/drawing/2014/main" id="{CB4B46D1-F8B0-63CA-01A9-F411BC93B722}"/>
              </a:ext>
            </a:extLst>
          </p:cNvPr>
          <p:cNvSpPr/>
          <p:nvPr/>
        </p:nvSpPr>
        <p:spPr>
          <a:xfrm>
            <a:off x="1" y="6477000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3525" y="1697673"/>
            <a:ext cx="86169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93720">
              <a:lnSpc>
                <a:spcPct val="100000"/>
              </a:lnSpc>
              <a:spcBef>
                <a:spcPts val="100"/>
              </a:spcBef>
            </a:pPr>
            <a:r>
              <a:rPr dirty="0"/>
              <a:t>Testing</a:t>
            </a:r>
            <a:r>
              <a:rPr spc="-130" dirty="0"/>
              <a:t> </a:t>
            </a:r>
            <a:r>
              <a:rPr spc="-10" dirty="0"/>
              <a:t>process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7544" y="3356992"/>
            <a:ext cx="8397874" cy="167005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50929" y="4315066"/>
            <a:ext cx="941705" cy="628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139" marR="5080" indent="-92075">
              <a:lnSpc>
                <a:spcPct val="123700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Design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test </a:t>
            </a:r>
            <a:r>
              <a:rPr sz="1600" spc="-10" dirty="0">
                <a:latin typeface="Calibri"/>
                <a:cs typeface="Calibri"/>
              </a:rPr>
              <a:t>cases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15816" y="4349991"/>
            <a:ext cx="80327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9370">
              <a:lnSpc>
                <a:spcPct val="109400"/>
              </a:lnSpc>
              <a:spcBef>
                <a:spcPts val="100"/>
              </a:spcBef>
            </a:pPr>
            <a:r>
              <a:rPr sz="1600" spc="-10" dirty="0">
                <a:latin typeface="Calibri"/>
                <a:cs typeface="Calibri"/>
              </a:rPr>
              <a:t>Prepare </a:t>
            </a:r>
            <a:r>
              <a:rPr sz="1600" dirty="0">
                <a:latin typeface="Calibri"/>
                <a:cs typeface="Calibri"/>
              </a:rPr>
              <a:t>test</a:t>
            </a:r>
            <a:r>
              <a:rPr sz="1600" spc="31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data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88024" y="4349991"/>
            <a:ext cx="753745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9370">
              <a:lnSpc>
                <a:spcPct val="109400"/>
              </a:lnSpc>
              <a:spcBef>
                <a:spcPts val="100"/>
              </a:spcBef>
            </a:pPr>
            <a:r>
              <a:rPr sz="1600" spc="-25" dirty="0">
                <a:latin typeface="Calibri"/>
                <a:cs typeface="Calibri"/>
              </a:rPr>
              <a:t>Run </a:t>
            </a:r>
            <a:r>
              <a:rPr sz="1600" spc="-10" dirty="0">
                <a:latin typeface="Calibri"/>
                <a:cs typeface="Calibri"/>
              </a:rPr>
              <a:t>program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20" dirty="0">
                <a:latin typeface="Calibri"/>
                <a:cs typeface="Calibri"/>
              </a:rPr>
              <a:t> test data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60232" y="4349991"/>
            <a:ext cx="1028700" cy="825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9370">
              <a:lnSpc>
                <a:spcPct val="109400"/>
              </a:lnSpc>
              <a:spcBef>
                <a:spcPts val="100"/>
              </a:spcBef>
              <a:tabLst>
                <a:tab pos="840105" algn="l"/>
              </a:tabLst>
            </a:pPr>
            <a:r>
              <a:rPr sz="1600" spc="-10" dirty="0">
                <a:latin typeface="Calibri"/>
                <a:cs typeface="Calibri"/>
              </a:rPr>
              <a:t>Compare results</a:t>
            </a:r>
            <a:r>
              <a:rPr sz="1600" dirty="0">
                <a:latin typeface="Calibri"/>
                <a:cs typeface="Calibri"/>
              </a:rPr>
              <a:t>	</a:t>
            </a:r>
            <a:r>
              <a:rPr sz="1600" spc="-25" dirty="0">
                <a:latin typeface="Calibri"/>
                <a:cs typeface="Calibri"/>
              </a:rPr>
              <a:t>to </a:t>
            </a:r>
            <a:r>
              <a:rPr sz="1600" dirty="0">
                <a:latin typeface="Calibri"/>
                <a:cs typeface="Calibri"/>
              </a:rPr>
              <a:t>test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cases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51720" y="3341879"/>
            <a:ext cx="46863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9370">
              <a:lnSpc>
                <a:spcPct val="109400"/>
              </a:lnSpc>
              <a:spcBef>
                <a:spcPts val="100"/>
              </a:spcBef>
            </a:pPr>
            <a:r>
              <a:rPr sz="1600" spc="-20" dirty="0">
                <a:latin typeface="Calibri"/>
                <a:cs typeface="Calibri"/>
              </a:rPr>
              <a:t>Test </a:t>
            </a:r>
            <a:r>
              <a:rPr sz="1600" spc="-10" dirty="0">
                <a:latin typeface="Calibri"/>
                <a:cs typeface="Calibri"/>
              </a:rPr>
              <a:t>cases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67944" y="3341879"/>
            <a:ext cx="41211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9370">
              <a:lnSpc>
                <a:spcPct val="109400"/>
              </a:lnSpc>
              <a:spcBef>
                <a:spcPts val="100"/>
              </a:spcBef>
            </a:pPr>
            <a:r>
              <a:rPr sz="1600" spc="-20" dirty="0">
                <a:latin typeface="Calibri"/>
                <a:cs typeface="Calibri"/>
              </a:rPr>
              <a:t>Test data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84168" y="3341879"/>
            <a:ext cx="429895" cy="825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715" indent="39370" algn="just">
              <a:lnSpc>
                <a:spcPct val="109400"/>
              </a:lnSpc>
              <a:spcBef>
                <a:spcPts val="100"/>
              </a:spcBef>
            </a:pPr>
            <a:r>
              <a:rPr sz="1600" spc="-20" dirty="0">
                <a:latin typeface="Calibri"/>
                <a:cs typeface="Calibri"/>
              </a:rPr>
              <a:t>Test </a:t>
            </a:r>
            <a:r>
              <a:rPr sz="1600" spc="-10" dirty="0">
                <a:latin typeface="Calibri"/>
                <a:cs typeface="Calibri"/>
              </a:rPr>
              <a:t>resul </a:t>
            </a:r>
            <a:r>
              <a:rPr sz="1600" spc="-25" dirty="0">
                <a:latin typeface="Calibri"/>
                <a:cs typeface="Calibri"/>
              </a:rPr>
              <a:t>ts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00392" y="3413887"/>
            <a:ext cx="549275" cy="825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9370">
              <a:lnSpc>
                <a:spcPct val="109400"/>
              </a:lnSpc>
              <a:spcBef>
                <a:spcPts val="100"/>
              </a:spcBef>
            </a:pPr>
            <a:r>
              <a:rPr sz="1600" spc="-20" dirty="0">
                <a:latin typeface="Calibri"/>
                <a:cs typeface="Calibri"/>
              </a:rPr>
              <a:t>Test report </a:t>
            </a:r>
            <a:r>
              <a:rPr sz="1600" spc="-50" dirty="0">
                <a:latin typeface="Calibri"/>
                <a:cs typeface="Calibri"/>
              </a:rPr>
              <a:t>s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267749" y="2924950"/>
            <a:ext cx="5110480" cy="1360805"/>
            <a:chOff x="2267749" y="2924950"/>
            <a:chExt cx="5110480" cy="1360805"/>
          </a:xfrm>
        </p:grpSpPr>
        <p:sp>
          <p:nvSpPr>
            <p:cNvPr id="15" name="object 15"/>
            <p:cNvSpPr/>
            <p:nvPr/>
          </p:nvSpPr>
          <p:spPr>
            <a:xfrm>
              <a:off x="7242175" y="3978251"/>
              <a:ext cx="120650" cy="292100"/>
            </a:xfrm>
            <a:custGeom>
              <a:avLst/>
              <a:gdLst/>
              <a:ahLst/>
              <a:cxnLst/>
              <a:rect l="l" t="t" r="r" b="b"/>
              <a:pathLst>
                <a:path w="120650" h="292100">
                  <a:moveTo>
                    <a:pt x="60324" y="292099"/>
                  </a:moveTo>
                  <a:lnTo>
                    <a:pt x="0" y="0"/>
                  </a:lnTo>
                  <a:lnTo>
                    <a:pt x="60324" y="66674"/>
                  </a:lnTo>
                  <a:lnTo>
                    <a:pt x="120649" y="0"/>
                  </a:lnTo>
                  <a:lnTo>
                    <a:pt x="60324" y="2920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282824" y="2940025"/>
              <a:ext cx="5080000" cy="1330325"/>
            </a:xfrm>
            <a:custGeom>
              <a:avLst/>
              <a:gdLst/>
              <a:ahLst/>
              <a:cxnLst/>
              <a:rect l="l" t="t" r="r" b="b"/>
              <a:pathLst>
                <a:path w="5080000" h="1330325">
                  <a:moveTo>
                    <a:pt x="5019674" y="1104900"/>
                  </a:moveTo>
                  <a:lnTo>
                    <a:pt x="5079999" y="1038225"/>
                  </a:lnTo>
                  <a:lnTo>
                    <a:pt x="5019674" y="1330325"/>
                  </a:lnTo>
                  <a:lnTo>
                    <a:pt x="4959349" y="1038225"/>
                  </a:lnTo>
                  <a:lnTo>
                    <a:pt x="5019674" y="1104900"/>
                  </a:lnTo>
                  <a:close/>
                </a:path>
                <a:path w="5080000" h="1330325">
                  <a:moveTo>
                    <a:pt x="5019674" y="1174750"/>
                  </a:moveTo>
                  <a:lnTo>
                    <a:pt x="5019674" y="0"/>
                  </a:lnTo>
                  <a:lnTo>
                    <a:pt x="0" y="0"/>
                  </a:lnTo>
                  <a:lnTo>
                    <a:pt x="0" y="384175"/>
                  </a:lnTo>
                </a:path>
              </a:pathLst>
            </a:custGeom>
            <a:ln w="30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484784" y="5967567"/>
            <a:ext cx="3230216" cy="23397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algn="ctr">
              <a:lnSpc>
                <a:spcPts val="1650"/>
              </a:lnSpc>
              <a:spcBef>
                <a:spcPts val="180"/>
              </a:spcBef>
            </a:pPr>
            <a:r>
              <a:rPr sz="1400" b="1" dirty="0">
                <a:latin typeface="Calibri"/>
                <a:cs typeface="Calibri"/>
              </a:rPr>
              <a:t>Figure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6.2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Software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testing process</a:t>
            </a:r>
            <a:endParaRPr sz="1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3525" y="1697673"/>
            <a:ext cx="86169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87750">
              <a:lnSpc>
                <a:spcPct val="100000"/>
              </a:lnSpc>
              <a:spcBef>
                <a:spcPts val="100"/>
              </a:spcBef>
            </a:pPr>
            <a:r>
              <a:rPr dirty="0"/>
              <a:t>Test</a:t>
            </a:r>
            <a:r>
              <a:rPr spc="-75" dirty="0"/>
              <a:t> </a:t>
            </a:r>
            <a:r>
              <a:rPr spc="-20" dirty="0"/>
              <a:t>plan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30800" y="2867160"/>
            <a:ext cx="7531734" cy="236093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10489" marR="5080" indent="-80645">
              <a:lnSpc>
                <a:spcPts val="2620"/>
              </a:lnSpc>
              <a:spcBef>
                <a:spcPts val="204"/>
              </a:spcBef>
              <a:buSzPct val="81818"/>
              <a:buFont typeface="Arial MT"/>
              <a:buChar char="•"/>
              <a:tabLst>
                <a:tab pos="110489" algn="l"/>
                <a:tab pos="173355" algn="l"/>
              </a:tabLst>
            </a:pPr>
            <a:r>
              <a:rPr sz="2200" dirty="0">
                <a:latin typeface="Calibri"/>
                <a:cs typeface="Calibri"/>
              </a:rPr>
              <a:t>	Test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planning,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most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important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activity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ensure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there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is </a:t>
            </a:r>
            <a:r>
              <a:rPr sz="2200" dirty="0">
                <a:latin typeface="Calibri"/>
                <a:cs typeface="Calibri"/>
              </a:rPr>
              <a:t>initially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list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tasks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milestones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baseline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plan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track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progress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project.</a:t>
            </a:r>
            <a:endParaRPr sz="2200">
              <a:latin typeface="Calibri"/>
              <a:cs typeface="Calibri"/>
            </a:endParaRPr>
          </a:p>
          <a:p>
            <a:pPr marL="173355" indent="-160655">
              <a:lnSpc>
                <a:spcPts val="2545"/>
              </a:lnSpc>
              <a:buFont typeface="Arial MT"/>
              <a:buChar char="•"/>
              <a:tabLst>
                <a:tab pos="173355" algn="l"/>
              </a:tabLst>
            </a:pPr>
            <a:r>
              <a:rPr sz="2200" dirty="0">
                <a:latin typeface="Calibri"/>
                <a:cs typeface="Calibri"/>
              </a:rPr>
              <a:t>It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also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defines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size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test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effort.</a:t>
            </a:r>
            <a:endParaRPr sz="2200">
              <a:latin typeface="Calibri"/>
              <a:cs typeface="Calibri"/>
            </a:endParaRPr>
          </a:p>
          <a:p>
            <a:pPr marL="110489" marR="59055" indent="-98425">
              <a:lnSpc>
                <a:spcPts val="2630"/>
              </a:lnSpc>
              <a:spcBef>
                <a:spcPts val="85"/>
              </a:spcBef>
              <a:buFont typeface="Arial MT"/>
              <a:buChar char="•"/>
              <a:tabLst>
                <a:tab pos="110489" algn="l"/>
                <a:tab pos="172720" algn="l"/>
              </a:tabLst>
            </a:pPr>
            <a:r>
              <a:rPr sz="2200" dirty="0">
                <a:latin typeface="Calibri"/>
                <a:cs typeface="Calibri"/>
              </a:rPr>
              <a:t>It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main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document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often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called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master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test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plan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a </a:t>
            </a:r>
            <a:r>
              <a:rPr sz="2200" dirty="0">
                <a:latin typeface="Calibri"/>
                <a:cs typeface="Calibri"/>
              </a:rPr>
              <a:t>project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test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plan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usually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developed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during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early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phase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of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project.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3525" y="1697673"/>
            <a:ext cx="86169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3960">
              <a:lnSpc>
                <a:spcPct val="100000"/>
              </a:lnSpc>
              <a:spcBef>
                <a:spcPts val="100"/>
              </a:spcBef>
            </a:pPr>
            <a:r>
              <a:rPr dirty="0"/>
              <a:t>Test</a:t>
            </a:r>
            <a:r>
              <a:rPr spc="-114" dirty="0"/>
              <a:t> </a:t>
            </a:r>
            <a:r>
              <a:rPr dirty="0"/>
              <a:t>Planning</a:t>
            </a:r>
            <a:r>
              <a:rPr spc="-110" dirty="0"/>
              <a:t> </a:t>
            </a:r>
            <a:r>
              <a:rPr spc="-10" dirty="0"/>
              <a:t>Activities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11718" y="2724160"/>
            <a:ext cx="7282815" cy="2768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965" marR="5080" indent="-88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00965" algn="l"/>
                <a:tab pos="157480" algn="l"/>
              </a:tabLst>
            </a:pPr>
            <a:r>
              <a:rPr sz="2000" dirty="0">
                <a:latin typeface="Calibri"/>
                <a:cs typeface="Calibri"/>
              </a:rPr>
              <a:t>	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determine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scope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risks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that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tested.</a:t>
            </a:r>
            <a:endParaRPr sz="2000">
              <a:latin typeface="Calibri"/>
              <a:cs typeface="Calibri"/>
            </a:endParaRPr>
          </a:p>
          <a:p>
            <a:pPr marL="158115" indent="-145415">
              <a:lnSpc>
                <a:spcPct val="100000"/>
              </a:lnSpc>
              <a:buFont typeface="Arial MT"/>
              <a:buChar char="•"/>
              <a:tabLst>
                <a:tab pos="158115" algn="l"/>
              </a:tabLst>
            </a:pPr>
            <a:r>
              <a:rPr sz="2000" spc="-10" dirty="0">
                <a:latin typeface="Calibri"/>
                <a:cs typeface="Calibri"/>
              </a:rPr>
              <a:t>Documenting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Strategy.</a:t>
            </a:r>
            <a:endParaRPr sz="2000">
              <a:latin typeface="Calibri"/>
              <a:cs typeface="Calibri"/>
            </a:endParaRPr>
          </a:p>
          <a:p>
            <a:pPr marL="158115" indent="-145415">
              <a:lnSpc>
                <a:spcPct val="100000"/>
              </a:lnSpc>
              <a:buFont typeface="Arial MT"/>
              <a:buChar char="•"/>
              <a:tabLst>
                <a:tab pos="158115" algn="l"/>
              </a:tabLst>
            </a:pPr>
            <a:r>
              <a:rPr sz="2000" dirty="0">
                <a:latin typeface="Calibri"/>
                <a:cs typeface="Calibri"/>
              </a:rPr>
              <a:t>Deciding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Entry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Exit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criteria.</a:t>
            </a:r>
            <a:endParaRPr sz="2000">
              <a:latin typeface="Calibri"/>
              <a:cs typeface="Calibri"/>
            </a:endParaRPr>
          </a:p>
          <a:p>
            <a:pPr marL="158115" indent="-145415">
              <a:lnSpc>
                <a:spcPct val="100000"/>
              </a:lnSpc>
              <a:buFont typeface="Arial MT"/>
              <a:buChar char="•"/>
              <a:tabLst>
                <a:tab pos="158115" algn="l"/>
              </a:tabLst>
            </a:pPr>
            <a:r>
              <a:rPr sz="2000" spc="-10" dirty="0">
                <a:latin typeface="Calibri"/>
                <a:cs typeface="Calibri"/>
              </a:rPr>
              <a:t>Evaluating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estimate.</a:t>
            </a:r>
            <a:endParaRPr sz="2000">
              <a:latin typeface="Calibri"/>
              <a:cs typeface="Calibri"/>
            </a:endParaRPr>
          </a:p>
          <a:p>
            <a:pPr marL="100965" marR="22860" indent="-88900">
              <a:lnSpc>
                <a:spcPct val="100000"/>
              </a:lnSpc>
              <a:buFont typeface="Arial MT"/>
              <a:buChar char="•"/>
              <a:tabLst>
                <a:tab pos="100965" algn="l"/>
                <a:tab pos="157480" algn="l"/>
              </a:tabLst>
            </a:pPr>
            <a:r>
              <a:rPr sz="2000" dirty="0">
                <a:latin typeface="Calibri"/>
                <a:cs typeface="Calibri"/>
              </a:rPr>
              <a:t>	Planning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how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deciding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how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results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will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evaluated,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defining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exit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criterion.</a:t>
            </a:r>
            <a:endParaRPr sz="2000">
              <a:latin typeface="Calibri"/>
              <a:cs typeface="Calibri"/>
            </a:endParaRPr>
          </a:p>
          <a:p>
            <a:pPr marL="100965" marR="532765" indent="-88900">
              <a:lnSpc>
                <a:spcPct val="100000"/>
              </a:lnSpc>
              <a:buFont typeface="Arial MT"/>
              <a:buChar char="•"/>
              <a:tabLst>
                <a:tab pos="100965" algn="l"/>
                <a:tab pos="157480" algn="l"/>
              </a:tabLst>
            </a:pPr>
            <a:r>
              <a:rPr sz="2000" dirty="0">
                <a:latin typeface="Calibri"/>
                <a:cs typeface="Calibri"/>
              </a:rPr>
              <a:t>	Ensuring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documentation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generates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repeatable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test </a:t>
            </a:r>
            <a:r>
              <a:rPr sz="2000" spc="-10" dirty="0">
                <a:latin typeface="Calibri"/>
                <a:cs typeface="Calibri"/>
              </a:rPr>
              <a:t>assets.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3525" y="1697673"/>
            <a:ext cx="86169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30855">
              <a:lnSpc>
                <a:spcPct val="100000"/>
              </a:lnSpc>
              <a:spcBef>
                <a:spcPts val="100"/>
              </a:spcBef>
            </a:pPr>
            <a:r>
              <a:rPr dirty="0"/>
              <a:t>Test</a:t>
            </a:r>
            <a:r>
              <a:rPr spc="-50" dirty="0"/>
              <a:t> </a:t>
            </a:r>
            <a:r>
              <a:rPr dirty="0"/>
              <a:t>case</a:t>
            </a:r>
            <a:r>
              <a:rPr spc="-45" dirty="0"/>
              <a:t> </a:t>
            </a:r>
            <a:r>
              <a:rPr spc="-10" dirty="0"/>
              <a:t>design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5175" y="2963424"/>
            <a:ext cx="7319009" cy="280670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608965" marR="104775" indent="-495300">
              <a:lnSpc>
                <a:spcPts val="1950"/>
              </a:lnSpc>
              <a:spcBef>
                <a:spcPts val="540"/>
              </a:spcBef>
              <a:buFont typeface="Arial MT"/>
              <a:buChar char="•"/>
              <a:tabLst>
                <a:tab pos="608965" algn="l"/>
              </a:tabLst>
            </a:pPr>
            <a:r>
              <a:rPr sz="2000" dirty="0">
                <a:latin typeface="Calibri"/>
                <a:cs typeface="Calibri"/>
              </a:rPr>
              <a:t>Test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case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design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methods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provide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mechanism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help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to </a:t>
            </a:r>
            <a:r>
              <a:rPr sz="2000" dirty="0">
                <a:latin typeface="Calibri"/>
                <a:cs typeface="Calibri"/>
              </a:rPr>
              <a:t>ensure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completeness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tests</a:t>
            </a:r>
            <a:endParaRPr sz="2000">
              <a:latin typeface="Calibri"/>
              <a:cs typeface="Calibri"/>
            </a:endParaRPr>
          </a:p>
          <a:p>
            <a:pPr marL="608965" indent="-495300">
              <a:lnSpc>
                <a:spcPts val="1960"/>
              </a:lnSpc>
              <a:buFont typeface="Arial MT"/>
              <a:buChar char="•"/>
              <a:tabLst>
                <a:tab pos="608965" algn="l"/>
              </a:tabLst>
            </a:pPr>
            <a:r>
              <a:rPr sz="2000" dirty="0">
                <a:latin typeface="Calibri"/>
                <a:cs typeface="Calibri"/>
              </a:rPr>
              <a:t>Provide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highest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likelihood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uncovering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errors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software.</a:t>
            </a:r>
            <a:endParaRPr sz="2000">
              <a:latin typeface="Calibri"/>
              <a:cs typeface="Calibri"/>
            </a:endParaRPr>
          </a:p>
          <a:p>
            <a:pPr marL="75565">
              <a:lnSpc>
                <a:spcPts val="2175"/>
              </a:lnSpc>
              <a:spcBef>
                <a:spcPts val="1500"/>
              </a:spcBef>
            </a:pPr>
            <a:r>
              <a:rPr sz="2000" b="1" dirty="0">
                <a:latin typeface="Calibri"/>
                <a:cs typeface="Calibri"/>
              </a:rPr>
              <a:t>Any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product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or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system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can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be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tested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on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two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ways:</a:t>
            </a:r>
            <a:endParaRPr sz="2000">
              <a:latin typeface="Calibri"/>
              <a:cs typeface="Calibri"/>
            </a:endParaRPr>
          </a:p>
          <a:p>
            <a:pPr marL="608965" marR="5080" indent="-596900">
              <a:lnSpc>
                <a:spcPts val="1950"/>
              </a:lnSpc>
              <a:spcBef>
                <a:spcPts val="215"/>
              </a:spcBef>
              <a:buFont typeface="Times New Roman"/>
              <a:buAutoNum type="arabicPeriod"/>
              <a:tabLst>
                <a:tab pos="608965" algn="l"/>
              </a:tabLst>
            </a:pPr>
            <a:r>
              <a:rPr sz="2000" dirty="0">
                <a:latin typeface="Calibri"/>
                <a:cs typeface="Calibri"/>
              </a:rPr>
              <a:t>Knowing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specified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function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product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been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designed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perform;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(Black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Box)</a:t>
            </a:r>
            <a:endParaRPr sz="2000">
              <a:latin typeface="Calibri"/>
              <a:cs typeface="Calibri"/>
            </a:endParaRPr>
          </a:p>
          <a:p>
            <a:pPr marL="608965" marR="35560" indent="-596900">
              <a:lnSpc>
                <a:spcPts val="1950"/>
              </a:lnSpc>
              <a:buFont typeface="Times New Roman"/>
              <a:buAutoNum type="arabicPeriod"/>
              <a:tabLst>
                <a:tab pos="608965" algn="l"/>
              </a:tabLst>
            </a:pPr>
            <a:r>
              <a:rPr sz="2000" dirty="0">
                <a:latin typeface="Calibri"/>
                <a:cs typeface="Calibri"/>
              </a:rPr>
              <a:t>knowing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internal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workings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product,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be </a:t>
            </a:r>
            <a:r>
              <a:rPr sz="2000" spc="-10" dirty="0">
                <a:latin typeface="Calibri"/>
                <a:cs typeface="Calibri"/>
              </a:rPr>
              <a:t>conducted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ensure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"all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gears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mesh,"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internal operations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performed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according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specifications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(White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box </a:t>
            </a:r>
            <a:r>
              <a:rPr sz="2000" spc="-10" dirty="0">
                <a:latin typeface="Calibri"/>
                <a:cs typeface="Calibri"/>
              </a:rPr>
              <a:t>testing)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3525" y="1697673"/>
            <a:ext cx="86169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57220">
              <a:lnSpc>
                <a:spcPct val="100000"/>
              </a:lnSpc>
              <a:spcBef>
                <a:spcPts val="100"/>
              </a:spcBef>
            </a:pPr>
            <a:r>
              <a:rPr dirty="0"/>
              <a:t>Test</a:t>
            </a:r>
            <a:r>
              <a:rPr spc="-75" dirty="0"/>
              <a:t> </a:t>
            </a:r>
            <a:r>
              <a:rPr spc="-10" dirty="0"/>
              <a:t>Execution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39710" y="2724160"/>
            <a:ext cx="7473315" cy="3378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965" marR="52069" indent="-88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00965" algn="l"/>
                <a:tab pos="157480" algn="l"/>
              </a:tabLst>
            </a:pPr>
            <a:r>
              <a:rPr sz="2000" dirty="0">
                <a:latin typeface="Calibri"/>
                <a:cs typeface="Calibri"/>
              </a:rPr>
              <a:t>	Test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execution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process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executing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code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comparing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expected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actual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results.</a:t>
            </a:r>
            <a:endParaRPr sz="2000">
              <a:latin typeface="Calibri"/>
              <a:cs typeface="Calibri"/>
            </a:endParaRPr>
          </a:p>
          <a:p>
            <a:pPr marL="100965">
              <a:lnSpc>
                <a:spcPct val="100000"/>
              </a:lnSpc>
            </a:pPr>
            <a:r>
              <a:rPr sz="2000" b="1" dirty="0">
                <a:latin typeface="Calibri"/>
                <a:cs typeface="Calibri"/>
              </a:rPr>
              <a:t>Following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factors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are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to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be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considered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for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test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execution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process:</a:t>
            </a:r>
            <a:endParaRPr sz="2000">
              <a:latin typeface="Calibri"/>
              <a:cs typeface="Calibri"/>
            </a:endParaRPr>
          </a:p>
          <a:p>
            <a:pPr marL="558165" marR="5080" lvl="1" indent="-175260">
              <a:lnSpc>
                <a:spcPct val="100000"/>
              </a:lnSpc>
              <a:buFont typeface="Segoe UI Symbol"/>
              <a:buChar char="▪"/>
              <a:tabLst>
                <a:tab pos="558165" algn="l"/>
                <a:tab pos="614680" algn="l"/>
              </a:tabLst>
            </a:pPr>
            <a:r>
              <a:rPr sz="2000" dirty="0">
                <a:latin typeface="Calibri"/>
                <a:cs typeface="Calibri"/>
              </a:rPr>
              <a:t>	Based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risk,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select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subset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suite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executed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this </a:t>
            </a:r>
            <a:r>
              <a:rPr sz="2000" spc="-10" dirty="0">
                <a:latin typeface="Calibri"/>
                <a:cs typeface="Calibri"/>
              </a:rPr>
              <a:t>cycle.</a:t>
            </a:r>
            <a:endParaRPr sz="2000">
              <a:latin typeface="Calibri"/>
              <a:cs typeface="Calibri"/>
            </a:endParaRPr>
          </a:p>
          <a:p>
            <a:pPr marL="615315" lvl="1" indent="-231775">
              <a:lnSpc>
                <a:spcPct val="100000"/>
              </a:lnSpc>
              <a:buFont typeface="Segoe UI Symbol"/>
              <a:buChar char="▪"/>
              <a:tabLst>
                <a:tab pos="615315" algn="l"/>
              </a:tabLst>
            </a:pPr>
            <a:r>
              <a:rPr sz="2000" dirty="0">
                <a:latin typeface="Calibri"/>
                <a:cs typeface="Calibri"/>
              </a:rPr>
              <a:t>Assign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cases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each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suite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testers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execution.</a:t>
            </a:r>
            <a:endParaRPr sz="2000">
              <a:latin typeface="Calibri"/>
              <a:cs typeface="Calibri"/>
            </a:endParaRPr>
          </a:p>
          <a:p>
            <a:pPr marL="615315" lvl="1" indent="-231775">
              <a:lnSpc>
                <a:spcPct val="100000"/>
              </a:lnSpc>
              <a:buFont typeface="Segoe UI Symbol"/>
              <a:buChar char="▪"/>
              <a:tabLst>
                <a:tab pos="615315" algn="l"/>
              </a:tabLst>
            </a:pPr>
            <a:r>
              <a:rPr sz="2000" dirty="0">
                <a:latin typeface="Calibri"/>
                <a:cs typeface="Calibri"/>
              </a:rPr>
              <a:t>Execute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tests,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report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bugs,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capture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status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continuously.</a:t>
            </a:r>
            <a:endParaRPr sz="2000">
              <a:latin typeface="Calibri"/>
              <a:cs typeface="Calibri"/>
            </a:endParaRPr>
          </a:p>
          <a:p>
            <a:pPr marL="615315" lvl="1" indent="-231775">
              <a:lnSpc>
                <a:spcPct val="100000"/>
              </a:lnSpc>
              <a:buFont typeface="Segoe UI Symbol"/>
              <a:buChar char="▪"/>
              <a:tabLst>
                <a:tab pos="615315" algn="l"/>
              </a:tabLst>
            </a:pPr>
            <a:r>
              <a:rPr sz="2000" dirty="0">
                <a:latin typeface="Calibri"/>
                <a:cs typeface="Calibri"/>
              </a:rPr>
              <a:t>Resolve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blocking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issues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they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arise.</a:t>
            </a:r>
            <a:endParaRPr sz="2000">
              <a:latin typeface="Calibri"/>
              <a:cs typeface="Calibri"/>
            </a:endParaRPr>
          </a:p>
          <a:p>
            <a:pPr marL="558165" marR="666750" lvl="1" indent="-175260">
              <a:lnSpc>
                <a:spcPct val="100000"/>
              </a:lnSpc>
              <a:buFont typeface="Segoe UI Symbol"/>
              <a:buChar char="▪"/>
              <a:tabLst>
                <a:tab pos="558165" algn="l"/>
                <a:tab pos="614680" algn="l"/>
              </a:tabLst>
            </a:pPr>
            <a:r>
              <a:rPr sz="2000" dirty="0">
                <a:latin typeface="Calibri"/>
                <a:cs typeface="Calibri"/>
              </a:rPr>
              <a:t>	Report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status,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adjust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assignments,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reconsider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plans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and </a:t>
            </a:r>
            <a:r>
              <a:rPr sz="2000" spc="-10" dirty="0">
                <a:latin typeface="Calibri"/>
                <a:cs typeface="Calibri"/>
              </a:rPr>
              <a:t>priorities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daily.</a:t>
            </a:r>
            <a:endParaRPr sz="2000">
              <a:latin typeface="Calibri"/>
              <a:cs typeface="Calibri"/>
            </a:endParaRPr>
          </a:p>
          <a:p>
            <a:pPr marL="615315" lvl="1" indent="-231775">
              <a:lnSpc>
                <a:spcPct val="100000"/>
              </a:lnSpc>
              <a:buFont typeface="Segoe UI Symbol"/>
              <a:buChar char="▪"/>
              <a:tabLst>
                <a:tab pos="615315" algn="l"/>
              </a:tabLst>
            </a:pPr>
            <a:r>
              <a:rPr sz="2000" dirty="0">
                <a:latin typeface="Calibri"/>
                <a:cs typeface="Calibri"/>
              </a:rPr>
              <a:t>Report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cycle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findings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status.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3525" y="1697673"/>
            <a:ext cx="86169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30855">
              <a:lnSpc>
                <a:spcPct val="100000"/>
              </a:lnSpc>
              <a:spcBef>
                <a:spcPts val="100"/>
              </a:spcBef>
            </a:pPr>
            <a:r>
              <a:rPr dirty="0"/>
              <a:t>Levels</a:t>
            </a:r>
            <a:r>
              <a:rPr spc="-75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spc="-10" dirty="0"/>
              <a:t>testing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55734" y="2796169"/>
            <a:ext cx="7031990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4465" indent="-143510">
              <a:lnSpc>
                <a:spcPct val="100000"/>
              </a:lnSpc>
              <a:spcBef>
                <a:spcPts val="100"/>
              </a:spcBef>
              <a:buSzPct val="90000"/>
              <a:buFont typeface="Arial MT"/>
              <a:buChar char="•"/>
              <a:tabLst>
                <a:tab pos="164465" algn="l"/>
              </a:tabLst>
            </a:pPr>
            <a:r>
              <a:rPr sz="2000" dirty="0">
                <a:latin typeface="Calibri"/>
                <a:cs typeface="Calibri"/>
              </a:rPr>
              <a:t>There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different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levels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during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process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testing.</a:t>
            </a:r>
            <a:endParaRPr sz="2000">
              <a:latin typeface="Calibri"/>
              <a:cs typeface="Calibri"/>
            </a:endParaRPr>
          </a:p>
          <a:p>
            <a:pPr marL="100965" marR="5080" indent="-88900">
              <a:lnSpc>
                <a:spcPct val="100000"/>
              </a:lnSpc>
              <a:buFont typeface="Arial MT"/>
              <a:buChar char="•"/>
              <a:tabLst>
                <a:tab pos="100965" algn="l"/>
                <a:tab pos="213995" algn="l"/>
              </a:tabLst>
            </a:pPr>
            <a:r>
              <a:rPr sz="2000" dirty="0">
                <a:latin typeface="Calibri"/>
                <a:cs typeface="Calibri"/>
              </a:rPr>
              <a:t>Levels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include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different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methodologies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used </a:t>
            </a:r>
            <a:r>
              <a:rPr sz="2000" dirty="0">
                <a:latin typeface="Calibri"/>
                <a:cs typeface="Calibri"/>
              </a:rPr>
              <a:t>while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conducting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software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testing.</a:t>
            </a:r>
            <a:endParaRPr sz="2000">
              <a:latin typeface="Calibri"/>
              <a:cs typeface="Calibri"/>
            </a:endParaRPr>
          </a:p>
          <a:p>
            <a:pPr marL="100965">
              <a:lnSpc>
                <a:spcPct val="100000"/>
              </a:lnSpc>
            </a:pPr>
            <a:r>
              <a:rPr sz="2000" b="1" dirty="0">
                <a:latin typeface="Calibri"/>
                <a:cs typeface="Calibri"/>
              </a:rPr>
              <a:t>The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main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levels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of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software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testing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are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spc="-50" dirty="0">
                <a:latin typeface="Calibri"/>
                <a:cs typeface="Calibri"/>
              </a:rPr>
              <a:t>−</a:t>
            </a:r>
            <a:endParaRPr sz="2000">
              <a:latin typeface="Calibri"/>
              <a:cs typeface="Calibri"/>
            </a:endParaRPr>
          </a:p>
          <a:p>
            <a:pPr marL="615315" lvl="1" indent="-231775">
              <a:lnSpc>
                <a:spcPct val="100000"/>
              </a:lnSpc>
              <a:buFont typeface="Segoe UI Symbol"/>
              <a:buChar char="▪"/>
              <a:tabLst>
                <a:tab pos="615315" algn="l"/>
              </a:tabLst>
            </a:pPr>
            <a:r>
              <a:rPr sz="2000" spc="-10" dirty="0">
                <a:latin typeface="Calibri"/>
                <a:cs typeface="Calibri"/>
              </a:rPr>
              <a:t>Functional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Testing</a:t>
            </a:r>
            <a:endParaRPr sz="2000">
              <a:latin typeface="Calibri"/>
              <a:cs typeface="Calibri"/>
            </a:endParaRPr>
          </a:p>
          <a:p>
            <a:pPr marL="615315" lvl="1" indent="-231775">
              <a:lnSpc>
                <a:spcPct val="100000"/>
              </a:lnSpc>
              <a:buFont typeface="Segoe UI Symbol"/>
              <a:buChar char="▪"/>
              <a:tabLst>
                <a:tab pos="615315" algn="l"/>
              </a:tabLst>
            </a:pPr>
            <a:r>
              <a:rPr sz="2000" spc="-15" dirty="0">
                <a:latin typeface="Calibri"/>
                <a:cs typeface="Calibri"/>
              </a:rPr>
              <a:t>Non-</a:t>
            </a:r>
            <a:r>
              <a:rPr sz="2000" spc="-10" dirty="0">
                <a:latin typeface="Calibri"/>
                <a:cs typeface="Calibri"/>
              </a:rPr>
              <a:t>functional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Testing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3525" y="1697673"/>
            <a:ext cx="86169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0">
              <a:lnSpc>
                <a:spcPct val="100000"/>
              </a:lnSpc>
              <a:spcBef>
                <a:spcPts val="100"/>
              </a:spcBef>
            </a:pPr>
            <a:r>
              <a:rPr dirty="0"/>
              <a:t>Functional</a:t>
            </a:r>
            <a:r>
              <a:rPr spc="-50" dirty="0"/>
              <a:t> </a:t>
            </a:r>
            <a:r>
              <a:rPr spc="-10" dirty="0"/>
              <a:t>Testing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95694" y="2749560"/>
            <a:ext cx="7988934" cy="334264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00965" marR="83185" indent="-88900">
              <a:lnSpc>
                <a:spcPct val="102200"/>
              </a:lnSpc>
              <a:spcBef>
                <a:spcPts val="50"/>
              </a:spcBef>
              <a:buSzPct val="111111"/>
              <a:buFont typeface="Arial MT"/>
              <a:buChar char="•"/>
              <a:tabLst>
                <a:tab pos="100965" algn="l"/>
                <a:tab pos="157480" algn="l"/>
              </a:tabLst>
            </a:pPr>
            <a:r>
              <a:rPr sz="1800" dirty="0">
                <a:latin typeface="Calibri"/>
                <a:cs typeface="Calibri"/>
              </a:rPr>
              <a:t>This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type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black-</a:t>
            </a:r>
            <a:r>
              <a:rPr sz="1800" dirty="0">
                <a:latin typeface="Calibri"/>
                <a:cs typeface="Calibri"/>
              </a:rPr>
              <a:t>box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testing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based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specifications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software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tested.</a:t>
            </a:r>
            <a:endParaRPr sz="1800">
              <a:latin typeface="Calibri"/>
              <a:cs typeface="Calibri"/>
            </a:endParaRPr>
          </a:p>
          <a:p>
            <a:pPr marL="100965" marR="250190" indent="-80645">
              <a:lnSpc>
                <a:spcPct val="100699"/>
              </a:lnSpc>
              <a:buFont typeface="Arial MT"/>
              <a:buChar char="•"/>
              <a:tabLst>
                <a:tab pos="100965" algn="l"/>
                <a:tab pos="151765" algn="l"/>
              </a:tabLst>
            </a:pP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Functional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testing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software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conducted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complete,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integrated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system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to </a:t>
            </a:r>
            <a:r>
              <a:rPr sz="1800" dirty="0">
                <a:latin typeface="Calibri"/>
                <a:cs typeface="Calibri"/>
              </a:rPr>
              <a:t>evaluate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system's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compliance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specified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requirements.</a:t>
            </a:r>
            <a:endParaRPr sz="1800">
              <a:latin typeface="Calibri"/>
              <a:cs typeface="Calibri"/>
            </a:endParaRPr>
          </a:p>
          <a:p>
            <a:pPr marL="100965">
              <a:lnSpc>
                <a:spcPct val="100000"/>
              </a:lnSpc>
              <a:spcBef>
                <a:spcPts val="15"/>
              </a:spcBef>
            </a:pPr>
            <a:r>
              <a:rPr sz="1800" b="1" dirty="0">
                <a:latin typeface="Calibri"/>
                <a:cs typeface="Calibri"/>
              </a:rPr>
              <a:t>There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are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five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steps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that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are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involved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while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testing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an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application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for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functionality.</a:t>
            </a:r>
            <a:endParaRPr sz="1800">
              <a:latin typeface="Calibri"/>
              <a:cs typeface="Calibri"/>
            </a:endParaRPr>
          </a:p>
          <a:p>
            <a:pPr marL="558165" marR="5080" indent="-516890">
              <a:lnSpc>
                <a:spcPct val="100699"/>
              </a:lnSpc>
              <a:buAutoNum type="arabicPeriod"/>
              <a:tabLst>
                <a:tab pos="558165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determination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functionality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intended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application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meant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to </a:t>
            </a:r>
            <a:r>
              <a:rPr sz="1800" spc="-10" dirty="0">
                <a:latin typeface="Calibri"/>
                <a:cs typeface="Calibri"/>
              </a:rPr>
              <a:t>perform.</a:t>
            </a:r>
            <a:endParaRPr sz="1800">
              <a:latin typeface="Calibri"/>
              <a:cs typeface="Calibri"/>
            </a:endParaRPr>
          </a:p>
          <a:p>
            <a:pPr marL="558165" indent="-516255">
              <a:lnSpc>
                <a:spcPct val="100000"/>
              </a:lnSpc>
              <a:spcBef>
                <a:spcPts val="15"/>
              </a:spcBef>
              <a:buAutoNum type="arabicPeriod"/>
              <a:tabLst>
                <a:tab pos="558165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creation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test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based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specifications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application.</a:t>
            </a:r>
            <a:endParaRPr sz="1800">
              <a:latin typeface="Calibri"/>
              <a:cs typeface="Calibri"/>
            </a:endParaRPr>
          </a:p>
          <a:p>
            <a:pPr marL="610235" indent="-568325">
              <a:lnSpc>
                <a:spcPct val="100000"/>
              </a:lnSpc>
              <a:spcBef>
                <a:spcPts val="15"/>
              </a:spcBef>
              <a:buAutoNum type="arabicPeriod"/>
              <a:tabLst>
                <a:tab pos="610235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output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based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test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specifications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application.</a:t>
            </a:r>
            <a:endParaRPr sz="1800">
              <a:latin typeface="Calibri"/>
              <a:cs typeface="Calibri"/>
            </a:endParaRPr>
          </a:p>
          <a:p>
            <a:pPr marL="610235" indent="-568325">
              <a:lnSpc>
                <a:spcPct val="100000"/>
              </a:lnSpc>
              <a:spcBef>
                <a:spcPts val="15"/>
              </a:spcBef>
              <a:buAutoNum type="arabicPeriod"/>
              <a:tabLst>
                <a:tab pos="610235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writing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test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scenarios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execution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test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cases.</a:t>
            </a:r>
            <a:endParaRPr sz="1800">
              <a:latin typeface="Calibri"/>
              <a:cs typeface="Calibri"/>
            </a:endParaRPr>
          </a:p>
          <a:p>
            <a:pPr marL="558165" marR="476884" indent="-516890">
              <a:lnSpc>
                <a:spcPct val="100699"/>
              </a:lnSpc>
              <a:buAutoNum type="arabicPeriod"/>
              <a:tabLst>
                <a:tab pos="558165" algn="l"/>
                <a:tab pos="610235" algn="l"/>
              </a:tabLst>
            </a:pPr>
            <a:r>
              <a:rPr sz="1800" dirty="0">
                <a:latin typeface="Calibri"/>
                <a:cs typeface="Calibri"/>
              </a:rPr>
              <a:t>	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comparison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actual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expected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results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based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executed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test </a:t>
            </a:r>
            <a:r>
              <a:rPr sz="1800" spc="-10" dirty="0">
                <a:latin typeface="Calibri"/>
                <a:cs typeface="Calibri"/>
              </a:rPr>
              <a:t>cases.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3525" y="1697673"/>
            <a:ext cx="86169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54070">
              <a:lnSpc>
                <a:spcPct val="100000"/>
              </a:lnSpc>
              <a:spcBef>
                <a:spcPts val="100"/>
              </a:spcBef>
            </a:pPr>
            <a:r>
              <a:rPr dirty="0"/>
              <a:t>Unit</a:t>
            </a:r>
            <a:r>
              <a:rPr spc="-75" dirty="0"/>
              <a:t> </a:t>
            </a:r>
            <a:r>
              <a:rPr spc="-10" dirty="0"/>
              <a:t>Testing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39710" y="2868176"/>
            <a:ext cx="7854315" cy="2768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965" marR="5080" indent="-88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00965" algn="l"/>
                <a:tab pos="157480" algn="l"/>
              </a:tabLst>
            </a:pPr>
            <a:r>
              <a:rPr sz="2000" dirty="0">
                <a:latin typeface="Calibri"/>
                <a:cs typeface="Calibri"/>
              </a:rPr>
              <a:t>	This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type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testing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performed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developers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before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setup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handed </a:t>
            </a:r>
            <a:r>
              <a:rPr sz="2000" dirty="0">
                <a:latin typeface="Calibri"/>
                <a:cs typeface="Calibri"/>
              </a:rPr>
              <a:t>over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team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formally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execute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cases.</a:t>
            </a:r>
            <a:endParaRPr sz="2000">
              <a:latin typeface="Calibri"/>
              <a:cs typeface="Calibri"/>
            </a:endParaRPr>
          </a:p>
          <a:p>
            <a:pPr marL="100965" marR="289560" indent="-88900">
              <a:lnSpc>
                <a:spcPct val="100000"/>
              </a:lnSpc>
              <a:buFont typeface="Arial MT"/>
              <a:buChar char="•"/>
              <a:tabLst>
                <a:tab pos="100965" algn="l"/>
                <a:tab pos="157480" algn="l"/>
              </a:tabLst>
            </a:pPr>
            <a:r>
              <a:rPr sz="2000" dirty="0">
                <a:latin typeface="Calibri"/>
                <a:cs typeface="Calibri"/>
              </a:rPr>
              <a:t>	Unit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testing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performed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respective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developers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individual </a:t>
            </a:r>
            <a:r>
              <a:rPr sz="2000" dirty="0">
                <a:latin typeface="Calibri"/>
                <a:cs typeface="Calibri"/>
              </a:rPr>
              <a:t>units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source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code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assigned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areas.</a:t>
            </a:r>
            <a:endParaRPr sz="2000">
              <a:latin typeface="Calibri"/>
              <a:cs typeface="Calibri"/>
            </a:endParaRPr>
          </a:p>
          <a:p>
            <a:pPr marL="100965" marR="456565" indent="-88900">
              <a:lnSpc>
                <a:spcPct val="100000"/>
              </a:lnSpc>
              <a:buFont typeface="Arial MT"/>
              <a:buChar char="•"/>
              <a:tabLst>
                <a:tab pos="100965" algn="l"/>
                <a:tab pos="157480" algn="l"/>
              </a:tabLst>
            </a:pPr>
            <a:r>
              <a:rPr sz="2000" dirty="0">
                <a:latin typeface="Calibri"/>
                <a:cs typeface="Calibri"/>
              </a:rPr>
              <a:t>	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developers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different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dirty="0">
                <a:latin typeface="Calibri"/>
                <a:cs typeface="Calibri"/>
              </a:rPr>
              <a:t>quality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assurance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team.</a:t>
            </a:r>
            <a:endParaRPr sz="2000">
              <a:latin typeface="Calibri"/>
              <a:cs typeface="Calibri"/>
            </a:endParaRPr>
          </a:p>
          <a:p>
            <a:pPr marL="100965" marR="387350" indent="-88900">
              <a:lnSpc>
                <a:spcPct val="100000"/>
              </a:lnSpc>
              <a:buFont typeface="Arial MT"/>
              <a:buChar char="•"/>
              <a:tabLst>
                <a:tab pos="100965" algn="l"/>
                <a:tab pos="157480" algn="l"/>
              </a:tabLst>
            </a:pPr>
            <a:r>
              <a:rPr sz="2000" dirty="0">
                <a:latin typeface="Calibri"/>
                <a:cs typeface="Calibri"/>
              </a:rPr>
              <a:t>	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goal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unit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isolate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each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program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show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individual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parts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correct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terms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requirements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and </a:t>
            </a:r>
            <a:r>
              <a:rPr sz="2000" spc="-10" dirty="0">
                <a:latin typeface="Calibri"/>
                <a:cs typeface="Calibri"/>
              </a:rPr>
              <a:t>functionality.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3525" y="1697673"/>
            <a:ext cx="86169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09240">
              <a:lnSpc>
                <a:spcPct val="100000"/>
              </a:lnSpc>
              <a:spcBef>
                <a:spcPts val="100"/>
              </a:spcBef>
            </a:pPr>
            <a:r>
              <a:rPr dirty="0"/>
              <a:t>Integration</a:t>
            </a:r>
            <a:r>
              <a:rPr spc="-55" dirty="0"/>
              <a:t> </a:t>
            </a:r>
            <a:r>
              <a:rPr spc="-10" dirty="0"/>
              <a:t>Testing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67702" y="2652152"/>
            <a:ext cx="7644130" cy="3073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965" marR="5080" indent="-88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00965" algn="l"/>
                <a:tab pos="180340" algn="l"/>
              </a:tabLst>
            </a:pPr>
            <a:r>
              <a:rPr sz="2000" dirty="0">
                <a:latin typeface="Calibri"/>
                <a:cs typeface="Calibri"/>
              </a:rPr>
              <a:t>	Integration</a:t>
            </a:r>
            <a:r>
              <a:rPr sz="2000" spc="2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testing</a:t>
            </a:r>
            <a:r>
              <a:rPr sz="2000" spc="3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3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defined</a:t>
            </a:r>
            <a:r>
              <a:rPr sz="2000" spc="3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3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2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testing</a:t>
            </a:r>
            <a:r>
              <a:rPr sz="2000" spc="3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3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combined</a:t>
            </a:r>
            <a:r>
              <a:rPr sz="2000" spc="3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parts</a:t>
            </a:r>
            <a:r>
              <a:rPr sz="2000" spc="3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30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 </a:t>
            </a:r>
            <a:r>
              <a:rPr sz="2000" spc="-10" dirty="0">
                <a:latin typeface="Calibri"/>
                <a:cs typeface="Calibri"/>
              </a:rPr>
              <a:t>application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determine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function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correctly.</a:t>
            </a:r>
            <a:endParaRPr sz="2000">
              <a:latin typeface="Calibri"/>
              <a:cs typeface="Calibri"/>
            </a:endParaRPr>
          </a:p>
          <a:p>
            <a:pPr marL="100965" marR="6350" indent="-88900">
              <a:lnSpc>
                <a:spcPct val="100000"/>
              </a:lnSpc>
              <a:buFont typeface="Arial MT"/>
              <a:buChar char="•"/>
              <a:tabLst>
                <a:tab pos="100965" algn="l"/>
                <a:tab pos="184150" algn="l"/>
              </a:tabLst>
            </a:pPr>
            <a:r>
              <a:rPr sz="2000" dirty="0">
                <a:latin typeface="Calibri"/>
                <a:cs typeface="Calibri"/>
              </a:rPr>
              <a:t>	Integration</a:t>
            </a:r>
            <a:r>
              <a:rPr sz="2000" spc="3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testing</a:t>
            </a:r>
            <a:r>
              <a:rPr sz="2000" spc="3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3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3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done</a:t>
            </a:r>
            <a:r>
              <a:rPr sz="2000" spc="3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3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two</a:t>
            </a:r>
            <a:r>
              <a:rPr sz="2000" spc="3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ways:</a:t>
            </a:r>
            <a:r>
              <a:rPr sz="2000" spc="37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Bottom-</a:t>
            </a:r>
            <a:r>
              <a:rPr sz="2000" dirty="0">
                <a:latin typeface="Calibri"/>
                <a:cs typeface="Calibri"/>
              </a:rPr>
              <a:t>up</a:t>
            </a:r>
            <a:r>
              <a:rPr sz="2000" spc="3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integration </a:t>
            </a:r>
            <a:r>
              <a:rPr sz="2000" dirty="0">
                <a:latin typeface="Calibri"/>
                <a:cs typeface="Calibri"/>
              </a:rPr>
              <a:t>testing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Top-</a:t>
            </a:r>
            <a:r>
              <a:rPr sz="2000" dirty="0">
                <a:latin typeface="Calibri"/>
                <a:cs typeface="Calibri"/>
              </a:rPr>
              <a:t>down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integration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testing.</a:t>
            </a:r>
            <a:endParaRPr sz="2000">
              <a:latin typeface="Calibri"/>
              <a:cs typeface="Calibri"/>
            </a:endParaRPr>
          </a:p>
          <a:p>
            <a:pPr marL="558165" indent="-526415">
              <a:lnSpc>
                <a:spcPct val="100000"/>
              </a:lnSpc>
              <a:buAutoNum type="arabicPeriod"/>
              <a:tabLst>
                <a:tab pos="558165" algn="l"/>
              </a:tabLst>
            </a:pPr>
            <a:r>
              <a:rPr sz="2000" b="1" spc="-10" dirty="0">
                <a:latin typeface="Calibri"/>
                <a:cs typeface="Calibri"/>
              </a:rPr>
              <a:t>Bottom-</a:t>
            </a:r>
            <a:r>
              <a:rPr sz="2000" b="1" dirty="0">
                <a:latin typeface="Calibri"/>
                <a:cs typeface="Calibri"/>
              </a:rPr>
              <a:t>up</a:t>
            </a:r>
            <a:r>
              <a:rPr sz="2000" b="1" spc="2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integration</a:t>
            </a:r>
            <a:endParaRPr sz="2000">
              <a:latin typeface="Calibri"/>
              <a:cs typeface="Calibri"/>
            </a:endParaRPr>
          </a:p>
          <a:p>
            <a:pPr marL="100965" marR="5715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This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testing</a:t>
            </a:r>
            <a:r>
              <a:rPr sz="2000" spc="1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begins</a:t>
            </a:r>
            <a:r>
              <a:rPr sz="2000" spc="1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1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unit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testing,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followed</a:t>
            </a:r>
            <a:r>
              <a:rPr sz="2000" spc="1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1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tests</a:t>
            </a:r>
            <a:r>
              <a:rPr sz="2000" spc="1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progressively </a:t>
            </a:r>
            <a:r>
              <a:rPr sz="2000" spc="-20" dirty="0">
                <a:latin typeface="Calibri"/>
                <a:cs typeface="Calibri"/>
              </a:rPr>
              <a:t>higher-</a:t>
            </a:r>
            <a:r>
              <a:rPr sz="2000" dirty="0">
                <a:latin typeface="Calibri"/>
                <a:cs typeface="Calibri"/>
              </a:rPr>
              <a:t>level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combinations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units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called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modules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builds.</a:t>
            </a:r>
            <a:endParaRPr sz="2000">
              <a:latin typeface="Calibri"/>
              <a:cs typeface="Calibri"/>
            </a:endParaRPr>
          </a:p>
          <a:p>
            <a:pPr marL="584835" indent="-483870">
              <a:lnSpc>
                <a:spcPct val="100000"/>
              </a:lnSpc>
              <a:buAutoNum type="arabicPeriod" startAt="2"/>
              <a:tabLst>
                <a:tab pos="584835" algn="l"/>
              </a:tabLst>
            </a:pPr>
            <a:r>
              <a:rPr sz="2000" b="1" spc="-10" dirty="0">
                <a:latin typeface="Calibri"/>
                <a:cs typeface="Calibri"/>
              </a:rPr>
              <a:t>Top-</a:t>
            </a:r>
            <a:r>
              <a:rPr sz="2000" b="1" dirty="0">
                <a:latin typeface="Calibri"/>
                <a:cs typeface="Calibri"/>
              </a:rPr>
              <a:t>down </a:t>
            </a:r>
            <a:r>
              <a:rPr sz="2000" b="1" spc="-10" dirty="0">
                <a:latin typeface="Calibri"/>
                <a:cs typeface="Calibri"/>
              </a:rPr>
              <a:t>integration</a:t>
            </a:r>
            <a:endParaRPr sz="2000">
              <a:latin typeface="Calibri"/>
              <a:cs typeface="Calibri"/>
            </a:endParaRPr>
          </a:p>
          <a:p>
            <a:pPr marL="100965" marR="5080">
              <a:lnSpc>
                <a:spcPct val="100000"/>
              </a:lnSpc>
              <a:tabLst>
                <a:tab pos="504190" algn="l"/>
                <a:tab pos="1085850" algn="l"/>
                <a:tab pos="2061210" algn="l"/>
                <a:tab pos="2611755" algn="l"/>
                <a:tab pos="4133215" algn="l"/>
                <a:tab pos="5226050" algn="l"/>
                <a:tab pos="5768340" algn="l"/>
                <a:tab pos="6628765" algn="l"/>
                <a:tab pos="7242175" algn="l"/>
              </a:tabLst>
            </a:pPr>
            <a:r>
              <a:rPr sz="2000" spc="-25" dirty="0">
                <a:latin typeface="Calibri"/>
                <a:cs typeface="Calibri"/>
              </a:rPr>
              <a:t>In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0" dirty="0">
                <a:latin typeface="Calibri"/>
                <a:cs typeface="Calibri"/>
              </a:rPr>
              <a:t>this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testing,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the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0" dirty="0">
                <a:latin typeface="Calibri"/>
                <a:cs typeface="Calibri"/>
              </a:rPr>
              <a:t>highest-</a:t>
            </a:r>
            <a:r>
              <a:rPr sz="2000" spc="-10" dirty="0">
                <a:latin typeface="Calibri"/>
                <a:cs typeface="Calibri"/>
              </a:rPr>
              <a:t>level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modules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are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tested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first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and </a:t>
            </a:r>
            <a:r>
              <a:rPr sz="2000" spc="-10" dirty="0">
                <a:latin typeface="Calibri"/>
                <a:cs typeface="Calibri"/>
              </a:rPr>
              <a:t>progressively,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lower-</a:t>
            </a:r>
            <a:r>
              <a:rPr sz="2000" dirty="0">
                <a:latin typeface="Calibri"/>
                <a:cs typeface="Calibri"/>
              </a:rPr>
              <a:t>level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modules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tested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thereafter.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3525" y="1697673"/>
            <a:ext cx="86169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20390">
              <a:lnSpc>
                <a:spcPct val="100000"/>
              </a:lnSpc>
              <a:spcBef>
                <a:spcPts val="100"/>
              </a:spcBef>
            </a:pPr>
            <a:r>
              <a:rPr dirty="0"/>
              <a:t>System</a:t>
            </a:r>
            <a:r>
              <a:rPr spc="-30" dirty="0"/>
              <a:t> </a:t>
            </a:r>
            <a:r>
              <a:rPr spc="-10" dirty="0"/>
              <a:t>Testing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23686" y="2652152"/>
            <a:ext cx="7667625" cy="3378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2875" indent="-108585">
              <a:lnSpc>
                <a:spcPct val="100000"/>
              </a:lnSpc>
              <a:spcBef>
                <a:spcPts val="100"/>
              </a:spcBef>
              <a:buSzPct val="75000"/>
              <a:buFont typeface="Arial MT"/>
              <a:buChar char="•"/>
              <a:tabLst>
                <a:tab pos="142875" algn="l"/>
              </a:tabLst>
            </a:pPr>
            <a:r>
              <a:rPr sz="2000" dirty="0">
                <a:latin typeface="Calibri"/>
                <a:cs typeface="Calibri"/>
              </a:rPr>
              <a:t>System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testing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system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whole.</a:t>
            </a:r>
            <a:endParaRPr sz="2000">
              <a:latin typeface="Calibri"/>
              <a:cs typeface="Calibri"/>
            </a:endParaRPr>
          </a:p>
          <a:p>
            <a:pPr marL="158115" indent="-145415">
              <a:lnSpc>
                <a:spcPct val="100000"/>
              </a:lnSpc>
              <a:buFont typeface="Arial MT"/>
              <a:buChar char="•"/>
              <a:tabLst>
                <a:tab pos="158115" algn="l"/>
              </a:tabLst>
            </a:pPr>
            <a:r>
              <a:rPr sz="2000" dirty="0">
                <a:latin typeface="Calibri"/>
                <a:cs typeface="Calibri"/>
              </a:rPr>
              <a:t>This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type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testing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performed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specialized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testing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team.</a:t>
            </a:r>
            <a:endParaRPr sz="2000">
              <a:latin typeface="Calibri"/>
              <a:cs typeface="Calibri"/>
            </a:endParaRPr>
          </a:p>
          <a:p>
            <a:pPr marL="100965">
              <a:lnSpc>
                <a:spcPct val="100000"/>
              </a:lnSpc>
            </a:pPr>
            <a:r>
              <a:rPr sz="2000" b="1" dirty="0">
                <a:latin typeface="Calibri"/>
                <a:cs typeface="Calibri"/>
              </a:rPr>
              <a:t>System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testing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is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important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because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of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the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following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reasons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spc="-60" dirty="0">
                <a:latin typeface="Calibri"/>
                <a:cs typeface="Calibri"/>
              </a:rPr>
              <a:t>−</a:t>
            </a:r>
            <a:endParaRPr sz="2000">
              <a:latin typeface="Calibri"/>
              <a:cs typeface="Calibri"/>
            </a:endParaRPr>
          </a:p>
          <a:p>
            <a:pPr marL="100965" marR="231140" indent="-88900">
              <a:lnSpc>
                <a:spcPct val="100000"/>
              </a:lnSpc>
              <a:buFont typeface="Arial MT"/>
              <a:buChar char="•"/>
              <a:tabLst>
                <a:tab pos="100965" algn="l"/>
                <a:tab pos="157480" algn="l"/>
              </a:tabLst>
            </a:pPr>
            <a:r>
              <a:rPr sz="2000" dirty="0">
                <a:latin typeface="Calibri"/>
                <a:cs typeface="Calibri"/>
              </a:rPr>
              <a:t>System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first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step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Software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Development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Life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Cycle, </a:t>
            </a:r>
            <a:r>
              <a:rPr sz="2000" dirty="0">
                <a:latin typeface="Calibri"/>
                <a:cs typeface="Calibri"/>
              </a:rPr>
              <a:t>where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application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tested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whole.</a:t>
            </a:r>
            <a:endParaRPr sz="2000">
              <a:latin typeface="Calibri"/>
              <a:cs typeface="Calibri"/>
            </a:endParaRPr>
          </a:p>
          <a:p>
            <a:pPr marL="100965" marR="5080" indent="-88900">
              <a:lnSpc>
                <a:spcPct val="100000"/>
              </a:lnSpc>
              <a:buFont typeface="Arial MT"/>
              <a:buChar char="•"/>
              <a:tabLst>
                <a:tab pos="100965" algn="l"/>
                <a:tab pos="157480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application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thoroughly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verify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meets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functional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technical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specifications.</a:t>
            </a:r>
            <a:endParaRPr sz="2000">
              <a:latin typeface="Calibri"/>
              <a:cs typeface="Calibri"/>
            </a:endParaRPr>
          </a:p>
          <a:p>
            <a:pPr marL="100965" marR="577215" indent="-88900">
              <a:lnSpc>
                <a:spcPct val="100000"/>
              </a:lnSpc>
              <a:buFont typeface="Arial MT"/>
              <a:buChar char="•"/>
              <a:tabLst>
                <a:tab pos="100965" algn="l"/>
                <a:tab pos="157480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application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tested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environment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very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close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production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environment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where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application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will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deployed.</a:t>
            </a:r>
            <a:endParaRPr sz="2000">
              <a:latin typeface="Calibri"/>
              <a:cs typeface="Calibri"/>
            </a:endParaRPr>
          </a:p>
          <a:p>
            <a:pPr marL="100965" marR="147320" indent="-88900">
              <a:lnSpc>
                <a:spcPct val="100000"/>
              </a:lnSpc>
              <a:buFont typeface="Arial MT"/>
              <a:buChar char="•"/>
              <a:tabLst>
                <a:tab pos="100965" algn="l"/>
                <a:tab pos="157480" algn="l"/>
              </a:tabLst>
            </a:pPr>
            <a:r>
              <a:rPr sz="2000" dirty="0">
                <a:latin typeface="Calibri"/>
                <a:cs typeface="Calibri"/>
              </a:rPr>
              <a:t>System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testing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enables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test,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verify,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validate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both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business requirements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well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application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architecture.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3525" y="1697673"/>
            <a:ext cx="86169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523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Non-</a:t>
            </a:r>
            <a:r>
              <a:rPr dirty="0"/>
              <a:t>Functional</a:t>
            </a:r>
            <a:r>
              <a:rPr spc="-30" dirty="0"/>
              <a:t> </a:t>
            </a:r>
            <a:r>
              <a:rPr spc="-10" dirty="0"/>
              <a:t>Testing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20576" y="2652152"/>
            <a:ext cx="7380605" cy="3378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" marR="5080" indent="-80645">
              <a:lnSpc>
                <a:spcPct val="100000"/>
              </a:lnSpc>
              <a:spcBef>
                <a:spcPts val="100"/>
              </a:spcBef>
              <a:buSzPct val="90000"/>
              <a:buFont typeface="Arial MT"/>
              <a:buChar char="•"/>
              <a:tabLst>
                <a:tab pos="92710" algn="l"/>
                <a:tab pos="155575" algn="l"/>
              </a:tabLst>
            </a:pPr>
            <a:r>
              <a:rPr sz="2000" dirty="0">
                <a:latin typeface="Calibri"/>
                <a:cs typeface="Calibri"/>
              </a:rPr>
              <a:t>	</a:t>
            </a:r>
            <a:r>
              <a:rPr sz="2000" spc="-15" dirty="0">
                <a:latin typeface="Calibri"/>
                <a:cs typeface="Calibri"/>
              </a:rPr>
              <a:t>Non-</a:t>
            </a:r>
            <a:r>
              <a:rPr sz="2000" spc="-10" dirty="0">
                <a:latin typeface="Calibri"/>
                <a:cs typeface="Calibri"/>
              </a:rPr>
              <a:t>functional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testing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involves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testing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software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requirements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nonfunctional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nature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but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important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such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as </a:t>
            </a:r>
            <a:r>
              <a:rPr sz="2000" spc="-10" dirty="0">
                <a:latin typeface="Calibri"/>
                <a:cs typeface="Calibri"/>
              </a:rPr>
              <a:t>performance,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security,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interface,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etc.</a:t>
            </a:r>
            <a:endParaRPr sz="2000">
              <a:latin typeface="Calibri"/>
              <a:cs typeface="Calibri"/>
            </a:endParaRPr>
          </a:p>
          <a:p>
            <a:pPr marL="92710" marR="304800">
              <a:lnSpc>
                <a:spcPct val="100000"/>
              </a:lnSpc>
            </a:pPr>
            <a:r>
              <a:rPr sz="2000" b="1" dirty="0">
                <a:latin typeface="Calibri"/>
                <a:cs typeface="Calibri"/>
              </a:rPr>
              <a:t>Some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of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the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important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and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commonly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used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non-</a:t>
            </a:r>
            <a:r>
              <a:rPr sz="2000" b="1" dirty="0">
                <a:latin typeface="Calibri"/>
                <a:cs typeface="Calibri"/>
              </a:rPr>
              <a:t>functional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testing </a:t>
            </a:r>
            <a:r>
              <a:rPr sz="2000" b="1" dirty="0">
                <a:latin typeface="Calibri"/>
                <a:cs typeface="Calibri"/>
              </a:rPr>
              <a:t>types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are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discussed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below.</a:t>
            </a:r>
            <a:endParaRPr sz="2000">
              <a:latin typeface="Calibri"/>
              <a:cs typeface="Calibri"/>
            </a:endParaRPr>
          </a:p>
          <a:p>
            <a:pPr marL="606425" lvl="1" indent="-231775">
              <a:lnSpc>
                <a:spcPct val="100000"/>
              </a:lnSpc>
              <a:buFont typeface="Segoe UI Symbol"/>
              <a:buChar char="▪"/>
              <a:tabLst>
                <a:tab pos="606425" algn="l"/>
              </a:tabLst>
            </a:pPr>
            <a:r>
              <a:rPr sz="2000" spc="-10" dirty="0">
                <a:latin typeface="Calibri"/>
                <a:cs typeface="Calibri"/>
              </a:rPr>
              <a:t>Performance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Testing</a:t>
            </a:r>
            <a:endParaRPr sz="2000">
              <a:latin typeface="Calibri"/>
              <a:cs typeface="Calibri"/>
            </a:endParaRPr>
          </a:p>
          <a:p>
            <a:pPr marL="606425" lvl="1" indent="-231775">
              <a:lnSpc>
                <a:spcPct val="100000"/>
              </a:lnSpc>
              <a:buFont typeface="Segoe UI Symbol"/>
              <a:buChar char="▪"/>
              <a:tabLst>
                <a:tab pos="606425" algn="l"/>
              </a:tabLst>
            </a:pPr>
            <a:r>
              <a:rPr sz="2000" dirty="0">
                <a:latin typeface="Calibri"/>
                <a:cs typeface="Calibri"/>
              </a:rPr>
              <a:t>Load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Testing</a:t>
            </a:r>
            <a:endParaRPr sz="2000">
              <a:latin typeface="Calibri"/>
              <a:cs typeface="Calibri"/>
            </a:endParaRPr>
          </a:p>
          <a:p>
            <a:pPr marL="606425" lvl="1" indent="-231775">
              <a:lnSpc>
                <a:spcPct val="100000"/>
              </a:lnSpc>
              <a:buFont typeface="Segoe UI Symbol"/>
              <a:buChar char="▪"/>
              <a:tabLst>
                <a:tab pos="606425" algn="l"/>
              </a:tabLst>
            </a:pPr>
            <a:r>
              <a:rPr sz="2000" dirty="0">
                <a:latin typeface="Calibri"/>
                <a:cs typeface="Calibri"/>
              </a:rPr>
              <a:t>Stress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Testing</a:t>
            </a:r>
            <a:endParaRPr sz="2000">
              <a:latin typeface="Calibri"/>
              <a:cs typeface="Calibri"/>
            </a:endParaRPr>
          </a:p>
          <a:p>
            <a:pPr marL="606425" lvl="1" indent="-231775">
              <a:lnSpc>
                <a:spcPct val="100000"/>
              </a:lnSpc>
              <a:buFont typeface="Segoe UI Symbol"/>
              <a:buChar char="▪"/>
              <a:tabLst>
                <a:tab pos="606425" algn="l"/>
              </a:tabLst>
            </a:pPr>
            <a:r>
              <a:rPr sz="2000" spc="-10" dirty="0">
                <a:latin typeface="Calibri"/>
                <a:cs typeface="Calibri"/>
              </a:rPr>
              <a:t>Usability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Testing</a:t>
            </a:r>
            <a:endParaRPr sz="2000">
              <a:latin typeface="Calibri"/>
              <a:cs typeface="Calibri"/>
            </a:endParaRPr>
          </a:p>
          <a:p>
            <a:pPr marL="606425" lvl="1" indent="-231775">
              <a:lnSpc>
                <a:spcPct val="100000"/>
              </a:lnSpc>
              <a:buFont typeface="Segoe UI Symbol"/>
              <a:buChar char="▪"/>
              <a:tabLst>
                <a:tab pos="606425" algn="l"/>
              </a:tabLst>
            </a:pPr>
            <a:r>
              <a:rPr sz="2000" dirty="0">
                <a:latin typeface="Calibri"/>
                <a:cs typeface="Calibri"/>
              </a:rPr>
              <a:t>Security</a:t>
            </a:r>
            <a:r>
              <a:rPr sz="2000" spc="-1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Testing</a:t>
            </a:r>
            <a:endParaRPr sz="2000">
              <a:latin typeface="Calibri"/>
              <a:cs typeface="Calibri"/>
            </a:endParaRPr>
          </a:p>
          <a:p>
            <a:pPr marL="606425" lvl="1" indent="-231775">
              <a:lnSpc>
                <a:spcPct val="100000"/>
              </a:lnSpc>
              <a:buFont typeface="Segoe UI Symbol"/>
              <a:buChar char="▪"/>
              <a:tabLst>
                <a:tab pos="606425" algn="l"/>
              </a:tabLst>
            </a:pPr>
            <a:r>
              <a:rPr sz="2000" spc="-10" dirty="0">
                <a:latin typeface="Calibri"/>
                <a:cs typeface="Calibri"/>
              </a:rPr>
              <a:t>Portability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Testing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7624" y="2780928"/>
            <a:ext cx="5430837" cy="280352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556791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63525" y="1697673"/>
            <a:ext cx="86169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476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Black-</a:t>
            </a:r>
            <a:r>
              <a:rPr dirty="0"/>
              <a:t>Box</a:t>
            </a:r>
            <a:r>
              <a:rPr spc="5" dirty="0"/>
              <a:t> </a:t>
            </a:r>
            <a:r>
              <a:rPr spc="-10" dirty="0"/>
              <a:t>testing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13389" y="3606684"/>
            <a:ext cx="946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409" dirty="0">
                <a:solidFill>
                  <a:srgbClr val="061C57"/>
                </a:solidFill>
                <a:latin typeface="Arial MT"/>
                <a:cs typeface="Arial MT"/>
              </a:rPr>
              <a:t>●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3389" y="4245494"/>
            <a:ext cx="946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409" dirty="0">
                <a:solidFill>
                  <a:srgbClr val="061C57"/>
                </a:solidFill>
                <a:latin typeface="Arial MT"/>
                <a:cs typeface="Arial MT"/>
              </a:rPr>
              <a:t>●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3389" y="2581159"/>
            <a:ext cx="3801745" cy="212852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490855" marR="275590" indent="-478790">
              <a:lnSpc>
                <a:spcPct val="100699"/>
              </a:lnSpc>
              <a:spcBef>
                <a:spcPts val="85"/>
              </a:spcBef>
              <a:buClr>
                <a:srgbClr val="061C57"/>
              </a:buClr>
              <a:buSzPct val="50000"/>
              <a:buFont typeface="Arial MT"/>
              <a:buChar char="●"/>
              <a:tabLst>
                <a:tab pos="490855" algn="l"/>
              </a:tabLst>
            </a:pPr>
            <a:r>
              <a:rPr sz="1800" dirty="0">
                <a:latin typeface="Times New Roman"/>
                <a:cs typeface="Times New Roman"/>
              </a:rPr>
              <a:t>An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approach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testing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where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the </a:t>
            </a:r>
            <a:r>
              <a:rPr sz="1800" dirty="0">
                <a:latin typeface="Times New Roman"/>
                <a:cs typeface="Times New Roman"/>
              </a:rPr>
              <a:t>program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3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considered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a </a:t>
            </a:r>
            <a:r>
              <a:rPr sz="1800" spc="-10" dirty="0">
                <a:latin typeface="Times New Roman"/>
                <a:cs typeface="Times New Roman"/>
              </a:rPr>
              <a:t>‘black-</a:t>
            </a:r>
            <a:r>
              <a:rPr sz="1800" spc="-20" dirty="0">
                <a:latin typeface="Times New Roman"/>
                <a:cs typeface="Times New Roman"/>
              </a:rPr>
              <a:t>box’</a:t>
            </a:r>
            <a:endParaRPr sz="1800">
              <a:latin typeface="Times New Roman"/>
              <a:cs typeface="Times New Roman"/>
            </a:endParaRPr>
          </a:p>
          <a:p>
            <a:pPr marL="490855" marR="5080">
              <a:lnSpc>
                <a:spcPct val="101899"/>
              </a:lnSpc>
              <a:spcBef>
                <a:spcPts val="620"/>
              </a:spcBef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program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test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cases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based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on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40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specification</a:t>
            </a:r>
            <a:endParaRPr sz="1800">
              <a:latin typeface="Times New Roman"/>
              <a:cs typeface="Times New Roman"/>
            </a:endParaRPr>
          </a:p>
          <a:p>
            <a:pPr marL="490855" marR="363855">
              <a:lnSpc>
                <a:spcPct val="101600"/>
              </a:lnSpc>
              <a:spcBef>
                <a:spcPts val="640"/>
              </a:spcBef>
            </a:pPr>
            <a:r>
              <a:rPr sz="1800" dirty="0">
                <a:latin typeface="Times New Roman"/>
                <a:cs typeface="Times New Roman"/>
              </a:rPr>
              <a:t>Test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planning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begin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early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in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software</a:t>
            </a:r>
            <a:r>
              <a:rPr sz="1800" spc="36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process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04048" y="2553140"/>
            <a:ext cx="3821434" cy="339613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916833" y="6183591"/>
            <a:ext cx="20402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Calibri"/>
                <a:cs typeface="Calibri"/>
              </a:rPr>
              <a:t>Figure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6.3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Black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box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testing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BD89162-B24A-7212-E516-66A14937F643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C8B3586-01B8-4B55-CE21-FD95EDE31B8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AB9F9AA-1B10-1034-3C84-AF87BEC736E7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4" name="object 3">
            <a:extLst>
              <a:ext uri="{FF2B5EF4-FFF2-40B4-BE49-F238E27FC236}">
                <a16:creationId xmlns:a16="http://schemas.microsoft.com/office/drawing/2014/main" id="{16738EF4-5C2F-BAF0-0F9D-D771ADC02FED}"/>
              </a:ext>
            </a:extLst>
          </p:cNvPr>
          <p:cNvSpPr/>
          <p:nvPr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56791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3525" y="1697673"/>
            <a:ext cx="86169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4426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Continue…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23686" y="2675392"/>
            <a:ext cx="7983220" cy="305435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00965" marR="5080" indent="-97790">
              <a:lnSpc>
                <a:spcPts val="1950"/>
              </a:lnSpc>
              <a:spcBef>
                <a:spcPts val="540"/>
              </a:spcBef>
              <a:buSzPct val="95000"/>
              <a:buFont typeface="Arial MT"/>
              <a:buChar char="•"/>
              <a:tabLst>
                <a:tab pos="100965" algn="l"/>
              </a:tabLst>
            </a:pPr>
            <a:r>
              <a:rPr sz="2000" dirty="0">
                <a:latin typeface="Calibri"/>
                <a:cs typeface="Calibri"/>
              </a:rPr>
              <a:t>Also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called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behavioral</a:t>
            </a:r>
            <a:r>
              <a:rPr sz="2000" i="1" spc="-4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testing,</a:t>
            </a:r>
            <a:r>
              <a:rPr sz="2000" i="1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focuses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functional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requirements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software.</a:t>
            </a:r>
            <a:endParaRPr sz="2000">
              <a:latin typeface="Calibri"/>
              <a:cs typeface="Calibri"/>
            </a:endParaRPr>
          </a:p>
          <a:p>
            <a:pPr marL="100965" marR="125095" indent="-88900">
              <a:lnSpc>
                <a:spcPts val="1950"/>
              </a:lnSpc>
              <a:buSzPct val="95000"/>
              <a:buFont typeface="Arial MT"/>
              <a:buChar char="•"/>
              <a:tabLst>
                <a:tab pos="100965" algn="l"/>
                <a:tab pos="157480" algn="l"/>
              </a:tabLst>
            </a:pPr>
            <a:r>
              <a:rPr sz="2000" dirty="0">
                <a:latin typeface="Calibri"/>
                <a:cs typeface="Calibri"/>
              </a:rPr>
              <a:t>	It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enables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software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engineer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derive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sets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input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conditions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will </a:t>
            </a:r>
            <a:r>
              <a:rPr sz="2000" dirty="0">
                <a:latin typeface="Calibri"/>
                <a:cs typeface="Calibri"/>
              </a:rPr>
              <a:t>fully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exercise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functional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requirements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program.</a:t>
            </a:r>
            <a:endParaRPr sz="2000">
              <a:latin typeface="Calibri"/>
              <a:cs typeface="Calibri"/>
            </a:endParaRPr>
          </a:p>
          <a:p>
            <a:pPr marL="100965" marR="554355" indent="-88900">
              <a:lnSpc>
                <a:spcPts val="1950"/>
              </a:lnSpc>
              <a:buSzPct val="95000"/>
              <a:buFont typeface="Arial MT"/>
              <a:buChar char="•"/>
              <a:tabLst>
                <a:tab pos="100965" algn="l"/>
                <a:tab pos="157480" algn="l"/>
              </a:tabLst>
            </a:pPr>
            <a:r>
              <a:rPr sz="2000" dirty="0">
                <a:latin typeface="Calibri"/>
                <a:cs typeface="Calibri"/>
              </a:rPr>
              <a:t>	</a:t>
            </a:r>
            <a:r>
              <a:rPr sz="2000" spc="-20" dirty="0">
                <a:latin typeface="Calibri"/>
                <a:cs typeface="Calibri"/>
              </a:rPr>
              <a:t>Black-</a:t>
            </a:r>
            <a:r>
              <a:rPr sz="2000" dirty="0">
                <a:latin typeface="Calibri"/>
                <a:cs typeface="Calibri"/>
              </a:rPr>
              <a:t>box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testing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alternative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white-</a:t>
            </a:r>
            <a:r>
              <a:rPr sz="2000" dirty="0">
                <a:latin typeface="Calibri"/>
                <a:cs typeface="Calibri"/>
              </a:rPr>
              <a:t>box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techniques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but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is </a:t>
            </a:r>
            <a:r>
              <a:rPr sz="2000" spc="-10" dirty="0">
                <a:latin typeface="Calibri"/>
                <a:cs typeface="Calibri"/>
              </a:rPr>
              <a:t>complementary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approach.</a:t>
            </a:r>
            <a:endParaRPr sz="2000">
              <a:latin typeface="Calibri"/>
              <a:cs typeface="Calibri"/>
            </a:endParaRPr>
          </a:p>
          <a:p>
            <a:pPr marL="158115" indent="-145415">
              <a:lnSpc>
                <a:spcPts val="1735"/>
              </a:lnSpc>
              <a:buSzPct val="95000"/>
              <a:buFont typeface="Arial MT"/>
              <a:buChar char="•"/>
              <a:tabLst>
                <a:tab pos="158115" algn="l"/>
              </a:tabLst>
            </a:pPr>
            <a:r>
              <a:rPr sz="2000" b="1" spc="-20" dirty="0">
                <a:latin typeface="Calibri"/>
                <a:cs typeface="Calibri"/>
              </a:rPr>
              <a:t>Black-</a:t>
            </a:r>
            <a:r>
              <a:rPr sz="2000" b="1" dirty="0">
                <a:latin typeface="Calibri"/>
                <a:cs typeface="Calibri"/>
              </a:rPr>
              <a:t>box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testing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attempts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to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find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errors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in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the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following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categories</a:t>
            </a:r>
            <a:r>
              <a:rPr sz="2000" spc="-10" dirty="0"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  <a:p>
            <a:pPr marL="615315" lvl="1" indent="-231775">
              <a:lnSpc>
                <a:spcPts val="1950"/>
              </a:lnSpc>
              <a:buFont typeface="Segoe UI Symbol"/>
              <a:buChar char="▪"/>
              <a:tabLst>
                <a:tab pos="615315" algn="l"/>
              </a:tabLst>
            </a:pPr>
            <a:r>
              <a:rPr sz="2000" spc="-10" dirty="0">
                <a:latin typeface="Calibri"/>
                <a:cs typeface="Calibri"/>
              </a:rPr>
              <a:t>Incorrect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missing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functions,</a:t>
            </a:r>
            <a:endParaRPr sz="2000">
              <a:latin typeface="Calibri"/>
              <a:cs typeface="Calibri"/>
            </a:endParaRPr>
          </a:p>
          <a:p>
            <a:pPr marL="615315" lvl="1" indent="-231775">
              <a:lnSpc>
                <a:spcPts val="1950"/>
              </a:lnSpc>
              <a:buFont typeface="Segoe UI Symbol"/>
              <a:buChar char="▪"/>
              <a:tabLst>
                <a:tab pos="615315" algn="l"/>
              </a:tabLst>
            </a:pPr>
            <a:r>
              <a:rPr sz="2000" spc="-10" dirty="0">
                <a:latin typeface="Calibri"/>
                <a:cs typeface="Calibri"/>
              </a:rPr>
              <a:t>Interface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errors,</a:t>
            </a:r>
            <a:endParaRPr sz="2000">
              <a:latin typeface="Calibri"/>
              <a:cs typeface="Calibri"/>
            </a:endParaRPr>
          </a:p>
          <a:p>
            <a:pPr marL="615315" lvl="1" indent="-231775">
              <a:lnSpc>
                <a:spcPts val="1950"/>
              </a:lnSpc>
              <a:buFont typeface="Segoe UI Symbol"/>
              <a:buChar char="▪"/>
              <a:tabLst>
                <a:tab pos="615315" algn="l"/>
              </a:tabLst>
            </a:pPr>
            <a:r>
              <a:rPr sz="2000" dirty="0">
                <a:latin typeface="Calibri"/>
                <a:cs typeface="Calibri"/>
              </a:rPr>
              <a:t>Errors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structures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external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base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access.</a:t>
            </a:r>
            <a:endParaRPr sz="2000">
              <a:latin typeface="Calibri"/>
              <a:cs typeface="Calibri"/>
            </a:endParaRPr>
          </a:p>
          <a:p>
            <a:pPr marL="615315" lvl="1" indent="-231775">
              <a:lnSpc>
                <a:spcPts val="1950"/>
              </a:lnSpc>
              <a:buFont typeface="Segoe UI Symbol"/>
              <a:buChar char="▪"/>
              <a:tabLst>
                <a:tab pos="615315" algn="l"/>
              </a:tabLst>
            </a:pPr>
            <a:r>
              <a:rPr sz="2000" dirty="0">
                <a:latin typeface="Calibri"/>
                <a:cs typeface="Calibri"/>
              </a:rPr>
              <a:t>Behavior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performance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errors,</a:t>
            </a:r>
            <a:endParaRPr sz="2000">
              <a:latin typeface="Calibri"/>
              <a:cs typeface="Calibri"/>
            </a:endParaRPr>
          </a:p>
          <a:p>
            <a:pPr marL="615315" lvl="1" indent="-231775">
              <a:lnSpc>
                <a:spcPts val="2175"/>
              </a:lnSpc>
              <a:buFont typeface="Segoe UI Symbol"/>
              <a:buChar char="▪"/>
              <a:tabLst>
                <a:tab pos="615315" algn="l"/>
              </a:tabLst>
            </a:pPr>
            <a:r>
              <a:rPr sz="2000" spc="-10" dirty="0">
                <a:latin typeface="Calibri"/>
                <a:cs typeface="Calibri"/>
              </a:rPr>
              <a:t>Initialization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termination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errors.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56791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3525" y="1697673"/>
            <a:ext cx="86169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4426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Continue…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0609" y="4336934"/>
            <a:ext cx="28848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libri"/>
                <a:cs typeface="Calibri"/>
              </a:rPr>
              <a:t>satisfy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following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criteria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1718" y="2603384"/>
            <a:ext cx="7088505" cy="280670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00965" marR="78740" indent="-88900">
              <a:lnSpc>
                <a:spcPts val="1950"/>
              </a:lnSpc>
              <a:spcBef>
                <a:spcPts val="540"/>
              </a:spcBef>
              <a:buSzPct val="97500"/>
              <a:buFont typeface="Arial MT"/>
              <a:buChar char="•"/>
              <a:tabLst>
                <a:tab pos="100965" algn="l"/>
                <a:tab pos="157480" algn="l"/>
              </a:tabLst>
            </a:pPr>
            <a:r>
              <a:rPr sz="2000" spc="-20" dirty="0">
                <a:latin typeface="Calibri"/>
                <a:cs typeface="Calibri"/>
              </a:rPr>
              <a:t>Black-</a:t>
            </a:r>
            <a:r>
              <a:rPr sz="2000" dirty="0">
                <a:latin typeface="Calibri"/>
                <a:cs typeface="Calibri"/>
              </a:rPr>
              <a:t>box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purposely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ignored</a:t>
            </a:r>
            <a:r>
              <a:rPr sz="2000" spc="3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control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structure,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attention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is </a:t>
            </a:r>
            <a:r>
              <a:rPr sz="2000" dirty="0">
                <a:latin typeface="Calibri"/>
                <a:cs typeface="Calibri"/>
              </a:rPr>
              <a:t>focused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information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domain.</a:t>
            </a:r>
            <a:endParaRPr sz="2000">
              <a:latin typeface="Calibri"/>
              <a:cs typeface="Calibri"/>
            </a:endParaRPr>
          </a:p>
          <a:p>
            <a:pPr marL="100965" indent="-100330">
              <a:lnSpc>
                <a:spcPts val="1735"/>
              </a:lnSpc>
              <a:buSzPct val="97500"/>
              <a:buFont typeface="Arial MT"/>
              <a:buChar char="•"/>
              <a:tabLst>
                <a:tab pos="100965" algn="l"/>
              </a:tabLst>
            </a:pPr>
            <a:r>
              <a:rPr sz="2000" dirty="0">
                <a:latin typeface="Calibri"/>
                <a:cs typeface="Calibri"/>
              </a:rPr>
              <a:t>Tests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designed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answer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following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questions:</a:t>
            </a:r>
            <a:endParaRPr sz="2000">
              <a:latin typeface="Calibri"/>
              <a:cs typeface="Calibri"/>
            </a:endParaRPr>
          </a:p>
          <a:p>
            <a:pPr marL="615315" lvl="1" indent="-231775">
              <a:lnSpc>
                <a:spcPts val="1950"/>
              </a:lnSpc>
              <a:buFont typeface="Segoe UI Symbol"/>
              <a:buChar char="▪"/>
              <a:tabLst>
                <a:tab pos="615315" algn="l"/>
              </a:tabLst>
            </a:pPr>
            <a:r>
              <a:rPr sz="2000" dirty="0">
                <a:latin typeface="Calibri"/>
                <a:cs typeface="Calibri"/>
              </a:rPr>
              <a:t>How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functional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validity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tested?</a:t>
            </a:r>
            <a:endParaRPr sz="2000">
              <a:latin typeface="Calibri"/>
              <a:cs typeface="Calibri"/>
            </a:endParaRPr>
          </a:p>
          <a:p>
            <a:pPr marL="615315" lvl="1" indent="-231775">
              <a:lnSpc>
                <a:spcPts val="1950"/>
              </a:lnSpc>
              <a:buFont typeface="Segoe UI Symbol"/>
              <a:buChar char="▪"/>
              <a:tabLst>
                <a:tab pos="615315" algn="l"/>
              </a:tabLst>
            </a:pPr>
            <a:r>
              <a:rPr sz="2000" dirty="0">
                <a:latin typeface="Calibri"/>
                <a:cs typeface="Calibri"/>
              </a:rPr>
              <a:t>How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system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behavior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performance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tested?</a:t>
            </a:r>
            <a:endParaRPr sz="2000">
              <a:latin typeface="Calibri"/>
              <a:cs typeface="Calibri"/>
            </a:endParaRPr>
          </a:p>
          <a:p>
            <a:pPr marL="615315" lvl="1" indent="-231775">
              <a:lnSpc>
                <a:spcPts val="1950"/>
              </a:lnSpc>
              <a:buFont typeface="Segoe UI Symbol"/>
              <a:buChar char="▪"/>
              <a:tabLst>
                <a:tab pos="615315" algn="l"/>
              </a:tabLst>
            </a:pPr>
            <a:r>
              <a:rPr sz="2000" dirty="0">
                <a:latin typeface="Calibri"/>
                <a:cs typeface="Calibri"/>
              </a:rPr>
              <a:t>What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classes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input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will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make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good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cases?</a:t>
            </a:r>
            <a:endParaRPr sz="2000">
              <a:latin typeface="Calibri"/>
              <a:cs typeface="Calibri"/>
            </a:endParaRPr>
          </a:p>
          <a:p>
            <a:pPr marL="158115" indent="-145415">
              <a:lnSpc>
                <a:spcPts val="2175"/>
              </a:lnSpc>
              <a:buSzPct val="97500"/>
              <a:buFont typeface="Arial MT"/>
              <a:buChar char="•"/>
              <a:tabLst>
                <a:tab pos="158115" algn="l"/>
              </a:tabLst>
            </a:pPr>
            <a:r>
              <a:rPr sz="2000" dirty="0">
                <a:latin typeface="Calibri"/>
                <a:cs typeface="Calibri"/>
              </a:rPr>
              <a:t>By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applying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black-</a:t>
            </a:r>
            <a:r>
              <a:rPr sz="2000" dirty="0">
                <a:latin typeface="Calibri"/>
                <a:cs typeface="Calibri"/>
              </a:rPr>
              <a:t>box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techniques,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derive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cases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that</a:t>
            </a:r>
            <a:endParaRPr sz="2000">
              <a:latin typeface="Calibri"/>
              <a:cs typeface="Calibri"/>
            </a:endParaRPr>
          </a:p>
          <a:p>
            <a:pPr marL="556895" marR="38100" lvl="1" indent="-231775">
              <a:lnSpc>
                <a:spcPts val="1950"/>
              </a:lnSpc>
              <a:spcBef>
                <a:spcPts val="1939"/>
              </a:spcBef>
              <a:buFont typeface="Segoe UI Symbol"/>
              <a:buChar char="▪"/>
              <a:tabLst>
                <a:tab pos="558165" algn="l"/>
              </a:tabLst>
            </a:pPr>
            <a:r>
              <a:rPr sz="2000" dirty="0">
                <a:latin typeface="Calibri"/>
                <a:cs typeface="Calibri"/>
              </a:rPr>
              <a:t>Test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cases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reduce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number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additional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cases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that 	</a:t>
            </a:r>
            <a:r>
              <a:rPr sz="2000" dirty="0">
                <a:latin typeface="Calibri"/>
                <a:cs typeface="Calibri"/>
              </a:rPr>
              <a:t>must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designed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achieve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reasonable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(i.e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minimize 	</a:t>
            </a:r>
            <a:r>
              <a:rPr sz="2000" dirty="0">
                <a:latin typeface="Calibri"/>
                <a:cs typeface="Calibri"/>
              </a:rPr>
              <a:t>effort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time)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67927" y="5327534"/>
            <a:ext cx="6713220" cy="57785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00965" marR="5080" indent="-99695">
              <a:lnSpc>
                <a:spcPts val="1950"/>
              </a:lnSpc>
              <a:spcBef>
                <a:spcPts val="540"/>
              </a:spcBef>
              <a:buSzPct val="40000"/>
              <a:buFont typeface="Segoe UI Symbol"/>
              <a:buChar char="▪"/>
              <a:tabLst>
                <a:tab pos="102235" algn="l"/>
              </a:tabLst>
            </a:pPr>
            <a:r>
              <a:rPr sz="2000" dirty="0">
                <a:latin typeface="Calibri"/>
                <a:cs typeface="Calibri"/>
              </a:rPr>
              <a:t>Test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cases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tell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something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about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presence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absence 	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classes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errors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56791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3525" y="1697673"/>
            <a:ext cx="86169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99030">
              <a:lnSpc>
                <a:spcPct val="100000"/>
              </a:lnSpc>
              <a:spcBef>
                <a:spcPts val="100"/>
              </a:spcBef>
            </a:pPr>
            <a:r>
              <a:rPr dirty="0"/>
              <a:t>Boundary</a:t>
            </a:r>
            <a:r>
              <a:rPr spc="-130" dirty="0"/>
              <a:t> </a:t>
            </a:r>
            <a:r>
              <a:rPr dirty="0"/>
              <a:t>value</a:t>
            </a:r>
            <a:r>
              <a:rPr spc="-125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body" idx="4294967295"/>
          </p:nvPr>
        </p:nvSpPr>
        <p:spPr>
          <a:xfrm>
            <a:off x="739710" y="2580144"/>
            <a:ext cx="7396480" cy="3683000"/>
          </a:xfrm>
          <a:prstGeom prst="rect">
            <a:avLst/>
          </a:prstGeom>
        </p:spPr>
        <p:txBody>
          <a:bodyPr vert="horz" wrap="square" lIns="0" tIns="236166" rIns="0" bIns="0" rtlCol="0">
            <a:spAutoFit/>
          </a:bodyPr>
          <a:lstStyle/>
          <a:p>
            <a:pPr marL="100965" marR="455930" indent="-88900">
              <a:lnSpc>
                <a:spcPts val="2620"/>
              </a:lnSpc>
              <a:spcBef>
                <a:spcPts val="405"/>
              </a:spcBef>
              <a:buSzPct val="83333"/>
              <a:buFont typeface="Arial MT"/>
              <a:buChar char="•"/>
              <a:tabLst>
                <a:tab pos="101600" algn="l"/>
                <a:tab pos="158115" algn="l"/>
              </a:tabLst>
            </a:pPr>
            <a:r>
              <a:rPr sz="2400" dirty="0"/>
              <a:t>Boundary</a:t>
            </a:r>
            <a:r>
              <a:rPr sz="2400" spc="-45" dirty="0"/>
              <a:t> </a:t>
            </a:r>
            <a:r>
              <a:rPr sz="2400" dirty="0"/>
              <a:t>value</a:t>
            </a:r>
            <a:r>
              <a:rPr sz="2400" spc="-50" dirty="0"/>
              <a:t> </a:t>
            </a:r>
            <a:r>
              <a:rPr sz="2400" dirty="0"/>
              <a:t>analysis</a:t>
            </a:r>
            <a:r>
              <a:rPr sz="2400" spc="-45" dirty="0"/>
              <a:t> </a:t>
            </a:r>
            <a:r>
              <a:rPr sz="2400" dirty="0"/>
              <a:t>is</a:t>
            </a:r>
            <a:r>
              <a:rPr sz="2400" spc="-45" dirty="0"/>
              <a:t> </a:t>
            </a:r>
            <a:r>
              <a:rPr sz="2400" dirty="0"/>
              <a:t>a</a:t>
            </a:r>
            <a:r>
              <a:rPr sz="2400" spc="-45" dirty="0"/>
              <a:t> </a:t>
            </a:r>
            <a:r>
              <a:rPr sz="2400" dirty="0"/>
              <a:t>test</a:t>
            </a:r>
            <a:r>
              <a:rPr sz="2400" spc="-45" dirty="0"/>
              <a:t> </a:t>
            </a:r>
            <a:r>
              <a:rPr sz="2400" dirty="0"/>
              <a:t>case</a:t>
            </a:r>
            <a:r>
              <a:rPr sz="2400" spc="-45" dirty="0"/>
              <a:t> </a:t>
            </a:r>
            <a:r>
              <a:rPr sz="2400" dirty="0"/>
              <a:t>design</a:t>
            </a:r>
            <a:r>
              <a:rPr sz="2400" spc="-45" dirty="0"/>
              <a:t> </a:t>
            </a:r>
            <a:r>
              <a:rPr sz="2400" spc="-10" dirty="0"/>
              <a:t>technique </a:t>
            </a:r>
            <a:r>
              <a:rPr sz="2400" dirty="0"/>
              <a:t>that</a:t>
            </a:r>
            <a:r>
              <a:rPr sz="2400" spc="-50" dirty="0"/>
              <a:t> </a:t>
            </a:r>
            <a:r>
              <a:rPr sz="2400" dirty="0"/>
              <a:t>complements</a:t>
            </a:r>
            <a:r>
              <a:rPr sz="2400" spc="-45" dirty="0"/>
              <a:t> </a:t>
            </a:r>
            <a:r>
              <a:rPr sz="2400" spc="-10" dirty="0"/>
              <a:t>equivalence</a:t>
            </a:r>
            <a:r>
              <a:rPr sz="2400" spc="-45" dirty="0"/>
              <a:t> </a:t>
            </a:r>
            <a:r>
              <a:rPr sz="2400" spc="-10" dirty="0"/>
              <a:t>partitioning.</a:t>
            </a:r>
            <a:endParaRPr sz="2400"/>
          </a:p>
          <a:p>
            <a:pPr marL="100965" marR="5080" indent="-107314">
              <a:lnSpc>
                <a:spcPts val="2630"/>
              </a:lnSpc>
              <a:buFont typeface="Arial MT"/>
              <a:buChar char="•"/>
              <a:tabLst>
                <a:tab pos="101600" algn="l"/>
                <a:tab pos="168910" algn="l"/>
              </a:tabLst>
            </a:pPr>
            <a:r>
              <a:rPr sz="2400" dirty="0"/>
              <a:t>	Rather</a:t>
            </a:r>
            <a:r>
              <a:rPr sz="2400" spc="-60" dirty="0"/>
              <a:t> </a:t>
            </a:r>
            <a:r>
              <a:rPr sz="2400" dirty="0"/>
              <a:t>than</a:t>
            </a:r>
            <a:r>
              <a:rPr sz="2400" spc="-55" dirty="0"/>
              <a:t> </a:t>
            </a:r>
            <a:r>
              <a:rPr sz="2400" dirty="0"/>
              <a:t>selecting</a:t>
            </a:r>
            <a:r>
              <a:rPr sz="2400" spc="-55" dirty="0"/>
              <a:t> </a:t>
            </a:r>
            <a:r>
              <a:rPr sz="2400" dirty="0"/>
              <a:t>any</a:t>
            </a:r>
            <a:r>
              <a:rPr sz="2400" spc="-60" dirty="0"/>
              <a:t> </a:t>
            </a:r>
            <a:r>
              <a:rPr sz="2400" dirty="0"/>
              <a:t>element</a:t>
            </a:r>
            <a:r>
              <a:rPr sz="2400" spc="-55" dirty="0"/>
              <a:t> </a:t>
            </a:r>
            <a:r>
              <a:rPr sz="2400" dirty="0"/>
              <a:t>of</a:t>
            </a:r>
            <a:r>
              <a:rPr sz="2400" spc="-55" dirty="0"/>
              <a:t> </a:t>
            </a:r>
            <a:r>
              <a:rPr sz="2400" dirty="0"/>
              <a:t>an</a:t>
            </a:r>
            <a:r>
              <a:rPr sz="2400" spc="-60" dirty="0"/>
              <a:t> </a:t>
            </a:r>
            <a:r>
              <a:rPr sz="2400" spc="-10" dirty="0"/>
              <a:t>equivalence</a:t>
            </a:r>
            <a:r>
              <a:rPr sz="2400" spc="-55" dirty="0"/>
              <a:t> </a:t>
            </a:r>
            <a:r>
              <a:rPr sz="2400" spc="-10" dirty="0"/>
              <a:t>class, </a:t>
            </a:r>
            <a:r>
              <a:rPr sz="2400" dirty="0"/>
              <a:t>BVA</a:t>
            </a:r>
            <a:r>
              <a:rPr sz="2400" spc="-55" dirty="0"/>
              <a:t> </a:t>
            </a:r>
            <a:r>
              <a:rPr sz="2400" dirty="0"/>
              <a:t>leads</a:t>
            </a:r>
            <a:r>
              <a:rPr sz="2400" spc="-55" dirty="0"/>
              <a:t> </a:t>
            </a:r>
            <a:r>
              <a:rPr sz="2400" dirty="0"/>
              <a:t>to</a:t>
            </a:r>
            <a:r>
              <a:rPr sz="2400" spc="-50" dirty="0"/>
              <a:t> </a:t>
            </a:r>
            <a:r>
              <a:rPr sz="2400" dirty="0"/>
              <a:t>the</a:t>
            </a:r>
            <a:r>
              <a:rPr sz="2400" spc="-55" dirty="0"/>
              <a:t> </a:t>
            </a:r>
            <a:r>
              <a:rPr sz="2400" dirty="0"/>
              <a:t>selection</a:t>
            </a:r>
            <a:r>
              <a:rPr sz="2400" spc="-50" dirty="0"/>
              <a:t> </a:t>
            </a:r>
            <a:r>
              <a:rPr sz="2400" dirty="0"/>
              <a:t>of</a:t>
            </a:r>
            <a:r>
              <a:rPr sz="2400" spc="-55" dirty="0"/>
              <a:t> </a:t>
            </a:r>
            <a:r>
              <a:rPr sz="2400" dirty="0"/>
              <a:t>test</a:t>
            </a:r>
            <a:r>
              <a:rPr sz="2400" spc="-50" dirty="0"/>
              <a:t> </a:t>
            </a:r>
            <a:r>
              <a:rPr sz="2400" dirty="0"/>
              <a:t>cases</a:t>
            </a:r>
            <a:r>
              <a:rPr sz="2400" spc="-55" dirty="0"/>
              <a:t> </a:t>
            </a:r>
            <a:r>
              <a:rPr sz="2400" dirty="0"/>
              <a:t>at</a:t>
            </a:r>
            <a:r>
              <a:rPr sz="2400" spc="-50" dirty="0"/>
              <a:t> </a:t>
            </a:r>
            <a:r>
              <a:rPr sz="2400" dirty="0"/>
              <a:t>the</a:t>
            </a:r>
            <a:r>
              <a:rPr sz="2400" spc="-55" dirty="0"/>
              <a:t> </a:t>
            </a:r>
            <a:r>
              <a:rPr sz="2400" dirty="0"/>
              <a:t>"edges"</a:t>
            </a:r>
            <a:r>
              <a:rPr sz="2400" spc="-50" dirty="0"/>
              <a:t> </a:t>
            </a:r>
            <a:r>
              <a:rPr sz="2400" spc="-25" dirty="0"/>
              <a:t>of </a:t>
            </a:r>
            <a:r>
              <a:rPr sz="2400" dirty="0"/>
              <a:t>the</a:t>
            </a:r>
            <a:r>
              <a:rPr sz="2400" spc="-50" dirty="0"/>
              <a:t> </a:t>
            </a:r>
            <a:r>
              <a:rPr sz="2400" spc="-10" dirty="0"/>
              <a:t>class.</a:t>
            </a:r>
            <a:endParaRPr sz="2400"/>
          </a:p>
          <a:p>
            <a:pPr marL="168910" indent="-174625">
              <a:lnSpc>
                <a:spcPts val="2440"/>
              </a:lnSpc>
              <a:buFont typeface="Arial MT"/>
              <a:buChar char="•"/>
              <a:tabLst>
                <a:tab pos="169545" algn="l"/>
              </a:tabLst>
            </a:pPr>
            <a:r>
              <a:rPr sz="2400" dirty="0"/>
              <a:t>In</a:t>
            </a:r>
            <a:r>
              <a:rPr sz="2400" spc="-60" dirty="0"/>
              <a:t> </a:t>
            </a:r>
            <a:r>
              <a:rPr sz="2400" dirty="0"/>
              <a:t>other</a:t>
            </a:r>
            <a:r>
              <a:rPr sz="2400" spc="-45" dirty="0"/>
              <a:t> </a:t>
            </a:r>
            <a:r>
              <a:rPr sz="2400" dirty="0"/>
              <a:t>word,</a:t>
            </a:r>
            <a:r>
              <a:rPr sz="2400" spc="-45" dirty="0"/>
              <a:t> </a:t>
            </a:r>
            <a:r>
              <a:rPr sz="2400" dirty="0"/>
              <a:t>Rather</a:t>
            </a:r>
            <a:r>
              <a:rPr sz="2400" spc="-45" dirty="0"/>
              <a:t> </a:t>
            </a:r>
            <a:r>
              <a:rPr sz="2400" dirty="0"/>
              <a:t>than</a:t>
            </a:r>
            <a:r>
              <a:rPr sz="2400" spc="-45" dirty="0"/>
              <a:t> </a:t>
            </a:r>
            <a:r>
              <a:rPr sz="2400" dirty="0"/>
              <a:t>focusing</a:t>
            </a:r>
            <a:r>
              <a:rPr sz="2400" spc="-45" dirty="0"/>
              <a:t> </a:t>
            </a:r>
            <a:r>
              <a:rPr sz="2400" dirty="0"/>
              <a:t>solely</a:t>
            </a:r>
            <a:r>
              <a:rPr sz="2400" spc="-45" dirty="0"/>
              <a:t> </a:t>
            </a:r>
            <a:r>
              <a:rPr sz="2400" dirty="0"/>
              <a:t>on</a:t>
            </a:r>
            <a:r>
              <a:rPr sz="2400" spc="-45" dirty="0"/>
              <a:t> </a:t>
            </a:r>
            <a:r>
              <a:rPr sz="2400" spc="-10" dirty="0"/>
              <a:t>input</a:t>
            </a:r>
            <a:endParaRPr sz="2400"/>
          </a:p>
          <a:p>
            <a:pPr marL="100965" marR="27940">
              <a:lnSpc>
                <a:spcPts val="2630"/>
              </a:lnSpc>
              <a:spcBef>
                <a:spcPts val="170"/>
              </a:spcBef>
            </a:pPr>
            <a:r>
              <a:rPr sz="2400" dirty="0"/>
              <a:t>conditions,</a:t>
            </a:r>
            <a:r>
              <a:rPr sz="2400" spc="-50" dirty="0"/>
              <a:t> </a:t>
            </a:r>
            <a:r>
              <a:rPr sz="2400" dirty="0"/>
              <a:t>BVA</a:t>
            </a:r>
            <a:r>
              <a:rPr sz="2400" spc="-45" dirty="0"/>
              <a:t> </a:t>
            </a:r>
            <a:r>
              <a:rPr sz="2400" dirty="0"/>
              <a:t>derives</a:t>
            </a:r>
            <a:r>
              <a:rPr sz="2400" spc="-45" dirty="0"/>
              <a:t> </a:t>
            </a:r>
            <a:r>
              <a:rPr sz="2400" dirty="0"/>
              <a:t>test</a:t>
            </a:r>
            <a:r>
              <a:rPr sz="2400" spc="-50" dirty="0"/>
              <a:t> </a:t>
            </a:r>
            <a:r>
              <a:rPr sz="2400" dirty="0"/>
              <a:t>cases</a:t>
            </a:r>
            <a:r>
              <a:rPr sz="2400" spc="-45" dirty="0"/>
              <a:t> </a:t>
            </a:r>
            <a:r>
              <a:rPr sz="2400" dirty="0"/>
              <a:t>from</a:t>
            </a:r>
            <a:r>
              <a:rPr sz="2400" spc="-45" dirty="0"/>
              <a:t> </a:t>
            </a:r>
            <a:r>
              <a:rPr sz="2400" dirty="0"/>
              <a:t>the</a:t>
            </a:r>
            <a:r>
              <a:rPr sz="2400" spc="-45" dirty="0"/>
              <a:t> </a:t>
            </a:r>
            <a:r>
              <a:rPr sz="2400" dirty="0"/>
              <a:t>output</a:t>
            </a:r>
            <a:r>
              <a:rPr sz="2400" spc="-50" dirty="0"/>
              <a:t> </a:t>
            </a:r>
            <a:r>
              <a:rPr sz="2400" spc="-10" dirty="0"/>
              <a:t>domain </a:t>
            </a:r>
            <a:r>
              <a:rPr sz="2400" dirty="0"/>
              <a:t>as</a:t>
            </a:r>
            <a:r>
              <a:rPr sz="2400" spc="-10" dirty="0"/>
              <a:t> well.</a:t>
            </a:r>
            <a:endParaRPr sz="2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56791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3525" y="1697673"/>
            <a:ext cx="86169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206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Guidelines</a:t>
            </a:r>
            <a:r>
              <a:rPr spc="-50" dirty="0"/>
              <a:t> </a:t>
            </a:r>
            <a:r>
              <a:rPr dirty="0"/>
              <a:t>for</a:t>
            </a:r>
            <a:r>
              <a:rPr spc="-50" dirty="0"/>
              <a:t> </a:t>
            </a:r>
            <a:r>
              <a:rPr spc="-25" dirty="0"/>
              <a:t>BVA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26485" y="2813515"/>
            <a:ext cx="7251065" cy="302768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427990" marR="160655" indent="-415925">
              <a:lnSpc>
                <a:spcPct val="79500"/>
              </a:lnSpc>
              <a:spcBef>
                <a:spcPts val="640"/>
              </a:spcBef>
              <a:buFont typeface="Arial MT"/>
              <a:buChar char="•"/>
              <a:tabLst>
                <a:tab pos="427990" algn="l"/>
              </a:tabLst>
            </a:pPr>
            <a:r>
              <a:rPr sz="2200" dirty="0">
                <a:latin typeface="Calibri"/>
                <a:cs typeface="Calibri"/>
              </a:rPr>
              <a:t>If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input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condition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specifies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range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bounded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values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i="1" spc="-50" dirty="0">
                <a:latin typeface="Calibri"/>
                <a:cs typeface="Calibri"/>
              </a:rPr>
              <a:t>a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b,</a:t>
            </a:r>
            <a:r>
              <a:rPr sz="2200" i="1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test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cases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should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designed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values </a:t>
            </a:r>
            <a:r>
              <a:rPr sz="2200" i="1" dirty="0">
                <a:latin typeface="Calibri"/>
                <a:cs typeface="Calibri"/>
              </a:rPr>
              <a:t>a</a:t>
            </a:r>
            <a:r>
              <a:rPr sz="2200" i="1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i="1" spc="-50" dirty="0">
                <a:latin typeface="Calibri"/>
                <a:cs typeface="Calibri"/>
              </a:rPr>
              <a:t>b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just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above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just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below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a</a:t>
            </a:r>
            <a:r>
              <a:rPr sz="2200" i="1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i="1" spc="-25" dirty="0">
                <a:latin typeface="Calibri"/>
                <a:cs typeface="Calibri"/>
              </a:rPr>
              <a:t>b</a:t>
            </a:r>
            <a:r>
              <a:rPr sz="2200" spc="-25" dirty="0"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  <a:p>
            <a:pPr marL="427990" marR="5080" indent="-415925">
              <a:lnSpc>
                <a:spcPct val="79500"/>
              </a:lnSpc>
              <a:buFont typeface="Arial MT"/>
              <a:buChar char="•"/>
              <a:tabLst>
                <a:tab pos="427990" algn="l"/>
              </a:tabLst>
            </a:pPr>
            <a:r>
              <a:rPr sz="2200" dirty="0">
                <a:latin typeface="Calibri"/>
                <a:cs typeface="Calibri"/>
              </a:rPr>
              <a:t>If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input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condition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specifies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number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values,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test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cases </a:t>
            </a:r>
            <a:r>
              <a:rPr sz="2200" dirty="0">
                <a:latin typeface="Calibri"/>
                <a:cs typeface="Calibri"/>
              </a:rPr>
              <a:t>should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developed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exercise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minimum</a:t>
            </a:r>
            <a:r>
              <a:rPr sz="2200" spc="-25" dirty="0">
                <a:latin typeface="Calibri"/>
                <a:cs typeface="Calibri"/>
              </a:rPr>
              <a:t> and </a:t>
            </a:r>
            <a:r>
              <a:rPr sz="2200" dirty="0">
                <a:latin typeface="Calibri"/>
                <a:cs typeface="Calibri"/>
              </a:rPr>
              <a:t>maximum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numbers.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Values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just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above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below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minimum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maximum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also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tested.</a:t>
            </a:r>
            <a:endParaRPr sz="2200">
              <a:latin typeface="Calibri"/>
              <a:cs typeface="Calibri"/>
            </a:endParaRPr>
          </a:p>
          <a:p>
            <a:pPr marL="427355" indent="-414655">
              <a:lnSpc>
                <a:spcPts val="1830"/>
              </a:lnSpc>
              <a:buFont typeface="Arial MT"/>
              <a:buChar char="•"/>
              <a:tabLst>
                <a:tab pos="427355" algn="l"/>
              </a:tabLst>
            </a:pPr>
            <a:r>
              <a:rPr sz="2200" dirty="0">
                <a:latin typeface="Calibri"/>
                <a:cs typeface="Calibri"/>
              </a:rPr>
              <a:t>Apply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guidelines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2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output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conditions.</a:t>
            </a:r>
            <a:endParaRPr sz="2200">
              <a:latin typeface="Calibri"/>
              <a:cs typeface="Calibri"/>
            </a:endParaRPr>
          </a:p>
          <a:p>
            <a:pPr marL="427990" marR="236854" indent="-415925">
              <a:lnSpc>
                <a:spcPct val="79500"/>
              </a:lnSpc>
              <a:spcBef>
                <a:spcPts val="270"/>
              </a:spcBef>
              <a:buFont typeface="Arial MT"/>
              <a:buChar char="•"/>
              <a:tabLst>
                <a:tab pos="427990" algn="l"/>
              </a:tabLst>
            </a:pPr>
            <a:r>
              <a:rPr sz="2200" dirty="0">
                <a:latin typeface="Calibri"/>
                <a:cs typeface="Calibri"/>
              </a:rPr>
              <a:t>If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internal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program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data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structures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have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prescribed </a:t>
            </a:r>
            <a:r>
              <a:rPr sz="2200" dirty="0">
                <a:latin typeface="Calibri"/>
                <a:cs typeface="Calibri"/>
              </a:rPr>
              <a:t>boundaries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certain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design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test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case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exercise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the </a:t>
            </a:r>
            <a:r>
              <a:rPr sz="2200" dirty="0">
                <a:latin typeface="Calibri"/>
                <a:cs typeface="Calibri"/>
              </a:rPr>
              <a:t>data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structure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at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boundary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56791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3525" y="1697673"/>
            <a:ext cx="86169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7995">
              <a:lnSpc>
                <a:spcPct val="100000"/>
              </a:lnSpc>
              <a:spcBef>
                <a:spcPts val="100"/>
              </a:spcBef>
            </a:pPr>
            <a:r>
              <a:rPr dirty="0"/>
              <a:t>Pair</a:t>
            </a:r>
            <a:r>
              <a:rPr spc="-50" dirty="0"/>
              <a:t> </a:t>
            </a:r>
            <a:r>
              <a:rPr dirty="0"/>
              <a:t>wise</a:t>
            </a:r>
            <a:r>
              <a:rPr spc="-50" dirty="0"/>
              <a:t> </a:t>
            </a:r>
            <a:r>
              <a:rPr spc="-10" dirty="0"/>
              <a:t>testing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11718" y="2652152"/>
            <a:ext cx="7609205" cy="3378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965" marR="91440" indent="-88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00965" algn="l"/>
                <a:tab pos="157480" algn="l"/>
              </a:tabLst>
            </a:pPr>
            <a:r>
              <a:rPr sz="2000" b="1" dirty="0">
                <a:latin typeface="Calibri"/>
                <a:cs typeface="Calibri"/>
              </a:rPr>
              <a:t>Pairwise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Testing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type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software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testing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permutation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and </a:t>
            </a:r>
            <a:r>
              <a:rPr sz="2000" spc="-10" dirty="0">
                <a:latin typeface="Calibri"/>
                <a:cs typeface="Calibri"/>
              </a:rPr>
              <a:t>combination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method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software.</a:t>
            </a:r>
            <a:endParaRPr sz="2000">
              <a:latin typeface="Calibri"/>
              <a:cs typeface="Calibri"/>
            </a:endParaRPr>
          </a:p>
          <a:p>
            <a:pPr marL="100965" marR="306705" indent="-88900">
              <a:lnSpc>
                <a:spcPct val="100000"/>
              </a:lnSpc>
              <a:buFont typeface="Arial MT"/>
              <a:buChar char="•"/>
              <a:tabLst>
                <a:tab pos="100965" algn="l"/>
                <a:tab pos="157480" algn="l"/>
              </a:tabLst>
            </a:pPr>
            <a:r>
              <a:rPr sz="2000" dirty="0">
                <a:latin typeface="Calibri"/>
                <a:cs typeface="Calibri"/>
              </a:rPr>
              <a:t>used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possible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discrete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combinations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3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parameters involved.</a:t>
            </a:r>
            <a:endParaRPr sz="2000">
              <a:latin typeface="Calibri"/>
              <a:cs typeface="Calibri"/>
            </a:endParaRPr>
          </a:p>
          <a:p>
            <a:pPr marL="100965" marR="327660" indent="-88900">
              <a:lnSpc>
                <a:spcPct val="100000"/>
              </a:lnSpc>
              <a:buFont typeface="Arial MT"/>
              <a:buChar char="•"/>
              <a:tabLst>
                <a:tab pos="100965" algn="l"/>
                <a:tab pos="157480" algn="l"/>
              </a:tabLst>
            </a:pPr>
            <a:r>
              <a:rPr sz="2000" dirty="0">
                <a:latin typeface="Calibri"/>
                <a:cs typeface="Calibri"/>
              </a:rPr>
              <a:t>It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P&amp;C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based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method,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system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application,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each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pair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input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parameters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system,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possible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discrete combinations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parameters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tested.</a:t>
            </a:r>
            <a:endParaRPr sz="2000">
              <a:latin typeface="Calibri"/>
              <a:cs typeface="Calibri"/>
            </a:endParaRPr>
          </a:p>
          <a:p>
            <a:pPr marL="100965" marR="5080" indent="-88900">
              <a:lnSpc>
                <a:spcPct val="100000"/>
              </a:lnSpc>
              <a:buFont typeface="Arial MT"/>
              <a:buChar char="•"/>
              <a:tabLst>
                <a:tab pos="100965" algn="l"/>
                <a:tab pos="157480" algn="l"/>
              </a:tabLst>
            </a:pPr>
            <a:r>
              <a:rPr sz="2000" dirty="0">
                <a:latin typeface="Calibri"/>
                <a:cs typeface="Calibri"/>
              </a:rPr>
              <a:t>By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using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conventional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exhaustive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testing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approach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hard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system</a:t>
            </a:r>
            <a:endParaRPr sz="2000">
              <a:latin typeface="Calibri"/>
              <a:cs typeface="Calibri"/>
            </a:endParaRPr>
          </a:p>
          <a:p>
            <a:pPr marL="100965" marR="175895" indent="-88900">
              <a:lnSpc>
                <a:spcPct val="100000"/>
              </a:lnSpc>
              <a:buFont typeface="Arial MT"/>
              <a:buChar char="•"/>
              <a:tabLst>
                <a:tab pos="100965" algn="l"/>
                <a:tab pos="157480" algn="l"/>
              </a:tabLst>
            </a:pPr>
            <a:r>
              <a:rPr sz="2000" dirty="0">
                <a:latin typeface="Calibri"/>
                <a:cs typeface="Calibri"/>
              </a:rPr>
              <a:t>but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using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permutation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combination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method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easily done.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56791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3525" y="1697673"/>
            <a:ext cx="86169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0">
              <a:lnSpc>
                <a:spcPct val="100000"/>
              </a:lnSpc>
              <a:spcBef>
                <a:spcPts val="100"/>
              </a:spcBef>
            </a:pPr>
            <a:r>
              <a:rPr dirty="0"/>
              <a:t>Advantages</a:t>
            </a:r>
            <a:r>
              <a:rPr spc="-80" dirty="0"/>
              <a:t> </a:t>
            </a:r>
            <a:r>
              <a:rPr dirty="0"/>
              <a:t>of</a:t>
            </a:r>
            <a:r>
              <a:rPr spc="-75" dirty="0"/>
              <a:t> </a:t>
            </a:r>
            <a:r>
              <a:rPr dirty="0"/>
              <a:t>Pairwise</a:t>
            </a:r>
            <a:r>
              <a:rPr spc="-80" dirty="0"/>
              <a:t> </a:t>
            </a:r>
            <a:r>
              <a:rPr spc="-10" dirty="0"/>
              <a:t>Testing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93899" y="2724160"/>
            <a:ext cx="8004175" cy="3227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9380">
              <a:lnSpc>
                <a:spcPts val="239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advantages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pairwise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testing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are:</a:t>
            </a:r>
            <a:endParaRPr sz="2000">
              <a:latin typeface="Arial MT"/>
              <a:cs typeface="Arial MT"/>
            </a:endParaRPr>
          </a:p>
          <a:p>
            <a:pPr marL="175895" indent="-145415">
              <a:lnSpc>
                <a:spcPts val="2855"/>
              </a:lnSpc>
              <a:buSzPct val="83333"/>
              <a:buFont typeface="Arial MT"/>
              <a:buChar char="•"/>
              <a:tabLst>
                <a:tab pos="175895" algn="l"/>
              </a:tabLst>
            </a:pPr>
            <a:r>
              <a:rPr sz="2400" dirty="0">
                <a:latin typeface="Calibri"/>
                <a:cs typeface="Calibri"/>
              </a:rPr>
              <a:t>Pairwise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testing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reduces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execution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test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cases.</a:t>
            </a:r>
            <a:endParaRPr sz="2400">
              <a:latin typeface="Calibri"/>
              <a:cs typeface="Calibri"/>
            </a:endParaRPr>
          </a:p>
          <a:p>
            <a:pPr marL="119380" marR="784860" indent="-107314">
              <a:lnSpc>
                <a:spcPts val="2850"/>
              </a:lnSpc>
              <a:spcBef>
                <a:spcPts val="105"/>
              </a:spcBef>
              <a:buFont typeface="Arial MT"/>
              <a:buChar char="•"/>
              <a:tabLst>
                <a:tab pos="119380" algn="l"/>
                <a:tab pos="186690" algn="l"/>
              </a:tabLst>
            </a:pPr>
            <a:r>
              <a:rPr sz="2400" dirty="0">
                <a:latin typeface="Calibri"/>
                <a:cs typeface="Calibri"/>
              </a:rPr>
              <a:t>	Pairwise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testing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increases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test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coverage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almost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up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hundred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percentage.</a:t>
            </a:r>
            <a:endParaRPr sz="2400">
              <a:latin typeface="Calibri"/>
              <a:cs typeface="Calibri"/>
            </a:endParaRPr>
          </a:p>
          <a:p>
            <a:pPr marL="187325" indent="-174625">
              <a:lnSpc>
                <a:spcPts val="2745"/>
              </a:lnSpc>
              <a:buFont typeface="Arial MT"/>
              <a:buChar char="•"/>
              <a:tabLst>
                <a:tab pos="187325" algn="l"/>
              </a:tabLst>
            </a:pPr>
            <a:r>
              <a:rPr sz="2400" dirty="0">
                <a:latin typeface="Calibri"/>
                <a:cs typeface="Calibri"/>
              </a:rPr>
              <a:t>Pairwise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testing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increases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defect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detection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ratio.</a:t>
            </a:r>
            <a:endParaRPr sz="2400">
              <a:latin typeface="Calibri"/>
              <a:cs typeface="Calibri"/>
            </a:endParaRPr>
          </a:p>
          <a:p>
            <a:pPr marL="119380" marR="306705" indent="-107314">
              <a:lnSpc>
                <a:spcPts val="2850"/>
              </a:lnSpc>
              <a:spcBef>
                <a:spcPts val="105"/>
              </a:spcBef>
              <a:buFont typeface="Arial MT"/>
              <a:buChar char="•"/>
              <a:tabLst>
                <a:tab pos="119380" algn="l"/>
                <a:tab pos="186690" algn="l"/>
              </a:tabLst>
            </a:pPr>
            <a:r>
              <a:rPr sz="2400" dirty="0">
                <a:latin typeface="Calibri"/>
                <a:cs typeface="Calibri"/>
              </a:rPr>
              <a:t>	Pairwise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testing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takes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less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complete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execution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test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suite.</a:t>
            </a:r>
            <a:endParaRPr sz="2400">
              <a:latin typeface="Calibri"/>
              <a:cs typeface="Calibri"/>
            </a:endParaRPr>
          </a:p>
          <a:p>
            <a:pPr marL="119380" marR="911860" indent="-107314">
              <a:lnSpc>
                <a:spcPts val="2850"/>
              </a:lnSpc>
              <a:buFont typeface="Arial MT"/>
              <a:buChar char="•"/>
              <a:tabLst>
                <a:tab pos="119380" algn="l"/>
                <a:tab pos="186690" algn="l"/>
              </a:tabLst>
            </a:pPr>
            <a:r>
              <a:rPr sz="2400" dirty="0">
                <a:latin typeface="Calibri"/>
                <a:cs typeface="Calibri"/>
              </a:rPr>
              <a:t>	Pairwise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testing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reduces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overall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testing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budget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project.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56791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3525" y="1697673"/>
            <a:ext cx="86169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26235">
              <a:lnSpc>
                <a:spcPct val="100000"/>
              </a:lnSpc>
              <a:spcBef>
                <a:spcPts val="100"/>
              </a:spcBef>
            </a:pPr>
            <a:r>
              <a:rPr dirty="0"/>
              <a:t>Disadvantages</a:t>
            </a:r>
            <a:r>
              <a:rPr spc="-85" dirty="0"/>
              <a:t> </a:t>
            </a:r>
            <a:r>
              <a:rPr dirty="0"/>
              <a:t>of</a:t>
            </a:r>
            <a:r>
              <a:rPr spc="-80" dirty="0"/>
              <a:t> </a:t>
            </a:r>
            <a:r>
              <a:rPr dirty="0"/>
              <a:t>Pairwise</a:t>
            </a:r>
            <a:r>
              <a:rPr spc="-85" dirty="0"/>
              <a:t> </a:t>
            </a:r>
            <a:r>
              <a:rPr spc="-10" dirty="0"/>
              <a:t>Testing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11718" y="2796168"/>
            <a:ext cx="7589520" cy="2768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Calibri"/>
                <a:cs typeface="Calibri"/>
              </a:rPr>
              <a:t>The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disadvantages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of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pairwise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testing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are:</a:t>
            </a:r>
            <a:endParaRPr sz="2000">
              <a:latin typeface="Calibri"/>
              <a:cs typeface="Calibri"/>
            </a:endParaRPr>
          </a:p>
          <a:p>
            <a:pPr marL="100965" marR="763270" indent="-88900">
              <a:lnSpc>
                <a:spcPct val="100000"/>
              </a:lnSpc>
              <a:buFont typeface="Arial MT"/>
              <a:buChar char="•"/>
              <a:tabLst>
                <a:tab pos="100965" algn="l"/>
                <a:tab pos="157480" algn="l"/>
              </a:tabLst>
            </a:pPr>
            <a:r>
              <a:rPr sz="2000" dirty="0">
                <a:latin typeface="Calibri"/>
                <a:cs typeface="Calibri"/>
              </a:rPr>
              <a:t>	Pairwise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testing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beneficial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values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variables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are </a:t>
            </a:r>
            <a:r>
              <a:rPr sz="2000" spc="-10" dirty="0">
                <a:latin typeface="Calibri"/>
                <a:cs typeface="Calibri"/>
              </a:rPr>
              <a:t>inappropriate.</a:t>
            </a:r>
            <a:endParaRPr sz="2000">
              <a:latin typeface="Calibri"/>
              <a:cs typeface="Calibri"/>
            </a:endParaRPr>
          </a:p>
          <a:p>
            <a:pPr marL="100965" marR="10160" indent="-88900">
              <a:lnSpc>
                <a:spcPct val="100000"/>
              </a:lnSpc>
              <a:buFont typeface="Arial MT"/>
              <a:buChar char="•"/>
              <a:tabLst>
                <a:tab pos="100965" algn="l"/>
                <a:tab pos="157480" algn="l"/>
              </a:tabLst>
            </a:pPr>
            <a:r>
              <a:rPr sz="2000" dirty="0">
                <a:latin typeface="Calibri"/>
                <a:cs typeface="Calibri"/>
              </a:rPr>
              <a:t>	In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pairwise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possible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miss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highly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probable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combination </a:t>
            </a:r>
            <a:r>
              <a:rPr sz="2000" dirty="0">
                <a:latin typeface="Calibri"/>
                <a:cs typeface="Calibri"/>
              </a:rPr>
              <a:t>while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selecting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data.</a:t>
            </a:r>
            <a:endParaRPr sz="2000">
              <a:latin typeface="Calibri"/>
              <a:cs typeface="Calibri"/>
            </a:endParaRPr>
          </a:p>
          <a:p>
            <a:pPr marL="100965" marR="5080" indent="-88900">
              <a:lnSpc>
                <a:spcPct val="100000"/>
              </a:lnSpc>
              <a:buFont typeface="Arial MT"/>
              <a:buChar char="•"/>
              <a:tabLst>
                <a:tab pos="100965" algn="l"/>
                <a:tab pos="157480" algn="l"/>
              </a:tabLst>
            </a:pPr>
            <a:r>
              <a:rPr sz="2000" dirty="0">
                <a:latin typeface="Calibri"/>
                <a:cs typeface="Calibri"/>
              </a:rPr>
              <a:t>	In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pairwise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testing,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defect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yield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ratio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reduced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combination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is </a:t>
            </a:r>
            <a:r>
              <a:rPr sz="2000" spc="-10" dirty="0">
                <a:latin typeface="Calibri"/>
                <a:cs typeface="Calibri"/>
              </a:rPr>
              <a:t>missed.</a:t>
            </a:r>
            <a:endParaRPr sz="2000">
              <a:latin typeface="Calibri"/>
              <a:cs typeface="Calibri"/>
            </a:endParaRPr>
          </a:p>
          <a:p>
            <a:pPr marL="100965" marR="782955" indent="-88900">
              <a:lnSpc>
                <a:spcPct val="100000"/>
              </a:lnSpc>
              <a:buFont typeface="Arial MT"/>
              <a:buChar char="•"/>
              <a:tabLst>
                <a:tab pos="100965" algn="l"/>
                <a:tab pos="157480" algn="l"/>
              </a:tabLst>
            </a:pPr>
            <a:r>
              <a:rPr sz="2000" dirty="0">
                <a:latin typeface="Calibri"/>
                <a:cs typeface="Calibri"/>
              </a:rPr>
              <a:t>	Pairwise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testing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useful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combinations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variables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not </a:t>
            </a:r>
            <a:r>
              <a:rPr sz="2000" spc="-10" dirty="0">
                <a:latin typeface="Calibri"/>
                <a:cs typeface="Calibri"/>
              </a:rPr>
              <a:t>understood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correctly.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56791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3525" y="1697673"/>
            <a:ext cx="86169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6540">
              <a:lnSpc>
                <a:spcPct val="100000"/>
              </a:lnSpc>
              <a:spcBef>
                <a:spcPts val="100"/>
              </a:spcBef>
            </a:pPr>
            <a:r>
              <a:rPr dirty="0"/>
              <a:t>State</a:t>
            </a:r>
            <a:r>
              <a:rPr spc="-65" dirty="0"/>
              <a:t> </a:t>
            </a:r>
            <a:r>
              <a:rPr dirty="0"/>
              <a:t>based</a:t>
            </a:r>
            <a:r>
              <a:rPr spc="-60" dirty="0"/>
              <a:t> </a:t>
            </a:r>
            <a:r>
              <a:rPr spc="-10" dirty="0"/>
              <a:t>testing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83726" y="2387360"/>
            <a:ext cx="7189470" cy="379730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00965" marR="400685" indent="-88900">
              <a:lnSpc>
                <a:spcPts val="1950"/>
              </a:lnSpc>
              <a:spcBef>
                <a:spcPts val="540"/>
              </a:spcBef>
              <a:buFont typeface="Arial MT"/>
              <a:buChar char="•"/>
              <a:tabLst>
                <a:tab pos="100965" algn="l"/>
                <a:tab pos="157480" algn="l"/>
              </a:tabLst>
            </a:pPr>
            <a:r>
              <a:rPr sz="2000" dirty="0">
                <a:latin typeface="Calibri"/>
                <a:cs typeface="Calibri"/>
              </a:rPr>
              <a:t>	To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understand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objects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modeled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software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relationships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connect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these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objects.</a:t>
            </a:r>
            <a:endParaRPr sz="2000">
              <a:latin typeface="Calibri"/>
              <a:cs typeface="Calibri"/>
            </a:endParaRPr>
          </a:p>
          <a:p>
            <a:pPr marL="100965" marR="300355" indent="-88900">
              <a:lnSpc>
                <a:spcPts val="1950"/>
              </a:lnSpc>
              <a:buFont typeface="Arial MT"/>
              <a:buChar char="•"/>
              <a:tabLst>
                <a:tab pos="100965" algn="l"/>
                <a:tab pos="157480" algn="l"/>
              </a:tabLst>
            </a:pPr>
            <a:r>
              <a:rPr sz="2000" dirty="0">
                <a:latin typeface="Calibri"/>
                <a:cs typeface="Calibri"/>
              </a:rPr>
              <a:t>	Next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step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define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series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verify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“all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objects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have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expected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relationship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another.</a:t>
            </a:r>
            <a:endParaRPr sz="2000">
              <a:latin typeface="Calibri"/>
              <a:cs typeface="Calibri"/>
            </a:endParaRPr>
          </a:p>
          <a:p>
            <a:pPr marL="158115" indent="-145415">
              <a:lnSpc>
                <a:spcPts val="1735"/>
              </a:lnSpc>
              <a:buFont typeface="Arial MT"/>
              <a:buChar char="•"/>
              <a:tabLst>
                <a:tab pos="158115" algn="l"/>
              </a:tabLst>
            </a:pPr>
            <a:r>
              <a:rPr sz="2000" dirty="0">
                <a:latin typeface="Calibri"/>
                <a:cs typeface="Calibri"/>
              </a:rPr>
              <a:t>Stated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other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way:</a:t>
            </a:r>
            <a:endParaRPr sz="2000">
              <a:latin typeface="Calibri"/>
              <a:cs typeface="Calibri"/>
            </a:endParaRPr>
          </a:p>
          <a:p>
            <a:pPr marL="615315" lvl="1" indent="-231775">
              <a:lnSpc>
                <a:spcPts val="1950"/>
              </a:lnSpc>
              <a:buFont typeface="Segoe UI Symbol"/>
              <a:buChar char="▪"/>
              <a:tabLst>
                <a:tab pos="615315" algn="l"/>
              </a:tabLst>
            </a:pPr>
            <a:r>
              <a:rPr sz="2000" dirty="0">
                <a:latin typeface="Calibri"/>
                <a:cs typeface="Calibri"/>
              </a:rPr>
              <a:t>Create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graph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important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objects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their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relationships</a:t>
            </a:r>
            <a:endParaRPr sz="2000">
              <a:latin typeface="Calibri"/>
              <a:cs typeface="Calibri"/>
            </a:endParaRPr>
          </a:p>
          <a:p>
            <a:pPr marL="615315" lvl="1" indent="-231775">
              <a:lnSpc>
                <a:spcPts val="2175"/>
              </a:lnSpc>
              <a:buFont typeface="Segoe UI Symbol"/>
              <a:buChar char="▪"/>
              <a:tabLst>
                <a:tab pos="615315" algn="l"/>
              </a:tabLst>
            </a:pPr>
            <a:r>
              <a:rPr sz="2000" dirty="0">
                <a:latin typeface="Calibri"/>
                <a:cs typeface="Calibri"/>
              </a:rPr>
              <a:t>Develop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series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will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cover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graph,</a:t>
            </a:r>
            <a:endParaRPr sz="2000">
              <a:latin typeface="Calibri"/>
              <a:cs typeface="Calibri"/>
            </a:endParaRPr>
          </a:p>
          <a:p>
            <a:pPr marL="558165" marR="5080">
              <a:lnSpc>
                <a:spcPts val="1950"/>
              </a:lnSpc>
              <a:spcBef>
                <a:spcPts val="1939"/>
              </a:spcBef>
            </a:pPr>
            <a:r>
              <a:rPr sz="2000" b="1" dirty="0">
                <a:latin typeface="Calibri"/>
                <a:cs typeface="Calibri"/>
              </a:rPr>
              <a:t>So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that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each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object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and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relationship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is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exercised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and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errors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spc="-25" dirty="0">
                <a:latin typeface="Calibri"/>
                <a:cs typeface="Calibri"/>
              </a:rPr>
              <a:t>are </a:t>
            </a:r>
            <a:r>
              <a:rPr sz="2000" b="1" spc="-10" dirty="0">
                <a:latin typeface="Calibri"/>
                <a:cs typeface="Calibri"/>
              </a:rPr>
              <a:t>uncovered.</a:t>
            </a:r>
            <a:endParaRPr sz="2000">
              <a:latin typeface="Calibri"/>
              <a:cs typeface="Calibri"/>
            </a:endParaRPr>
          </a:p>
          <a:p>
            <a:pPr marL="100965">
              <a:lnSpc>
                <a:spcPts val="1735"/>
              </a:lnSpc>
            </a:pPr>
            <a:r>
              <a:rPr sz="2000" b="1" dirty="0">
                <a:latin typeface="Calibri"/>
                <a:cs typeface="Calibri"/>
              </a:rPr>
              <a:t>Begin</a:t>
            </a:r>
            <a:r>
              <a:rPr sz="2000" b="1" spc="-7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by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creating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graph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b="1" spc="-50" dirty="0">
                <a:latin typeface="Calibri"/>
                <a:cs typeface="Calibri"/>
              </a:rPr>
              <a:t>–</a:t>
            </a:r>
            <a:endParaRPr sz="2000">
              <a:latin typeface="Calibri"/>
              <a:cs typeface="Calibri"/>
            </a:endParaRPr>
          </a:p>
          <a:p>
            <a:pPr marL="615315" indent="-145415">
              <a:lnSpc>
                <a:spcPts val="1950"/>
              </a:lnSpc>
              <a:buFont typeface="Arial MT"/>
              <a:buChar char="•"/>
              <a:tabLst>
                <a:tab pos="615315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collection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nodes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represent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objects</a:t>
            </a:r>
            <a:endParaRPr sz="2000">
              <a:latin typeface="Calibri"/>
              <a:cs typeface="Calibri"/>
            </a:endParaRPr>
          </a:p>
          <a:p>
            <a:pPr marL="615315" indent="-145415">
              <a:lnSpc>
                <a:spcPts val="1950"/>
              </a:lnSpc>
              <a:buFont typeface="Arial"/>
              <a:buChar char="•"/>
              <a:tabLst>
                <a:tab pos="615315" algn="l"/>
              </a:tabLst>
            </a:pPr>
            <a:r>
              <a:rPr sz="2000" b="1" dirty="0">
                <a:latin typeface="Calibri"/>
                <a:cs typeface="Calibri"/>
              </a:rPr>
              <a:t>links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represent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relationships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between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objects</a:t>
            </a:r>
            <a:endParaRPr sz="2000">
              <a:latin typeface="Calibri"/>
              <a:cs typeface="Calibri"/>
            </a:endParaRPr>
          </a:p>
          <a:p>
            <a:pPr marL="615315" indent="-145415">
              <a:lnSpc>
                <a:spcPts val="1950"/>
              </a:lnSpc>
              <a:buFont typeface="Arial MT"/>
              <a:buChar char="•"/>
              <a:tabLst>
                <a:tab pos="615315" algn="l"/>
              </a:tabLst>
            </a:pPr>
            <a:r>
              <a:rPr sz="2000" b="1" dirty="0">
                <a:latin typeface="Calibri"/>
                <a:cs typeface="Calibri"/>
              </a:rPr>
              <a:t>node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weights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describe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properties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node</a:t>
            </a:r>
            <a:endParaRPr sz="2000">
              <a:latin typeface="Calibri"/>
              <a:cs typeface="Calibri"/>
            </a:endParaRPr>
          </a:p>
          <a:p>
            <a:pPr marL="558165" indent="-101600">
              <a:lnSpc>
                <a:spcPts val="2175"/>
              </a:lnSpc>
              <a:buSzPct val="95000"/>
              <a:buFont typeface="Arial MT"/>
              <a:buChar char="•"/>
              <a:tabLst>
                <a:tab pos="558165" algn="l"/>
              </a:tabLst>
            </a:pPr>
            <a:r>
              <a:rPr sz="2000" u="heavy" spc="-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Calibri"/>
                <a:cs typeface="Calibri"/>
              </a:rPr>
              <a:t>link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weights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describe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some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characteristic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link.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7375" y="3071813"/>
            <a:ext cx="5430838" cy="280352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556791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5376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Continue…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5536" y="2492896"/>
            <a:ext cx="8229599" cy="369069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501009" y="6183591"/>
            <a:ext cx="2356991" cy="23397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b="1" dirty="0">
                <a:latin typeface="Calibri"/>
                <a:cs typeface="Calibri"/>
              </a:rPr>
              <a:t>Figure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6.4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Graph notation</a:t>
            </a:r>
            <a:endParaRPr sz="1400" dirty="0">
              <a:latin typeface="Calibri"/>
              <a:cs typeface="Calibri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AB60102-0E84-283E-03E6-2F3C27936738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41C93BD-C264-0498-1FA6-A9C98530DAD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6DBDA95-242C-44A3-F2C0-A719B3ECD696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3" name="object 3">
            <a:extLst>
              <a:ext uri="{FF2B5EF4-FFF2-40B4-BE49-F238E27FC236}">
                <a16:creationId xmlns:a16="http://schemas.microsoft.com/office/drawing/2014/main" id="{B38CEF61-FD4C-D3F0-7389-2999D1C82780}"/>
              </a:ext>
            </a:extLst>
          </p:cNvPr>
          <p:cNvSpPr/>
          <p:nvPr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56791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3525" y="1697673"/>
            <a:ext cx="86169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5376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Continue…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93899" y="2764875"/>
            <a:ext cx="7315200" cy="272478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19380" marR="160655" indent="-88900">
              <a:lnSpc>
                <a:spcPts val="2620"/>
              </a:lnSpc>
              <a:spcBef>
                <a:spcPts val="405"/>
              </a:spcBef>
              <a:buSzPct val="83333"/>
              <a:buFont typeface="Arial MT"/>
              <a:buChar char="•"/>
              <a:tabLst>
                <a:tab pos="119380" algn="l"/>
                <a:tab pos="175895" algn="l"/>
              </a:tabLst>
            </a:pPr>
            <a:r>
              <a:rPr sz="2400" dirty="0">
                <a:latin typeface="Calibri"/>
                <a:cs typeface="Calibri"/>
              </a:rPr>
              <a:t>Nodes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circles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connected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links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that </a:t>
            </a:r>
            <a:r>
              <a:rPr sz="2400" dirty="0">
                <a:latin typeface="Calibri"/>
                <a:cs typeface="Calibri"/>
              </a:rPr>
              <a:t>take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different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forms.</a:t>
            </a:r>
            <a:endParaRPr sz="2400">
              <a:latin typeface="Calibri"/>
              <a:cs typeface="Calibri"/>
            </a:endParaRPr>
          </a:p>
          <a:p>
            <a:pPr marL="119380" marR="5080" indent="-107314">
              <a:lnSpc>
                <a:spcPts val="2630"/>
              </a:lnSpc>
              <a:buFont typeface="Arial MT"/>
              <a:buChar char="•"/>
              <a:tabLst>
                <a:tab pos="119380" algn="l"/>
                <a:tab pos="186690" algn="l"/>
              </a:tabLst>
            </a:pPr>
            <a:r>
              <a:rPr sz="2400" dirty="0">
                <a:latin typeface="Calibri"/>
                <a:cs typeface="Calibri"/>
              </a:rPr>
              <a:t>	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directed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link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(represented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arrow)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indicates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relationship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moves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only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direction.</a:t>
            </a:r>
            <a:endParaRPr sz="2400">
              <a:latin typeface="Calibri"/>
              <a:cs typeface="Calibri"/>
            </a:endParaRPr>
          </a:p>
          <a:p>
            <a:pPr marL="187325" indent="-174625">
              <a:lnSpc>
                <a:spcPts val="2445"/>
              </a:lnSpc>
              <a:buFont typeface="Arial MT"/>
              <a:buChar char="•"/>
              <a:tabLst>
                <a:tab pos="187325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bidirectional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link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symmetric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link,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implies</a:t>
            </a:r>
            <a:endParaRPr sz="2400">
              <a:latin typeface="Calibri"/>
              <a:cs typeface="Calibri"/>
            </a:endParaRPr>
          </a:p>
          <a:p>
            <a:pPr marL="119380">
              <a:lnSpc>
                <a:spcPts val="2625"/>
              </a:lnSpc>
            </a:pPr>
            <a:r>
              <a:rPr sz="2400" dirty="0">
                <a:latin typeface="Calibri"/>
                <a:cs typeface="Calibri"/>
              </a:rPr>
              <a:t>that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relationship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applies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both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directions.</a:t>
            </a:r>
            <a:endParaRPr sz="2400">
              <a:latin typeface="Calibri"/>
              <a:cs typeface="Calibri"/>
            </a:endParaRPr>
          </a:p>
          <a:p>
            <a:pPr marL="119380" marR="798195" indent="-107314">
              <a:lnSpc>
                <a:spcPts val="2630"/>
              </a:lnSpc>
              <a:spcBef>
                <a:spcPts val="170"/>
              </a:spcBef>
              <a:buFont typeface="Arial MT"/>
              <a:buChar char="•"/>
              <a:tabLst>
                <a:tab pos="119380" algn="l"/>
                <a:tab pos="186690" algn="l"/>
              </a:tabLst>
            </a:pPr>
            <a:r>
              <a:rPr sz="2400" dirty="0">
                <a:latin typeface="Calibri"/>
                <a:cs typeface="Calibri"/>
              </a:rPr>
              <a:t>	</a:t>
            </a:r>
            <a:r>
              <a:rPr sz="2400" b="1" dirty="0">
                <a:latin typeface="Calibri"/>
                <a:cs typeface="Calibri"/>
              </a:rPr>
              <a:t>Parallel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links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different </a:t>
            </a:r>
            <a:r>
              <a:rPr sz="2400" dirty="0">
                <a:latin typeface="Calibri"/>
                <a:cs typeface="Calibri"/>
              </a:rPr>
              <a:t>relationships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established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graph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nodes.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7375" y="3071813"/>
            <a:ext cx="5430838" cy="280352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556791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5376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Continue…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3568" y="2636912"/>
            <a:ext cx="7704856" cy="316835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484785" y="6111583"/>
            <a:ext cx="3230215" cy="23397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algn="ctr">
              <a:lnSpc>
                <a:spcPts val="1650"/>
              </a:lnSpc>
              <a:spcBef>
                <a:spcPts val="180"/>
              </a:spcBef>
            </a:pPr>
            <a:r>
              <a:rPr sz="1400" b="1" dirty="0">
                <a:latin typeface="Calibri"/>
                <a:cs typeface="Calibri"/>
              </a:rPr>
              <a:t>Figure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6.5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Simple example</a:t>
            </a:r>
            <a:endParaRPr sz="1400" dirty="0">
              <a:latin typeface="Calibri"/>
              <a:cs typeface="Calibri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BDE61EB-D56F-7D40-9245-AD731C723AC5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E26FE02-D8E2-0220-2EB4-118EC2861CC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BEC9E36-F735-2F3B-9EB7-EAF7F7D63FF2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2" name="object 3">
            <a:extLst>
              <a:ext uri="{FF2B5EF4-FFF2-40B4-BE49-F238E27FC236}">
                <a16:creationId xmlns:a16="http://schemas.microsoft.com/office/drawing/2014/main" id="{1475A154-FC4A-DBD2-8EA1-A35BDFCA3611}"/>
              </a:ext>
            </a:extLst>
          </p:cNvPr>
          <p:cNvSpPr/>
          <p:nvPr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56791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3525" y="1697673"/>
            <a:ext cx="86169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5376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Continue…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67702" y="2339736"/>
            <a:ext cx="8137525" cy="3644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115" indent="-145415">
              <a:lnSpc>
                <a:spcPts val="2290"/>
              </a:lnSpc>
              <a:spcBef>
                <a:spcPts val="100"/>
              </a:spcBef>
              <a:buFont typeface="Arial MT"/>
              <a:buChar char="•"/>
              <a:tabLst>
                <a:tab pos="158115" algn="l"/>
              </a:tabLst>
            </a:pPr>
            <a:r>
              <a:rPr sz="2000" dirty="0">
                <a:latin typeface="Calibri"/>
                <a:cs typeface="Calibri"/>
              </a:rPr>
              <a:t>Object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#1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new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file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menu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select</a:t>
            </a:r>
            <a:endParaRPr sz="2000">
              <a:latin typeface="Calibri"/>
              <a:cs typeface="Calibri"/>
            </a:endParaRPr>
          </a:p>
          <a:p>
            <a:pPr marL="158115" indent="-145415">
              <a:lnSpc>
                <a:spcPts val="2175"/>
              </a:lnSpc>
              <a:buFont typeface="Arial MT"/>
              <a:buChar char="•"/>
              <a:tabLst>
                <a:tab pos="158115" algn="l"/>
              </a:tabLst>
            </a:pPr>
            <a:r>
              <a:rPr sz="2000" dirty="0">
                <a:latin typeface="Calibri"/>
                <a:cs typeface="Calibri"/>
              </a:rPr>
              <a:t>Object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#2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document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window</a:t>
            </a:r>
            <a:endParaRPr sz="2000">
              <a:latin typeface="Calibri"/>
              <a:cs typeface="Calibri"/>
            </a:endParaRPr>
          </a:p>
          <a:p>
            <a:pPr marL="158115" indent="-145415">
              <a:lnSpc>
                <a:spcPts val="2175"/>
              </a:lnSpc>
              <a:buFont typeface="Arial MT"/>
              <a:buChar char="•"/>
              <a:tabLst>
                <a:tab pos="158115" algn="l"/>
              </a:tabLst>
            </a:pPr>
            <a:r>
              <a:rPr sz="2000" dirty="0">
                <a:latin typeface="Calibri"/>
                <a:cs typeface="Calibri"/>
              </a:rPr>
              <a:t>Object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#3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document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text</a:t>
            </a:r>
            <a:endParaRPr sz="2000">
              <a:latin typeface="Calibri"/>
              <a:cs typeface="Calibri"/>
            </a:endParaRPr>
          </a:p>
          <a:p>
            <a:pPr marL="100965" marR="23495">
              <a:lnSpc>
                <a:spcPts val="2180"/>
              </a:lnSpc>
              <a:spcBef>
                <a:spcPts val="140"/>
              </a:spcBef>
            </a:pPr>
            <a:r>
              <a:rPr sz="2000" spc="-10" dirty="0">
                <a:latin typeface="Calibri"/>
                <a:cs typeface="Calibri"/>
              </a:rPr>
              <a:t>Referring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example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figure,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menu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select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new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file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generates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document window.</a:t>
            </a:r>
            <a:endParaRPr sz="2000">
              <a:latin typeface="Calibri"/>
              <a:cs typeface="Calibri"/>
            </a:endParaRPr>
          </a:p>
          <a:p>
            <a:pPr marL="158115" indent="-145415">
              <a:lnSpc>
                <a:spcPts val="2020"/>
              </a:lnSpc>
              <a:buFont typeface="Arial MT"/>
              <a:buChar char="•"/>
              <a:tabLst>
                <a:tab pos="158115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link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weight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indicates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window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must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generated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less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1.0</a:t>
            </a:r>
            <a:endParaRPr sz="2000">
              <a:latin typeface="Calibri"/>
              <a:cs typeface="Calibri"/>
            </a:endParaRPr>
          </a:p>
          <a:p>
            <a:pPr marL="100965">
              <a:lnSpc>
                <a:spcPts val="2175"/>
              </a:lnSpc>
            </a:pPr>
            <a:r>
              <a:rPr sz="2000" spc="-10" dirty="0">
                <a:latin typeface="Calibri"/>
                <a:cs typeface="Calibri"/>
              </a:rPr>
              <a:t>second.</a:t>
            </a:r>
            <a:endParaRPr sz="2000">
              <a:latin typeface="Calibri"/>
              <a:cs typeface="Calibri"/>
            </a:endParaRPr>
          </a:p>
          <a:p>
            <a:pPr marL="100965" marR="902969" indent="-88900">
              <a:lnSpc>
                <a:spcPts val="2180"/>
              </a:lnSpc>
              <a:spcBef>
                <a:spcPts val="145"/>
              </a:spcBef>
              <a:buFont typeface="Arial MT"/>
              <a:buChar char="•"/>
              <a:tabLst>
                <a:tab pos="100965" algn="l"/>
                <a:tab pos="157480" algn="l"/>
              </a:tabLst>
            </a:pPr>
            <a:r>
              <a:rPr sz="2000" dirty="0">
                <a:latin typeface="Calibri"/>
                <a:cs typeface="Calibri"/>
              </a:rPr>
              <a:t>	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weight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document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window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provides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list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window attributes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expected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window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generated.</a:t>
            </a:r>
            <a:endParaRPr sz="2000">
              <a:latin typeface="Calibri"/>
              <a:cs typeface="Calibri"/>
            </a:endParaRPr>
          </a:p>
          <a:p>
            <a:pPr marL="158115" indent="-145415">
              <a:lnSpc>
                <a:spcPts val="2020"/>
              </a:lnSpc>
              <a:buFont typeface="Arial MT"/>
              <a:buChar char="•"/>
              <a:tabLst>
                <a:tab pos="158115" algn="l"/>
              </a:tabLst>
            </a:pPr>
            <a:r>
              <a:rPr sz="2000" dirty="0">
                <a:latin typeface="Calibri"/>
                <a:cs typeface="Calibri"/>
              </a:rPr>
              <a:t>An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undirected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link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establishes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symmetric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relationship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between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new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file</a:t>
            </a:r>
            <a:endParaRPr sz="2000">
              <a:latin typeface="Calibri"/>
              <a:cs typeface="Calibri"/>
            </a:endParaRPr>
          </a:p>
          <a:p>
            <a:pPr marL="100965">
              <a:lnSpc>
                <a:spcPts val="2175"/>
              </a:lnSpc>
            </a:pPr>
            <a:r>
              <a:rPr sz="2000" b="1" dirty="0">
                <a:latin typeface="Calibri"/>
                <a:cs typeface="Calibri"/>
              </a:rPr>
              <a:t>menu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select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document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text,</a:t>
            </a:r>
            <a:endParaRPr sz="2000">
              <a:latin typeface="Calibri"/>
              <a:cs typeface="Calibri"/>
            </a:endParaRPr>
          </a:p>
          <a:p>
            <a:pPr marL="158115" indent="-145415">
              <a:lnSpc>
                <a:spcPts val="2175"/>
              </a:lnSpc>
              <a:buFont typeface="Arial MT"/>
              <a:buChar char="•"/>
              <a:tabLst>
                <a:tab pos="158115" algn="l"/>
              </a:tabLst>
            </a:pPr>
            <a:r>
              <a:rPr sz="2000" dirty="0">
                <a:latin typeface="Calibri"/>
                <a:cs typeface="Calibri"/>
              </a:rPr>
              <a:t>parallel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links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indicate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relationships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between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document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window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and</a:t>
            </a:r>
            <a:endParaRPr sz="2000">
              <a:latin typeface="Calibri"/>
              <a:cs typeface="Calibri"/>
            </a:endParaRPr>
          </a:p>
          <a:p>
            <a:pPr marL="100965">
              <a:lnSpc>
                <a:spcPts val="2290"/>
              </a:lnSpc>
            </a:pPr>
            <a:r>
              <a:rPr sz="2000" b="1" spc="-10" dirty="0">
                <a:latin typeface="Calibri"/>
                <a:cs typeface="Calibri"/>
              </a:rPr>
              <a:t>document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text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56791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3525" y="1697673"/>
            <a:ext cx="86169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5376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Continue…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51678" y="2324541"/>
            <a:ext cx="8444230" cy="3921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115" indent="-145415" algn="just">
              <a:lnSpc>
                <a:spcPts val="2290"/>
              </a:lnSpc>
              <a:spcBef>
                <a:spcPts val="100"/>
              </a:spcBef>
              <a:buFont typeface="Arial MT"/>
              <a:buChar char="•"/>
              <a:tabLst>
                <a:tab pos="158115" algn="l"/>
              </a:tabLst>
            </a:pPr>
            <a:r>
              <a:rPr sz="2000" dirty="0">
                <a:latin typeface="Calibri"/>
                <a:cs typeface="Calibri"/>
              </a:rPr>
              <a:t>Number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behavioral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methods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make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graphs:</a:t>
            </a:r>
            <a:endParaRPr sz="2000">
              <a:latin typeface="Calibri"/>
              <a:cs typeface="Calibri"/>
            </a:endParaRPr>
          </a:p>
          <a:p>
            <a:pPr marL="100965" algn="just">
              <a:lnSpc>
                <a:spcPts val="2175"/>
              </a:lnSpc>
            </a:pPr>
            <a:r>
              <a:rPr sz="2000" b="1" dirty="0">
                <a:latin typeface="Calibri"/>
                <a:cs typeface="Calibri"/>
              </a:rPr>
              <a:t>Transaction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flow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modeling.</a:t>
            </a:r>
            <a:endParaRPr sz="2000">
              <a:latin typeface="Calibri"/>
              <a:cs typeface="Calibri"/>
            </a:endParaRPr>
          </a:p>
          <a:p>
            <a:pPr marL="556895" marR="219710" lvl="1" indent="-220345" algn="just">
              <a:lnSpc>
                <a:spcPts val="2180"/>
              </a:lnSpc>
              <a:spcBef>
                <a:spcPts val="140"/>
              </a:spcBef>
              <a:buSzPct val="95000"/>
              <a:buFont typeface="Segoe UI Symbol"/>
              <a:buChar char="▪"/>
              <a:tabLst>
                <a:tab pos="558165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represent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steps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some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transaction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links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represent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	</a:t>
            </a:r>
            <a:r>
              <a:rPr sz="2000" dirty="0">
                <a:latin typeface="Calibri"/>
                <a:cs typeface="Calibri"/>
              </a:rPr>
              <a:t>logical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connection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between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steps</a:t>
            </a:r>
            <a:endParaRPr sz="2000">
              <a:latin typeface="Calibri"/>
              <a:cs typeface="Calibri"/>
            </a:endParaRPr>
          </a:p>
          <a:p>
            <a:pPr marL="100965" algn="just">
              <a:lnSpc>
                <a:spcPts val="2020"/>
              </a:lnSpc>
            </a:pPr>
            <a:r>
              <a:rPr sz="2000" b="1" dirty="0">
                <a:latin typeface="Calibri"/>
                <a:cs typeface="Calibri"/>
              </a:rPr>
              <a:t>Finite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state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modeling.</a:t>
            </a:r>
            <a:endParaRPr sz="2000">
              <a:latin typeface="Calibri"/>
              <a:cs typeface="Calibri"/>
            </a:endParaRPr>
          </a:p>
          <a:p>
            <a:pPr marL="558165" marR="270510" lvl="1" indent="-163830" algn="just">
              <a:lnSpc>
                <a:spcPts val="2180"/>
              </a:lnSpc>
              <a:spcBef>
                <a:spcPts val="145"/>
              </a:spcBef>
              <a:buSzPct val="95000"/>
              <a:buFont typeface="Segoe UI Symbol"/>
              <a:buChar char="▪"/>
              <a:tabLst>
                <a:tab pos="558165" algn="l"/>
                <a:tab pos="614680" algn="l"/>
              </a:tabLst>
            </a:pPr>
            <a:r>
              <a:rPr sz="2000" dirty="0">
                <a:latin typeface="Calibri"/>
                <a:cs typeface="Calibri"/>
              </a:rPr>
              <a:t>	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represent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different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observable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states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software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and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links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represent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transitions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occur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move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state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state. (Starting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point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ending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point)</a:t>
            </a:r>
            <a:endParaRPr sz="2000">
              <a:latin typeface="Calibri"/>
              <a:cs typeface="Calibri"/>
            </a:endParaRPr>
          </a:p>
          <a:p>
            <a:pPr marL="100965" algn="just">
              <a:lnSpc>
                <a:spcPts val="2014"/>
              </a:lnSpc>
            </a:pPr>
            <a:r>
              <a:rPr sz="2000" b="1" dirty="0">
                <a:latin typeface="Calibri"/>
                <a:cs typeface="Calibri"/>
              </a:rPr>
              <a:t>Data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flow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modeling.</a:t>
            </a:r>
            <a:endParaRPr sz="2000">
              <a:latin typeface="Calibri"/>
              <a:cs typeface="Calibri"/>
            </a:endParaRPr>
          </a:p>
          <a:p>
            <a:pPr marL="558165" marR="42545" lvl="1" indent="-163830" algn="just">
              <a:lnSpc>
                <a:spcPts val="2170"/>
              </a:lnSpc>
              <a:spcBef>
                <a:spcPts val="150"/>
              </a:spcBef>
              <a:buSzPct val="95000"/>
              <a:buFont typeface="Segoe UI Symbol"/>
              <a:buChar char="▪"/>
              <a:tabLst>
                <a:tab pos="558165" algn="l"/>
                <a:tab pos="614680" algn="l"/>
              </a:tabLst>
            </a:pPr>
            <a:r>
              <a:rPr sz="2000" dirty="0">
                <a:latin typeface="Calibri"/>
                <a:cs typeface="Calibri"/>
              </a:rPr>
              <a:t>	The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objects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links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transformations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occur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translate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object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another.</a:t>
            </a:r>
            <a:endParaRPr sz="2000">
              <a:latin typeface="Calibri"/>
              <a:cs typeface="Calibri"/>
            </a:endParaRPr>
          </a:p>
          <a:p>
            <a:pPr marL="100965" algn="just">
              <a:lnSpc>
                <a:spcPts val="2035"/>
              </a:lnSpc>
            </a:pPr>
            <a:r>
              <a:rPr sz="2000" b="1" dirty="0">
                <a:latin typeface="Calibri"/>
                <a:cs typeface="Calibri"/>
              </a:rPr>
              <a:t>Timing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modeling.</a:t>
            </a:r>
            <a:endParaRPr sz="2000">
              <a:latin typeface="Calibri"/>
              <a:cs typeface="Calibri"/>
            </a:endParaRPr>
          </a:p>
          <a:p>
            <a:pPr marL="558165" marR="5080" lvl="1" indent="-163830" algn="just">
              <a:lnSpc>
                <a:spcPts val="2180"/>
              </a:lnSpc>
              <a:spcBef>
                <a:spcPts val="145"/>
              </a:spcBef>
              <a:buSzPct val="95000"/>
              <a:buFont typeface="Segoe UI Symbol"/>
              <a:buChar char="▪"/>
              <a:tabLst>
                <a:tab pos="558165" algn="l"/>
                <a:tab pos="614680" algn="l"/>
              </a:tabLst>
            </a:pPr>
            <a:r>
              <a:rPr sz="2000" dirty="0">
                <a:latin typeface="Calibri"/>
                <a:cs typeface="Calibri"/>
              </a:rPr>
              <a:t>	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program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objects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links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sequential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connections </a:t>
            </a:r>
            <a:r>
              <a:rPr sz="2000" dirty="0">
                <a:latin typeface="Calibri"/>
                <a:cs typeface="Calibri"/>
              </a:rPr>
              <a:t>between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those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objects.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56791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3525" y="1697673"/>
            <a:ext cx="86169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829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White-</a:t>
            </a:r>
            <a:r>
              <a:rPr dirty="0"/>
              <a:t>Box</a:t>
            </a:r>
            <a:r>
              <a:rPr spc="-30" dirty="0"/>
              <a:t> </a:t>
            </a:r>
            <a:r>
              <a:rPr spc="-10" dirty="0"/>
              <a:t>testing</a:t>
            </a:r>
          </a:p>
        </p:txBody>
      </p:sp>
      <p:sp>
        <p:nvSpPr>
          <p:cNvPr id="5" name="object 5"/>
          <p:cNvSpPr/>
          <p:nvPr/>
        </p:nvSpPr>
        <p:spPr>
          <a:xfrm>
            <a:off x="1979711" y="4869160"/>
            <a:ext cx="2619375" cy="1019175"/>
          </a:xfrm>
          <a:custGeom>
            <a:avLst/>
            <a:gdLst/>
            <a:ahLst/>
            <a:cxnLst/>
            <a:rect l="l" t="t" r="r" b="b"/>
            <a:pathLst>
              <a:path w="2619375" h="1019175">
                <a:moveTo>
                  <a:pt x="0" y="0"/>
                </a:moveTo>
                <a:lnTo>
                  <a:pt x="2619374" y="0"/>
                </a:lnTo>
                <a:lnTo>
                  <a:pt x="2619374" y="1019174"/>
                </a:lnTo>
                <a:lnTo>
                  <a:pt x="0" y="1019174"/>
                </a:lnTo>
                <a:lnTo>
                  <a:pt x="0" y="0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435997" y="4872258"/>
            <a:ext cx="163639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4190" marR="5080" indent="-491490">
              <a:lnSpc>
                <a:spcPct val="113199"/>
              </a:lnSpc>
              <a:spcBef>
                <a:spcPts val="100"/>
              </a:spcBef>
            </a:pPr>
            <a:r>
              <a:rPr sz="2650" spc="-10" dirty="0">
                <a:latin typeface="Calibri"/>
                <a:cs typeface="Calibri"/>
              </a:rPr>
              <a:t>Component </a:t>
            </a:r>
            <a:r>
              <a:rPr sz="2650" spc="-20" dirty="0">
                <a:latin typeface="Calibri"/>
                <a:cs typeface="Calibri"/>
              </a:rPr>
              <a:t>code</a:t>
            </a:r>
            <a:endParaRPr sz="265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957415" y="4896146"/>
            <a:ext cx="2719070" cy="835025"/>
          </a:xfrm>
          <a:custGeom>
            <a:avLst/>
            <a:gdLst/>
            <a:ahLst/>
            <a:cxnLst/>
            <a:rect l="l" t="t" r="r" b="b"/>
            <a:pathLst>
              <a:path w="2719070" h="835025">
                <a:moveTo>
                  <a:pt x="0" y="0"/>
                </a:moveTo>
                <a:lnTo>
                  <a:pt x="2719040" y="0"/>
                </a:lnTo>
                <a:lnTo>
                  <a:pt x="2719040" y="834842"/>
                </a:lnTo>
                <a:lnTo>
                  <a:pt x="0" y="834842"/>
                </a:lnTo>
                <a:lnTo>
                  <a:pt x="0" y="0"/>
                </a:lnTo>
                <a:close/>
              </a:path>
            </a:pathLst>
          </a:custGeom>
          <a:ln w="539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743546" y="4873795"/>
            <a:ext cx="109029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26695">
              <a:lnSpc>
                <a:spcPct val="113199"/>
              </a:lnSpc>
              <a:spcBef>
                <a:spcPts val="100"/>
              </a:spcBef>
            </a:pPr>
            <a:r>
              <a:rPr sz="2650" spc="-20" dirty="0">
                <a:latin typeface="Calibri"/>
                <a:cs typeface="Calibri"/>
              </a:rPr>
              <a:t>Test </a:t>
            </a:r>
            <a:r>
              <a:rPr sz="2650" spc="-10" dirty="0">
                <a:latin typeface="Calibri"/>
                <a:cs typeface="Calibri"/>
              </a:rPr>
              <a:t>outputs</a:t>
            </a:r>
            <a:endParaRPr sz="26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79711" y="2420888"/>
            <a:ext cx="2565400" cy="592455"/>
          </a:xfrm>
          <a:prstGeom prst="rect">
            <a:avLst/>
          </a:prstGeom>
          <a:ln w="53974">
            <a:solidFill>
              <a:srgbClr val="000000"/>
            </a:solidFill>
          </a:ln>
        </p:spPr>
        <p:txBody>
          <a:bodyPr vert="horz" wrap="square" lIns="0" tIns="167005" rIns="0" bIns="0" rtlCol="0">
            <a:spAutoFit/>
          </a:bodyPr>
          <a:lstStyle/>
          <a:p>
            <a:pPr marL="665480">
              <a:lnSpc>
                <a:spcPct val="100000"/>
              </a:lnSpc>
              <a:spcBef>
                <a:spcPts val="1315"/>
              </a:spcBef>
            </a:pPr>
            <a:r>
              <a:rPr sz="2650" dirty="0">
                <a:latin typeface="Calibri"/>
                <a:cs typeface="Calibri"/>
              </a:rPr>
              <a:t>Test</a:t>
            </a:r>
            <a:r>
              <a:rPr sz="2650" spc="-20" dirty="0">
                <a:latin typeface="Calibri"/>
                <a:cs typeface="Calibri"/>
              </a:rPr>
              <a:t> data</a:t>
            </a:r>
            <a:endParaRPr sz="26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63351" y="3838924"/>
            <a:ext cx="1045844" cy="4292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spc="-10" dirty="0">
                <a:latin typeface="Calibri"/>
                <a:cs typeface="Calibri"/>
              </a:rPr>
              <a:t>Derives</a:t>
            </a:r>
            <a:endParaRPr sz="26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9598" y="3801648"/>
            <a:ext cx="600075" cy="4292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spc="-20" dirty="0">
                <a:latin typeface="Calibri"/>
                <a:cs typeface="Calibri"/>
              </a:rPr>
              <a:t>Test</a:t>
            </a:r>
            <a:endParaRPr sz="26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9598" y="4201698"/>
            <a:ext cx="157480" cy="4292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spc="-50" dirty="0">
                <a:latin typeface="Calibri"/>
                <a:cs typeface="Calibri"/>
              </a:rPr>
              <a:t>s</a:t>
            </a:r>
            <a:endParaRPr sz="265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141" y="2743497"/>
            <a:ext cx="1098550" cy="1168400"/>
          </a:xfrm>
          <a:custGeom>
            <a:avLst/>
            <a:gdLst/>
            <a:ahLst/>
            <a:cxnLst/>
            <a:rect l="l" t="t" r="r" b="b"/>
            <a:pathLst>
              <a:path w="1098550" h="1168400">
                <a:moveTo>
                  <a:pt x="1098549" y="0"/>
                </a:moveTo>
                <a:lnTo>
                  <a:pt x="0" y="0"/>
                </a:lnTo>
                <a:lnTo>
                  <a:pt x="0" y="1168399"/>
                </a:lnTo>
              </a:path>
            </a:pathLst>
          </a:custGeom>
          <a:ln w="539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3203480" y="3049279"/>
            <a:ext cx="123825" cy="758825"/>
            <a:chOff x="3203480" y="3049279"/>
            <a:chExt cx="123825" cy="758825"/>
          </a:xfrm>
        </p:grpSpPr>
        <p:sp>
          <p:nvSpPr>
            <p:cNvPr id="15" name="object 15"/>
            <p:cNvSpPr/>
            <p:nvPr/>
          </p:nvSpPr>
          <p:spPr>
            <a:xfrm>
              <a:off x="3264626" y="3143192"/>
              <a:ext cx="11430" cy="646430"/>
            </a:xfrm>
            <a:custGeom>
              <a:avLst/>
              <a:gdLst/>
              <a:ahLst/>
              <a:cxnLst/>
              <a:rect l="l" t="t" r="r" b="b"/>
              <a:pathLst>
                <a:path w="11429" h="646429">
                  <a:moveTo>
                    <a:pt x="11229" y="645847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03480" y="3049279"/>
              <a:ext cx="123780" cy="156547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809153" y="4224634"/>
            <a:ext cx="5175250" cy="1301750"/>
            <a:chOff x="809153" y="4224634"/>
            <a:chExt cx="5175250" cy="1301750"/>
          </a:xfrm>
        </p:grpSpPr>
        <p:sp>
          <p:nvSpPr>
            <p:cNvPr id="18" name="object 18"/>
            <p:cNvSpPr/>
            <p:nvPr/>
          </p:nvSpPr>
          <p:spPr>
            <a:xfrm>
              <a:off x="1442566" y="5235871"/>
              <a:ext cx="492125" cy="263525"/>
            </a:xfrm>
            <a:custGeom>
              <a:avLst/>
              <a:gdLst/>
              <a:ahLst/>
              <a:cxnLst/>
              <a:rect l="l" t="t" r="r" b="b"/>
              <a:pathLst>
                <a:path w="492125" h="263525">
                  <a:moveTo>
                    <a:pt x="0" y="263524"/>
                  </a:moveTo>
                  <a:lnTo>
                    <a:pt x="114299" y="149224"/>
                  </a:lnTo>
                  <a:lnTo>
                    <a:pt x="0" y="0"/>
                  </a:lnTo>
                  <a:lnTo>
                    <a:pt x="492124" y="149224"/>
                  </a:lnTo>
                  <a:lnTo>
                    <a:pt x="0" y="263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36141" y="4251621"/>
              <a:ext cx="1098550" cy="1247775"/>
            </a:xfrm>
            <a:custGeom>
              <a:avLst/>
              <a:gdLst/>
              <a:ahLst/>
              <a:cxnLst/>
              <a:rect l="l" t="t" r="r" b="b"/>
              <a:pathLst>
                <a:path w="1098550" h="1247775">
                  <a:moveTo>
                    <a:pt x="720724" y="1133474"/>
                  </a:moveTo>
                  <a:lnTo>
                    <a:pt x="606424" y="984249"/>
                  </a:lnTo>
                  <a:lnTo>
                    <a:pt x="1098549" y="1133474"/>
                  </a:lnTo>
                  <a:lnTo>
                    <a:pt x="606424" y="1247774"/>
                  </a:lnTo>
                  <a:lnTo>
                    <a:pt x="720724" y="1133474"/>
                  </a:lnTo>
                  <a:close/>
                </a:path>
                <a:path w="1098550" h="1247775">
                  <a:moveTo>
                    <a:pt x="0" y="0"/>
                  </a:moveTo>
                  <a:lnTo>
                    <a:pt x="0" y="1133474"/>
                  </a:lnTo>
                  <a:lnTo>
                    <a:pt x="835024" y="1133474"/>
                  </a:lnTo>
                </a:path>
              </a:pathLst>
            </a:custGeom>
            <a:ln w="539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503391" y="5235871"/>
              <a:ext cx="454025" cy="263525"/>
            </a:xfrm>
            <a:custGeom>
              <a:avLst/>
              <a:gdLst/>
              <a:ahLst/>
              <a:cxnLst/>
              <a:rect l="l" t="t" r="r" b="b"/>
              <a:pathLst>
                <a:path w="454025" h="263525">
                  <a:moveTo>
                    <a:pt x="0" y="263524"/>
                  </a:moveTo>
                  <a:lnTo>
                    <a:pt x="76199" y="149224"/>
                  </a:lnTo>
                  <a:lnTo>
                    <a:pt x="0" y="0"/>
                  </a:lnTo>
                  <a:lnTo>
                    <a:pt x="454024" y="149224"/>
                  </a:lnTo>
                  <a:lnTo>
                    <a:pt x="0" y="263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15966" y="5235871"/>
              <a:ext cx="1441450" cy="263525"/>
            </a:xfrm>
            <a:custGeom>
              <a:avLst/>
              <a:gdLst/>
              <a:ahLst/>
              <a:cxnLst/>
              <a:rect l="l" t="t" r="r" b="b"/>
              <a:pathLst>
                <a:path w="1441450" h="263525">
                  <a:moveTo>
                    <a:pt x="1063624" y="149224"/>
                  </a:moveTo>
                  <a:lnTo>
                    <a:pt x="987424" y="0"/>
                  </a:lnTo>
                  <a:lnTo>
                    <a:pt x="1441449" y="149224"/>
                  </a:lnTo>
                  <a:lnTo>
                    <a:pt x="987424" y="263524"/>
                  </a:lnTo>
                  <a:lnTo>
                    <a:pt x="1063624" y="149224"/>
                  </a:lnTo>
                  <a:close/>
                </a:path>
                <a:path w="1441450" h="263525">
                  <a:moveTo>
                    <a:pt x="0" y="149224"/>
                  </a:moveTo>
                  <a:lnTo>
                    <a:pt x="1139824" y="149224"/>
                  </a:lnTo>
                </a:path>
              </a:pathLst>
            </a:custGeom>
            <a:ln w="539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275856" y="4293095"/>
              <a:ext cx="6985" cy="584835"/>
            </a:xfrm>
            <a:custGeom>
              <a:avLst/>
              <a:gdLst/>
              <a:ahLst/>
              <a:cxnLst/>
              <a:rect l="l" t="t" r="r" b="b"/>
              <a:pathLst>
                <a:path w="6985" h="584835">
                  <a:moveTo>
                    <a:pt x="0" y="0"/>
                  </a:moveTo>
                  <a:lnTo>
                    <a:pt x="6461" y="58433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700809" y="6183591"/>
            <a:ext cx="334517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Calibri"/>
                <a:cs typeface="Calibri"/>
              </a:rPr>
              <a:t>Figure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6.6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Architecture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of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White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–Box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testing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56791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3525" y="1697673"/>
            <a:ext cx="86169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5376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Continue…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95694" y="2580144"/>
            <a:ext cx="7104380" cy="3378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115" indent="-1454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58115" algn="l"/>
              </a:tabLst>
            </a:pPr>
            <a:r>
              <a:rPr sz="2000" spc="-10" dirty="0">
                <a:latin typeface="Calibri"/>
                <a:cs typeface="Calibri"/>
              </a:rPr>
              <a:t>White-</a:t>
            </a:r>
            <a:r>
              <a:rPr sz="2000" dirty="0">
                <a:latin typeface="Calibri"/>
                <a:cs typeface="Calibri"/>
              </a:rPr>
              <a:t>box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testing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case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design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method</a:t>
            </a:r>
            <a:endParaRPr sz="2000">
              <a:latin typeface="Calibri"/>
              <a:cs typeface="Calibri"/>
            </a:endParaRPr>
          </a:p>
          <a:p>
            <a:pPr marL="100965" marR="234315" indent="-88900">
              <a:lnSpc>
                <a:spcPct val="100000"/>
              </a:lnSpc>
              <a:buFont typeface="Arial MT"/>
              <a:buChar char="•"/>
              <a:tabLst>
                <a:tab pos="100965" algn="l"/>
                <a:tab pos="157480" algn="l"/>
              </a:tabLst>
            </a:pPr>
            <a:r>
              <a:rPr sz="2000" dirty="0">
                <a:latin typeface="Calibri"/>
                <a:cs typeface="Calibri"/>
              </a:rPr>
              <a:t>	Uses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control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structure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procedural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design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derive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test </a:t>
            </a:r>
            <a:r>
              <a:rPr sz="2000" spc="-10" dirty="0">
                <a:latin typeface="Calibri"/>
                <a:cs typeface="Calibri"/>
              </a:rPr>
              <a:t>cases</a:t>
            </a:r>
            <a:endParaRPr sz="2000">
              <a:latin typeface="Calibri"/>
              <a:cs typeface="Calibri"/>
            </a:endParaRPr>
          </a:p>
          <a:p>
            <a:pPr marL="100965" marR="5080" indent="-88900">
              <a:lnSpc>
                <a:spcPct val="100000"/>
              </a:lnSpc>
              <a:buFont typeface="Arial MT"/>
              <a:buChar char="•"/>
              <a:tabLst>
                <a:tab pos="100965" algn="l"/>
                <a:tab pos="157480" algn="l"/>
              </a:tabLst>
            </a:pPr>
            <a:r>
              <a:rPr sz="2000" dirty="0">
                <a:latin typeface="Calibri"/>
                <a:cs typeface="Calibri"/>
              </a:rPr>
              <a:t>	Using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white-</a:t>
            </a:r>
            <a:r>
              <a:rPr sz="2000" dirty="0">
                <a:latin typeface="Calibri"/>
                <a:cs typeface="Calibri"/>
              </a:rPr>
              <a:t>box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testing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methods,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software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engineer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derive </a:t>
            </a:r>
            <a:r>
              <a:rPr sz="2000" dirty="0">
                <a:latin typeface="Calibri"/>
                <a:cs typeface="Calibri"/>
              </a:rPr>
              <a:t>test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cases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that</a:t>
            </a:r>
            <a:endParaRPr sz="2000">
              <a:latin typeface="Calibri"/>
              <a:cs typeface="Calibri"/>
            </a:endParaRPr>
          </a:p>
          <a:p>
            <a:pPr marL="100965" marR="195580" indent="-88900">
              <a:lnSpc>
                <a:spcPct val="100000"/>
              </a:lnSpc>
              <a:buFont typeface="Arial MT"/>
              <a:buChar char="•"/>
              <a:tabLst>
                <a:tab pos="100965" algn="l"/>
                <a:tab pos="157480" algn="l"/>
              </a:tabLst>
            </a:pPr>
            <a:r>
              <a:rPr sz="2000" spc="-10" dirty="0">
                <a:latin typeface="Calibri"/>
                <a:cs typeface="Calibri"/>
              </a:rPr>
              <a:t>	Guarantee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independent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paths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within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module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been </a:t>
            </a:r>
            <a:r>
              <a:rPr sz="2000" spc="-10" dirty="0">
                <a:latin typeface="Calibri"/>
                <a:cs typeface="Calibri"/>
              </a:rPr>
              <a:t>exercised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least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once</a:t>
            </a:r>
            <a:endParaRPr sz="2000">
              <a:latin typeface="Calibri"/>
              <a:cs typeface="Calibri"/>
            </a:endParaRPr>
          </a:p>
          <a:p>
            <a:pPr marL="158115" indent="-145415">
              <a:lnSpc>
                <a:spcPct val="100000"/>
              </a:lnSpc>
              <a:buFont typeface="Arial MT"/>
              <a:buChar char="•"/>
              <a:tabLst>
                <a:tab pos="158115" algn="l"/>
              </a:tabLst>
            </a:pPr>
            <a:r>
              <a:rPr sz="2000" dirty="0">
                <a:latin typeface="Calibri"/>
                <a:cs typeface="Calibri"/>
              </a:rPr>
              <a:t>Exercise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logical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decisions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their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true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false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sides</a:t>
            </a:r>
            <a:endParaRPr sz="2000">
              <a:latin typeface="Calibri"/>
              <a:cs typeface="Calibri"/>
            </a:endParaRPr>
          </a:p>
          <a:p>
            <a:pPr marL="100965" marR="231140" indent="-88900">
              <a:lnSpc>
                <a:spcPct val="100000"/>
              </a:lnSpc>
              <a:buFont typeface="Arial MT"/>
              <a:buChar char="•"/>
              <a:tabLst>
                <a:tab pos="100965" algn="l"/>
                <a:tab pos="157480" algn="l"/>
              </a:tabLst>
            </a:pPr>
            <a:r>
              <a:rPr sz="2000" dirty="0">
                <a:latin typeface="Calibri"/>
                <a:cs typeface="Calibri"/>
              </a:rPr>
              <a:t>	Execute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loops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their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boundaries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within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their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operational bounds</a:t>
            </a:r>
            <a:endParaRPr sz="2000">
              <a:latin typeface="Calibri"/>
              <a:cs typeface="Calibri"/>
            </a:endParaRPr>
          </a:p>
          <a:p>
            <a:pPr marL="214629" indent="-201930">
              <a:lnSpc>
                <a:spcPct val="100000"/>
              </a:lnSpc>
              <a:buFont typeface="Arial MT"/>
              <a:buChar char="•"/>
              <a:tabLst>
                <a:tab pos="214629" algn="l"/>
              </a:tabLst>
            </a:pPr>
            <a:r>
              <a:rPr sz="2000" dirty="0">
                <a:latin typeface="Calibri"/>
                <a:cs typeface="Calibri"/>
              </a:rPr>
              <a:t>Exercise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internal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structures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ensure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their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validity.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56791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65710" y="1621720"/>
            <a:ext cx="28098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Basis</a:t>
            </a:r>
            <a:r>
              <a:rPr spc="-55" dirty="0"/>
              <a:t> </a:t>
            </a:r>
            <a:r>
              <a:rPr dirty="0"/>
              <a:t>path</a:t>
            </a:r>
            <a:r>
              <a:rPr spc="-55" dirty="0"/>
              <a:t> </a:t>
            </a:r>
            <a:r>
              <a:rPr spc="-10" dirty="0"/>
              <a:t>testing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5175" y="2819408"/>
            <a:ext cx="7496809" cy="2559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565">
              <a:lnSpc>
                <a:spcPts val="2175"/>
              </a:lnSpc>
              <a:spcBef>
                <a:spcPts val="100"/>
              </a:spcBef>
            </a:pPr>
            <a:r>
              <a:rPr sz="2000" b="1" dirty="0">
                <a:latin typeface="Calibri"/>
                <a:cs typeface="Calibri"/>
              </a:rPr>
              <a:t>Basis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path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testing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is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white-</a:t>
            </a:r>
            <a:r>
              <a:rPr sz="2000" b="1" dirty="0">
                <a:latin typeface="Calibri"/>
                <a:cs typeface="Calibri"/>
              </a:rPr>
              <a:t>box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testing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technique</a:t>
            </a:r>
            <a:endParaRPr sz="2000" dirty="0">
              <a:latin typeface="Calibri"/>
              <a:cs typeface="Calibri"/>
            </a:endParaRPr>
          </a:p>
          <a:p>
            <a:pPr marL="1066165" indent="-495934">
              <a:lnSpc>
                <a:spcPts val="1950"/>
              </a:lnSpc>
              <a:buFont typeface="Segoe UI Symbol"/>
              <a:buChar char="▪"/>
              <a:tabLst>
                <a:tab pos="1066165" algn="l"/>
              </a:tabLst>
            </a:pP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derive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logical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complexity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measure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procedural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design.</a:t>
            </a:r>
            <a:endParaRPr sz="2000" dirty="0">
              <a:latin typeface="Calibri"/>
              <a:cs typeface="Calibri"/>
            </a:endParaRPr>
          </a:p>
          <a:p>
            <a:pPr marL="1066165" marR="108585" indent="-496570">
              <a:lnSpc>
                <a:spcPts val="1950"/>
              </a:lnSpc>
              <a:spcBef>
                <a:spcPts val="215"/>
              </a:spcBef>
              <a:buFont typeface="Segoe UI Symbol"/>
              <a:buChar char="▪"/>
              <a:tabLst>
                <a:tab pos="1066165" algn="l"/>
              </a:tabLst>
            </a:pPr>
            <a:r>
              <a:rPr sz="2000" dirty="0">
                <a:latin typeface="Calibri"/>
                <a:cs typeface="Calibri"/>
              </a:rPr>
              <a:t>Test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cases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derived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exercise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basis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guaranteed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to </a:t>
            </a:r>
            <a:r>
              <a:rPr sz="2000" dirty="0">
                <a:latin typeface="Calibri"/>
                <a:cs typeface="Calibri"/>
              </a:rPr>
              <a:t>execute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every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statement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program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least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time.</a:t>
            </a:r>
            <a:endParaRPr sz="2000" dirty="0">
              <a:latin typeface="Calibri"/>
              <a:cs typeface="Calibri"/>
            </a:endParaRPr>
          </a:p>
          <a:p>
            <a:pPr marL="75565">
              <a:lnSpc>
                <a:spcPts val="2175"/>
              </a:lnSpc>
              <a:spcBef>
                <a:spcPts val="1510"/>
              </a:spcBef>
            </a:pPr>
            <a:r>
              <a:rPr sz="2000" b="1" spc="-10" dirty="0">
                <a:latin typeface="Calibri"/>
                <a:cs typeface="Calibri"/>
              </a:rPr>
              <a:t>Methods:</a:t>
            </a:r>
            <a:endParaRPr sz="2000" dirty="0">
              <a:latin typeface="Calibri"/>
              <a:cs typeface="Calibri"/>
            </a:endParaRPr>
          </a:p>
          <a:p>
            <a:pPr marL="608965" indent="-596265">
              <a:lnSpc>
                <a:spcPts val="1950"/>
              </a:lnSpc>
              <a:buFont typeface="Times New Roman"/>
              <a:buAutoNum type="arabicPeriod" startAt="2"/>
              <a:tabLst>
                <a:tab pos="608965" algn="l"/>
              </a:tabLst>
            </a:pPr>
            <a:r>
              <a:rPr sz="2000" dirty="0">
                <a:latin typeface="Calibri"/>
                <a:cs typeface="Calibri"/>
              </a:rPr>
              <a:t>Flow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graph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notation</a:t>
            </a:r>
            <a:endParaRPr sz="2000" dirty="0">
              <a:latin typeface="Calibri"/>
              <a:cs typeface="Calibri"/>
            </a:endParaRPr>
          </a:p>
          <a:p>
            <a:pPr marL="608965" indent="-596265">
              <a:lnSpc>
                <a:spcPts val="1950"/>
              </a:lnSpc>
              <a:buFont typeface="Times New Roman"/>
              <a:buAutoNum type="arabicPeriod" startAt="2"/>
              <a:tabLst>
                <a:tab pos="608965" algn="l"/>
              </a:tabLst>
            </a:pPr>
            <a:r>
              <a:rPr sz="2000" spc="-10" dirty="0">
                <a:latin typeface="Calibri"/>
                <a:cs typeface="Calibri"/>
              </a:rPr>
              <a:t>Independent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program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paths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Cyclomatic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complexity</a:t>
            </a:r>
            <a:endParaRPr sz="2000" dirty="0">
              <a:latin typeface="Calibri"/>
              <a:cs typeface="Calibri"/>
            </a:endParaRPr>
          </a:p>
          <a:p>
            <a:pPr marL="608965" indent="-596265">
              <a:lnSpc>
                <a:spcPts val="1950"/>
              </a:lnSpc>
              <a:buFont typeface="Times New Roman"/>
              <a:buAutoNum type="arabicPeriod" startAt="2"/>
              <a:tabLst>
                <a:tab pos="608965" algn="l"/>
              </a:tabLst>
            </a:pPr>
            <a:r>
              <a:rPr sz="2000" dirty="0">
                <a:latin typeface="Calibri"/>
                <a:cs typeface="Calibri"/>
              </a:rPr>
              <a:t>Deriving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cases</a:t>
            </a:r>
            <a:endParaRPr sz="2000" dirty="0">
              <a:latin typeface="Calibri"/>
              <a:cs typeface="Calibri"/>
            </a:endParaRPr>
          </a:p>
          <a:p>
            <a:pPr marL="608965" indent="-596265">
              <a:lnSpc>
                <a:spcPts val="2175"/>
              </a:lnSpc>
              <a:buFont typeface="Times New Roman"/>
              <a:buAutoNum type="arabicPeriod" startAt="2"/>
              <a:tabLst>
                <a:tab pos="608965" algn="l"/>
              </a:tabLst>
            </a:pPr>
            <a:r>
              <a:rPr sz="2000" dirty="0">
                <a:latin typeface="Calibri"/>
                <a:cs typeface="Calibri"/>
              </a:rPr>
              <a:t>Graph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Matrices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A0221-EF75-E4BA-2A77-910CF1133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CDF9A86-D9D6-C251-A7E8-37918565EF21}"/>
              </a:ext>
            </a:extLst>
          </p:cNvPr>
          <p:cNvSpPr/>
          <p:nvPr/>
        </p:nvSpPr>
        <p:spPr>
          <a:xfrm>
            <a:off x="0" y="1556791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88ACFA9-4283-8901-2779-35B692376E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65710" y="1621720"/>
            <a:ext cx="280987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200" dirty="0"/>
              <a:t>Flow</a:t>
            </a:r>
            <a:r>
              <a:rPr lang="en-IN" sz="3200" spc="-50" dirty="0"/>
              <a:t> </a:t>
            </a:r>
            <a:r>
              <a:rPr lang="en-IN" sz="3200" dirty="0"/>
              <a:t>graph</a:t>
            </a:r>
            <a:endParaRPr spc="-1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A5439AA2-B47A-85B6-E8E6-EEA5A8486F67}"/>
              </a:ext>
            </a:extLst>
          </p:cNvPr>
          <p:cNvSpPr txBox="1"/>
          <p:nvPr/>
        </p:nvSpPr>
        <p:spPr>
          <a:xfrm>
            <a:off x="467545" y="2819408"/>
            <a:ext cx="8352928" cy="170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graph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diagram of a program where: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one or more program statements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control flow (arrow) showing how execution moves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node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a node with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or more outgoing edges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(if / while)</a:t>
            </a:r>
          </a:p>
        </p:txBody>
      </p:sp>
    </p:spTree>
    <p:extLst>
      <p:ext uri="{BB962C8B-B14F-4D97-AF65-F5344CB8AC3E}">
        <p14:creationId xmlns:p14="http://schemas.microsoft.com/office/powerpoint/2010/main" val="21244877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56791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01540" y="1621720"/>
            <a:ext cx="33381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Flow</a:t>
            </a:r>
            <a:r>
              <a:rPr spc="-55" dirty="0"/>
              <a:t> </a:t>
            </a:r>
            <a:r>
              <a:rPr dirty="0"/>
              <a:t>Graph</a:t>
            </a:r>
            <a:r>
              <a:rPr spc="-50" dirty="0"/>
              <a:t> </a:t>
            </a:r>
            <a:r>
              <a:rPr spc="-10" dirty="0"/>
              <a:t>Notation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23686" y="2292112"/>
            <a:ext cx="752792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965" marR="5080" indent="-88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00965" algn="l"/>
                <a:tab pos="157480" algn="l"/>
              </a:tabLst>
            </a:pPr>
            <a:r>
              <a:rPr sz="2000" dirty="0">
                <a:latin typeface="Calibri"/>
                <a:cs typeface="Calibri"/>
              </a:rPr>
              <a:t>	Start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simple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notation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representation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control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flow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(called </a:t>
            </a:r>
            <a:r>
              <a:rPr sz="2000" dirty="0">
                <a:latin typeface="Calibri"/>
                <a:cs typeface="Calibri"/>
              </a:rPr>
              <a:t>flow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graph).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represent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logical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control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flow.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70743" y="3068960"/>
            <a:ext cx="7823200" cy="2803525"/>
            <a:chOff x="670743" y="3068960"/>
            <a:chExt cx="7823200" cy="280352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0743" y="3535631"/>
              <a:ext cx="7823199" cy="175453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79712" y="3068960"/>
              <a:ext cx="5430837" cy="280352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3252738" y="5754478"/>
            <a:ext cx="2690862" cy="23397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b="1" dirty="0">
                <a:latin typeface="Calibri"/>
                <a:cs typeface="Calibri"/>
              </a:rPr>
              <a:t>Figure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6.7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Flow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graph notation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BFCC488-44CD-472E-2110-05FBE5ED4559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73D1CC5-C5A9-57FC-DE3A-909AA9DEEAF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9BC6CE5-F5AE-A9C8-CF65-780F3BCA9633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4" name="object 3">
            <a:extLst>
              <a:ext uri="{FF2B5EF4-FFF2-40B4-BE49-F238E27FC236}">
                <a16:creationId xmlns:a16="http://schemas.microsoft.com/office/drawing/2014/main" id="{2A565FEB-1FE1-4CC7-57E4-65A7505615C8}"/>
              </a:ext>
            </a:extLst>
          </p:cNvPr>
          <p:cNvSpPr/>
          <p:nvPr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56791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95619" y="1638960"/>
            <a:ext cx="1732914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Continue…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7375" y="3071813"/>
            <a:ext cx="5430838" cy="280352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83726" y="2459368"/>
            <a:ext cx="3757929" cy="231140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00965" marR="5080" indent="-88900" algn="just">
              <a:lnSpc>
                <a:spcPts val="1950"/>
              </a:lnSpc>
              <a:spcBef>
                <a:spcPts val="540"/>
              </a:spcBef>
              <a:buFont typeface="Arial MT"/>
              <a:buChar char="•"/>
              <a:tabLst>
                <a:tab pos="100965" algn="l"/>
                <a:tab pos="173355" algn="l"/>
              </a:tabLst>
            </a:pPr>
            <a:r>
              <a:rPr sz="2000" dirty="0">
                <a:latin typeface="Calibri"/>
                <a:cs typeface="Calibri"/>
              </a:rPr>
              <a:t>	A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sequence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1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process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boxes</a:t>
            </a:r>
            <a:r>
              <a:rPr sz="2000" spc="19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and </a:t>
            </a:r>
            <a:r>
              <a:rPr sz="2000" dirty="0">
                <a:latin typeface="Calibri"/>
                <a:cs typeface="Calibri"/>
              </a:rPr>
              <a:t>decision</a:t>
            </a:r>
            <a:r>
              <a:rPr sz="2000" spc="3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diamond</a:t>
            </a:r>
            <a:r>
              <a:rPr sz="2000" spc="3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3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map</a:t>
            </a:r>
            <a:r>
              <a:rPr sz="2000" spc="3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into</a:t>
            </a:r>
            <a:r>
              <a:rPr sz="2000" spc="30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a </a:t>
            </a:r>
            <a:r>
              <a:rPr sz="2000" dirty="0">
                <a:latin typeface="Calibri"/>
                <a:cs typeface="Calibri"/>
              </a:rPr>
              <a:t>single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node.</a:t>
            </a:r>
            <a:endParaRPr sz="2000" dirty="0">
              <a:latin typeface="Calibri"/>
              <a:cs typeface="Calibri"/>
            </a:endParaRPr>
          </a:p>
          <a:p>
            <a:pPr marL="100965" marR="5080" indent="-88900" algn="just">
              <a:lnSpc>
                <a:spcPts val="1950"/>
              </a:lnSpc>
              <a:buFont typeface="Arial MT"/>
              <a:buChar char="•"/>
              <a:tabLst>
                <a:tab pos="100965" algn="l"/>
                <a:tab pos="201295" algn="l"/>
              </a:tabLst>
            </a:pPr>
            <a:r>
              <a:rPr sz="2000" dirty="0">
                <a:latin typeface="Calibri"/>
                <a:cs typeface="Calibri"/>
              </a:rPr>
              <a:t>	The</a:t>
            </a:r>
            <a:r>
              <a:rPr sz="2000" spc="95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arrows</a:t>
            </a:r>
            <a:r>
              <a:rPr sz="2000" spc="95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100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95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flow</a:t>
            </a:r>
            <a:r>
              <a:rPr sz="2000" spc="100" dirty="0">
                <a:latin typeface="Calibri"/>
                <a:cs typeface="Calibri"/>
              </a:rPr>
              <a:t>  </a:t>
            </a:r>
            <a:r>
              <a:rPr sz="2000" spc="-10" dirty="0">
                <a:latin typeface="Calibri"/>
                <a:cs typeface="Calibri"/>
              </a:rPr>
              <a:t>graph, </a:t>
            </a:r>
            <a:r>
              <a:rPr sz="2000" dirty="0">
                <a:latin typeface="Calibri"/>
                <a:cs typeface="Calibri"/>
              </a:rPr>
              <a:t>called</a:t>
            </a:r>
            <a:r>
              <a:rPr sz="2000" spc="180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edges</a:t>
            </a:r>
            <a:r>
              <a:rPr sz="2000" spc="185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185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links,</a:t>
            </a:r>
            <a:r>
              <a:rPr sz="2000" spc="185" dirty="0">
                <a:latin typeface="Calibri"/>
                <a:cs typeface="Calibri"/>
              </a:rPr>
              <a:t>  </a:t>
            </a:r>
            <a:r>
              <a:rPr sz="2000" spc="-10" dirty="0">
                <a:latin typeface="Calibri"/>
                <a:cs typeface="Calibri"/>
              </a:rPr>
              <a:t>represent </a:t>
            </a:r>
            <a:r>
              <a:rPr sz="2000" dirty="0">
                <a:latin typeface="Calibri"/>
                <a:cs typeface="Calibri"/>
              </a:rPr>
              <a:t>flow</a:t>
            </a:r>
            <a:r>
              <a:rPr sz="2000" spc="1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1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control</a:t>
            </a:r>
            <a:r>
              <a:rPr sz="2000" spc="1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1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1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parallel</a:t>
            </a:r>
            <a:r>
              <a:rPr sz="2000" spc="19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to </a:t>
            </a:r>
            <a:r>
              <a:rPr sz="2000" spc="-10" dirty="0">
                <a:latin typeface="Calibri"/>
                <a:cs typeface="Calibri"/>
              </a:rPr>
              <a:t>flowchart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arrows.</a:t>
            </a:r>
            <a:endParaRPr sz="2000" dirty="0">
              <a:latin typeface="Calibri"/>
              <a:cs typeface="Calibri"/>
            </a:endParaRPr>
          </a:p>
          <a:p>
            <a:pPr marL="100965" marR="5080" indent="-88900" algn="just">
              <a:lnSpc>
                <a:spcPts val="1950"/>
              </a:lnSpc>
              <a:buFont typeface="Arial MT"/>
              <a:buChar char="•"/>
              <a:tabLst>
                <a:tab pos="100965" algn="l"/>
                <a:tab pos="214629" algn="l"/>
              </a:tabLst>
            </a:pPr>
            <a:r>
              <a:rPr sz="2000" dirty="0">
                <a:latin typeface="Calibri"/>
                <a:cs typeface="Calibri"/>
              </a:rPr>
              <a:t>	An</a:t>
            </a:r>
            <a:r>
              <a:rPr sz="2000" spc="195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edge</a:t>
            </a:r>
            <a:r>
              <a:rPr sz="2000" spc="200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must</a:t>
            </a:r>
            <a:r>
              <a:rPr sz="2000" spc="200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terminate</a:t>
            </a:r>
            <a:r>
              <a:rPr sz="2000" spc="200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at</a:t>
            </a:r>
            <a:r>
              <a:rPr sz="2000" spc="200" dirty="0">
                <a:latin typeface="Calibri"/>
                <a:cs typeface="Calibri"/>
              </a:rPr>
              <a:t>  </a:t>
            </a:r>
            <a:r>
              <a:rPr sz="2000" spc="-50" dirty="0">
                <a:latin typeface="Calibri"/>
                <a:cs typeface="Calibri"/>
              </a:rPr>
              <a:t>a </a:t>
            </a:r>
            <a:r>
              <a:rPr sz="2000" dirty="0">
                <a:latin typeface="Calibri"/>
                <a:cs typeface="Calibri"/>
              </a:rPr>
              <a:t>node,</a:t>
            </a:r>
            <a:r>
              <a:rPr sz="2000" spc="4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even</a:t>
            </a:r>
            <a:r>
              <a:rPr sz="2000" spc="4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43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4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</a:t>
            </a:r>
            <a:r>
              <a:rPr sz="2000" spc="4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does</a:t>
            </a:r>
            <a:r>
              <a:rPr sz="2000" spc="43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not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83726" y="4894550"/>
            <a:ext cx="19411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4790" indent="-21209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24790" algn="l"/>
                <a:tab pos="1000760" algn="l"/>
              </a:tabLst>
            </a:pPr>
            <a:r>
              <a:rPr sz="2000" spc="-10" dirty="0">
                <a:latin typeface="Calibri"/>
                <a:cs typeface="Calibri"/>
              </a:rPr>
              <a:t>Areas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bounded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73070" y="4905690"/>
            <a:ext cx="16510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2755" algn="l"/>
                <a:tab pos="1249680" algn="l"/>
              </a:tabLst>
            </a:pPr>
            <a:r>
              <a:rPr sz="2000" spc="-25" dirty="0">
                <a:latin typeface="Calibri"/>
                <a:cs typeface="Calibri"/>
              </a:rPr>
              <a:t>by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edges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and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0034" y="5213339"/>
            <a:ext cx="4025593" cy="2949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965">
              <a:lnSpc>
                <a:spcPts val="2175"/>
              </a:lnSpc>
              <a:spcBef>
                <a:spcPts val="100"/>
              </a:spcBef>
            </a:pPr>
            <a:r>
              <a:rPr sz="2000" dirty="0">
                <a:latin typeface="Calibri"/>
                <a:cs typeface="Calibri"/>
              </a:rPr>
              <a:t>nodes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called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regions</a:t>
            </a:r>
            <a:r>
              <a:rPr sz="2000" spc="-1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48064" y="2564904"/>
            <a:ext cx="3750567" cy="3565772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5725145" y="6255600"/>
            <a:ext cx="19824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Calibri"/>
                <a:cs typeface="Calibri"/>
              </a:rPr>
              <a:t>Figure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6.8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Compound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logic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F0FFE38-602E-91AF-7F3D-4AE0D6B6964E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C87A0D5C-8C46-52D4-0127-97C47D06F80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CE9D460-D103-462F-F29C-16D64DCE7B63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20" name="object 3">
            <a:extLst>
              <a:ext uri="{FF2B5EF4-FFF2-40B4-BE49-F238E27FC236}">
                <a16:creationId xmlns:a16="http://schemas.microsoft.com/office/drawing/2014/main" id="{D054B65C-6EFD-F872-2D82-83AE183D08FD}"/>
              </a:ext>
            </a:extLst>
          </p:cNvPr>
          <p:cNvSpPr/>
          <p:nvPr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F113A1-AA5E-2730-5B7B-A0511C683522}"/>
              </a:ext>
            </a:extLst>
          </p:cNvPr>
          <p:cNvSpPr txBox="1"/>
          <p:nvPr/>
        </p:nvSpPr>
        <p:spPr>
          <a:xfrm>
            <a:off x="755576" y="5581574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0965" marR="112395" indent="-88900">
              <a:lnSpc>
                <a:spcPct val="100000"/>
              </a:lnSpc>
              <a:spcBef>
                <a:spcPts val="2400"/>
              </a:spcBef>
              <a:buFont typeface="Arial MT"/>
              <a:buChar char="•"/>
              <a:tabLst>
                <a:tab pos="100965" algn="l"/>
                <a:tab pos="157480" algn="l"/>
              </a:tabLst>
            </a:pPr>
            <a:r>
              <a:rPr lang="en-US" sz="1800" dirty="0">
                <a:latin typeface="Calibri"/>
                <a:cs typeface="Calibri"/>
              </a:rPr>
              <a:t>	Each</a:t>
            </a:r>
            <a:r>
              <a:rPr lang="en-US" sz="1800" spc="-5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node</a:t>
            </a:r>
            <a:r>
              <a:rPr lang="en-US" sz="1800" spc="-5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that</a:t>
            </a:r>
            <a:r>
              <a:rPr lang="en-US" sz="1800" spc="-4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contains</a:t>
            </a:r>
            <a:r>
              <a:rPr lang="en-US" sz="1800" spc="-5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a</a:t>
            </a:r>
            <a:r>
              <a:rPr lang="en-US" sz="1800" spc="-45" dirty="0">
                <a:latin typeface="Calibri"/>
                <a:cs typeface="Calibri"/>
              </a:rPr>
              <a:t> </a:t>
            </a:r>
            <a:r>
              <a:rPr lang="en-US" sz="1800" spc="-10" dirty="0">
                <a:latin typeface="Calibri"/>
                <a:cs typeface="Calibri"/>
              </a:rPr>
              <a:t>condition</a:t>
            </a:r>
            <a:r>
              <a:rPr lang="en-US" sz="1800" spc="-5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is</a:t>
            </a:r>
            <a:r>
              <a:rPr lang="en-US" sz="1800" spc="-5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called</a:t>
            </a:r>
            <a:r>
              <a:rPr lang="en-US" sz="1800" spc="-30" dirty="0">
                <a:latin typeface="Calibri"/>
                <a:cs typeface="Calibri"/>
              </a:rPr>
              <a:t> </a:t>
            </a:r>
            <a:r>
              <a:rPr lang="en-US" sz="1800" b="1" spc="-10" dirty="0">
                <a:latin typeface="Calibri"/>
                <a:cs typeface="Calibri"/>
              </a:rPr>
              <a:t>predicate</a:t>
            </a:r>
            <a:r>
              <a:rPr lang="en-US" sz="1800" b="1" spc="-45" dirty="0">
                <a:latin typeface="Calibri"/>
                <a:cs typeface="Calibri"/>
              </a:rPr>
              <a:t> </a:t>
            </a:r>
            <a:r>
              <a:rPr lang="en-US" sz="1800" b="1" dirty="0">
                <a:latin typeface="Calibri"/>
                <a:cs typeface="Calibri"/>
              </a:rPr>
              <a:t>node</a:t>
            </a:r>
            <a:r>
              <a:rPr lang="en-US" sz="1800" b="1" spc="-4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and</a:t>
            </a:r>
            <a:r>
              <a:rPr lang="en-US" sz="1800" spc="-45" dirty="0">
                <a:latin typeface="Calibri"/>
                <a:cs typeface="Calibri"/>
              </a:rPr>
              <a:t> </a:t>
            </a:r>
            <a:r>
              <a:rPr lang="en-US" sz="1800" spc="-25" dirty="0">
                <a:latin typeface="Calibri"/>
                <a:cs typeface="Calibri"/>
              </a:rPr>
              <a:t>is </a:t>
            </a:r>
            <a:r>
              <a:rPr lang="en-US" sz="1800" spc="-10" dirty="0">
                <a:latin typeface="Calibri"/>
                <a:cs typeface="Calibri"/>
              </a:rPr>
              <a:t>characterized</a:t>
            </a:r>
            <a:r>
              <a:rPr lang="en-US" sz="1800" spc="-4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by</a:t>
            </a:r>
            <a:r>
              <a:rPr lang="en-US" sz="1800" spc="-4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two</a:t>
            </a:r>
            <a:r>
              <a:rPr lang="en-US" sz="1800" spc="-4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or</a:t>
            </a:r>
            <a:r>
              <a:rPr lang="en-US" sz="1800" spc="-4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more</a:t>
            </a:r>
            <a:r>
              <a:rPr lang="en-US" sz="1800" spc="-4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edges</a:t>
            </a:r>
            <a:r>
              <a:rPr lang="en-US" sz="1800" spc="-4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comes</a:t>
            </a:r>
            <a:r>
              <a:rPr lang="en-US" sz="1800" spc="-4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from</a:t>
            </a:r>
            <a:r>
              <a:rPr lang="en-US" sz="1800" spc="-45" dirty="0">
                <a:latin typeface="Calibri"/>
                <a:cs typeface="Calibri"/>
              </a:rPr>
              <a:t> </a:t>
            </a:r>
            <a:r>
              <a:rPr lang="en-US" sz="1800" spc="-25" dirty="0">
                <a:latin typeface="Calibri"/>
                <a:cs typeface="Calibri"/>
              </a:rPr>
              <a:t>it.</a:t>
            </a:r>
            <a:endParaRPr lang="en-US"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56791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3525" y="1697673"/>
            <a:ext cx="86169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Independent</a:t>
            </a:r>
            <a:r>
              <a:rPr spc="-50" dirty="0"/>
              <a:t> </a:t>
            </a:r>
            <a:r>
              <a:rPr dirty="0"/>
              <a:t>program</a:t>
            </a:r>
            <a:r>
              <a:rPr spc="-45" dirty="0"/>
              <a:t> </a:t>
            </a:r>
            <a:r>
              <a:rPr dirty="0"/>
              <a:t>paths</a:t>
            </a:r>
            <a:r>
              <a:rPr spc="-45" dirty="0"/>
              <a:t> </a:t>
            </a:r>
            <a:r>
              <a:rPr dirty="0"/>
              <a:t>or</a:t>
            </a:r>
            <a:r>
              <a:rPr spc="-45" dirty="0"/>
              <a:t> </a:t>
            </a:r>
            <a:r>
              <a:rPr dirty="0"/>
              <a:t>Cyclomatic</a:t>
            </a:r>
            <a:r>
              <a:rPr spc="-45" dirty="0"/>
              <a:t> </a:t>
            </a:r>
            <a:r>
              <a:rPr spc="-10" dirty="0"/>
              <a:t>complexity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7375" y="3071813"/>
            <a:ext cx="5430838" cy="280352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67702" y="2675392"/>
            <a:ext cx="7665720" cy="330200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00965" marR="5080" indent="-88900">
              <a:lnSpc>
                <a:spcPts val="1950"/>
              </a:lnSpc>
              <a:spcBef>
                <a:spcPts val="540"/>
              </a:spcBef>
              <a:buFont typeface="Arial MT"/>
              <a:buChar char="•"/>
              <a:tabLst>
                <a:tab pos="100965" algn="l"/>
                <a:tab pos="157480" algn="l"/>
              </a:tabLst>
            </a:pPr>
            <a:r>
              <a:rPr sz="2000" dirty="0">
                <a:latin typeface="Calibri"/>
                <a:cs typeface="Calibri"/>
              </a:rPr>
              <a:t>	An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independent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path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path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through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program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introduces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at </a:t>
            </a:r>
            <a:r>
              <a:rPr sz="2000" dirty="0">
                <a:latin typeface="Calibri"/>
                <a:cs typeface="Calibri"/>
              </a:rPr>
              <a:t>least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new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processing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statement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new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condition.</a:t>
            </a:r>
            <a:endParaRPr sz="2000" dirty="0">
              <a:latin typeface="Calibri"/>
              <a:cs typeface="Calibri"/>
            </a:endParaRPr>
          </a:p>
          <a:p>
            <a:pPr marL="558165" marR="1809114" indent="-457200">
              <a:lnSpc>
                <a:spcPts val="1950"/>
              </a:lnSpc>
            </a:pPr>
            <a:r>
              <a:rPr sz="2000" dirty="0">
                <a:latin typeface="Calibri"/>
                <a:cs typeface="Calibri"/>
              </a:rPr>
              <a:t>For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example,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independent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paths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flow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graph: </a:t>
            </a:r>
            <a:r>
              <a:rPr sz="2000" dirty="0">
                <a:latin typeface="Calibri"/>
                <a:cs typeface="Calibri"/>
              </a:rPr>
              <a:t>Path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1: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1-</a:t>
            </a:r>
            <a:r>
              <a:rPr sz="2000" spc="-25" dirty="0">
                <a:latin typeface="Calibri"/>
                <a:cs typeface="Calibri"/>
              </a:rPr>
              <a:t>11</a:t>
            </a:r>
            <a:endParaRPr sz="2000" dirty="0">
              <a:latin typeface="Calibri"/>
              <a:cs typeface="Calibri"/>
            </a:endParaRPr>
          </a:p>
          <a:p>
            <a:pPr marL="558165">
              <a:lnSpc>
                <a:spcPts val="1735"/>
              </a:lnSpc>
            </a:pPr>
            <a:r>
              <a:rPr sz="2000" dirty="0">
                <a:latin typeface="Calibri"/>
                <a:cs typeface="Calibri"/>
              </a:rPr>
              <a:t>Path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2: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1-2-3-4-5-10-1-</a:t>
            </a:r>
            <a:r>
              <a:rPr sz="2000" spc="-25" dirty="0">
                <a:latin typeface="Calibri"/>
                <a:cs typeface="Calibri"/>
              </a:rPr>
              <a:t>11</a:t>
            </a:r>
            <a:endParaRPr sz="2000" dirty="0">
              <a:latin typeface="Calibri"/>
              <a:cs typeface="Calibri"/>
            </a:endParaRPr>
          </a:p>
          <a:p>
            <a:pPr marL="558165">
              <a:lnSpc>
                <a:spcPts val="1950"/>
              </a:lnSpc>
            </a:pPr>
            <a:r>
              <a:rPr sz="2000" dirty="0">
                <a:latin typeface="Calibri"/>
                <a:cs typeface="Calibri"/>
              </a:rPr>
              <a:t>Path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3: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1-2-3-6-8-9-1-</a:t>
            </a:r>
            <a:r>
              <a:rPr sz="2000" spc="-25" dirty="0">
                <a:latin typeface="Calibri"/>
                <a:cs typeface="Calibri"/>
              </a:rPr>
              <a:t>11</a:t>
            </a:r>
            <a:endParaRPr sz="2000" dirty="0">
              <a:latin typeface="Calibri"/>
              <a:cs typeface="Calibri"/>
            </a:endParaRPr>
          </a:p>
          <a:p>
            <a:pPr marL="558165">
              <a:lnSpc>
                <a:spcPts val="1950"/>
              </a:lnSpc>
            </a:pPr>
            <a:r>
              <a:rPr sz="2000" dirty="0">
                <a:latin typeface="Calibri"/>
                <a:cs typeface="Calibri"/>
              </a:rPr>
              <a:t>Path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4: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1-2-3-6-7-9-1-</a:t>
            </a:r>
            <a:r>
              <a:rPr sz="2000" spc="-25" dirty="0">
                <a:latin typeface="Calibri"/>
                <a:cs typeface="Calibri"/>
              </a:rPr>
              <a:t>11</a:t>
            </a:r>
            <a:endParaRPr sz="2000" dirty="0">
              <a:latin typeface="Calibri"/>
              <a:cs typeface="Calibri"/>
            </a:endParaRPr>
          </a:p>
          <a:p>
            <a:pPr marL="158115" indent="-145415">
              <a:lnSpc>
                <a:spcPts val="1950"/>
              </a:lnSpc>
              <a:buFont typeface="Arial MT"/>
              <a:buChar char="•"/>
              <a:tabLst>
                <a:tab pos="158115" algn="l"/>
              </a:tabLst>
            </a:pPr>
            <a:r>
              <a:rPr sz="2000" dirty="0">
                <a:latin typeface="Calibri"/>
                <a:cs typeface="Calibri"/>
              </a:rPr>
              <a:t>Note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each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new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path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introduces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new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edge.</a:t>
            </a:r>
            <a:endParaRPr sz="2000" dirty="0">
              <a:latin typeface="Calibri"/>
              <a:cs typeface="Calibri"/>
            </a:endParaRPr>
          </a:p>
          <a:p>
            <a:pPr marL="558165" marR="538480" lvl="1" indent="-175260" algn="just">
              <a:lnSpc>
                <a:spcPts val="1950"/>
              </a:lnSpc>
              <a:spcBef>
                <a:spcPts val="215"/>
              </a:spcBef>
              <a:buFont typeface="Segoe UI Symbol"/>
              <a:buChar char="▪"/>
              <a:tabLst>
                <a:tab pos="558165" algn="l"/>
                <a:tab pos="614680" algn="l"/>
              </a:tabLst>
            </a:pPr>
            <a:r>
              <a:rPr sz="2000" dirty="0">
                <a:latin typeface="Calibri"/>
                <a:cs typeface="Calibri"/>
              </a:rPr>
              <a:t>	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path</a:t>
            </a:r>
            <a:r>
              <a:rPr sz="2000" spc="434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1-2-3-4-5-10-1-2-3-6-8-9-1-</a:t>
            </a:r>
            <a:r>
              <a:rPr sz="2000" dirty="0">
                <a:latin typeface="Calibri"/>
                <a:cs typeface="Calibri"/>
              </a:rPr>
              <a:t>11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considered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 </a:t>
            </a:r>
            <a:r>
              <a:rPr sz="2000" spc="-10" dirty="0">
                <a:latin typeface="Calibri"/>
                <a:cs typeface="Calibri"/>
              </a:rPr>
              <a:t>independent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path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because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simply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combination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already specified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paths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traverse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new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edges.</a:t>
            </a:r>
            <a:endParaRPr sz="2000" dirty="0">
              <a:latin typeface="Calibri"/>
              <a:cs typeface="Calibri"/>
            </a:endParaRPr>
          </a:p>
          <a:p>
            <a:pPr marL="558165" marR="480059" lvl="1" indent="-175260" algn="just">
              <a:lnSpc>
                <a:spcPts val="1950"/>
              </a:lnSpc>
              <a:buFont typeface="Segoe UI Symbol"/>
              <a:buChar char="▪"/>
              <a:tabLst>
                <a:tab pos="558165" algn="l"/>
                <a:tab pos="614680" algn="l"/>
              </a:tabLst>
            </a:pPr>
            <a:r>
              <a:rPr sz="2000" dirty="0">
                <a:latin typeface="Calibri"/>
                <a:cs typeface="Calibri"/>
              </a:rPr>
              <a:t>	Test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cases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should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designed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force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execution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these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paths </a:t>
            </a:r>
            <a:r>
              <a:rPr sz="2000" dirty="0">
                <a:latin typeface="Calibri"/>
                <a:cs typeface="Calibri"/>
              </a:rPr>
              <a:t>(basis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set).</a:t>
            </a:r>
            <a:endParaRPr sz="2000" dirty="0">
              <a:latin typeface="Calibri"/>
              <a:cs typeface="Calibri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5AB4568-AB12-F244-C848-DBF3D43883C6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E231AC6-355C-9E0E-79AC-1C021C29B02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3CB50C5-37AF-7BE6-4BD7-663B19C08EC9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1" name="object 3">
            <a:extLst>
              <a:ext uri="{FF2B5EF4-FFF2-40B4-BE49-F238E27FC236}">
                <a16:creationId xmlns:a16="http://schemas.microsoft.com/office/drawing/2014/main" id="{CDD30A0C-BEF0-6E58-26FE-5F73E7D3937E}"/>
              </a:ext>
            </a:extLst>
          </p:cNvPr>
          <p:cNvSpPr/>
          <p:nvPr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56791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3525" y="1697673"/>
            <a:ext cx="86169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5376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Continue…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7375" y="3071813"/>
            <a:ext cx="5430838" cy="280352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84584" y="2483752"/>
            <a:ext cx="7975600" cy="392112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622300" marR="1106805" indent="-571500">
              <a:lnSpc>
                <a:spcPts val="2180"/>
              </a:lnSpc>
              <a:spcBef>
                <a:spcPts val="355"/>
              </a:spcBef>
              <a:buFont typeface="Arial"/>
              <a:buChar char="•"/>
              <a:tabLst>
                <a:tab pos="622300" algn="l"/>
              </a:tabLst>
            </a:pPr>
            <a:r>
              <a:rPr sz="2000" b="1" dirty="0">
                <a:latin typeface="Calibri"/>
                <a:cs typeface="Calibri"/>
              </a:rPr>
              <a:t>Cyclomatic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complexity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software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metrics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provides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a </a:t>
            </a:r>
            <a:r>
              <a:rPr sz="2000" spc="-10" dirty="0">
                <a:latin typeface="Calibri"/>
                <a:cs typeface="Calibri"/>
              </a:rPr>
              <a:t>quantitative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measure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logical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complexity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program.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020"/>
              </a:lnSpc>
            </a:pPr>
            <a:r>
              <a:rPr sz="2000" dirty="0">
                <a:latin typeface="Calibri"/>
                <a:cs typeface="Calibri"/>
              </a:rPr>
              <a:t>It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defines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no.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independent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paths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basis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also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provides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number</a:t>
            </a:r>
            <a:endParaRPr sz="2000">
              <a:latin typeface="Calibri"/>
              <a:cs typeface="Calibri"/>
            </a:endParaRPr>
          </a:p>
          <a:p>
            <a:pPr marL="622300">
              <a:lnSpc>
                <a:spcPts val="2175"/>
              </a:lnSpc>
            </a:pP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must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conducted.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175"/>
              </a:lnSpc>
            </a:pPr>
            <a:r>
              <a:rPr sz="2000" dirty="0">
                <a:latin typeface="Calibri"/>
                <a:cs typeface="Calibri"/>
              </a:rPr>
              <a:t>One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three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ways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compute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cyclomatic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complexity:</a:t>
            </a:r>
            <a:endParaRPr sz="2000">
              <a:latin typeface="Calibri"/>
              <a:cs typeface="Calibri"/>
            </a:endParaRPr>
          </a:p>
          <a:p>
            <a:pPr marL="1002665" lvl="1" indent="-596265">
              <a:lnSpc>
                <a:spcPts val="2175"/>
              </a:lnSpc>
              <a:buFont typeface="Times New Roman"/>
              <a:buAutoNum type="arabicPeriod"/>
              <a:tabLst>
                <a:tab pos="1002665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no.</a:t>
            </a:r>
            <a:r>
              <a:rPr sz="2000" i="1" spc="-3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of</a:t>
            </a:r>
            <a:r>
              <a:rPr sz="2000" i="1" spc="-3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regions</a:t>
            </a:r>
            <a:r>
              <a:rPr sz="2000" i="1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corresponds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cyclomatic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complexity.</a:t>
            </a:r>
            <a:endParaRPr sz="2000">
              <a:latin typeface="Calibri"/>
              <a:cs typeface="Calibri"/>
            </a:endParaRPr>
          </a:p>
          <a:p>
            <a:pPr marL="927100" marR="631825" lvl="1" indent="-520700">
              <a:lnSpc>
                <a:spcPts val="2180"/>
              </a:lnSpc>
              <a:spcBef>
                <a:spcPts val="145"/>
              </a:spcBef>
              <a:buAutoNum type="arabicPeriod"/>
              <a:tabLst>
                <a:tab pos="927100" algn="l"/>
                <a:tab pos="1002665" algn="l"/>
              </a:tabLst>
            </a:pP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Calibri"/>
                <a:cs typeface="Calibri"/>
              </a:rPr>
              <a:t>Cyclomatic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complexity,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V(G),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flow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graph,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defined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as </a:t>
            </a:r>
            <a:r>
              <a:rPr sz="2000" dirty="0">
                <a:latin typeface="Calibri"/>
                <a:cs typeface="Calibri"/>
              </a:rPr>
              <a:t>V(G)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-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+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2</a:t>
            </a:r>
            <a:endParaRPr sz="2000">
              <a:latin typeface="Calibri"/>
              <a:cs typeface="Calibri"/>
            </a:endParaRPr>
          </a:p>
          <a:p>
            <a:pPr marL="927100">
              <a:lnSpc>
                <a:spcPts val="2020"/>
              </a:lnSpc>
            </a:pPr>
            <a:r>
              <a:rPr sz="2000" dirty="0">
                <a:latin typeface="Calibri"/>
                <a:cs typeface="Calibri"/>
              </a:rPr>
              <a:t>where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number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flow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graph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edges,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number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flow</a:t>
            </a:r>
            <a:endParaRPr sz="2000">
              <a:latin typeface="Calibri"/>
              <a:cs typeface="Calibri"/>
            </a:endParaRPr>
          </a:p>
          <a:p>
            <a:pPr marL="1384300">
              <a:lnSpc>
                <a:spcPts val="2175"/>
              </a:lnSpc>
            </a:pPr>
            <a:r>
              <a:rPr sz="2000" dirty="0">
                <a:latin typeface="Calibri"/>
                <a:cs typeface="Calibri"/>
              </a:rPr>
              <a:t>graph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nodes.</a:t>
            </a:r>
            <a:endParaRPr sz="2000">
              <a:latin typeface="Calibri"/>
              <a:cs typeface="Calibri"/>
            </a:endParaRPr>
          </a:p>
          <a:p>
            <a:pPr marL="1003300" marR="161290" lvl="1" indent="-596900">
              <a:lnSpc>
                <a:spcPts val="2180"/>
              </a:lnSpc>
              <a:spcBef>
                <a:spcPts val="140"/>
              </a:spcBef>
              <a:buFont typeface="Times New Roman"/>
              <a:buAutoNum type="arabicPeriod" startAt="3"/>
              <a:tabLst>
                <a:tab pos="1003300" algn="l"/>
              </a:tabLst>
            </a:pPr>
            <a:r>
              <a:rPr sz="2000" spc="-10" dirty="0">
                <a:latin typeface="Calibri"/>
                <a:cs typeface="Calibri"/>
              </a:rPr>
              <a:t>Cyclomatic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complexity,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V(G),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flow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graph,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also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defined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as </a:t>
            </a:r>
            <a:r>
              <a:rPr sz="2000" dirty="0">
                <a:latin typeface="Calibri"/>
                <a:cs typeface="Calibri"/>
              </a:rPr>
              <a:t>V(G)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+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  <a:p>
            <a:pPr marL="1003300">
              <a:lnSpc>
                <a:spcPts val="2020"/>
              </a:lnSpc>
            </a:pPr>
            <a:r>
              <a:rPr sz="2000" dirty="0">
                <a:latin typeface="Calibri"/>
                <a:cs typeface="Calibri"/>
              </a:rPr>
              <a:t>where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number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predicate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edges</a:t>
            </a:r>
            <a:endParaRPr sz="2000">
              <a:latin typeface="Calibri"/>
              <a:cs typeface="Calibri"/>
            </a:endParaRPr>
          </a:p>
          <a:p>
            <a:pPr marL="469900">
              <a:lnSpc>
                <a:spcPts val="2290"/>
              </a:lnSpc>
            </a:pPr>
            <a:r>
              <a:rPr sz="2000" dirty="0">
                <a:latin typeface="Calibri"/>
                <a:cs typeface="Calibri"/>
              </a:rPr>
              <a:t>So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value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V(G)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provides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upper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bound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cases.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07D51E5-D798-2ED4-FEC5-802429111FF0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2BD3B97-86CE-B691-9279-B2295429AC0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1ECED7D-BD9A-83A4-A09F-2AB70C8865B0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4" name="object 3">
            <a:extLst>
              <a:ext uri="{FF2B5EF4-FFF2-40B4-BE49-F238E27FC236}">
                <a16:creationId xmlns:a16="http://schemas.microsoft.com/office/drawing/2014/main" id="{A93363A5-BE4A-CFE6-2501-CADC99366FBC}"/>
              </a:ext>
            </a:extLst>
          </p:cNvPr>
          <p:cNvSpPr/>
          <p:nvPr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56791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3525" y="1697673"/>
            <a:ext cx="86169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87015">
              <a:lnSpc>
                <a:spcPct val="100000"/>
              </a:lnSpc>
              <a:spcBef>
                <a:spcPts val="100"/>
              </a:spcBef>
            </a:pPr>
            <a:r>
              <a:rPr dirty="0"/>
              <a:t>Deriving</a:t>
            </a:r>
            <a:r>
              <a:rPr spc="-110" dirty="0"/>
              <a:t> </a:t>
            </a:r>
            <a:r>
              <a:rPr dirty="0"/>
              <a:t>Test</a:t>
            </a:r>
            <a:r>
              <a:rPr spc="-110" dirty="0"/>
              <a:t> </a:t>
            </a:r>
            <a:r>
              <a:rPr spc="-10" dirty="0"/>
              <a:t>Cases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7375" y="3071813"/>
            <a:ext cx="5430838" cy="280352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09191" y="2699776"/>
            <a:ext cx="7323455" cy="2564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8965" indent="-495300">
              <a:lnSpc>
                <a:spcPts val="2290"/>
              </a:lnSpc>
              <a:spcBef>
                <a:spcPts val="100"/>
              </a:spcBef>
              <a:buFont typeface="Arial MT"/>
              <a:buChar char="•"/>
              <a:tabLst>
                <a:tab pos="608965" algn="l"/>
              </a:tabLst>
            </a:pPr>
            <a:r>
              <a:rPr sz="2000" dirty="0">
                <a:latin typeface="Calibri"/>
                <a:cs typeface="Calibri"/>
              </a:rPr>
              <a:t>It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series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steps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method.</a:t>
            </a:r>
            <a:endParaRPr sz="2000" dirty="0">
              <a:latin typeface="Calibri"/>
              <a:cs typeface="Calibri"/>
            </a:endParaRPr>
          </a:p>
          <a:p>
            <a:pPr marL="608965" marR="437515" indent="-495300">
              <a:lnSpc>
                <a:spcPts val="2170"/>
              </a:lnSpc>
              <a:spcBef>
                <a:spcPts val="150"/>
              </a:spcBef>
              <a:buFont typeface="Arial MT"/>
              <a:buChar char="•"/>
              <a:tabLst>
                <a:tab pos="608965" algn="l"/>
              </a:tabLst>
            </a:pPr>
            <a:r>
              <a:rPr sz="2000" dirty="0">
                <a:latin typeface="Calibri"/>
                <a:cs typeface="Calibri"/>
              </a:rPr>
              <a:t>Average,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extremely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simple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algorithm,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contains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compound conditions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loops.</a:t>
            </a:r>
            <a:endParaRPr sz="2000" dirty="0">
              <a:latin typeface="Calibri"/>
              <a:cs typeface="Calibri"/>
            </a:endParaRPr>
          </a:p>
          <a:p>
            <a:pPr marL="75565">
              <a:lnSpc>
                <a:spcPts val="2145"/>
              </a:lnSpc>
            </a:pP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derive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basis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set,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follow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steps.</a:t>
            </a:r>
            <a:endParaRPr sz="2000" dirty="0">
              <a:latin typeface="Calibri"/>
              <a:cs typeface="Calibri"/>
            </a:endParaRPr>
          </a:p>
          <a:p>
            <a:pPr marL="608965" marR="5080" indent="-596900">
              <a:lnSpc>
                <a:spcPts val="2180"/>
              </a:lnSpc>
              <a:spcBef>
                <a:spcPts val="2205"/>
              </a:spcBef>
              <a:buFont typeface="Times New Roman"/>
              <a:buAutoNum type="arabicPeriod"/>
              <a:tabLst>
                <a:tab pos="608965" algn="l"/>
              </a:tabLst>
            </a:pPr>
            <a:r>
              <a:rPr sz="2000" b="1" dirty="0">
                <a:latin typeface="Calibri"/>
                <a:cs typeface="Calibri"/>
              </a:rPr>
              <a:t>Using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the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design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or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code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as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foundation,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draw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corresponding </a:t>
            </a:r>
            <a:r>
              <a:rPr sz="2000" b="1" dirty="0">
                <a:latin typeface="Calibri"/>
                <a:cs typeface="Calibri"/>
              </a:rPr>
              <a:t>flow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graph.</a:t>
            </a:r>
            <a:endParaRPr sz="2000" dirty="0">
              <a:latin typeface="Calibri"/>
              <a:cs typeface="Calibri"/>
            </a:endParaRPr>
          </a:p>
          <a:p>
            <a:pPr marL="1066165" lvl="1" indent="-495934">
              <a:lnSpc>
                <a:spcPts val="2020"/>
              </a:lnSpc>
              <a:buFont typeface="Segoe UI Symbol"/>
              <a:buChar char="▪"/>
              <a:tabLst>
                <a:tab pos="1066165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flow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graph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created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numbering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those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PDL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statements</a:t>
            </a:r>
            <a:endParaRPr sz="2000" dirty="0">
              <a:latin typeface="Calibri"/>
              <a:cs typeface="Calibri"/>
            </a:endParaRPr>
          </a:p>
          <a:p>
            <a:pPr marL="1066165">
              <a:lnSpc>
                <a:spcPts val="2290"/>
              </a:lnSpc>
            </a:pPr>
            <a:r>
              <a:rPr sz="2000" dirty="0">
                <a:latin typeface="Calibri"/>
                <a:cs typeface="Calibri"/>
              </a:rPr>
              <a:t>that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will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mapped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corresponding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flow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graph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nodes.</a:t>
            </a:r>
            <a:endParaRPr sz="2000" dirty="0">
              <a:latin typeface="Calibri"/>
              <a:cs typeface="Calibri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D71B63E-0649-E523-C4FB-D9EA5F2509B2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29C20C7-6AA3-A8C8-ECEE-64A2409EAB0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2962D39-F09D-8A5C-1B37-BEC9B55AC6F4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1" name="object 3">
            <a:extLst>
              <a:ext uri="{FF2B5EF4-FFF2-40B4-BE49-F238E27FC236}">
                <a16:creationId xmlns:a16="http://schemas.microsoft.com/office/drawing/2014/main" id="{3D25DDCB-F719-B5F2-2884-8F6025F839CF}"/>
              </a:ext>
            </a:extLst>
          </p:cNvPr>
          <p:cNvSpPr/>
          <p:nvPr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87015">
              <a:lnSpc>
                <a:spcPct val="100000"/>
              </a:lnSpc>
              <a:spcBef>
                <a:spcPts val="100"/>
              </a:spcBef>
            </a:pPr>
            <a:r>
              <a:rPr dirty="0"/>
              <a:t>Deriving</a:t>
            </a:r>
            <a:r>
              <a:rPr spc="-110" dirty="0"/>
              <a:t> </a:t>
            </a:r>
            <a:r>
              <a:rPr dirty="0"/>
              <a:t>Test</a:t>
            </a:r>
            <a:r>
              <a:rPr spc="-110" dirty="0"/>
              <a:t> </a:t>
            </a:r>
            <a:r>
              <a:rPr spc="-10" dirty="0"/>
              <a:t>Cases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857375" y="2348880"/>
            <a:ext cx="5431155" cy="3553460"/>
            <a:chOff x="1857375" y="2348880"/>
            <a:chExt cx="5431155" cy="35534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39752" y="2348880"/>
              <a:ext cx="3312367" cy="3553392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340769" y="6108536"/>
            <a:ext cx="39306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Flow</a:t>
            </a:r>
            <a:r>
              <a:rPr sz="2000" u="heavy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graph</a:t>
            </a:r>
            <a:r>
              <a:rPr sz="2000" u="heavy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for</a:t>
            </a:r>
            <a:r>
              <a:rPr sz="2000" u="heavy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000" u="heavy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procedure</a:t>
            </a:r>
            <a:r>
              <a:rPr sz="2000" u="heavy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average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56791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3525" y="1697673"/>
            <a:ext cx="86169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5376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Continue…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7375" y="3071813"/>
            <a:ext cx="5430838" cy="280352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64951" y="2330084"/>
            <a:ext cx="16827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25" dirty="0">
                <a:latin typeface="Times New Roman"/>
                <a:cs typeface="Times New Roman"/>
              </a:rPr>
              <a:t>2.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69777" y="2330084"/>
            <a:ext cx="7456805" cy="835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64"/>
              </a:lnSpc>
              <a:spcBef>
                <a:spcPts val="100"/>
              </a:spcBef>
            </a:pPr>
            <a:r>
              <a:rPr sz="1500" b="1" dirty="0">
                <a:latin typeface="Calibri"/>
                <a:cs typeface="Calibri"/>
              </a:rPr>
              <a:t>Determine</a:t>
            </a:r>
            <a:r>
              <a:rPr sz="1500" b="1" spc="-3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the</a:t>
            </a:r>
            <a:r>
              <a:rPr sz="1500" b="1" spc="-3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cyclomatic</a:t>
            </a:r>
            <a:r>
              <a:rPr sz="1500" b="1" spc="-3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complexity</a:t>
            </a:r>
            <a:r>
              <a:rPr sz="1500" b="1" spc="-3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of</a:t>
            </a:r>
            <a:r>
              <a:rPr sz="1500" b="1" spc="-3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the</a:t>
            </a:r>
            <a:r>
              <a:rPr sz="1500" b="1" spc="-3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resultant</a:t>
            </a:r>
            <a:r>
              <a:rPr sz="1500" b="1" spc="-3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flow</a:t>
            </a:r>
            <a:r>
              <a:rPr sz="1500" b="1" spc="-35" dirty="0">
                <a:latin typeface="Calibri"/>
                <a:cs typeface="Calibri"/>
              </a:rPr>
              <a:t> </a:t>
            </a:r>
            <a:r>
              <a:rPr sz="1500" b="1" spc="-10" dirty="0">
                <a:latin typeface="Calibri"/>
                <a:cs typeface="Calibri"/>
              </a:rPr>
              <a:t>graph.</a:t>
            </a:r>
            <a:endParaRPr sz="1500">
              <a:latin typeface="Calibri"/>
              <a:cs typeface="Calibri"/>
            </a:endParaRPr>
          </a:p>
          <a:p>
            <a:pPr marL="393700" marR="5080" indent="-353695">
              <a:lnSpc>
                <a:spcPct val="79200"/>
              </a:lnSpc>
              <a:spcBef>
                <a:spcPts val="335"/>
              </a:spcBef>
              <a:buFont typeface="Arial"/>
              <a:buChar char="▪"/>
              <a:tabLst>
                <a:tab pos="393700" algn="l"/>
              </a:tabLst>
            </a:pPr>
            <a:r>
              <a:rPr sz="1500" i="1" dirty="0">
                <a:latin typeface="Calibri"/>
                <a:cs typeface="Calibri"/>
              </a:rPr>
              <a:t>V</a:t>
            </a:r>
            <a:r>
              <a:rPr sz="1500" dirty="0">
                <a:latin typeface="Calibri"/>
                <a:cs typeface="Calibri"/>
              </a:rPr>
              <a:t>(</a:t>
            </a:r>
            <a:r>
              <a:rPr sz="1500" i="1" dirty="0">
                <a:latin typeface="Calibri"/>
                <a:cs typeface="Calibri"/>
              </a:rPr>
              <a:t>G</a:t>
            </a:r>
            <a:r>
              <a:rPr sz="1500" dirty="0">
                <a:latin typeface="Calibri"/>
                <a:cs typeface="Calibri"/>
              </a:rPr>
              <a:t>)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can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be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determined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without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developing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flow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graph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by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counting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all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conditional </a:t>
            </a:r>
            <a:r>
              <a:rPr sz="1500" dirty="0">
                <a:latin typeface="Calibri"/>
                <a:cs typeface="Calibri"/>
              </a:rPr>
              <a:t>statements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PDL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(for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procedure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i="1" dirty="0">
                <a:latin typeface="Calibri"/>
                <a:cs typeface="Calibri"/>
              </a:rPr>
              <a:t>average,</a:t>
            </a:r>
            <a:r>
              <a:rPr sz="1500" i="1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compound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conditions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count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as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two)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and </a:t>
            </a:r>
            <a:r>
              <a:rPr sz="1500" dirty="0">
                <a:latin typeface="Calibri"/>
                <a:cs typeface="Calibri"/>
              </a:rPr>
              <a:t>adding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50" dirty="0">
                <a:latin typeface="Calibri"/>
                <a:cs typeface="Calibri"/>
              </a:rPr>
              <a:t>1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97589" y="3130184"/>
            <a:ext cx="2997835" cy="693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5760" indent="-353060">
              <a:lnSpc>
                <a:spcPts val="1764"/>
              </a:lnSpc>
              <a:spcBef>
                <a:spcPts val="100"/>
              </a:spcBef>
              <a:buFont typeface="Arial"/>
              <a:buChar char="▪"/>
              <a:tabLst>
                <a:tab pos="365760" algn="l"/>
              </a:tabLst>
            </a:pPr>
            <a:r>
              <a:rPr sz="1500" i="1" dirty="0">
                <a:latin typeface="Calibri"/>
                <a:cs typeface="Calibri"/>
              </a:rPr>
              <a:t>V</a:t>
            </a:r>
            <a:r>
              <a:rPr sz="1500" dirty="0">
                <a:latin typeface="Calibri"/>
                <a:cs typeface="Calibri"/>
              </a:rPr>
              <a:t>(</a:t>
            </a:r>
            <a:r>
              <a:rPr sz="1500" i="1" dirty="0">
                <a:latin typeface="Calibri"/>
                <a:cs typeface="Calibri"/>
              </a:rPr>
              <a:t>G</a:t>
            </a:r>
            <a:r>
              <a:rPr sz="1500" dirty="0">
                <a:latin typeface="Calibri"/>
                <a:cs typeface="Calibri"/>
              </a:rPr>
              <a:t>)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=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6</a:t>
            </a:r>
            <a:r>
              <a:rPr sz="1500" spc="-10" dirty="0">
                <a:latin typeface="Calibri"/>
                <a:cs typeface="Calibri"/>
              </a:rPr>
              <a:t> regions</a:t>
            </a:r>
            <a:endParaRPr sz="1500">
              <a:latin typeface="Calibri"/>
              <a:cs typeface="Calibri"/>
            </a:endParaRPr>
          </a:p>
          <a:p>
            <a:pPr marL="365760" indent="-353060">
              <a:lnSpc>
                <a:spcPts val="1725"/>
              </a:lnSpc>
              <a:buFont typeface="Arial"/>
              <a:buChar char="▪"/>
              <a:tabLst>
                <a:tab pos="365760" algn="l"/>
              </a:tabLst>
            </a:pPr>
            <a:r>
              <a:rPr sz="1500" i="1" dirty="0">
                <a:latin typeface="Calibri"/>
                <a:cs typeface="Calibri"/>
              </a:rPr>
              <a:t>V</a:t>
            </a:r>
            <a:r>
              <a:rPr sz="1500" dirty="0">
                <a:latin typeface="Calibri"/>
                <a:cs typeface="Calibri"/>
              </a:rPr>
              <a:t>(</a:t>
            </a:r>
            <a:r>
              <a:rPr sz="1500" i="1" dirty="0">
                <a:latin typeface="Calibri"/>
                <a:cs typeface="Calibri"/>
              </a:rPr>
              <a:t>G</a:t>
            </a:r>
            <a:r>
              <a:rPr sz="1500" dirty="0">
                <a:latin typeface="Calibri"/>
                <a:cs typeface="Calibri"/>
              </a:rPr>
              <a:t>)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=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17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edges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-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13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nodes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+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2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=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50" dirty="0">
                <a:latin typeface="Calibri"/>
                <a:cs typeface="Calibri"/>
              </a:rPr>
              <a:t>6</a:t>
            </a:r>
            <a:endParaRPr sz="1500">
              <a:latin typeface="Calibri"/>
              <a:cs typeface="Calibri"/>
            </a:endParaRPr>
          </a:p>
          <a:p>
            <a:pPr marL="365760" indent="-353060">
              <a:lnSpc>
                <a:spcPts val="1764"/>
              </a:lnSpc>
              <a:buFont typeface="Arial"/>
              <a:buChar char="▪"/>
              <a:tabLst>
                <a:tab pos="365760" algn="l"/>
              </a:tabLst>
            </a:pPr>
            <a:r>
              <a:rPr sz="1500" i="1" dirty="0">
                <a:latin typeface="Calibri"/>
                <a:cs typeface="Calibri"/>
              </a:rPr>
              <a:t>V</a:t>
            </a:r>
            <a:r>
              <a:rPr sz="1500" dirty="0">
                <a:latin typeface="Calibri"/>
                <a:cs typeface="Calibri"/>
              </a:rPr>
              <a:t>(</a:t>
            </a:r>
            <a:r>
              <a:rPr sz="1500" i="1" dirty="0">
                <a:latin typeface="Calibri"/>
                <a:cs typeface="Calibri"/>
              </a:rPr>
              <a:t>G</a:t>
            </a:r>
            <a:r>
              <a:rPr sz="1500" dirty="0">
                <a:latin typeface="Calibri"/>
                <a:cs typeface="Calibri"/>
              </a:rPr>
              <a:t>)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=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5</a:t>
            </a:r>
            <a:r>
              <a:rPr sz="1500" spc="-10" dirty="0">
                <a:latin typeface="Calibri"/>
                <a:cs typeface="Calibri"/>
              </a:rPr>
              <a:t> predicate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nodes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+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1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=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50" dirty="0">
                <a:latin typeface="Calibri"/>
                <a:cs typeface="Calibri"/>
              </a:rPr>
              <a:t>6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4951" y="3787409"/>
            <a:ext cx="16827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25" dirty="0">
                <a:latin typeface="Times New Roman"/>
                <a:cs typeface="Times New Roman"/>
              </a:rPr>
              <a:t>3.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69777" y="3787409"/>
            <a:ext cx="410146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Calibri"/>
                <a:cs typeface="Calibri"/>
              </a:rPr>
              <a:t>Determine</a:t>
            </a:r>
            <a:r>
              <a:rPr sz="1500" b="1" spc="-3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a</a:t>
            </a:r>
            <a:r>
              <a:rPr sz="1500" b="1" spc="-3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basis</a:t>
            </a:r>
            <a:r>
              <a:rPr sz="1500" b="1" spc="-3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set</a:t>
            </a:r>
            <a:r>
              <a:rPr sz="1500" b="1" spc="-3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of</a:t>
            </a:r>
            <a:r>
              <a:rPr sz="1500" b="1" spc="-3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linearly</a:t>
            </a:r>
            <a:r>
              <a:rPr sz="1500" b="1" spc="-3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independent</a:t>
            </a:r>
            <a:r>
              <a:rPr sz="1500" b="1" spc="-35" dirty="0">
                <a:latin typeface="Calibri"/>
                <a:cs typeface="Calibri"/>
              </a:rPr>
              <a:t> </a:t>
            </a:r>
            <a:r>
              <a:rPr sz="1500" b="1" spc="-10" dirty="0">
                <a:latin typeface="Calibri"/>
                <a:cs typeface="Calibri"/>
              </a:rPr>
              <a:t>paths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97589" y="4006484"/>
            <a:ext cx="7527290" cy="214947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365760" marR="159385" indent="-353695">
              <a:lnSpc>
                <a:spcPct val="79200"/>
              </a:lnSpc>
              <a:spcBef>
                <a:spcPts val="475"/>
              </a:spcBef>
              <a:buFont typeface="Segoe UI Symbol"/>
              <a:buChar char="▪"/>
              <a:tabLst>
                <a:tab pos="365760" algn="l"/>
              </a:tabLst>
            </a:pPr>
            <a:r>
              <a:rPr sz="1500" dirty="0">
                <a:latin typeface="Calibri"/>
                <a:cs typeface="Calibri"/>
              </a:rPr>
              <a:t>The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value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i="1" dirty="0">
                <a:latin typeface="Calibri"/>
                <a:cs typeface="Calibri"/>
              </a:rPr>
              <a:t>V</a:t>
            </a:r>
            <a:r>
              <a:rPr sz="1500" dirty="0">
                <a:latin typeface="Calibri"/>
                <a:cs typeface="Calibri"/>
              </a:rPr>
              <a:t>(</a:t>
            </a:r>
            <a:r>
              <a:rPr sz="1500" i="1" dirty="0">
                <a:latin typeface="Calibri"/>
                <a:cs typeface="Calibri"/>
              </a:rPr>
              <a:t>G</a:t>
            </a:r>
            <a:r>
              <a:rPr sz="1500" dirty="0">
                <a:latin typeface="Calibri"/>
                <a:cs typeface="Calibri"/>
              </a:rPr>
              <a:t>)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provides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number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linearly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independent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paths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through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program </a:t>
            </a:r>
            <a:r>
              <a:rPr sz="1500" dirty="0">
                <a:latin typeface="Calibri"/>
                <a:cs typeface="Calibri"/>
              </a:rPr>
              <a:t>control</a:t>
            </a:r>
            <a:r>
              <a:rPr sz="1500" spc="-8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structure.</a:t>
            </a:r>
            <a:endParaRPr sz="1500">
              <a:latin typeface="Calibri"/>
              <a:cs typeface="Calibri"/>
            </a:endParaRPr>
          </a:p>
          <a:p>
            <a:pPr marL="365760" indent="-353060">
              <a:lnSpc>
                <a:spcPts val="1689"/>
              </a:lnSpc>
              <a:buFont typeface="Segoe UI Symbol"/>
              <a:buChar char="▪"/>
              <a:tabLst>
                <a:tab pos="365760" algn="l"/>
              </a:tabLst>
            </a:pPr>
            <a:r>
              <a:rPr sz="1500" dirty="0">
                <a:latin typeface="Calibri"/>
                <a:cs typeface="Calibri"/>
              </a:rPr>
              <a:t>path</a:t>
            </a:r>
            <a:r>
              <a:rPr sz="1500" spc="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1:</a:t>
            </a:r>
            <a:r>
              <a:rPr sz="1500" spc="20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1-2-10-11-</a:t>
            </a:r>
            <a:r>
              <a:rPr sz="1500" spc="-25" dirty="0">
                <a:latin typeface="Calibri"/>
                <a:cs typeface="Calibri"/>
              </a:rPr>
              <a:t>13</a:t>
            </a:r>
            <a:endParaRPr sz="1500">
              <a:latin typeface="Calibri"/>
              <a:cs typeface="Calibri"/>
            </a:endParaRPr>
          </a:p>
          <a:p>
            <a:pPr marL="365760" indent="-353060">
              <a:lnSpc>
                <a:spcPts val="1725"/>
              </a:lnSpc>
              <a:buFont typeface="Segoe UI Symbol"/>
              <a:buChar char="▪"/>
              <a:tabLst>
                <a:tab pos="365760" algn="l"/>
              </a:tabLst>
            </a:pPr>
            <a:r>
              <a:rPr sz="1500" dirty="0">
                <a:latin typeface="Calibri"/>
                <a:cs typeface="Calibri"/>
              </a:rPr>
              <a:t>path</a:t>
            </a:r>
            <a:r>
              <a:rPr sz="1500" spc="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2:</a:t>
            </a:r>
            <a:r>
              <a:rPr sz="1500" spc="20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1-2-10-12-</a:t>
            </a:r>
            <a:r>
              <a:rPr sz="1500" spc="-25" dirty="0">
                <a:latin typeface="Calibri"/>
                <a:cs typeface="Calibri"/>
              </a:rPr>
              <a:t>13</a:t>
            </a:r>
            <a:endParaRPr sz="1500">
              <a:latin typeface="Calibri"/>
              <a:cs typeface="Calibri"/>
            </a:endParaRPr>
          </a:p>
          <a:p>
            <a:pPr marL="365760" indent="-353060">
              <a:lnSpc>
                <a:spcPts val="1725"/>
              </a:lnSpc>
              <a:buFont typeface="Segoe UI Symbol"/>
              <a:buChar char="▪"/>
              <a:tabLst>
                <a:tab pos="365760" algn="l"/>
              </a:tabLst>
            </a:pPr>
            <a:r>
              <a:rPr sz="1500" dirty="0">
                <a:latin typeface="Calibri"/>
                <a:cs typeface="Calibri"/>
              </a:rPr>
              <a:t>path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3: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1-2-3-10-11-</a:t>
            </a:r>
            <a:r>
              <a:rPr sz="1500" spc="-25" dirty="0">
                <a:latin typeface="Calibri"/>
                <a:cs typeface="Calibri"/>
              </a:rPr>
              <a:t>13</a:t>
            </a:r>
            <a:endParaRPr sz="1500">
              <a:latin typeface="Calibri"/>
              <a:cs typeface="Calibri"/>
            </a:endParaRPr>
          </a:p>
          <a:p>
            <a:pPr marL="365760" indent="-353060">
              <a:lnSpc>
                <a:spcPts val="1725"/>
              </a:lnSpc>
              <a:buFont typeface="Segoe UI Symbol"/>
              <a:buChar char="▪"/>
              <a:tabLst>
                <a:tab pos="365760" algn="l"/>
              </a:tabLst>
            </a:pPr>
            <a:r>
              <a:rPr sz="1500" dirty="0">
                <a:latin typeface="Calibri"/>
                <a:cs typeface="Calibri"/>
              </a:rPr>
              <a:t>path</a:t>
            </a:r>
            <a:r>
              <a:rPr sz="1500" spc="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4:</a:t>
            </a:r>
            <a:r>
              <a:rPr sz="1500" spc="20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1-2-3-4-5-8-9-2-</a:t>
            </a:r>
            <a:r>
              <a:rPr sz="1500" dirty="0">
                <a:latin typeface="Calibri"/>
                <a:cs typeface="Calibri"/>
              </a:rPr>
              <a:t>.</a:t>
            </a:r>
            <a:r>
              <a:rPr sz="1500" spc="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.</a:t>
            </a:r>
            <a:r>
              <a:rPr sz="1500" spc="20" dirty="0">
                <a:latin typeface="Calibri"/>
                <a:cs typeface="Calibri"/>
              </a:rPr>
              <a:t> </a:t>
            </a:r>
            <a:r>
              <a:rPr sz="1500" spc="-50" dirty="0">
                <a:latin typeface="Calibri"/>
                <a:cs typeface="Calibri"/>
              </a:rPr>
              <a:t>.</a:t>
            </a:r>
            <a:endParaRPr sz="1500">
              <a:latin typeface="Calibri"/>
              <a:cs typeface="Calibri"/>
            </a:endParaRPr>
          </a:p>
          <a:p>
            <a:pPr marL="365760" indent="-353060">
              <a:lnSpc>
                <a:spcPts val="1725"/>
              </a:lnSpc>
              <a:buFont typeface="Segoe UI Symbol"/>
              <a:buChar char="▪"/>
              <a:tabLst>
                <a:tab pos="365760" algn="l"/>
              </a:tabLst>
            </a:pPr>
            <a:r>
              <a:rPr sz="1500" dirty="0">
                <a:latin typeface="Calibri"/>
                <a:cs typeface="Calibri"/>
              </a:rPr>
              <a:t>path</a:t>
            </a:r>
            <a:r>
              <a:rPr sz="1500" spc="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5:</a:t>
            </a:r>
            <a:r>
              <a:rPr sz="1500" spc="2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1-2-3-4-5-6-8-9-2-</a:t>
            </a:r>
            <a:r>
              <a:rPr sz="1500" dirty="0">
                <a:latin typeface="Calibri"/>
                <a:cs typeface="Calibri"/>
              </a:rPr>
              <a:t>.</a:t>
            </a:r>
            <a:r>
              <a:rPr sz="1500" spc="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.</a:t>
            </a:r>
            <a:r>
              <a:rPr sz="1500" spc="25" dirty="0">
                <a:latin typeface="Calibri"/>
                <a:cs typeface="Calibri"/>
              </a:rPr>
              <a:t> </a:t>
            </a:r>
            <a:r>
              <a:rPr sz="1500" spc="-50" dirty="0">
                <a:latin typeface="Calibri"/>
                <a:cs typeface="Calibri"/>
              </a:rPr>
              <a:t>.</a:t>
            </a:r>
            <a:endParaRPr sz="1500">
              <a:latin typeface="Calibri"/>
              <a:cs typeface="Calibri"/>
            </a:endParaRPr>
          </a:p>
          <a:p>
            <a:pPr marL="365760" indent="-353060">
              <a:lnSpc>
                <a:spcPts val="1725"/>
              </a:lnSpc>
              <a:buFont typeface="Segoe UI Symbol"/>
              <a:buChar char="▪"/>
              <a:tabLst>
                <a:tab pos="365760" algn="l"/>
              </a:tabLst>
            </a:pPr>
            <a:r>
              <a:rPr sz="1500" dirty="0">
                <a:latin typeface="Calibri"/>
                <a:cs typeface="Calibri"/>
              </a:rPr>
              <a:t>path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6: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1-2-3-4-5-6-7-8-9-2-</a:t>
            </a:r>
            <a:r>
              <a:rPr sz="1500" dirty="0">
                <a:latin typeface="Calibri"/>
                <a:cs typeface="Calibri"/>
              </a:rPr>
              <a:t>.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.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spc="-50" dirty="0">
                <a:latin typeface="Calibri"/>
                <a:cs typeface="Calibri"/>
              </a:rPr>
              <a:t>.</a:t>
            </a:r>
            <a:endParaRPr sz="1500">
              <a:latin typeface="Calibri"/>
              <a:cs typeface="Calibri"/>
            </a:endParaRPr>
          </a:p>
          <a:p>
            <a:pPr marL="365760" marR="5080" indent="-353695">
              <a:lnSpc>
                <a:spcPct val="79200"/>
              </a:lnSpc>
              <a:spcBef>
                <a:spcPts val="335"/>
              </a:spcBef>
              <a:buFont typeface="Segoe UI Symbol"/>
              <a:buChar char="▪"/>
              <a:tabLst>
                <a:tab pos="365760" algn="l"/>
              </a:tabLst>
            </a:pPr>
            <a:r>
              <a:rPr sz="1500" dirty="0">
                <a:latin typeface="Calibri"/>
                <a:cs typeface="Calibri"/>
              </a:rPr>
              <a:t>The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ellipsis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(.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.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.)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following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paths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4,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5,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6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indicates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that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any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path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through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remainder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of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control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structure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acceptable.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2528493-013A-97B9-814B-2E2ACE5C96AF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5947AA2-8BC4-B45A-0700-CA4A1E58D18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6518935-D828-09D4-29AD-2D82102E6C81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703173D8-AD1E-69AD-3768-473B126A70DB}"/>
              </a:ext>
            </a:extLst>
          </p:cNvPr>
          <p:cNvSpPr/>
          <p:nvPr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56791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3525" y="1697673"/>
            <a:ext cx="86169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5376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Continue…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7375" y="3071813"/>
            <a:ext cx="5430838" cy="280352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09191" y="2915800"/>
            <a:ext cx="7059295" cy="254000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608965" marR="283210" indent="-596900">
              <a:lnSpc>
                <a:spcPts val="2180"/>
              </a:lnSpc>
              <a:spcBef>
                <a:spcPts val="355"/>
              </a:spcBef>
              <a:buFont typeface="Times New Roman"/>
              <a:buAutoNum type="arabicPeriod" startAt="4"/>
              <a:tabLst>
                <a:tab pos="608965" algn="l"/>
              </a:tabLst>
            </a:pPr>
            <a:r>
              <a:rPr sz="2000" b="1" dirty="0">
                <a:latin typeface="Calibri"/>
                <a:cs typeface="Calibri"/>
              </a:rPr>
              <a:t>Prepare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test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cases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that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will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force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execution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of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each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path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spc="-25" dirty="0">
                <a:latin typeface="Calibri"/>
                <a:cs typeface="Calibri"/>
              </a:rPr>
              <a:t>in </a:t>
            </a:r>
            <a:r>
              <a:rPr sz="2000" b="1" dirty="0">
                <a:latin typeface="Calibri"/>
                <a:cs typeface="Calibri"/>
              </a:rPr>
              <a:t>the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basis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set.</a:t>
            </a:r>
            <a:endParaRPr sz="2000">
              <a:latin typeface="Calibri"/>
              <a:cs typeface="Calibri"/>
            </a:endParaRPr>
          </a:p>
          <a:p>
            <a:pPr marL="989965" lvl="1" indent="-419734">
              <a:lnSpc>
                <a:spcPts val="2020"/>
              </a:lnSpc>
              <a:buFont typeface="Segoe UI Symbol"/>
              <a:buChar char="▪"/>
              <a:tabLst>
                <a:tab pos="989965" algn="l"/>
              </a:tabLst>
            </a:pPr>
            <a:r>
              <a:rPr sz="2000" dirty="0">
                <a:latin typeface="Calibri"/>
                <a:cs typeface="Calibri"/>
              </a:rPr>
              <a:t>Data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should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chosen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conditions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predicate</a:t>
            </a:r>
            <a:endParaRPr sz="2000">
              <a:latin typeface="Calibri"/>
              <a:cs typeface="Calibri"/>
            </a:endParaRPr>
          </a:p>
          <a:p>
            <a:pPr marL="989965">
              <a:lnSpc>
                <a:spcPts val="2175"/>
              </a:lnSpc>
            </a:pPr>
            <a:r>
              <a:rPr sz="2000" dirty="0">
                <a:latin typeface="Calibri"/>
                <a:cs typeface="Calibri"/>
              </a:rPr>
              <a:t>nodes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appropriately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each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path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tested.</a:t>
            </a:r>
            <a:endParaRPr sz="2000">
              <a:latin typeface="Calibri"/>
              <a:cs typeface="Calibri"/>
            </a:endParaRPr>
          </a:p>
          <a:p>
            <a:pPr marL="989965" marR="559435" lvl="1" indent="-420370">
              <a:lnSpc>
                <a:spcPts val="2180"/>
              </a:lnSpc>
              <a:spcBef>
                <a:spcPts val="145"/>
              </a:spcBef>
              <a:buFont typeface="Segoe UI Symbol"/>
              <a:buChar char="▪"/>
              <a:tabLst>
                <a:tab pos="989965" algn="l"/>
              </a:tabLst>
            </a:pPr>
            <a:r>
              <a:rPr sz="2000" dirty="0">
                <a:latin typeface="Calibri"/>
                <a:cs typeface="Calibri"/>
              </a:rPr>
              <a:t>Each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case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executed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compared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expected results.</a:t>
            </a:r>
            <a:endParaRPr sz="2000">
              <a:latin typeface="Calibri"/>
              <a:cs typeface="Calibri"/>
            </a:endParaRPr>
          </a:p>
          <a:p>
            <a:pPr marL="989965" lvl="1" indent="-419734">
              <a:lnSpc>
                <a:spcPts val="2020"/>
              </a:lnSpc>
              <a:buFont typeface="Segoe UI Symbol"/>
              <a:buChar char="▪"/>
              <a:tabLst>
                <a:tab pos="989965" algn="l"/>
              </a:tabLst>
            </a:pPr>
            <a:r>
              <a:rPr sz="2000" dirty="0">
                <a:latin typeface="Calibri"/>
                <a:cs typeface="Calibri"/>
              </a:rPr>
              <a:t>Once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cases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been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completed,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tester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be</a:t>
            </a:r>
            <a:endParaRPr sz="2000">
              <a:latin typeface="Calibri"/>
              <a:cs typeface="Calibri"/>
            </a:endParaRPr>
          </a:p>
          <a:p>
            <a:pPr marL="989965" marR="889635">
              <a:lnSpc>
                <a:spcPts val="2180"/>
              </a:lnSpc>
              <a:spcBef>
                <a:spcPts val="140"/>
              </a:spcBef>
            </a:pPr>
            <a:r>
              <a:rPr sz="2000" dirty="0">
                <a:latin typeface="Calibri"/>
                <a:cs typeface="Calibri"/>
              </a:rPr>
              <a:t>sure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statements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program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been </a:t>
            </a:r>
            <a:r>
              <a:rPr sz="2000" spc="-10" dirty="0">
                <a:latin typeface="Calibri"/>
                <a:cs typeface="Calibri"/>
              </a:rPr>
              <a:t>executed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least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once.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998919E-AD31-746E-232E-12AFE1AB101B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00A71AF-9364-DC21-8C2B-811E0244FC8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C97C6CE-C809-83C8-62D6-786E4C0ED17A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1" name="object 3">
            <a:extLst>
              <a:ext uri="{FF2B5EF4-FFF2-40B4-BE49-F238E27FC236}">
                <a16:creationId xmlns:a16="http://schemas.microsoft.com/office/drawing/2014/main" id="{388CEE14-F6F7-2FF5-C0BA-F81A62CE0E72}"/>
              </a:ext>
            </a:extLst>
          </p:cNvPr>
          <p:cNvSpPr/>
          <p:nvPr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56791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3525" y="1697673"/>
            <a:ext cx="86169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84830">
              <a:lnSpc>
                <a:spcPct val="100000"/>
              </a:lnSpc>
              <a:spcBef>
                <a:spcPts val="100"/>
              </a:spcBef>
            </a:pPr>
            <a:r>
              <a:rPr dirty="0"/>
              <a:t>Graph</a:t>
            </a:r>
            <a:r>
              <a:rPr spc="-25" dirty="0"/>
              <a:t> </a:t>
            </a:r>
            <a:r>
              <a:rPr spc="-10" dirty="0"/>
              <a:t>Matrices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3688" y="4109340"/>
            <a:ext cx="5430838" cy="280352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27584" y="3474655"/>
            <a:ext cx="7783872" cy="614912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065" marR="559435" algn="just">
              <a:lnSpc>
                <a:spcPct val="79900"/>
              </a:lnSpc>
              <a:spcBef>
                <a:spcPts val="535"/>
              </a:spcBef>
              <a:tabLst>
                <a:tab pos="92710" algn="l"/>
                <a:tab pos="143510" algn="l"/>
              </a:tabLst>
            </a:pPr>
            <a:r>
              <a:rPr lang="en-US" sz="2200" dirty="0"/>
              <a:t>A graph matrix is a matrix representation of a graph that shows the relationship between nodes and edges.</a:t>
            </a:r>
            <a:endParaRPr sz="2200" dirty="0">
              <a:latin typeface="Calibri"/>
              <a:cs typeface="Calibri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4F87FD3-3ED9-651B-81ED-BD56B2016589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7BFB832-AF20-47A0-C2AB-FE6CBA067E9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D1690DA-384F-0064-BA3C-6A1F978DCEB8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1" name="object 3">
            <a:extLst>
              <a:ext uri="{FF2B5EF4-FFF2-40B4-BE49-F238E27FC236}">
                <a16:creationId xmlns:a16="http://schemas.microsoft.com/office/drawing/2014/main" id="{8B78F8AA-75E3-FD09-3DBF-2D5780268695}"/>
              </a:ext>
            </a:extLst>
          </p:cNvPr>
          <p:cNvSpPr/>
          <p:nvPr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C589E99-0150-9EDA-51C4-5B7C276F3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91BD892-0910-ABF5-EBA4-2DC3B0399E31}"/>
              </a:ext>
            </a:extLst>
          </p:cNvPr>
          <p:cNvSpPr/>
          <p:nvPr/>
        </p:nvSpPr>
        <p:spPr>
          <a:xfrm>
            <a:off x="0" y="1556791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208DA49-B7BD-1657-5804-8F1975898C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3525" y="1697673"/>
            <a:ext cx="86169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84830">
              <a:lnSpc>
                <a:spcPct val="100000"/>
              </a:lnSpc>
              <a:spcBef>
                <a:spcPts val="100"/>
              </a:spcBef>
            </a:pPr>
            <a:r>
              <a:rPr dirty="0"/>
              <a:t>Graph</a:t>
            </a:r>
            <a:r>
              <a:rPr spc="-25" dirty="0"/>
              <a:t> </a:t>
            </a:r>
            <a:r>
              <a:rPr spc="-10" dirty="0"/>
              <a:t>Matrices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AB8AACD7-B7F6-6C55-4D4F-3EAE1C36D1D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7375" y="3071813"/>
            <a:ext cx="5430838" cy="2803524"/>
          </a:xfrm>
          <a:prstGeom prst="rect">
            <a:avLst/>
          </a:prstGeom>
        </p:spPr>
      </p:pic>
      <p:sp>
        <p:nvSpPr>
          <p:cNvPr id="7" name="object 7">
            <a:extLst>
              <a:ext uri="{FF2B5EF4-FFF2-40B4-BE49-F238E27FC236}">
                <a16:creationId xmlns:a16="http://schemas.microsoft.com/office/drawing/2014/main" id="{48BC87E3-78E1-AA42-B727-A5C9FD1EE3AE}"/>
              </a:ext>
            </a:extLst>
          </p:cNvPr>
          <p:cNvSpPr txBox="1"/>
          <p:nvPr/>
        </p:nvSpPr>
        <p:spPr>
          <a:xfrm>
            <a:off x="748568" y="2609276"/>
            <a:ext cx="7222490" cy="292862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92710" marR="559435" indent="-80645">
              <a:lnSpc>
                <a:spcPct val="79900"/>
              </a:lnSpc>
              <a:spcBef>
                <a:spcPts val="535"/>
              </a:spcBef>
              <a:buFont typeface="Arial MT"/>
              <a:buChar char="•"/>
              <a:tabLst>
                <a:tab pos="92710" algn="l"/>
                <a:tab pos="143510" algn="l"/>
              </a:tabLst>
            </a:pPr>
            <a:r>
              <a:rPr sz="1800" dirty="0">
                <a:latin typeface="Calibri"/>
                <a:cs typeface="Calibri"/>
              </a:rPr>
              <a:t>	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graph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matrix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square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matrix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whose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size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(i.e.,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number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rows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and </a:t>
            </a:r>
            <a:r>
              <a:rPr sz="1800" spc="-10" dirty="0">
                <a:latin typeface="Calibri"/>
                <a:cs typeface="Calibri"/>
              </a:rPr>
              <a:t>columns)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equal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number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nodes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flow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graph.</a:t>
            </a:r>
            <a:endParaRPr sz="1800" dirty="0">
              <a:latin typeface="Calibri"/>
              <a:cs typeface="Calibri"/>
            </a:endParaRPr>
          </a:p>
          <a:p>
            <a:pPr marL="92710" marR="66675" indent="-80645">
              <a:lnSpc>
                <a:spcPct val="79900"/>
              </a:lnSpc>
              <a:buFont typeface="Arial MT"/>
              <a:buChar char="•"/>
              <a:tabLst>
                <a:tab pos="92710" algn="l"/>
                <a:tab pos="143510" algn="l"/>
              </a:tabLst>
            </a:pPr>
            <a:r>
              <a:rPr sz="1800" dirty="0">
                <a:latin typeface="Calibri"/>
                <a:cs typeface="Calibri"/>
              </a:rPr>
              <a:t>	Each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row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column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corresponds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identified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node,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matrix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entries correspond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connections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(an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edge)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between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nodes.</a:t>
            </a:r>
            <a:endParaRPr sz="1800" dirty="0">
              <a:latin typeface="Calibri"/>
              <a:cs typeface="Calibri"/>
            </a:endParaRPr>
          </a:p>
          <a:p>
            <a:pPr marL="92710" marR="501650" indent="-80645">
              <a:lnSpc>
                <a:spcPct val="79900"/>
              </a:lnSpc>
              <a:buFont typeface="Arial MT"/>
              <a:buChar char="•"/>
              <a:tabLst>
                <a:tab pos="92710" algn="l"/>
                <a:tab pos="143510" algn="l"/>
              </a:tabLst>
            </a:pPr>
            <a:r>
              <a:rPr sz="1800" dirty="0">
                <a:latin typeface="Calibri"/>
                <a:cs typeface="Calibri"/>
              </a:rPr>
              <a:t>	Each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node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flow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graph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identify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numbers,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while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edge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is </a:t>
            </a:r>
            <a:r>
              <a:rPr sz="1800" dirty="0">
                <a:latin typeface="Calibri"/>
                <a:cs typeface="Calibri"/>
              </a:rPr>
              <a:t>identify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letters.</a:t>
            </a:r>
            <a:endParaRPr sz="1800" dirty="0">
              <a:latin typeface="Calibri"/>
              <a:cs typeface="Calibri"/>
            </a:endParaRPr>
          </a:p>
          <a:p>
            <a:pPr marL="92710" marR="321945" indent="-80645">
              <a:lnSpc>
                <a:spcPct val="79900"/>
              </a:lnSpc>
              <a:buFont typeface="Arial MT"/>
              <a:buChar char="•"/>
              <a:tabLst>
                <a:tab pos="92710" algn="l"/>
                <a:tab pos="143510" algn="l"/>
              </a:tabLst>
            </a:pPr>
            <a:r>
              <a:rPr sz="1800" dirty="0">
                <a:latin typeface="Calibri"/>
                <a:cs typeface="Calibri"/>
              </a:rPr>
              <a:t>	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graph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matrix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nothing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more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tabular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representation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flow </a:t>
            </a:r>
            <a:r>
              <a:rPr sz="1800" spc="-10" dirty="0">
                <a:latin typeface="Calibri"/>
                <a:cs typeface="Calibri"/>
              </a:rPr>
              <a:t>graph.</a:t>
            </a:r>
            <a:endParaRPr sz="1800" dirty="0">
              <a:latin typeface="Calibri"/>
              <a:cs typeface="Calibri"/>
            </a:endParaRPr>
          </a:p>
          <a:p>
            <a:pPr marL="92710" marR="5080" indent="-80645">
              <a:lnSpc>
                <a:spcPct val="79900"/>
              </a:lnSpc>
              <a:buFont typeface="Arial MT"/>
              <a:buChar char="•"/>
              <a:tabLst>
                <a:tab pos="92710" algn="l"/>
                <a:tab pos="143510" algn="l"/>
              </a:tabLst>
            </a:pPr>
            <a:r>
              <a:rPr sz="1800" dirty="0">
                <a:latin typeface="Calibri"/>
                <a:cs typeface="Calibri"/>
              </a:rPr>
              <a:t>	By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adding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link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weight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matrix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entry,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graph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matrix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become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a </a:t>
            </a:r>
            <a:r>
              <a:rPr sz="1800" spc="-10" dirty="0">
                <a:latin typeface="Calibri"/>
                <a:cs typeface="Calibri"/>
              </a:rPr>
              <a:t>powerful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tool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evaluating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program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control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structure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during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testing.</a:t>
            </a:r>
            <a:endParaRPr sz="1800" dirty="0">
              <a:latin typeface="Calibri"/>
              <a:cs typeface="Calibri"/>
            </a:endParaRPr>
          </a:p>
          <a:p>
            <a:pPr marL="92710" marR="300990" indent="-80645" algn="just">
              <a:lnSpc>
                <a:spcPct val="79900"/>
              </a:lnSpc>
              <a:buFont typeface="Arial MT"/>
              <a:buChar char="•"/>
              <a:tabLst>
                <a:tab pos="92710" algn="l"/>
                <a:tab pos="143510" algn="l"/>
              </a:tabLst>
            </a:pPr>
            <a:r>
              <a:rPr sz="1800" dirty="0">
                <a:latin typeface="Calibri"/>
                <a:cs typeface="Calibri"/>
              </a:rPr>
              <a:t>	The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link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weight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provides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additional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information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about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control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flow.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its </a:t>
            </a:r>
            <a:r>
              <a:rPr sz="1800" dirty="0">
                <a:latin typeface="Calibri"/>
                <a:cs typeface="Calibri"/>
              </a:rPr>
              <a:t>simplest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form,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link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weight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connection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exists)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connection </a:t>
            </a:r>
            <a:r>
              <a:rPr sz="1800" dirty="0">
                <a:latin typeface="Calibri"/>
                <a:cs typeface="Calibri"/>
              </a:rPr>
              <a:t>does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exist).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945FF15-6717-8FC9-7671-D059A48C12F5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812C6CD-9072-390F-DF69-48FD7B3CFB9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324CCED-4D92-DC95-43DD-C9C360D61CAD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1" name="object 3">
            <a:extLst>
              <a:ext uri="{FF2B5EF4-FFF2-40B4-BE49-F238E27FC236}">
                <a16:creationId xmlns:a16="http://schemas.microsoft.com/office/drawing/2014/main" id="{32AA7D29-69C4-6FC6-8255-4CB98365C4B2}"/>
              </a:ext>
            </a:extLst>
          </p:cNvPr>
          <p:cNvSpPr/>
          <p:nvPr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</p:spTree>
    <p:extLst>
      <p:ext uri="{BB962C8B-B14F-4D97-AF65-F5344CB8AC3E}">
        <p14:creationId xmlns:p14="http://schemas.microsoft.com/office/powerpoint/2010/main" val="22873340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5376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Continue…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95536" y="2636912"/>
            <a:ext cx="8229600" cy="3240405"/>
            <a:chOff x="395536" y="2636912"/>
            <a:chExt cx="8229600" cy="32404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5536" y="2636912"/>
              <a:ext cx="8229599" cy="324035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473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Connection</a:t>
            </a:r>
            <a:r>
              <a:rPr spc="-95" dirty="0"/>
              <a:t> </a:t>
            </a:r>
            <a:r>
              <a:rPr spc="-10" dirty="0"/>
              <a:t>matrix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99591" y="2564904"/>
            <a:ext cx="7496943" cy="3456383"/>
            <a:chOff x="899591" y="2564904"/>
            <a:chExt cx="7496943" cy="3456383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9591" y="2564904"/>
              <a:ext cx="7496943" cy="3456383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3780928" y="6111583"/>
            <a:ext cx="21526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Calibri"/>
                <a:cs typeface="Calibri"/>
              </a:rPr>
              <a:t>Figure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6.9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Connection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matrix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56791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3525" y="1697673"/>
            <a:ext cx="86169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473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Connection</a:t>
            </a:r>
            <a:r>
              <a:rPr spc="-95" dirty="0"/>
              <a:t> </a:t>
            </a:r>
            <a:r>
              <a:rPr spc="-10" dirty="0"/>
              <a:t>matrix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7375" y="3071813"/>
            <a:ext cx="5430838" cy="280352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76560" y="2725176"/>
            <a:ext cx="7357109" cy="223329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92710" marR="410845" indent="-80645">
              <a:lnSpc>
                <a:spcPct val="100699"/>
              </a:lnSpc>
              <a:spcBef>
                <a:spcPts val="85"/>
              </a:spcBef>
              <a:buChar char="•"/>
              <a:tabLst>
                <a:tab pos="92710" algn="l"/>
                <a:tab pos="154940" algn="l"/>
              </a:tabLst>
            </a:pPr>
            <a:r>
              <a:rPr sz="1800" dirty="0">
                <a:latin typeface="Arial MT"/>
                <a:cs typeface="Arial MT"/>
              </a:rPr>
              <a:t>	Each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letter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been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replaced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1,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indicating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connection </a:t>
            </a:r>
            <a:r>
              <a:rPr sz="1800" dirty="0">
                <a:latin typeface="Arial MT"/>
                <a:cs typeface="Arial MT"/>
              </a:rPr>
              <a:t>exists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(this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graph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matrix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is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called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 </a:t>
            </a:r>
            <a:r>
              <a:rPr sz="1800" b="1" i="1" dirty="0">
                <a:latin typeface="Arial"/>
                <a:cs typeface="Arial"/>
              </a:rPr>
              <a:t>connection</a:t>
            </a:r>
            <a:r>
              <a:rPr sz="1800" b="1" i="1" spc="-25" dirty="0">
                <a:latin typeface="Arial"/>
                <a:cs typeface="Arial"/>
              </a:rPr>
              <a:t> </a:t>
            </a:r>
            <a:r>
              <a:rPr sz="1800" b="1" i="1" spc="-10" dirty="0">
                <a:latin typeface="Arial"/>
                <a:cs typeface="Arial"/>
              </a:rPr>
              <a:t>matrix).</a:t>
            </a:r>
            <a:endParaRPr sz="1800">
              <a:latin typeface="Arial"/>
              <a:cs typeface="Arial"/>
            </a:endParaRPr>
          </a:p>
          <a:p>
            <a:pPr marL="92710" marR="5080" indent="-80645">
              <a:lnSpc>
                <a:spcPct val="100699"/>
              </a:lnSpc>
              <a:buChar char="•"/>
              <a:tabLst>
                <a:tab pos="92710" algn="l"/>
                <a:tab pos="154940" algn="l"/>
              </a:tabLst>
            </a:pPr>
            <a:r>
              <a:rPr sz="1800" dirty="0">
                <a:latin typeface="Arial MT"/>
                <a:cs typeface="Arial MT"/>
              </a:rPr>
              <a:t>	In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fig.(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connection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matrix)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each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row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two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more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entries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represents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predicate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node.</a:t>
            </a:r>
            <a:endParaRPr sz="1800">
              <a:latin typeface="Arial MT"/>
              <a:cs typeface="Arial MT"/>
            </a:endParaRPr>
          </a:p>
          <a:p>
            <a:pPr marL="92710" marR="334645" indent="-80645">
              <a:lnSpc>
                <a:spcPct val="100699"/>
              </a:lnSpc>
              <a:buChar char="•"/>
              <a:tabLst>
                <a:tab pos="92710" algn="l"/>
                <a:tab pos="154940" algn="l"/>
              </a:tabLst>
            </a:pPr>
            <a:r>
              <a:rPr sz="1800" dirty="0">
                <a:latin typeface="Arial MT"/>
                <a:cs typeface="Arial MT"/>
              </a:rPr>
              <a:t>	We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directly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measure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cyclomatic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complexity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value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-10" dirty="0">
                <a:latin typeface="Arial MT"/>
                <a:cs typeface="Arial MT"/>
              </a:rPr>
              <a:t> performing </a:t>
            </a:r>
            <a:r>
              <a:rPr sz="1800" dirty="0">
                <a:latin typeface="Arial MT"/>
                <a:cs typeface="Arial MT"/>
              </a:rPr>
              <a:t>arithmetic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operations</a:t>
            </a:r>
            <a:endParaRPr sz="1800">
              <a:latin typeface="Arial MT"/>
              <a:cs typeface="Arial MT"/>
            </a:endParaRPr>
          </a:p>
          <a:p>
            <a:pPr marL="213995" algn="ctr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latin typeface="Arial MT"/>
                <a:cs typeface="Arial MT"/>
              </a:rPr>
              <a:t>Connections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Each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row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Total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no.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entries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–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1.</a:t>
            </a:r>
            <a:endParaRPr sz="1800">
              <a:latin typeface="Arial MT"/>
              <a:cs typeface="Arial MT"/>
            </a:endParaRPr>
          </a:p>
          <a:p>
            <a:pPr marL="214629" algn="ctr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latin typeface="Arial MT"/>
                <a:cs typeface="Arial MT"/>
              </a:rPr>
              <a:t>V(G)=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Sum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all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connections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+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59D2CD6-7C30-D65A-F54C-7B13109099AA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1CCD0EF-2226-53BA-768E-FB84811D851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D8B5F15-D3B6-0A4E-EC01-629DD21D758E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1" name="object 3">
            <a:extLst>
              <a:ext uri="{FF2B5EF4-FFF2-40B4-BE49-F238E27FC236}">
                <a16:creationId xmlns:a16="http://schemas.microsoft.com/office/drawing/2014/main" id="{243AD06C-DDBE-1FA6-0ABF-023EF33E6E84}"/>
              </a:ext>
            </a:extLst>
          </p:cNvPr>
          <p:cNvSpPr/>
          <p:nvPr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1799" y="2852936"/>
            <a:ext cx="5430838" cy="280352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556791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573301" y="1722056"/>
            <a:ext cx="3996054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30830" algn="l"/>
              </a:tabLst>
            </a:pPr>
            <a:r>
              <a:rPr dirty="0"/>
              <a:t>Quality</a:t>
            </a:r>
            <a:r>
              <a:rPr spc="-85" dirty="0"/>
              <a:t> </a:t>
            </a:r>
            <a:r>
              <a:rPr dirty="0"/>
              <a:t>Control</a:t>
            </a:r>
            <a:r>
              <a:rPr spc="-80" dirty="0"/>
              <a:t> </a:t>
            </a:r>
            <a:r>
              <a:rPr spc="-50" dirty="0"/>
              <a:t>-</a:t>
            </a:r>
            <a:r>
              <a:rPr dirty="0"/>
              <a:t>	</a:t>
            </a:r>
            <a:r>
              <a:rPr spc="-10" dirty="0"/>
              <a:t>Quality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15166" y="2541671"/>
            <a:ext cx="8554720" cy="398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115" indent="-14541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58115" algn="l"/>
              </a:tabLst>
            </a:pPr>
            <a:r>
              <a:rPr sz="2000" b="1" dirty="0">
                <a:latin typeface="Calibri"/>
                <a:cs typeface="Calibri"/>
              </a:rPr>
              <a:t>Quality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as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“a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characteristic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or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attribute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of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something.”</a:t>
            </a:r>
            <a:endParaRPr sz="2000" dirty="0">
              <a:latin typeface="Calibri"/>
              <a:cs typeface="Calibri"/>
            </a:endParaRPr>
          </a:p>
          <a:p>
            <a:pPr marL="100965" indent="-100330">
              <a:lnSpc>
                <a:spcPct val="100000"/>
              </a:lnSpc>
              <a:buSzPct val="92500"/>
              <a:buFont typeface="Arial MT"/>
              <a:buChar char="•"/>
              <a:tabLst>
                <a:tab pos="100965" algn="l"/>
              </a:tabLst>
            </a:pPr>
            <a:r>
              <a:rPr sz="2000" dirty="0">
                <a:latin typeface="Calibri"/>
                <a:cs typeface="Calibri"/>
              </a:rPr>
              <a:t>Two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kinds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quality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encountered:</a:t>
            </a:r>
            <a:endParaRPr sz="2000" dirty="0">
              <a:latin typeface="Calibri"/>
              <a:cs typeface="Calibri"/>
            </a:endParaRPr>
          </a:p>
          <a:p>
            <a:pPr marL="558165" marR="591185" lvl="1" indent="-175260">
              <a:lnSpc>
                <a:spcPct val="100000"/>
              </a:lnSpc>
              <a:buFont typeface="Segoe UI Symbol"/>
              <a:buChar char="▪"/>
              <a:tabLst>
                <a:tab pos="558165" algn="l"/>
                <a:tab pos="614680" algn="l"/>
              </a:tabLst>
            </a:pPr>
            <a:r>
              <a:rPr sz="2000" dirty="0">
                <a:latin typeface="Calibri"/>
                <a:cs typeface="Calibri"/>
              </a:rPr>
              <a:t>	Quality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design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product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increases,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product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manufactured according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specifications.</a:t>
            </a:r>
            <a:endParaRPr sz="2000" dirty="0">
              <a:latin typeface="Calibri"/>
              <a:cs typeface="Calibri"/>
            </a:endParaRPr>
          </a:p>
          <a:p>
            <a:pPr marL="556895" marR="233679" lvl="1" indent="-231775">
              <a:lnSpc>
                <a:spcPct val="100000"/>
              </a:lnSpc>
              <a:buFont typeface="Segoe UI Symbol"/>
              <a:buChar char="▪"/>
              <a:tabLst>
                <a:tab pos="558165" algn="l"/>
              </a:tabLst>
            </a:pPr>
            <a:r>
              <a:rPr sz="2000" dirty="0">
                <a:latin typeface="Calibri"/>
                <a:cs typeface="Calibri"/>
              </a:rPr>
              <a:t>Quality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conformance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degree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design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specifications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are 	</a:t>
            </a:r>
            <a:r>
              <a:rPr sz="2000" dirty="0">
                <a:latin typeface="Calibri"/>
                <a:cs typeface="Calibri"/>
              </a:rPr>
              <a:t>followed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during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manufacturing.</a:t>
            </a:r>
            <a:endParaRPr sz="2000" dirty="0">
              <a:latin typeface="Calibri"/>
              <a:cs typeface="Calibri"/>
            </a:endParaRPr>
          </a:p>
          <a:p>
            <a:pPr marL="158115" indent="-145415">
              <a:lnSpc>
                <a:spcPct val="100000"/>
              </a:lnSpc>
              <a:spcBef>
                <a:spcPts val="2400"/>
              </a:spcBef>
              <a:buFont typeface="Arial MT"/>
              <a:buChar char="•"/>
              <a:tabLst>
                <a:tab pos="158115" algn="l"/>
              </a:tabLst>
            </a:pPr>
            <a:r>
              <a:rPr sz="2000" b="1" dirty="0">
                <a:latin typeface="Calibri"/>
                <a:cs typeface="Calibri"/>
              </a:rPr>
              <a:t>In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software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development</a:t>
            </a:r>
            <a:endParaRPr sz="2000" dirty="0">
              <a:latin typeface="Calibri"/>
              <a:cs typeface="Calibri"/>
            </a:endParaRPr>
          </a:p>
          <a:p>
            <a:pPr marL="558165" marR="137160" lvl="1" indent="-175260">
              <a:lnSpc>
                <a:spcPct val="100000"/>
              </a:lnSpc>
              <a:buFont typeface="Segoe UI Symbol"/>
              <a:buChar char="▪"/>
              <a:tabLst>
                <a:tab pos="558165" algn="l"/>
                <a:tab pos="614680" algn="l"/>
              </a:tabLst>
            </a:pPr>
            <a:r>
              <a:rPr sz="2000" dirty="0">
                <a:latin typeface="Calibri"/>
                <a:cs typeface="Calibri"/>
              </a:rPr>
              <a:t>	Quality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design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encompasses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requirements,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specifications,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design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system.</a:t>
            </a:r>
            <a:endParaRPr sz="2000" dirty="0">
              <a:latin typeface="Calibri"/>
              <a:cs typeface="Calibri"/>
            </a:endParaRPr>
          </a:p>
          <a:p>
            <a:pPr marL="615315" lvl="1" indent="-231775">
              <a:lnSpc>
                <a:spcPct val="100000"/>
              </a:lnSpc>
              <a:buFont typeface="Segoe UI Symbol"/>
              <a:buChar char="▪"/>
              <a:tabLst>
                <a:tab pos="615315" algn="l"/>
              </a:tabLst>
            </a:pPr>
            <a:r>
              <a:rPr sz="2000" dirty="0">
                <a:latin typeface="Calibri"/>
                <a:cs typeface="Calibri"/>
              </a:rPr>
              <a:t>Quality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conformance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issue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focused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primarily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implementation.</a:t>
            </a:r>
            <a:endParaRPr sz="2000" dirty="0">
              <a:latin typeface="Calibri"/>
              <a:cs typeface="Calibri"/>
            </a:endParaRPr>
          </a:p>
          <a:p>
            <a:pPr marL="100965" marR="5080" indent="-88900">
              <a:lnSpc>
                <a:spcPct val="100000"/>
              </a:lnSpc>
              <a:buFont typeface="Arial MT"/>
              <a:buChar char="•"/>
              <a:tabLst>
                <a:tab pos="100965" algn="l"/>
                <a:tab pos="157480" algn="l"/>
              </a:tabLst>
            </a:pPr>
            <a:r>
              <a:rPr sz="2000" dirty="0">
                <a:latin typeface="Calibri"/>
                <a:cs typeface="Calibri"/>
              </a:rPr>
              <a:t>	User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satisfaction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compliant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product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+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good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quality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+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delivery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within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budget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and </a:t>
            </a:r>
            <a:r>
              <a:rPr sz="2000" spc="-10" dirty="0">
                <a:latin typeface="Calibri"/>
                <a:cs typeface="Calibri"/>
              </a:rPr>
              <a:t>schedule</a:t>
            </a:r>
            <a:endParaRPr sz="2000" dirty="0">
              <a:latin typeface="Calibri"/>
              <a:cs typeface="Calibri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4E806A0-05D8-1461-571E-B28BF1D3EB4C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28CD982-18E9-B378-7261-DAA02C71F63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C3A7EDD-024B-C9E1-CF45-5569F01DFC98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2" name="object 3">
            <a:extLst>
              <a:ext uri="{FF2B5EF4-FFF2-40B4-BE49-F238E27FC236}">
                <a16:creationId xmlns:a16="http://schemas.microsoft.com/office/drawing/2014/main" id="{39BAFDEE-B4A5-1EE2-E8C9-FB4C9FD8BBC8}"/>
              </a:ext>
            </a:extLst>
          </p:cNvPr>
          <p:cNvSpPr/>
          <p:nvPr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7375" y="3071814"/>
            <a:ext cx="5306913" cy="2739551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556791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357748" y="1638960"/>
            <a:ext cx="44024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Software</a:t>
            </a:r>
            <a:r>
              <a:rPr spc="-85" dirty="0"/>
              <a:t> </a:t>
            </a:r>
            <a:r>
              <a:rPr dirty="0"/>
              <a:t>Quality</a:t>
            </a:r>
            <a:r>
              <a:rPr spc="-85" dirty="0"/>
              <a:t> </a:t>
            </a:r>
            <a:r>
              <a:rPr spc="-10" dirty="0"/>
              <a:t>Assurance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body" idx="4294967295"/>
          </p:nvPr>
        </p:nvSpPr>
        <p:spPr>
          <a:xfrm>
            <a:off x="812591" y="3071814"/>
            <a:ext cx="7396480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272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Calibri"/>
                <a:cs typeface="Calibri"/>
              </a:rPr>
              <a:t>Definition:</a:t>
            </a:r>
          </a:p>
          <a:p>
            <a:pPr marL="172720" marR="418465">
              <a:lnSpc>
                <a:spcPct val="100000"/>
              </a:lnSpc>
            </a:pPr>
            <a:r>
              <a:rPr lang="en-US" dirty="0"/>
              <a:t>Software Quality Assurance (SQA) means making sure the software is developed in the correct way so that it is high quality.</a:t>
            </a:r>
          </a:p>
          <a:p>
            <a:pPr marL="172720" marR="418465">
              <a:lnSpc>
                <a:spcPct val="100000"/>
              </a:lnSpc>
            </a:pPr>
            <a:endParaRPr lang="en-US" sz="2000" dirty="0">
              <a:latin typeface="Calibri"/>
              <a:cs typeface="Calibri"/>
            </a:endParaRPr>
          </a:p>
          <a:p>
            <a:pPr marL="172720" marR="418465"/>
            <a:r>
              <a:rPr lang="en-US" b="1" dirty="0"/>
              <a:t>SQA focuses on preventing mistakes</a:t>
            </a:r>
            <a:r>
              <a:rPr lang="en-US" dirty="0"/>
              <a:t>, not just fixing them.</a:t>
            </a:r>
          </a:p>
          <a:p>
            <a:pPr marL="172720" marR="418465">
              <a:lnSpc>
                <a:spcPct val="100000"/>
              </a:lnSpc>
            </a:pPr>
            <a:endParaRPr sz="2000" dirty="0">
              <a:latin typeface="Calibri"/>
              <a:cs typeface="Calibri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4E9177D-62DE-1967-AE45-B70C67965FEA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ADB4AE8-6DA9-440A-A165-0EF1F5710E8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D4D775C-0BDB-4458-E8B1-74AF6A073F53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1" name="object 3">
            <a:extLst>
              <a:ext uri="{FF2B5EF4-FFF2-40B4-BE49-F238E27FC236}">
                <a16:creationId xmlns:a16="http://schemas.microsoft.com/office/drawing/2014/main" id="{5ECBE25C-1A78-4E3B-48D0-CB3915C53193}"/>
              </a:ext>
            </a:extLst>
          </p:cNvPr>
          <p:cNvSpPr/>
          <p:nvPr/>
        </p:nvSpPr>
        <p:spPr>
          <a:xfrm>
            <a:off x="1" y="6477000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56791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3525" y="1697673"/>
            <a:ext cx="86169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23820">
              <a:lnSpc>
                <a:spcPct val="100000"/>
              </a:lnSpc>
              <a:spcBef>
                <a:spcPts val="100"/>
              </a:spcBef>
            </a:pPr>
            <a:r>
              <a:rPr dirty="0"/>
              <a:t>Role</a:t>
            </a:r>
            <a:r>
              <a:rPr spc="-3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an</a:t>
            </a:r>
            <a:r>
              <a:rPr spc="-35" dirty="0"/>
              <a:t> </a:t>
            </a:r>
            <a:r>
              <a:rPr dirty="0"/>
              <a:t>SQA</a:t>
            </a:r>
            <a:r>
              <a:rPr spc="-35" dirty="0"/>
              <a:t> </a:t>
            </a:r>
            <a:r>
              <a:rPr spc="-10" dirty="0"/>
              <a:t>group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23686" y="2580144"/>
            <a:ext cx="7095490" cy="3378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Calibri"/>
                <a:cs typeface="Calibri"/>
              </a:rPr>
              <a:t>1</a:t>
            </a:r>
            <a:r>
              <a:rPr sz="2000" dirty="0">
                <a:latin typeface="Calibri"/>
                <a:cs typeface="Calibri"/>
              </a:rPr>
              <a:t>.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Prepares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an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SQA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plan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for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project.</a:t>
            </a:r>
            <a:endParaRPr sz="2000">
              <a:latin typeface="Calibri"/>
              <a:cs typeface="Calibri"/>
            </a:endParaRPr>
          </a:p>
          <a:p>
            <a:pPr marL="100965" marR="508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plan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developed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during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project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planning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reviewed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all </a:t>
            </a:r>
            <a:r>
              <a:rPr sz="2000" spc="-10" dirty="0">
                <a:latin typeface="Calibri"/>
                <a:cs typeface="Calibri"/>
              </a:rPr>
              <a:t>stakeholders.</a:t>
            </a:r>
            <a:endParaRPr sz="2000">
              <a:latin typeface="Calibri"/>
              <a:cs typeface="Calibri"/>
            </a:endParaRPr>
          </a:p>
          <a:p>
            <a:pPr marL="158115" indent="-145415">
              <a:lnSpc>
                <a:spcPct val="100000"/>
              </a:lnSpc>
              <a:spcBef>
                <a:spcPts val="2400"/>
              </a:spcBef>
              <a:buFont typeface="Arial MT"/>
              <a:buChar char="•"/>
              <a:tabLst>
                <a:tab pos="158115" algn="l"/>
              </a:tabLst>
            </a:pPr>
            <a:r>
              <a:rPr sz="2000" b="1" dirty="0">
                <a:latin typeface="Calibri"/>
                <a:cs typeface="Calibri"/>
              </a:rPr>
              <a:t>The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plan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identifies</a:t>
            </a:r>
            <a:endParaRPr sz="2000">
              <a:latin typeface="Calibri"/>
              <a:cs typeface="Calibri"/>
            </a:endParaRPr>
          </a:p>
          <a:p>
            <a:pPr marL="615315" lvl="1" indent="-231775">
              <a:lnSpc>
                <a:spcPct val="100000"/>
              </a:lnSpc>
              <a:buFont typeface="Segoe UI Symbol"/>
              <a:buChar char="▪"/>
              <a:tabLst>
                <a:tab pos="615315" algn="l"/>
              </a:tabLst>
            </a:pPr>
            <a:r>
              <a:rPr sz="2000" spc="-10" dirty="0">
                <a:latin typeface="Calibri"/>
                <a:cs typeface="Calibri"/>
              </a:rPr>
              <a:t>Evaluations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performed</a:t>
            </a:r>
            <a:endParaRPr sz="2000">
              <a:latin typeface="Calibri"/>
              <a:cs typeface="Calibri"/>
            </a:endParaRPr>
          </a:p>
          <a:p>
            <a:pPr marL="615315" lvl="1" indent="-231775">
              <a:lnSpc>
                <a:spcPct val="100000"/>
              </a:lnSpc>
              <a:buFont typeface="Segoe UI Symbol"/>
              <a:buChar char="▪"/>
              <a:tabLst>
                <a:tab pos="615315" algn="l"/>
              </a:tabLst>
            </a:pPr>
            <a:r>
              <a:rPr sz="2000" dirty="0">
                <a:latin typeface="Calibri"/>
                <a:cs typeface="Calibri"/>
              </a:rPr>
              <a:t>Audits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reviews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performed</a:t>
            </a:r>
            <a:endParaRPr sz="2000">
              <a:latin typeface="Calibri"/>
              <a:cs typeface="Calibri"/>
            </a:endParaRPr>
          </a:p>
          <a:p>
            <a:pPr marL="615315" lvl="1" indent="-231775">
              <a:lnSpc>
                <a:spcPct val="100000"/>
              </a:lnSpc>
              <a:buFont typeface="Segoe UI Symbol"/>
              <a:buChar char="▪"/>
              <a:tabLst>
                <a:tab pos="615315" algn="l"/>
              </a:tabLst>
            </a:pPr>
            <a:r>
              <a:rPr sz="2000" spc="-10" dirty="0">
                <a:latin typeface="Calibri"/>
                <a:cs typeface="Calibri"/>
              </a:rPr>
              <a:t>Standards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applicable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project</a:t>
            </a:r>
            <a:endParaRPr sz="2000">
              <a:latin typeface="Calibri"/>
              <a:cs typeface="Calibri"/>
            </a:endParaRPr>
          </a:p>
          <a:p>
            <a:pPr marL="615315" lvl="1" indent="-231775">
              <a:lnSpc>
                <a:spcPct val="100000"/>
              </a:lnSpc>
              <a:buFont typeface="Segoe UI Symbol"/>
              <a:buChar char="▪"/>
              <a:tabLst>
                <a:tab pos="615315" algn="l"/>
              </a:tabLst>
            </a:pPr>
            <a:r>
              <a:rPr sz="2000" spc="-10" dirty="0">
                <a:latin typeface="Calibri"/>
                <a:cs typeface="Calibri"/>
              </a:rPr>
              <a:t>Procedures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error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reporting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tracking</a:t>
            </a:r>
            <a:endParaRPr sz="2000">
              <a:latin typeface="Calibri"/>
              <a:cs typeface="Calibri"/>
            </a:endParaRPr>
          </a:p>
          <a:p>
            <a:pPr marL="615315" lvl="1" indent="-231775">
              <a:lnSpc>
                <a:spcPct val="100000"/>
              </a:lnSpc>
              <a:buFont typeface="Segoe UI Symbol"/>
              <a:buChar char="▪"/>
              <a:tabLst>
                <a:tab pos="615315" algn="l"/>
              </a:tabLst>
            </a:pPr>
            <a:r>
              <a:rPr sz="2000" spc="-10" dirty="0">
                <a:latin typeface="Calibri"/>
                <a:cs typeface="Calibri"/>
              </a:rPr>
              <a:t>Documents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produced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SQA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group</a:t>
            </a:r>
            <a:endParaRPr sz="2000">
              <a:latin typeface="Calibri"/>
              <a:cs typeface="Calibri"/>
            </a:endParaRPr>
          </a:p>
          <a:p>
            <a:pPr marL="615315" lvl="1" indent="-231775">
              <a:lnSpc>
                <a:spcPct val="100000"/>
              </a:lnSpc>
              <a:buFont typeface="Segoe UI Symbol"/>
              <a:buChar char="▪"/>
              <a:tabLst>
                <a:tab pos="615315" algn="l"/>
              </a:tabLst>
            </a:pPr>
            <a:r>
              <a:rPr sz="2000" dirty="0">
                <a:latin typeface="Calibri"/>
                <a:cs typeface="Calibri"/>
              </a:rPr>
              <a:t>Amount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feedback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provided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software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project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team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5376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Continue…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3546" y="3040156"/>
            <a:ext cx="7193042" cy="2760306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56791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3525" y="1697673"/>
            <a:ext cx="86169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53995">
              <a:lnSpc>
                <a:spcPct val="100000"/>
              </a:lnSpc>
              <a:spcBef>
                <a:spcPts val="100"/>
              </a:spcBef>
            </a:pPr>
            <a:r>
              <a:rPr dirty="0"/>
              <a:t>Software</a:t>
            </a:r>
            <a:r>
              <a:rPr spc="15" dirty="0"/>
              <a:t> </a:t>
            </a:r>
            <a:r>
              <a:rPr spc="-10" dirty="0"/>
              <a:t>Reliability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7375" y="3071813"/>
            <a:ext cx="5430838" cy="280352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11718" y="2915800"/>
            <a:ext cx="7281545" cy="1842171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00965" marR="205104" indent="-88900">
              <a:lnSpc>
                <a:spcPts val="2170"/>
              </a:lnSpc>
              <a:spcBef>
                <a:spcPts val="365"/>
              </a:spcBef>
              <a:buFont typeface="Arial MT"/>
              <a:buChar char="•"/>
              <a:tabLst>
                <a:tab pos="100965" algn="l"/>
                <a:tab pos="157480" algn="l"/>
              </a:tabLst>
            </a:pPr>
            <a:r>
              <a:rPr lang="en-US" sz="2000" b="1" dirty="0"/>
              <a:t>Software Reliability</a:t>
            </a:r>
            <a:r>
              <a:rPr lang="en-US" sz="2000" dirty="0"/>
              <a:t> means </a:t>
            </a:r>
            <a:r>
              <a:rPr lang="en-US" sz="2000" b="1" dirty="0"/>
              <a:t>how dependably software works without failure</a:t>
            </a:r>
            <a:r>
              <a:rPr lang="en-US" sz="2000" dirty="0"/>
              <a:t> for a certain period of time in a specific environment.</a:t>
            </a:r>
          </a:p>
          <a:p>
            <a:pPr marL="100965" marR="205104" indent="-88900">
              <a:lnSpc>
                <a:spcPts val="2170"/>
              </a:lnSpc>
              <a:spcBef>
                <a:spcPts val="365"/>
              </a:spcBef>
              <a:buFont typeface="Arial MT"/>
              <a:buChar char="•"/>
              <a:tabLst>
                <a:tab pos="100965" algn="l"/>
                <a:tab pos="157480" algn="l"/>
              </a:tabLst>
            </a:pPr>
            <a:endParaRPr lang="en-US" sz="2000" dirty="0">
              <a:latin typeface="Calibri"/>
              <a:cs typeface="Calibri"/>
            </a:endParaRPr>
          </a:p>
          <a:p>
            <a:pPr marL="100965" marR="205104" indent="-88900">
              <a:lnSpc>
                <a:spcPts val="2170"/>
              </a:lnSpc>
              <a:spcBef>
                <a:spcPts val="365"/>
              </a:spcBef>
              <a:buFont typeface="Arial MT"/>
              <a:buChar char="•"/>
              <a:tabLst>
                <a:tab pos="100965" algn="l"/>
                <a:tab pos="157480" algn="l"/>
              </a:tabLst>
            </a:pPr>
            <a:r>
              <a:rPr lang="en-US" sz="2000" dirty="0"/>
              <a:t>If software works correctly again and again without crashing, it is reliable.</a:t>
            </a:r>
            <a:endParaRPr sz="2000" dirty="0">
              <a:latin typeface="Calibri"/>
              <a:cs typeface="Calibri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2D9287F-0644-DAA1-9999-D635CFF3BB14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6B31AFB-5F04-39CF-3C59-A51D8DBD9B3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13AA7F1-23BE-BEA3-CC87-D6882CEA4426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1" name="object 3">
            <a:extLst>
              <a:ext uri="{FF2B5EF4-FFF2-40B4-BE49-F238E27FC236}">
                <a16:creationId xmlns:a16="http://schemas.microsoft.com/office/drawing/2014/main" id="{6634BD62-B7BC-381D-1EDB-33699C0909B7}"/>
              </a:ext>
            </a:extLst>
          </p:cNvPr>
          <p:cNvSpPr/>
          <p:nvPr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63F2FA-4A05-2BD1-3FBF-D5F2795F2D77}"/>
              </a:ext>
            </a:extLst>
          </p:cNvPr>
          <p:cNvSpPr txBox="1"/>
          <p:nvPr/>
        </p:nvSpPr>
        <p:spPr>
          <a:xfrm>
            <a:off x="811718" y="4913984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Why Software Reliability is Important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Users trust the software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Reduces system crashes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Saves money and time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56791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19190" y="1638960"/>
            <a:ext cx="28809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Quality</a:t>
            </a:r>
            <a:r>
              <a:rPr spc="-130" dirty="0"/>
              <a:t> </a:t>
            </a:r>
            <a:r>
              <a:rPr spc="-10" dirty="0"/>
              <a:t>Assurance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23686" y="2884944"/>
            <a:ext cx="7200900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965" marR="5080" indent="-88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00965" algn="l"/>
                <a:tab pos="157480" algn="l"/>
              </a:tabLst>
            </a:pPr>
            <a:r>
              <a:rPr sz="2000" dirty="0">
                <a:latin typeface="Calibri"/>
                <a:cs typeface="Calibri"/>
              </a:rPr>
              <a:t>	Quality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assurance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consists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auditing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reporting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functions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of </a:t>
            </a:r>
            <a:r>
              <a:rPr sz="2000" spc="-10" dirty="0">
                <a:latin typeface="Calibri"/>
                <a:cs typeface="Calibri"/>
              </a:rPr>
              <a:t>management.</a:t>
            </a:r>
            <a:endParaRPr sz="2000">
              <a:latin typeface="Calibri"/>
              <a:cs typeface="Calibri"/>
            </a:endParaRPr>
          </a:p>
          <a:p>
            <a:pPr marL="158115" indent="-145415">
              <a:lnSpc>
                <a:spcPct val="100000"/>
              </a:lnSpc>
              <a:buFont typeface="Arial MT"/>
              <a:buChar char="•"/>
              <a:tabLst>
                <a:tab pos="158115" algn="l"/>
              </a:tabLst>
            </a:pPr>
            <a:r>
              <a:rPr sz="2000" dirty="0">
                <a:latin typeface="Calibri"/>
                <a:cs typeface="Calibri"/>
              </a:rPr>
              <a:t>If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provided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through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quality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assurance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identify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problem</a:t>
            </a:r>
            <a:endParaRPr sz="2000">
              <a:latin typeface="Calibri"/>
              <a:cs typeface="Calibri"/>
            </a:endParaRPr>
          </a:p>
          <a:p>
            <a:pPr marL="158115" indent="-145415">
              <a:lnSpc>
                <a:spcPct val="100000"/>
              </a:lnSpc>
              <a:buFont typeface="Arial MT"/>
              <a:buChar char="•"/>
              <a:tabLst>
                <a:tab pos="158115" algn="l"/>
              </a:tabLst>
            </a:pPr>
            <a:r>
              <a:rPr sz="2000" dirty="0">
                <a:latin typeface="Calibri"/>
                <a:cs typeface="Calibri"/>
              </a:rPr>
              <a:t>it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management’s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responsibility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address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problems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and</a:t>
            </a:r>
            <a:endParaRPr sz="2000">
              <a:latin typeface="Calibri"/>
              <a:cs typeface="Calibri"/>
            </a:endParaRPr>
          </a:p>
          <a:p>
            <a:pPr marL="158115" indent="-145415">
              <a:lnSpc>
                <a:spcPct val="100000"/>
              </a:lnSpc>
              <a:buFont typeface="Arial MT"/>
              <a:buChar char="•"/>
              <a:tabLst>
                <a:tab pos="158115" algn="l"/>
              </a:tabLst>
            </a:pPr>
            <a:r>
              <a:rPr sz="2000" dirty="0">
                <a:latin typeface="Calibri"/>
                <a:cs typeface="Calibri"/>
              </a:rPr>
              <a:t>apply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necessary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resources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resolve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quality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issues</a:t>
            </a:r>
            <a:r>
              <a:rPr sz="1800" spc="-10" dirty="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56791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3525" y="1697673"/>
            <a:ext cx="86169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37535">
              <a:lnSpc>
                <a:spcPct val="100000"/>
              </a:lnSpc>
              <a:spcBef>
                <a:spcPts val="100"/>
              </a:spcBef>
            </a:pPr>
            <a:r>
              <a:rPr dirty="0"/>
              <a:t>Cost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spc="-10" dirty="0"/>
              <a:t>Quality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51678" y="2928377"/>
            <a:ext cx="8158922" cy="2167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0"/>
              </a:spcBef>
              <a:tabLst>
                <a:tab pos="158115" algn="l"/>
              </a:tabLst>
            </a:pPr>
            <a:r>
              <a:rPr lang="en-US" sz="2000" b="1" dirty="0"/>
              <a:t>Cost of Quality</a:t>
            </a:r>
            <a:r>
              <a:rPr lang="en-US" sz="2000" dirty="0"/>
              <a:t> means the </a:t>
            </a:r>
            <a:r>
              <a:rPr lang="en-US" sz="2000" b="1" dirty="0"/>
              <a:t>money spent to make a product good</a:t>
            </a:r>
            <a:r>
              <a:rPr lang="en-US" sz="2000" dirty="0"/>
              <a:t> and the </a:t>
            </a:r>
            <a:r>
              <a:rPr lang="en-US" sz="2000" b="1" dirty="0"/>
              <a:t>money lost when the product is not good</a:t>
            </a:r>
            <a:r>
              <a:rPr lang="en-US" sz="2000" dirty="0"/>
              <a:t>.</a:t>
            </a:r>
            <a:endParaRPr lang="en-US"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00"/>
              </a:spcBef>
              <a:tabLst>
                <a:tab pos="158115" algn="l"/>
              </a:tabLst>
            </a:pPr>
            <a:r>
              <a:rPr sz="2000" dirty="0">
                <a:latin typeface="Calibri"/>
                <a:cs typeface="Calibri"/>
              </a:rPr>
              <a:t>Quality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costs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divided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3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cost:</a:t>
            </a:r>
            <a:endParaRPr sz="2000" dirty="0">
              <a:latin typeface="Calibri"/>
              <a:cs typeface="Calibri"/>
            </a:endParaRPr>
          </a:p>
          <a:p>
            <a:pPr marL="615315" lvl="1" indent="-231775">
              <a:lnSpc>
                <a:spcPct val="100000"/>
              </a:lnSpc>
              <a:buFont typeface="Segoe UI Symbol"/>
              <a:buChar char="▪"/>
              <a:tabLst>
                <a:tab pos="615315" algn="l"/>
              </a:tabLst>
            </a:pPr>
            <a:r>
              <a:rPr sz="2000" spc="-10" dirty="0">
                <a:latin typeface="Calibri"/>
                <a:cs typeface="Calibri"/>
              </a:rPr>
              <a:t>Prevention</a:t>
            </a:r>
            <a:endParaRPr sz="2000" dirty="0">
              <a:latin typeface="Calibri"/>
              <a:cs typeface="Calibri"/>
            </a:endParaRPr>
          </a:p>
          <a:p>
            <a:pPr marL="615315" lvl="1" indent="-231775">
              <a:lnSpc>
                <a:spcPct val="100000"/>
              </a:lnSpc>
              <a:buFont typeface="Segoe UI Symbol"/>
              <a:buChar char="▪"/>
              <a:tabLst>
                <a:tab pos="615315" algn="l"/>
              </a:tabLst>
            </a:pPr>
            <a:r>
              <a:rPr sz="2000" spc="-10" dirty="0">
                <a:latin typeface="Calibri"/>
                <a:cs typeface="Calibri"/>
              </a:rPr>
              <a:t>Appraisal</a:t>
            </a:r>
            <a:endParaRPr sz="2000" dirty="0">
              <a:latin typeface="Calibri"/>
              <a:cs typeface="Calibri"/>
            </a:endParaRPr>
          </a:p>
          <a:p>
            <a:pPr marL="615315" lvl="1" indent="-231775">
              <a:lnSpc>
                <a:spcPct val="100000"/>
              </a:lnSpc>
              <a:buFont typeface="Segoe UI Symbol"/>
              <a:buChar char="▪"/>
              <a:tabLst>
                <a:tab pos="615315" algn="l"/>
              </a:tabLst>
            </a:pPr>
            <a:r>
              <a:rPr sz="2000" spc="-10" dirty="0">
                <a:latin typeface="Calibri"/>
                <a:cs typeface="Calibri"/>
              </a:rPr>
              <a:t>Failure.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5736" y="3068960"/>
            <a:ext cx="5430838" cy="280352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556791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694131" y="1638960"/>
            <a:ext cx="1732914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Continue…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11718" y="2580144"/>
            <a:ext cx="6490970" cy="31034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115" indent="-14541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58115" algn="l"/>
              </a:tabLst>
            </a:pPr>
            <a:r>
              <a:rPr sz="2000" b="1" spc="-10" dirty="0">
                <a:latin typeface="Calibri"/>
                <a:cs typeface="Calibri"/>
              </a:rPr>
              <a:t>Prevention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costs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include:</a:t>
            </a:r>
            <a:endParaRPr lang="en-US" sz="2000" b="1" spc="-1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8115" algn="l"/>
              </a:tabLst>
            </a:pPr>
            <a:r>
              <a:rPr lang="en-US" sz="2000" dirty="0"/>
              <a:t>Money spent to </a:t>
            </a:r>
            <a:r>
              <a:rPr lang="en-US" sz="2000" b="1" dirty="0"/>
              <a:t>avoid errors before they happen</a:t>
            </a:r>
            <a:r>
              <a:rPr lang="en-US" sz="2000" dirty="0"/>
              <a:t>.</a:t>
            </a:r>
            <a:endParaRPr sz="2000" dirty="0">
              <a:latin typeface="Calibri"/>
              <a:cs typeface="Calibri"/>
            </a:endParaRPr>
          </a:p>
          <a:p>
            <a:pPr marL="615315" lvl="1" indent="-231775">
              <a:lnSpc>
                <a:spcPct val="100000"/>
              </a:lnSpc>
              <a:buFont typeface="Segoe UI Symbol"/>
              <a:buChar char="▪"/>
              <a:tabLst>
                <a:tab pos="615315" algn="l"/>
              </a:tabLst>
            </a:pPr>
            <a:r>
              <a:rPr sz="2000" dirty="0">
                <a:latin typeface="Calibri"/>
                <a:cs typeface="Calibri"/>
              </a:rPr>
              <a:t>Quality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planning</a:t>
            </a:r>
            <a:endParaRPr sz="2000" dirty="0">
              <a:latin typeface="Calibri"/>
              <a:cs typeface="Calibri"/>
            </a:endParaRPr>
          </a:p>
          <a:p>
            <a:pPr marL="615315" lvl="1" indent="-231775">
              <a:lnSpc>
                <a:spcPct val="100000"/>
              </a:lnSpc>
              <a:buFont typeface="Segoe UI Symbol"/>
              <a:buChar char="▪"/>
              <a:tabLst>
                <a:tab pos="615315" algn="l"/>
              </a:tabLst>
            </a:pPr>
            <a:r>
              <a:rPr sz="2000" dirty="0">
                <a:latin typeface="Calibri"/>
                <a:cs typeface="Calibri"/>
              </a:rPr>
              <a:t>Formal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technical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reviews</a:t>
            </a:r>
            <a:endParaRPr sz="2000" dirty="0">
              <a:latin typeface="Calibri"/>
              <a:cs typeface="Calibri"/>
            </a:endParaRPr>
          </a:p>
          <a:p>
            <a:pPr marL="615315" lvl="1" indent="-231775">
              <a:lnSpc>
                <a:spcPct val="100000"/>
              </a:lnSpc>
              <a:buFont typeface="Segoe UI Symbol"/>
              <a:buChar char="▪"/>
              <a:tabLst>
                <a:tab pos="615315" algn="l"/>
              </a:tabLst>
            </a:pPr>
            <a:r>
              <a:rPr sz="2000" dirty="0">
                <a:latin typeface="Calibri"/>
                <a:cs typeface="Calibri"/>
              </a:rPr>
              <a:t>Test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equipment</a:t>
            </a:r>
            <a:endParaRPr sz="2000" dirty="0">
              <a:latin typeface="Calibri"/>
              <a:cs typeface="Calibri"/>
            </a:endParaRPr>
          </a:p>
          <a:p>
            <a:pPr marL="615315" lvl="1" indent="-231775">
              <a:lnSpc>
                <a:spcPct val="100000"/>
              </a:lnSpc>
              <a:buFont typeface="Segoe UI Symbol"/>
              <a:buChar char="▪"/>
              <a:tabLst>
                <a:tab pos="615315" algn="l"/>
              </a:tabLst>
            </a:pPr>
            <a:r>
              <a:rPr sz="2000" spc="-10" dirty="0">
                <a:latin typeface="Calibri"/>
                <a:cs typeface="Calibri"/>
              </a:rPr>
              <a:t>Training</a:t>
            </a:r>
            <a:endParaRPr sz="2000" dirty="0">
              <a:latin typeface="Calibri"/>
              <a:cs typeface="Calibri"/>
            </a:endParaRPr>
          </a:p>
          <a:p>
            <a:pPr marL="158115" indent="-145415">
              <a:lnSpc>
                <a:spcPct val="100000"/>
              </a:lnSpc>
              <a:spcBef>
                <a:spcPts val="2400"/>
              </a:spcBef>
              <a:buFont typeface="Arial MT"/>
              <a:buChar char="•"/>
              <a:tabLst>
                <a:tab pos="158115" algn="l"/>
              </a:tabLst>
            </a:pPr>
            <a:r>
              <a:rPr sz="2000" b="1" dirty="0">
                <a:latin typeface="Calibri"/>
                <a:cs typeface="Calibri"/>
              </a:rPr>
              <a:t>Appraisal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costs</a:t>
            </a:r>
            <a:r>
              <a:rPr lang="en-US" sz="2000" b="1" spc="-40" dirty="0">
                <a:latin typeface="Calibri"/>
                <a:cs typeface="Calibri"/>
              </a:rPr>
              <a:t>: -</a:t>
            </a:r>
            <a:r>
              <a:rPr lang="en-US" sz="2000" dirty="0"/>
              <a:t>Money spent to </a:t>
            </a:r>
            <a:r>
              <a:rPr lang="en-US" sz="2000" b="1" dirty="0"/>
              <a:t>check and test quality</a:t>
            </a:r>
            <a:r>
              <a:rPr lang="en-US" sz="2000" dirty="0"/>
              <a:t>.</a:t>
            </a:r>
            <a:endParaRPr sz="2000" dirty="0">
              <a:latin typeface="Calibri"/>
              <a:cs typeface="Calibri"/>
            </a:endParaRPr>
          </a:p>
          <a:p>
            <a:pPr marL="615315" lvl="1" indent="-231775">
              <a:lnSpc>
                <a:spcPct val="100000"/>
              </a:lnSpc>
              <a:buFont typeface="Segoe UI Symbol"/>
              <a:buChar char="▪"/>
              <a:tabLst>
                <a:tab pos="615315" algn="l"/>
              </a:tabLst>
            </a:pPr>
            <a:r>
              <a:rPr sz="2000" spc="-20" dirty="0">
                <a:latin typeface="Calibri"/>
                <a:cs typeface="Calibri"/>
              </a:rPr>
              <a:t>In-</a:t>
            </a:r>
            <a:r>
              <a:rPr sz="2000" dirty="0">
                <a:latin typeface="Calibri"/>
                <a:cs typeface="Calibri"/>
              </a:rPr>
              <a:t>process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Inter-</a:t>
            </a:r>
            <a:r>
              <a:rPr sz="2000" dirty="0">
                <a:latin typeface="Calibri"/>
                <a:cs typeface="Calibri"/>
              </a:rPr>
              <a:t>process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inspection</a:t>
            </a:r>
            <a:endParaRPr sz="2000" dirty="0">
              <a:latin typeface="Calibri"/>
              <a:cs typeface="Calibri"/>
            </a:endParaRPr>
          </a:p>
          <a:p>
            <a:pPr marL="615315" lvl="1" indent="-231775">
              <a:lnSpc>
                <a:spcPct val="100000"/>
              </a:lnSpc>
              <a:buFont typeface="Segoe UI Symbol"/>
              <a:buChar char="▪"/>
              <a:tabLst>
                <a:tab pos="615315" algn="l"/>
              </a:tabLst>
            </a:pPr>
            <a:r>
              <a:rPr sz="2000" spc="-10" dirty="0">
                <a:latin typeface="Calibri"/>
                <a:cs typeface="Calibri"/>
              </a:rPr>
              <a:t>Testing</a:t>
            </a:r>
            <a:endParaRPr sz="2000" dirty="0">
              <a:latin typeface="Calibri"/>
              <a:cs typeface="Calibri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D104A9C-2693-3225-7B64-D58DE880E30E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B069548-025D-BEB7-ABFB-F611F11E6AD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E78E4E5-E819-A8FB-1780-1E604A2B9F99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1" name="object 3">
            <a:extLst>
              <a:ext uri="{FF2B5EF4-FFF2-40B4-BE49-F238E27FC236}">
                <a16:creationId xmlns:a16="http://schemas.microsoft.com/office/drawing/2014/main" id="{EF40E0BB-A582-4C03-9578-6D2BBD72984E}"/>
              </a:ext>
            </a:extLst>
          </p:cNvPr>
          <p:cNvSpPr/>
          <p:nvPr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5736" y="2924944"/>
            <a:ext cx="5430838" cy="280352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556791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694131" y="1638960"/>
            <a:ext cx="1732914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Continue…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11718" y="2580144"/>
            <a:ext cx="3965575" cy="3073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115" indent="-14541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58115" algn="l"/>
              </a:tabLst>
            </a:pPr>
            <a:r>
              <a:rPr sz="2000" b="1" dirty="0">
                <a:latin typeface="Calibri"/>
                <a:cs typeface="Calibri"/>
              </a:rPr>
              <a:t>Failure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costs</a:t>
            </a:r>
            <a:endParaRPr sz="2000">
              <a:latin typeface="Calibri"/>
              <a:cs typeface="Calibri"/>
            </a:endParaRPr>
          </a:p>
          <a:p>
            <a:pPr marL="557530" lvl="1" indent="-220345">
              <a:lnSpc>
                <a:spcPct val="100000"/>
              </a:lnSpc>
              <a:buSzPct val="95000"/>
              <a:buFont typeface="Segoe UI Symbol"/>
              <a:buChar char="▪"/>
              <a:tabLst>
                <a:tab pos="557530" algn="l"/>
              </a:tabLst>
            </a:pPr>
            <a:r>
              <a:rPr sz="2000" dirty="0">
                <a:latin typeface="Calibri"/>
                <a:cs typeface="Calibri"/>
              </a:rPr>
              <a:t>Internal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Failure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Cost</a:t>
            </a:r>
            <a:endParaRPr sz="2000">
              <a:latin typeface="Calibri"/>
              <a:cs typeface="Calibri"/>
            </a:endParaRPr>
          </a:p>
          <a:p>
            <a:pPr marL="8636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o</a:t>
            </a:r>
            <a:r>
              <a:rPr sz="2000" spc="-75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alibri"/>
                <a:cs typeface="Calibri"/>
              </a:rPr>
              <a:t>rework</a:t>
            </a:r>
            <a:endParaRPr sz="2000">
              <a:latin typeface="Calibri"/>
              <a:cs typeface="Calibri"/>
            </a:endParaRPr>
          </a:p>
          <a:p>
            <a:pPr marL="8636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o</a:t>
            </a:r>
            <a:r>
              <a:rPr sz="2000" spc="-75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alibri"/>
                <a:cs typeface="Calibri"/>
              </a:rPr>
              <a:t>repair</a:t>
            </a:r>
            <a:endParaRPr sz="2000">
              <a:latin typeface="Calibri"/>
              <a:cs typeface="Calibri"/>
            </a:endParaRPr>
          </a:p>
          <a:p>
            <a:pPr marL="8636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o</a:t>
            </a:r>
            <a:r>
              <a:rPr sz="2000" spc="-750" dirty="0">
                <a:latin typeface="Courier New"/>
                <a:cs typeface="Courier New"/>
              </a:rPr>
              <a:t> </a:t>
            </a:r>
            <a:r>
              <a:rPr sz="2000" dirty="0">
                <a:latin typeface="Calibri"/>
                <a:cs typeface="Calibri"/>
              </a:rPr>
              <a:t>failure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analysis</a:t>
            </a:r>
            <a:endParaRPr sz="2000">
              <a:latin typeface="Calibri"/>
              <a:cs typeface="Calibri"/>
            </a:endParaRPr>
          </a:p>
          <a:p>
            <a:pPr marL="158115" indent="-145415">
              <a:lnSpc>
                <a:spcPct val="100000"/>
              </a:lnSpc>
              <a:buFont typeface="Arial"/>
              <a:buChar char="•"/>
              <a:tabLst>
                <a:tab pos="158115" algn="l"/>
              </a:tabLst>
            </a:pPr>
            <a:r>
              <a:rPr sz="2000" b="1" dirty="0">
                <a:latin typeface="Calibri"/>
                <a:cs typeface="Calibri"/>
              </a:rPr>
              <a:t>External</a:t>
            </a:r>
            <a:r>
              <a:rPr sz="2000" b="1" spc="-7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Failure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Cost</a:t>
            </a:r>
            <a:endParaRPr sz="2000">
              <a:latin typeface="Calibri"/>
              <a:cs typeface="Calibri"/>
            </a:endParaRPr>
          </a:p>
          <a:p>
            <a:pPr marL="615315" lvl="1" indent="-220345">
              <a:lnSpc>
                <a:spcPct val="100000"/>
              </a:lnSpc>
              <a:buSzPct val="95000"/>
              <a:buFont typeface="Segoe UI Symbol"/>
              <a:buChar char="▪"/>
              <a:tabLst>
                <a:tab pos="615315" algn="l"/>
              </a:tabLst>
            </a:pPr>
            <a:r>
              <a:rPr sz="2000" spc="-10" dirty="0">
                <a:latin typeface="Calibri"/>
                <a:cs typeface="Calibri"/>
              </a:rPr>
              <a:t>complaint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resolution</a:t>
            </a:r>
            <a:endParaRPr sz="2000">
              <a:latin typeface="Calibri"/>
              <a:cs typeface="Calibri"/>
            </a:endParaRPr>
          </a:p>
          <a:p>
            <a:pPr marL="615315" lvl="1" indent="-220345">
              <a:lnSpc>
                <a:spcPct val="100000"/>
              </a:lnSpc>
              <a:buSzPct val="95000"/>
              <a:buFont typeface="Segoe UI Symbol"/>
              <a:buChar char="▪"/>
              <a:tabLst>
                <a:tab pos="615315" algn="l"/>
              </a:tabLst>
            </a:pPr>
            <a:r>
              <a:rPr sz="2000" dirty="0">
                <a:latin typeface="Calibri"/>
                <a:cs typeface="Calibri"/>
              </a:rPr>
              <a:t>product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return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replacement</a:t>
            </a:r>
            <a:endParaRPr sz="2000">
              <a:latin typeface="Calibri"/>
              <a:cs typeface="Calibri"/>
            </a:endParaRPr>
          </a:p>
          <a:p>
            <a:pPr marL="615315" lvl="1" indent="-220345">
              <a:lnSpc>
                <a:spcPct val="100000"/>
              </a:lnSpc>
              <a:buSzPct val="95000"/>
              <a:buFont typeface="Segoe UI Symbol"/>
              <a:buChar char="▪"/>
              <a:tabLst>
                <a:tab pos="615315" algn="l"/>
              </a:tabLst>
            </a:pPr>
            <a:r>
              <a:rPr sz="2000" dirty="0">
                <a:latin typeface="Calibri"/>
                <a:cs typeface="Calibri"/>
              </a:rPr>
              <a:t>help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line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support</a:t>
            </a:r>
            <a:endParaRPr sz="2000">
              <a:latin typeface="Calibri"/>
              <a:cs typeface="Calibri"/>
            </a:endParaRPr>
          </a:p>
          <a:p>
            <a:pPr marL="615315" lvl="1" indent="-220345">
              <a:lnSpc>
                <a:spcPct val="100000"/>
              </a:lnSpc>
              <a:buSzPct val="95000"/>
              <a:buFont typeface="Segoe UI Symbol"/>
              <a:buChar char="▪"/>
              <a:tabLst>
                <a:tab pos="615315" algn="l"/>
              </a:tabLst>
            </a:pPr>
            <a:r>
              <a:rPr sz="2000" spc="-10" dirty="0">
                <a:latin typeface="Calibri"/>
                <a:cs typeface="Calibri"/>
              </a:rPr>
              <a:t>warranty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work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CCD1B32-AA84-4401-F7A4-410563F46A17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C0DC253-C471-79B7-15CD-AFBF9F5E1EE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DC768AE-8590-13C8-15E7-464596A9FF98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1" name="object 3">
            <a:extLst>
              <a:ext uri="{FF2B5EF4-FFF2-40B4-BE49-F238E27FC236}">
                <a16:creationId xmlns:a16="http://schemas.microsoft.com/office/drawing/2014/main" id="{096B8B66-A340-7D4E-360E-BDED37716D77}"/>
              </a:ext>
            </a:extLst>
          </p:cNvPr>
          <p:cNvSpPr/>
          <p:nvPr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B4751-C534-C55B-67D4-8207EB1F5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AFF2F117-0E64-B080-3681-7BB384B7703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5736" y="2924944"/>
            <a:ext cx="5430838" cy="2803524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73668439-A57B-09B9-BF4E-1CB97233F8BE}"/>
              </a:ext>
            </a:extLst>
          </p:cNvPr>
          <p:cNvSpPr/>
          <p:nvPr/>
        </p:nvSpPr>
        <p:spPr>
          <a:xfrm>
            <a:off x="0" y="1556791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DF29A8D-E33C-B726-8567-9E6241FFF6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94131" y="1638960"/>
            <a:ext cx="1732914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Continue…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997C2F0A-83C7-90FB-DCE0-B199BEB476E7}"/>
              </a:ext>
            </a:extLst>
          </p:cNvPr>
          <p:cNvSpPr txBox="1"/>
          <p:nvPr/>
        </p:nvSpPr>
        <p:spPr>
          <a:xfrm>
            <a:off x="457200" y="3886200"/>
            <a:ext cx="8435280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8115" algn="l"/>
              </a:tabLst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of Quality = 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Prevention + Appraisal + 				Internal Failure + External Failure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535457B-568D-8E28-932A-1EA936C3AF92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8EC781E-E63D-0A9E-4FAA-B70917AD030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15CE699-BE6C-4329-D428-FE078EFEFD66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1" name="object 3">
            <a:extLst>
              <a:ext uri="{FF2B5EF4-FFF2-40B4-BE49-F238E27FC236}">
                <a16:creationId xmlns:a16="http://schemas.microsoft.com/office/drawing/2014/main" id="{09601283-1E1F-D19A-B0F6-E9DA76B9B25D}"/>
              </a:ext>
            </a:extLst>
          </p:cNvPr>
          <p:cNvSpPr/>
          <p:nvPr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</p:spTree>
    <p:extLst>
      <p:ext uri="{BB962C8B-B14F-4D97-AF65-F5344CB8AC3E}">
        <p14:creationId xmlns:p14="http://schemas.microsoft.com/office/powerpoint/2010/main" val="120625010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56791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3525" y="1697673"/>
            <a:ext cx="86169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53995">
              <a:lnSpc>
                <a:spcPct val="100000"/>
              </a:lnSpc>
              <a:spcBef>
                <a:spcPts val="100"/>
              </a:spcBef>
            </a:pPr>
            <a:r>
              <a:rPr dirty="0"/>
              <a:t>Software</a:t>
            </a:r>
            <a:r>
              <a:rPr spc="15" dirty="0"/>
              <a:t> </a:t>
            </a:r>
            <a:r>
              <a:rPr spc="-10" dirty="0"/>
              <a:t>Reliability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7375" y="3071813"/>
            <a:ext cx="5430838" cy="280352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55576" y="2603512"/>
            <a:ext cx="7281545" cy="3740126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00965" marR="205104" indent="-88900">
              <a:lnSpc>
                <a:spcPts val="2170"/>
              </a:lnSpc>
              <a:spcBef>
                <a:spcPts val="365"/>
              </a:spcBef>
              <a:buFont typeface="Arial MT"/>
              <a:buChar char="•"/>
              <a:tabLst>
                <a:tab pos="100965" algn="l"/>
                <a:tab pos="157480" algn="l"/>
              </a:tabLst>
            </a:pPr>
            <a:r>
              <a:rPr lang="en-US" sz="2000" b="1" dirty="0"/>
              <a:t>Software Reliability</a:t>
            </a:r>
            <a:r>
              <a:rPr lang="en-US" sz="2000" dirty="0"/>
              <a:t> means </a:t>
            </a:r>
            <a:r>
              <a:rPr lang="en-US" sz="2000" b="1" dirty="0"/>
              <a:t>how dependably software works without failure</a:t>
            </a:r>
            <a:r>
              <a:rPr lang="en-US" sz="2000" dirty="0"/>
              <a:t> for a certain period of time in a specific environment.</a:t>
            </a:r>
          </a:p>
          <a:p>
            <a:pPr marL="100965" marR="205104" indent="-88900">
              <a:lnSpc>
                <a:spcPts val="2170"/>
              </a:lnSpc>
              <a:spcBef>
                <a:spcPts val="365"/>
              </a:spcBef>
              <a:buFont typeface="Arial MT"/>
              <a:buChar char="•"/>
              <a:tabLst>
                <a:tab pos="100965" algn="l"/>
                <a:tab pos="157480" algn="l"/>
              </a:tabLst>
            </a:pPr>
            <a:endParaRPr lang="en-US" sz="2000" dirty="0">
              <a:latin typeface="Calibri"/>
              <a:cs typeface="Calibri"/>
            </a:endParaRPr>
          </a:p>
          <a:p>
            <a:pPr marL="100965" marR="205104" indent="-88900">
              <a:lnSpc>
                <a:spcPts val="2170"/>
              </a:lnSpc>
              <a:spcBef>
                <a:spcPts val="365"/>
              </a:spcBef>
              <a:buFont typeface="Arial MT"/>
              <a:buChar char="•"/>
              <a:tabLst>
                <a:tab pos="100965" algn="l"/>
                <a:tab pos="157480" algn="l"/>
              </a:tabLst>
            </a:pPr>
            <a:r>
              <a:rPr lang="en-US" sz="2000" dirty="0"/>
              <a:t>If software works correctly again and again without crashing, it is reliable.</a:t>
            </a:r>
          </a:p>
          <a:p>
            <a:pPr marL="100965" marR="205104" indent="-88900">
              <a:lnSpc>
                <a:spcPts val="2170"/>
              </a:lnSpc>
              <a:spcBef>
                <a:spcPts val="365"/>
              </a:spcBef>
              <a:buFont typeface="Arial MT"/>
              <a:buChar char="•"/>
              <a:tabLst>
                <a:tab pos="100965" algn="l"/>
                <a:tab pos="157480" algn="l"/>
              </a:tabLst>
            </a:pPr>
            <a:endParaRPr lang="en-US" sz="2000" dirty="0">
              <a:latin typeface="Calibri"/>
              <a:cs typeface="Calibri"/>
            </a:endParaRPr>
          </a:p>
          <a:p>
            <a:r>
              <a:rPr lang="en-US" sz="2000" b="1" dirty="0"/>
              <a:t>Why Software Reliability is Important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Users trust the software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Reduces system crashes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Saves money and time</a:t>
            </a:r>
          </a:p>
          <a:p>
            <a:pPr marL="100965" marR="205104" indent="-88900">
              <a:lnSpc>
                <a:spcPts val="2170"/>
              </a:lnSpc>
              <a:spcBef>
                <a:spcPts val="365"/>
              </a:spcBef>
              <a:buFont typeface="Arial MT"/>
              <a:buChar char="•"/>
              <a:tabLst>
                <a:tab pos="100965" algn="l"/>
                <a:tab pos="157480" algn="l"/>
              </a:tabLst>
            </a:pPr>
            <a:endParaRPr sz="2000" dirty="0">
              <a:latin typeface="Calibri"/>
              <a:cs typeface="Calibri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2D9287F-0644-DAA1-9999-D635CFF3BB14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6B31AFB-5F04-39CF-3C59-A51D8DBD9B3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13AA7F1-23BE-BEA3-CC87-D6882CEA4426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1" name="object 3">
            <a:extLst>
              <a:ext uri="{FF2B5EF4-FFF2-40B4-BE49-F238E27FC236}">
                <a16:creationId xmlns:a16="http://schemas.microsoft.com/office/drawing/2014/main" id="{6634BD62-B7BC-381D-1EDB-33699C0909B7}"/>
              </a:ext>
            </a:extLst>
          </p:cNvPr>
          <p:cNvSpPr/>
          <p:nvPr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56791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3525" y="1697673"/>
            <a:ext cx="86169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4915">
              <a:lnSpc>
                <a:spcPct val="100000"/>
              </a:lnSpc>
              <a:spcBef>
                <a:spcPts val="100"/>
              </a:spcBef>
            </a:pPr>
            <a:r>
              <a:rPr dirty="0"/>
              <a:t>Measures</a:t>
            </a:r>
            <a:r>
              <a:rPr spc="-75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spc="-10" dirty="0"/>
              <a:t>Reliability</a:t>
            </a:r>
            <a:r>
              <a:rPr spc="-70" dirty="0"/>
              <a:t> </a:t>
            </a:r>
            <a:r>
              <a:rPr dirty="0"/>
              <a:t>and</a:t>
            </a:r>
            <a:r>
              <a:rPr spc="-70" dirty="0"/>
              <a:t> </a:t>
            </a:r>
            <a:r>
              <a:rPr spc="-10" dirty="0"/>
              <a:t>Availability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9712" y="3068960"/>
            <a:ext cx="5430837" cy="280352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67702" y="2819408"/>
            <a:ext cx="7541895" cy="255905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00965" marR="130175" indent="-88900">
              <a:lnSpc>
                <a:spcPts val="1950"/>
              </a:lnSpc>
              <a:spcBef>
                <a:spcPts val="540"/>
              </a:spcBef>
              <a:buFont typeface="Arial MT"/>
              <a:buChar char="•"/>
              <a:tabLst>
                <a:tab pos="100965" algn="l"/>
                <a:tab pos="157480" algn="l"/>
              </a:tabLst>
            </a:pPr>
            <a:r>
              <a:rPr sz="2000" dirty="0">
                <a:latin typeface="Calibri"/>
                <a:cs typeface="Calibri"/>
              </a:rPr>
              <a:t>	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simple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measure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reliability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mean-</a:t>
            </a:r>
            <a:r>
              <a:rPr sz="2000" dirty="0">
                <a:latin typeface="Calibri"/>
                <a:cs typeface="Calibri"/>
              </a:rPr>
              <a:t>time-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between-</a:t>
            </a:r>
            <a:r>
              <a:rPr sz="2000" dirty="0">
                <a:latin typeface="Calibri"/>
                <a:cs typeface="Calibri"/>
              </a:rPr>
              <a:t>failure</a:t>
            </a:r>
            <a:r>
              <a:rPr sz="2000" spc="3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(MTBF), where</a:t>
            </a:r>
            <a:endParaRPr sz="2000">
              <a:latin typeface="Calibri"/>
              <a:cs typeface="Calibri"/>
            </a:endParaRPr>
          </a:p>
          <a:p>
            <a:pPr marL="1015365">
              <a:lnSpc>
                <a:spcPts val="1960"/>
              </a:lnSpc>
            </a:pPr>
            <a:r>
              <a:rPr sz="2000" dirty="0">
                <a:latin typeface="Calibri"/>
                <a:cs typeface="Calibri"/>
              </a:rPr>
              <a:t>MTBF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MTTF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+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MTTR</a:t>
            </a:r>
            <a:endParaRPr sz="2000">
              <a:latin typeface="Calibri"/>
              <a:cs typeface="Calibri"/>
            </a:endParaRPr>
          </a:p>
          <a:p>
            <a:pPr marL="100965" marR="1121410" indent="-88900">
              <a:lnSpc>
                <a:spcPts val="1950"/>
              </a:lnSpc>
              <a:spcBef>
                <a:spcPts val="1939"/>
              </a:spcBef>
              <a:buFont typeface="Arial MT"/>
              <a:buChar char="•"/>
              <a:tabLst>
                <a:tab pos="100965" algn="l"/>
                <a:tab pos="157480" algn="l"/>
              </a:tabLst>
            </a:pPr>
            <a:r>
              <a:rPr sz="2000" dirty="0">
                <a:latin typeface="Calibri"/>
                <a:cs typeface="Calibri"/>
              </a:rPr>
              <a:t>	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acronyms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MTTF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MTTR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mean-</a:t>
            </a:r>
            <a:r>
              <a:rPr sz="2000" spc="-20" dirty="0">
                <a:latin typeface="Calibri"/>
                <a:cs typeface="Calibri"/>
              </a:rPr>
              <a:t>time-to-</a:t>
            </a:r>
            <a:r>
              <a:rPr sz="2000" dirty="0">
                <a:latin typeface="Calibri"/>
                <a:cs typeface="Calibri"/>
              </a:rPr>
              <a:t>failure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and mean-</a:t>
            </a:r>
            <a:r>
              <a:rPr sz="2000" spc="-20" dirty="0">
                <a:latin typeface="Calibri"/>
                <a:cs typeface="Calibri"/>
              </a:rPr>
              <a:t>time-to-</a:t>
            </a:r>
            <a:r>
              <a:rPr sz="2000" dirty="0">
                <a:latin typeface="Calibri"/>
                <a:cs typeface="Calibri"/>
              </a:rPr>
              <a:t>repair,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respectively.</a:t>
            </a:r>
            <a:endParaRPr sz="2000">
              <a:latin typeface="Calibri"/>
              <a:cs typeface="Calibri"/>
            </a:endParaRPr>
          </a:p>
          <a:p>
            <a:pPr marL="158115" indent="-145415">
              <a:lnSpc>
                <a:spcPts val="1735"/>
              </a:lnSpc>
              <a:buFont typeface="Arial MT"/>
              <a:buChar char="•"/>
              <a:tabLst>
                <a:tab pos="158115" algn="l"/>
              </a:tabLst>
            </a:pPr>
            <a:r>
              <a:rPr sz="2000" dirty="0">
                <a:latin typeface="Calibri"/>
                <a:cs typeface="Calibri"/>
              </a:rPr>
              <a:t>MTBF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far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more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useful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measure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defects/KLOC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defects/FP.</a:t>
            </a:r>
            <a:endParaRPr sz="2000">
              <a:latin typeface="Calibri"/>
              <a:cs typeface="Calibri"/>
            </a:endParaRPr>
          </a:p>
          <a:p>
            <a:pPr marL="100965" marR="5080" indent="-88900">
              <a:lnSpc>
                <a:spcPts val="1950"/>
              </a:lnSpc>
              <a:spcBef>
                <a:spcPts val="215"/>
              </a:spcBef>
              <a:buFont typeface="Arial MT"/>
              <a:buChar char="•"/>
              <a:tabLst>
                <a:tab pos="100965" algn="l"/>
                <a:tab pos="157480" algn="l"/>
              </a:tabLst>
            </a:pPr>
            <a:r>
              <a:rPr sz="2000" dirty="0">
                <a:latin typeface="Calibri"/>
                <a:cs typeface="Calibri"/>
              </a:rPr>
              <a:t>	Stated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simply,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end-</a:t>
            </a:r>
            <a:r>
              <a:rPr sz="2000" dirty="0">
                <a:latin typeface="Calibri"/>
                <a:cs typeface="Calibri"/>
              </a:rPr>
              <a:t>user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concerned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failures,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total </a:t>
            </a:r>
            <a:r>
              <a:rPr sz="2000" dirty="0">
                <a:latin typeface="Calibri"/>
                <a:cs typeface="Calibri"/>
              </a:rPr>
              <a:t>error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count.</a:t>
            </a:r>
            <a:endParaRPr sz="2000">
              <a:latin typeface="Calibri"/>
              <a:cs typeface="Calibri"/>
            </a:endParaRPr>
          </a:p>
          <a:p>
            <a:pPr marL="158115" indent="-145415">
              <a:lnSpc>
                <a:spcPts val="1960"/>
              </a:lnSpc>
              <a:buFont typeface="Arial MT"/>
              <a:buChar char="•"/>
              <a:tabLst>
                <a:tab pos="158115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reliability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measure,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must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develop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measure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3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availability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4E01A94-BAF7-ADE0-CF10-A20298AA0685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C8260E0-3EF9-250D-F4D1-F6AA8467BA0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9B5BE6F-8E1B-030D-5EB5-272DB64F7A83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1" name="object 3">
            <a:extLst>
              <a:ext uri="{FF2B5EF4-FFF2-40B4-BE49-F238E27FC236}">
                <a16:creationId xmlns:a16="http://schemas.microsoft.com/office/drawing/2014/main" id="{4399AA3B-F9D6-E138-E3D7-3C46B945EC3D}"/>
              </a:ext>
            </a:extLst>
          </p:cNvPr>
          <p:cNvSpPr/>
          <p:nvPr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56791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3525" y="1697673"/>
            <a:ext cx="86169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5376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Continue…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9712" y="3068960"/>
            <a:ext cx="5430837" cy="280352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55734" y="2915800"/>
            <a:ext cx="7000240" cy="254000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00965" marR="5080" indent="-88900">
              <a:lnSpc>
                <a:spcPts val="2170"/>
              </a:lnSpc>
              <a:spcBef>
                <a:spcPts val="365"/>
              </a:spcBef>
              <a:buFont typeface="Arial MT"/>
              <a:buChar char="•"/>
              <a:tabLst>
                <a:tab pos="100965" algn="l"/>
                <a:tab pos="157480" algn="l"/>
              </a:tabLst>
            </a:pPr>
            <a:r>
              <a:rPr sz="2000" b="1" spc="-10" dirty="0">
                <a:latin typeface="Calibri"/>
                <a:cs typeface="Calibri"/>
              </a:rPr>
              <a:t>	Software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availability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: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probability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program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is </a:t>
            </a:r>
            <a:r>
              <a:rPr sz="2000" spc="-10" dirty="0">
                <a:latin typeface="Calibri"/>
                <a:cs typeface="Calibri"/>
              </a:rPr>
              <a:t>operating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according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requirements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given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point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time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is </a:t>
            </a:r>
            <a:r>
              <a:rPr sz="2000" dirty="0">
                <a:latin typeface="Calibri"/>
                <a:cs typeface="Calibri"/>
              </a:rPr>
              <a:t>defined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as</a:t>
            </a:r>
            <a:endParaRPr sz="2000">
              <a:latin typeface="Calibri"/>
              <a:cs typeface="Calibri"/>
            </a:endParaRPr>
          </a:p>
          <a:p>
            <a:pPr marL="558165">
              <a:lnSpc>
                <a:spcPts val="2150"/>
              </a:lnSpc>
            </a:pPr>
            <a:r>
              <a:rPr sz="2000" spc="-10" dirty="0">
                <a:latin typeface="Calibri"/>
                <a:cs typeface="Calibri"/>
              </a:rPr>
              <a:t>Availability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[MTTF/(MTTF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+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MTTR)]</a:t>
            </a:r>
            <a:r>
              <a:rPr sz="2000" spc="38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100%</a:t>
            </a:r>
            <a:endParaRPr sz="2000">
              <a:latin typeface="Calibri"/>
              <a:cs typeface="Calibri"/>
            </a:endParaRPr>
          </a:p>
          <a:p>
            <a:pPr marL="100965" marR="488950" indent="-88900">
              <a:lnSpc>
                <a:spcPts val="2180"/>
              </a:lnSpc>
              <a:spcBef>
                <a:spcPts val="2205"/>
              </a:spcBef>
              <a:buFont typeface="Arial MT"/>
              <a:buChar char="•"/>
              <a:tabLst>
                <a:tab pos="100965" algn="l"/>
                <a:tab pos="157480" algn="l"/>
              </a:tabLst>
            </a:pPr>
            <a:r>
              <a:rPr sz="2000" dirty="0">
                <a:latin typeface="Calibri"/>
                <a:cs typeface="Calibri"/>
              </a:rPr>
              <a:t>	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MTBF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reliability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measure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equally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sensitive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MTTF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and </a:t>
            </a:r>
            <a:r>
              <a:rPr sz="2000" spc="-10" dirty="0">
                <a:latin typeface="Calibri"/>
                <a:cs typeface="Calibri"/>
              </a:rPr>
              <a:t>MTTR.</a:t>
            </a:r>
            <a:endParaRPr sz="2000">
              <a:latin typeface="Calibri"/>
              <a:cs typeface="Calibri"/>
            </a:endParaRPr>
          </a:p>
          <a:p>
            <a:pPr marL="158115" indent="-145415">
              <a:lnSpc>
                <a:spcPts val="2020"/>
              </a:lnSpc>
              <a:buFont typeface="Arial MT"/>
              <a:buChar char="•"/>
              <a:tabLst>
                <a:tab pos="158115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availability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measure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somewhat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more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sensitive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MTTR,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</a:t>
            </a:r>
            <a:endParaRPr sz="2000">
              <a:latin typeface="Calibri"/>
              <a:cs typeface="Calibri"/>
            </a:endParaRPr>
          </a:p>
          <a:p>
            <a:pPr marL="100965">
              <a:lnSpc>
                <a:spcPts val="2290"/>
              </a:lnSpc>
            </a:pPr>
            <a:r>
              <a:rPr sz="2000" dirty="0">
                <a:latin typeface="Calibri"/>
                <a:cs typeface="Calibri"/>
              </a:rPr>
              <a:t>indirect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measure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maintainability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software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AD4F7A9-B968-BBD4-40F0-E20593690832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959C7A8-7894-2CCC-7530-17440B08B8D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513CBFB-B69C-7889-F149-7B2129683026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1" name="object 3">
            <a:extLst>
              <a:ext uri="{FF2B5EF4-FFF2-40B4-BE49-F238E27FC236}">
                <a16:creationId xmlns:a16="http://schemas.microsoft.com/office/drawing/2014/main" id="{0F8DC045-B6D5-6E65-6FA6-709A52D02F03}"/>
              </a:ext>
            </a:extLst>
          </p:cNvPr>
          <p:cNvSpPr/>
          <p:nvPr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56791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3525" y="1697673"/>
            <a:ext cx="86169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44295">
              <a:lnSpc>
                <a:spcPct val="100000"/>
              </a:lnSpc>
              <a:spcBef>
                <a:spcPts val="100"/>
              </a:spcBef>
            </a:pPr>
            <a:r>
              <a:rPr dirty="0"/>
              <a:t>Quality</a:t>
            </a:r>
            <a:r>
              <a:rPr spc="-85" dirty="0"/>
              <a:t> </a:t>
            </a:r>
            <a:r>
              <a:rPr dirty="0"/>
              <a:t>Standards-</a:t>
            </a:r>
            <a:r>
              <a:rPr spc="-80" dirty="0"/>
              <a:t> </a:t>
            </a:r>
            <a:r>
              <a:rPr dirty="0"/>
              <a:t>ISO9000</a:t>
            </a:r>
            <a:r>
              <a:rPr spc="-85" dirty="0"/>
              <a:t> </a:t>
            </a:r>
            <a:r>
              <a:rPr dirty="0"/>
              <a:t>And</a:t>
            </a:r>
            <a:r>
              <a:rPr spc="-80" dirty="0"/>
              <a:t> </a:t>
            </a:r>
            <a:r>
              <a:rPr spc="-20" dirty="0"/>
              <a:t>9001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39710" y="2940184"/>
            <a:ext cx="7374255" cy="2463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Calibri"/>
                <a:cs typeface="Calibri"/>
              </a:rPr>
              <a:t>SQA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Standards</a:t>
            </a:r>
            <a:endParaRPr sz="2000">
              <a:latin typeface="Calibri"/>
              <a:cs typeface="Calibri"/>
            </a:endParaRPr>
          </a:p>
          <a:p>
            <a:pPr marL="100965" marR="123189" indent="-88900">
              <a:lnSpc>
                <a:spcPct val="100000"/>
              </a:lnSpc>
              <a:buFont typeface="Arial MT"/>
              <a:buChar char="•"/>
              <a:tabLst>
                <a:tab pos="100965" algn="l"/>
                <a:tab pos="157480" algn="l"/>
              </a:tabLst>
            </a:pPr>
            <a:r>
              <a:rPr sz="2000" spc="-10" dirty="0">
                <a:latin typeface="Calibri"/>
                <a:cs typeface="Calibri"/>
              </a:rPr>
              <a:t>	Software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quality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assurance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standards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classified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two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main </a:t>
            </a:r>
            <a:r>
              <a:rPr sz="2000" dirty="0">
                <a:latin typeface="Calibri"/>
                <a:cs typeface="Calibri"/>
              </a:rPr>
              <a:t>classes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−</a:t>
            </a:r>
            <a:endParaRPr sz="2000">
              <a:latin typeface="Calibri"/>
              <a:cs typeface="Calibri"/>
            </a:endParaRPr>
          </a:p>
          <a:p>
            <a:pPr marL="558165" marR="5080" indent="-523240">
              <a:lnSpc>
                <a:spcPct val="100000"/>
              </a:lnSpc>
              <a:buAutoNum type="arabicPeriod"/>
              <a:tabLst>
                <a:tab pos="558165" algn="l"/>
              </a:tabLst>
            </a:pPr>
            <a:r>
              <a:rPr sz="2000" spc="-10" dirty="0">
                <a:latin typeface="Calibri"/>
                <a:cs typeface="Calibri"/>
              </a:rPr>
              <a:t>Software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quality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assurance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management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standards,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including certification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assessment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methodologies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(quality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management standards)</a:t>
            </a:r>
            <a:endParaRPr sz="2000">
              <a:latin typeface="Calibri"/>
              <a:cs typeface="Calibri"/>
            </a:endParaRPr>
          </a:p>
          <a:p>
            <a:pPr marL="558165" marR="24130" indent="-523240">
              <a:lnSpc>
                <a:spcPct val="100000"/>
              </a:lnSpc>
              <a:buAutoNum type="arabicPeriod"/>
              <a:tabLst>
                <a:tab pos="558165" algn="l"/>
              </a:tabLst>
            </a:pPr>
            <a:r>
              <a:rPr sz="2000" spc="-10" dirty="0">
                <a:latin typeface="Calibri"/>
                <a:cs typeface="Calibri"/>
              </a:rPr>
              <a:t>Software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project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development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process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standards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(project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process standards)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56791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3525" y="1697673"/>
            <a:ext cx="86169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88795">
              <a:lnSpc>
                <a:spcPct val="100000"/>
              </a:lnSpc>
              <a:spcBef>
                <a:spcPts val="100"/>
              </a:spcBef>
            </a:pPr>
            <a:r>
              <a:rPr dirty="0"/>
              <a:t>Quality</a:t>
            </a:r>
            <a:r>
              <a:rPr spc="-90" dirty="0"/>
              <a:t> </a:t>
            </a:r>
            <a:r>
              <a:rPr dirty="0"/>
              <a:t>Management</a:t>
            </a:r>
            <a:r>
              <a:rPr spc="-90" dirty="0"/>
              <a:t> </a:t>
            </a:r>
            <a:r>
              <a:rPr spc="-10" dirty="0"/>
              <a:t>Standards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02809" y="2651136"/>
            <a:ext cx="7386955" cy="302768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10489" marR="304165" indent="-98425">
              <a:lnSpc>
                <a:spcPts val="2630"/>
              </a:lnSpc>
              <a:spcBef>
                <a:spcPts val="195"/>
              </a:spcBef>
              <a:buFont typeface="Arial MT"/>
              <a:buChar char="•"/>
              <a:tabLst>
                <a:tab pos="110489" algn="l"/>
                <a:tab pos="172720" algn="l"/>
              </a:tabLst>
            </a:pPr>
            <a:r>
              <a:rPr sz="2200" dirty="0">
                <a:latin typeface="Calibri"/>
                <a:cs typeface="Calibri"/>
              </a:rPr>
              <a:t>	These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focus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organization’s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SQA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system,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infrastructure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requirements,</a:t>
            </a:r>
            <a:endParaRPr sz="2200">
              <a:latin typeface="Calibri"/>
              <a:cs typeface="Calibri"/>
            </a:endParaRPr>
          </a:p>
          <a:p>
            <a:pPr marL="173355" indent="-160655">
              <a:lnSpc>
                <a:spcPts val="2525"/>
              </a:lnSpc>
              <a:buFont typeface="Arial MT"/>
              <a:buChar char="•"/>
              <a:tabLst>
                <a:tab pos="173355" algn="l"/>
              </a:tabLst>
            </a:pPr>
            <a:r>
              <a:rPr sz="2200" dirty="0">
                <a:latin typeface="Calibri"/>
                <a:cs typeface="Calibri"/>
              </a:rPr>
              <a:t>while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leaving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choice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methods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tools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the</a:t>
            </a:r>
            <a:endParaRPr sz="2200">
              <a:latin typeface="Calibri"/>
              <a:cs typeface="Calibri"/>
            </a:endParaRPr>
          </a:p>
          <a:p>
            <a:pPr marL="110489">
              <a:lnSpc>
                <a:spcPts val="2625"/>
              </a:lnSpc>
            </a:pPr>
            <a:r>
              <a:rPr sz="2200" spc="-10" dirty="0">
                <a:latin typeface="Calibri"/>
                <a:cs typeface="Calibri"/>
              </a:rPr>
              <a:t>organization.</a:t>
            </a:r>
            <a:endParaRPr sz="2200">
              <a:latin typeface="Calibri"/>
              <a:cs typeface="Calibri"/>
            </a:endParaRPr>
          </a:p>
          <a:p>
            <a:pPr marL="110489" marR="5080" indent="-98425">
              <a:lnSpc>
                <a:spcPts val="2630"/>
              </a:lnSpc>
              <a:spcBef>
                <a:spcPts val="90"/>
              </a:spcBef>
              <a:buFont typeface="Arial MT"/>
              <a:buChar char="•"/>
              <a:tabLst>
                <a:tab pos="110489" algn="l"/>
                <a:tab pos="172720" algn="l"/>
              </a:tabLst>
            </a:pPr>
            <a:r>
              <a:rPr sz="2200" dirty="0">
                <a:latin typeface="Calibri"/>
                <a:cs typeface="Calibri"/>
              </a:rPr>
              <a:t>	With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quality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management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standards,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organizations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steadily </a:t>
            </a:r>
            <a:r>
              <a:rPr sz="2200" dirty="0">
                <a:latin typeface="Calibri"/>
                <a:cs typeface="Calibri"/>
              </a:rPr>
              <a:t>assure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their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software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products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achieve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acceptable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level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quality.</a:t>
            </a:r>
            <a:endParaRPr sz="2200">
              <a:latin typeface="Calibri"/>
              <a:cs typeface="Calibri"/>
            </a:endParaRPr>
          </a:p>
          <a:p>
            <a:pPr marL="110489">
              <a:lnSpc>
                <a:spcPts val="2520"/>
              </a:lnSpc>
            </a:pPr>
            <a:r>
              <a:rPr sz="2200" b="1" dirty="0">
                <a:latin typeface="Calibri"/>
                <a:cs typeface="Calibri"/>
              </a:rPr>
              <a:t>Example</a:t>
            </a:r>
            <a:r>
              <a:rPr sz="2200" b="1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−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ISO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9000-</a:t>
            </a:r>
            <a:r>
              <a:rPr sz="2200" dirty="0">
                <a:latin typeface="Calibri"/>
                <a:cs typeface="Calibri"/>
              </a:rPr>
              <a:t>3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Capability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Maturity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Model</a:t>
            </a:r>
            <a:endParaRPr sz="2200">
              <a:latin typeface="Calibri"/>
              <a:cs typeface="Calibri"/>
            </a:endParaRPr>
          </a:p>
          <a:p>
            <a:pPr marL="110489">
              <a:lnSpc>
                <a:spcPts val="2635"/>
              </a:lnSpc>
            </a:pPr>
            <a:r>
              <a:rPr sz="2200" spc="-10" dirty="0">
                <a:latin typeface="Calibri"/>
                <a:cs typeface="Calibri"/>
              </a:rPr>
              <a:t>(CMM)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56791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3525" y="1697673"/>
            <a:ext cx="86169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90800">
              <a:lnSpc>
                <a:spcPct val="100000"/>
              </a:lnSpc>
              <a:spcBef>
                <a:spcPts val="100"/>
              </a:spcBef>
            </a:pPr>
            <a:r>
              <a:rPr dirty="0"/>
              <a:t>ISO</a:t>
            </a:r>
            <a:r>
              <a:rPr spc="-50" dirty="0"/>
              <a:t> </a:t>
            </a:r>
            <a:r>
              <a:rPr dirty="0"/>
              <a:t>9001</a:t>
            </a:r>
            <a:r>
              <a:rPr spc="-50" dirty="0"/>
              <a:t> </a:t>
            </a:r>
            <a:r>
              <a:rPr spc="-10" dirty="0"/>
              <a:t>Certification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body" idx="4294967295"/>
          </p:nvPr>
        </p:nvSpPr>
        <p:spPr>
          <a:xfrm>
            <a:off x="739710" y="2580144"/>
            <a:ext cx="7396480" cy="3683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7480" marR="1114425" indent="-145415">
              <a:lnSpc>
                <a:spcPct val="100000"/>
              </a:lnSpc>
              <a:spcBef>
                <a:spcPts val="100"/>
              </a:spcBef>
              <a:buSzPct val="97500"/>
              <a:buFont typeface="Arial MT"/>
              <a:buChar char="•"/>
              <a:tabLst>
                <a:tab pos="273685" algn="l"/>
              </a:tabLst>
            </a:pPr>
            <a:r>
              <a:rPr dirty="0"/>
              <a:t>ISO</a:t>
            </a:r>
            <a:r>
              <a:rPr spc="-40" dirty="0"/>
              <a:t> </a:t>
            </a:r>
            <a:r>
              <a:rPr dirty="0"/>
              <a:t>(the</a:t>
            </a:r>
            <a:r>
              <a:rPr spc="-40" dirty="0"/>
              <a:t> </a:t>
            </a:r>
            <a:r>
              <a:rPr spc="-10" dirty="0"/>
              <a:t>International</a:t>
            </a:r>
            <a:r>
              <a:rPr spc="-40" dirty="0"/>
              <a:t> </a:t>
            </a:r>
            <a:r>
              <a:rPr spc="-10" dirty="0"/>
              <a:t>Organization</a:t>
            </a:r>
            <a:r>
              <a:rPr spc="-40" dirty="0"/>
              <a:t> </a:t>
            </a:r>
            <a:r>
              <a:rPr dirty="0"/>
              <a:t>for</a:t>
            </a:r>
            <a:r>
              <a:rPr spc="-35" dirty="0"/>
              <a:t> </a:t>
            </a:r>
            <a:r>
              <a:rPr spc="-10" dirty="0"/>
              <a:t>Standardization)</a:t>
            </a:r>
            <a:r>
              <a:rPr spc="-40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spc="-50" dirty="0"/>
              <a:t>a 	</a:t>
            </a:r>
            <a:r>
              <a:rPr dirty="0"/>
              <a:t>worldwide</a:t>
            </a:r>
            <a:r>
              <a:rPr spc="-50" dirty="0"/>
              <a:t> </a:t>
            </a:r>
            <a:r>
              <a:rPr spc="-10" dirty="0"/>
              <a:t>federation</a:t>
            </a:r>
            <a:r>
              <a:rPr spc="-4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national</a:t>
            </a:r>
            <a:r>
              <a:rPr spc="-50" dirty="0"/>
              <a:t> </a:t>
            </a:r>
            <a:r>
              <a:rPr spc="-10" dirty="0"/>
              <a:t>standards</a:t>
            </a:r>
            <a:r>
              <a:rPr spc="-45" dirty="0"/>
              <a:t> </a:t>
            </a:r>
            <a:r>
              <a:rPr spc="-10" dirty="0"/>
              <a:t>bodies.</a:t>
            </a:r>
          </a:p>
          <a:p>
            <a:pPr marL="158115" indent="-145415">
              <a:lnSpc>
                <a:spcPct val="100000"/>
              </a:lnSpc>
              <a:buSzPct val="97500"/>
              <a:buFont typeface="Arial MT"/>
              <a:buChar char="•"/>
              <a:tabLst>
                <a:tab pos="158115" algn="l"/>
              </a:tabLst>
            </a:pPr>
            <a:r>
              <a:rPr dirty="0"/>
              <a:t>ISO</a:t>
            </a:r>
            <a:r>
              <a:rPr spc="-55" dirty="0"/>
              <a:t> </a:t>
            </a:r>
            <a:r>
              <a:rPr spc="-10" dirty="0"/>
              <a:t>technical</a:t>
            </a:r>
            <a:r>
              <a:rPr spc="-50" dirty="0"/>
              <a:t> </a:t>
            </a:r>
            <a:r>
              <a:rPr spc="-10" dirty="0"/>
              <a:t>committees</a:t>
            </a:r>
            <a:r>
              <a:rPr spc="-50" dirty="0"/>
              <a:t> </a:t>
            </a:r>
            <a:r>
              <a:rPr dirty="0"/>
              <a:t>prepare</a:t>
            </a:r>
            <a:r>
              <a:rPr spc="-50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spc="-10" dirty="0"/>
              <a:t>International</a:t>
            </a:r>
            <a:r>
              <a:rPr spc="-50" dirty="0"/>
              <a:t> </a:t>
            </a:r>
            <a:r>
              <a:rPr spc="-10" dirty="0"/>
              <a:t>Standards.</a:t>
            </a:r>
          </a:p>
          <a:p>
            <a:pPr marL="157480" marR="50165" indent="-145415">
              <a:lnSpc>
                <a:spcPct val="100000"/>
              </a:lnSpc>
              <a:buSzPct val="97500"/>
              <a:buFont typeface="Arial MT"/>
              <a:buChar char="•"/>
              <a:tabLst>
                <a:tab pos="273685" algn="l"/>
              </a:tabLst>
            </a:pPr>
            <a:r>
              <a:rPr dirty="0"/>
              <a:t>ISO</a:t>
            </a:r>
            <a:r>
              <a:rPr spc="-45" dirty="0"/>
              <a:t> </a:t>
            </a:r>
            <a:r>
              <a:rPr spc="-10" dirty="0"/>
              <a:t>collaborates</a:t>
            </a:r>
            <a:r>
              <a:rPr spc="-45" dirty="0"/>
              <a:t> </a:t>
            </a:r>
            <a:r>
              <a:rPr dirty="0"/>
              <a:t>closely</a:t>
            </a:r>
            <a:r>
              <a:rPr spc="-40" dirty="0"/>
              <a:t> </a:t>
            </a:r>
            <a:r>
              <a:rPr dirty="0"/>
              <a:t>with</a:t>
            </a:r>
            <a:r>
              <a:rPr spc="-4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spc="-10" dirty="0"/>
              <a:t>International</a:t>
            </a:r>
            <a:r>
              <a:rPr spc="-45" dirty="0"/>
              <a:t> </a:t>
            </a:r>
            <a:r>
              <a:rPr spc="-20" dirty="0"/>
              <a:t>Electro-</a:t>
            </a:r>
            <a:r>
              <a:rPr spc="-10" dirty="0"/>
              <a:t>technical 	Commission</a:t>
            </a:r>
            <a:r>
              <a:rPr spc="-35" dirty="0"/>
              <a:t> </a:t>
            </a:r>
            <a:r>
              <a:rPr dirty="0"/>
              <a:t>(IEC)</a:t>
            </a:r>
            <a:r>
              <a:rPr spc="-35" dirty="0"/>
              <a:t> </a:t>
            </a:r>
            <a:r>
              <a:rPr dirty="0"/>
              <a:t>on</a:t>
            </a:r>
            <a:r>
              <a:rPr spc="-35" dirty="0"/>
              <a:t> </a:t>
            </a:r>
            <a:r>
              <a:rPr dirty="0"/>
              <a:t>all</a:t>
            </a:r>
            <a:r>
              <a:rPr spc="-35" dirty="0"/>
              <a:t> </a:t>
            </a:r>
            <a:r>
              <a:rPr dirty="0"/>
              <a:t>matters</a:t>
            </a:r>
            <a:r>
              <a:rPr spc="-3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20" dirty="0"/>
              <a:t>electro-</a:t>
            </a:r>
            <a:r>
              <a:rPr spc="-10" dirty="0"/>
              <a:t>technical</a:t>
            </a:r>
            <a:r>
              <a:rPr spc="-35" dirty="0"/>
              <a:t> </a:t>
            </a:r>
            <a:r>
              <a:rPr spc="-10" dirty="0"/>
              <a:t>standardization.</a:t>
            </a:r>
          </a:p>
          <a:p>
            <a:pPr marL="157480" marR="5080" indent="-145415">
              <a:lnSpc>
                <a:spcPct val="100000"/>
              </a:lnSpc>
              <a:buSzPct val="97500"/>
              <a:buFont typeface="Arial MT"/>
              <a:buChar char="•"/>
              <a:tabLst>
                <a:tab pos="273685" algn="l"/>
              </a:tabLst>
            </a:pPr>
            <a:r>
              <a:rPr spc="-10" dirty="0"/>
              <a:t>International</a:t>
            </a:r>
            <a:r>
              <a:rPr spc="-50" dirty="0"/>
              <a:t> </a:t>
            </a:r>
            <a:r>
              <a:rPr spc="-10" dirty="0"/>
              <a:t>Standards</a:t>
            </a:r>
            <a:r>
              <a:rPr spc="-50" dirty="0"/>
              <a:t> </a:t>
            </a:r>
            <a:r>
              <a:rPr dirty="0"/>
              <a:t>are</a:t>
            </a:r>
            <a:r>
              <a:rPr spc="-50" dirty="0"/>
              <a:t> </a:t>
            </a:r>
            <a:r>
              <a:rPr dirty="0"/>
              <a:t>drafted</a:t>
            </a:r>
            <a:r>
              <a:rPr spc="-50" dirty="0"/>
              <a:t> </a:t>
            </a:r>
            <a:r>
              <a:rPr dirty="0"/>
              <a:t>in</a:t>
            </a:r>
            <a:r>
              <a:rPr spc="-50" dirty="0"/>
              <a:t> </a:t>
            </a:r>
            <a:r>
              <a:rPr spc="-10" dirty="0"/>
              <a:t>accordance</a:t>
            </a:r>
            <a:r>
              <a:rPr spc="-50" dirty="0"/>
              <a:t> </a:t>
            </a:r>
            <a:r>
              <a:rPr dirty="0"/>
              <a:t>with</a:t>
            </a:r>
            <a:r>
              <a:rPr spc="-50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dirty="0"/>
              <a:t>rules</a:t>
            </a:r>
            <a:r>
              <a:rPr spc="-50" dirty="0"/>
              <a:t> </a:t>
            </a:r>
            <a:r>
              <a:rPr spc="-10" dirty="0"/>
              <a:t>given 	</a:t>
            </a:r>
            <a:r>
              <a:rPr dirty="0"/>
              <a:t>in</a:t>
            </a:r>
            <a:r>
              <a:rPr spc="-4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ISO/IEC</a:t>
            </a:r>
            <a:r>
              <a:rPr spc="-40" dirty="0"/>
              <a:t> </a:t>
            </a:r>
            <a:r>
              <a:rPr spc="-10" dirty="0"/>
              <a:t>Directives,</a:t>
            </a:r>
            <a:r>
              <a:rPr spc="-35" dirty="0"/>
              <a:t> </a:t>
            </a:r>
            <a:r>
              <a:rPr dirty="0"/>
              <a:t>Part</a:t>
            </a:r>
            <a:r>
              <a:rPr spc="-40" dirty="0"/>
              <a:t> </a:t>
            </a:r>
            <a:r>
              <a:rPr spc="-25" dirty="0"/>
              <a:t>2.</a:t>
            </a:r>
          </a:p>
          <a:p>
            <a:pPr marL="157480" marR="922019" indent="-145415">
              <a:lnSpc>
                <a:spcPct val="100000"/>
              </a:lnSpc>
              <a:buSzPct val="97500"/>
              <a:buFont typeface="Arial MT"/>
              <a:buChar char="•"/>
              <a:tabLst>
                <a:tab pos="273685" algn="l"/>
              </a:tabLst>
            </a:pPr>
            <a:r>
              <a:rPr dirty="0"/>
              <a:t>Draft</a:t>
            </a:r>
            <a:r>
              <a:rPr spc="-4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spc="-10" dirty="0"/>
              <a:t>International</a:t>
            </a:r>
            <a:r>
              <a:rPr spc="-45" dirty="0"/>
              <a:t> </a:t>
            </a:r>
            <a:r>
              <a:rPr spc="-10" dirty="0"/>
              <a:t>Standards</a:t>
            </a:r>
            <a:r>
              <a:rPr spc="-45" dirty="0"/>
              <a:t> </a:t>
            </a:r>
            <a:r>
              <a:rPr dirty="0"/>
              <a:t>adopted</a:t>
            </a:r>
            <a:r>
              <a:rPr spc="-40" dirty="0"/>
              <a:t> </a:t>
            </a:r>
            <a:r>
              <a:rPr dirty="0"/>
              <a:t>by</a:t>
            </a:r>
            <a:r>
              <a:rPr spc="-45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spc="-10" dirty="0"/>
              <a:t>technical 	committees</a:t>
            </a:r>
            <a:r>
              <a:rPr spc="-50" dirty="0"/>
              <a:t> </a:t>
            </a:r>
            <a:r>
              <a:rPr dirty="0"/>
              <a:t>is</a:t>
            </a:r>
            <a:r>
              <a:rPr spc="-45" dirty="0"/>
              <a:t> </a:t>
            </a:r>
            <a:r>
              <a:rPr spc="-10" dirty="0"/>
              <a:t>circulated</a:t>
            </a:r>
            <a:r>
              <a:rPr spc="-45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dirty="0"/>
              <a:t>member</a:t>
            </a:r>
            <a:r>
              <a:rPr spc="-45" dirty="0"/>
              <a:t> </a:t>
            </a:r>
            <a:r>
              <a:rPr dirty="0"/>
              <a:t>bodies</a:t>
            </a:r>
            <a:r>
              <a:rPr spc="-45" dirty="0"/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spc="-10" dirty="0"/>
              <a:t>voting.</a:t>
            </a:r>
          </a:p>
          <a:p>
            <a:pPr marL="100330" marR="285115" indent="-100330">
              <a:lnSpc>
                <a:spcPct val="100000"/>
              </a:lnSpc>
              <a:buSzPct val="97500"/>
              <a:buFont typeface="Arial MT"/>
              <a:buChar char="•"/>
              <a:tabLst>
                <a:tab pos="215900" algn="l"/>
              </a:tabLst>
            </a:pPr>
            <a:r>
              <a:rPr dirty="0"/>
              <a:t>ISO</a:t>
            </a:r>
            <a:r>
              <a:rPr spc="-40" dirty="0"/>
              <a:t> </a:t>
            </a:r>
            <a:r>
              <a:rPr dirty="0"/>
              <a:t>9001</a:t>
            </a:r>
            <a:r>
              <a:rPr spc="-40" dirty="0"/>
              <a:t> </a:t>
            </a:r>
            <a:r>
              <a:rPr dirty="0"/>
              <a:t>was</a:t>
            </a:r>
            <a:r>
              <a:rPr spc="-35" dirty="0"/>
              <a:t> </a:t>
            </a:r>
            <a:r>
              <a:rPr spc="-10" dirty="0"/>
              <a:t>prepared</a:t>
            </a:r>
            <a:r>
              <a:rPr spc="-40" dirty="0"/>
              <a:t> </a:t>
            </a:r>
            <a:r>
              <a:rPr dirty="0"/>
              <a:t>by</a:t>
            </a:r>
            <a:r>
              <a:rPr spc="-35" dirty="0"/>
              <a:t> </a:t>
            </a:r>
            <a:r>
              <a:rPr spc="-10" dirty="0"/>
              <a:t>Technical</a:t>
            </a:r>
            <a:r>
              <a:rPr spc="-40" dirty="0"/>
              <a:t> </a:t>
            </a:r>
            <a:r>
              <a:rPr spc="-10" dirty="0"/>
              <a:t>Committee</a:t>
            </a:r>
            <a:r>
              <a:rPr spc="-35" dirty="0"/>
              <a:t> </a:t>
            </a:r>
            <a:r>
              <a:rPr dirty="0"/>
              <a:t>ISO/TC</a:t>
            </a:r>
            <a:r>
              <a:rPr spc="-40" dirty="0"/>
              <a:t> </a:t>
            </a:r>
            <a:r>
              <a:rPr dirty="0"/>
              <a:t>176,</a:t>
            </a:r>
            <a:r>
              <a:rPr spc="-35" dirty="0"/>
              <a:t> </a:t>
            </a:r>
            <a:r>
              <a:rPr spc="-10" dirty="0"/>
              <a:t>Quality 	management</a:t>
            </a:r>
            <a:r>
              <a:rPr spc="-50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dirty="0"/>
              <a:t>quality</a:t>
            </a:r>
            <a:r>
              <a:rPr spc="-50" dirty="0"/>
              <a:t> </a:t>
            </a:r>
            <a:r>
              <a:rPr spc="-10" dirty="0"/>
              <a:t>assurance,</a:t>
            </a:r>
            <a:r>
              <a:rPr spc="-45" dirty="0"/>
              <a:t> </a:t>
            </a:r>
            <a:r>
              <a:rPr spc="-10" dirty="0"/>
              <a:t>Subcommittee</a:t>
            </a:r>
            <a:r>
              <a:rPr spc="-50" dirty="0"/>
              <a:t> </a:t>
            </a:r>
            <a:r>
              <a:rPr dirty="0"/>
              <a:t>SC</a:t>
            </a:r>
            <a:r>
              <a:rPr spc="-45" dirty="0"/>
              <a:t> </a:t>
            </a:r>
            <a:r>
              <a:rPr dirty="0"/>
              <a:t>2,</a:t>
            </a:r>
            <a:r>
              <a:rPr spc="-50" dirty="0"/>
              <a:t> </a:t>
            </a:r>
            <a:r>
              <a:rPr spc="-10" dirty="0"/>
              <a:t>Quality 	systems.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56791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3525" y="1697673"/>
            <a:ext cx="86169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60536" y="2517913"/>
            <a:ext cx="7532370" cy="2892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4950" marR="327025" indent="-142875">
              <a:lnSpc>
                <a:spcPct val="149300"/>
              </a:lnSpc>
              <a:spcBef>
                <a:spcPts val="100"/>
              </a:spcBef>
              <a:buChar char="•"/>
              <a:tabLst>
                <a:tab pos="282575" algn="l"/>
              </a:tabLst>
            </a:pPr>
            <a:r>
              <a:rPr sz="1800" dirty="0">
                <a:latin typeface="Arial MT"/>
                <a:cs typeface="Arial MT"/>
              </a:rPr>
              <a:t>Pressman,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Roger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S.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Software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engineering: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practitioner's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approach. 	</a:t>
            </a:r>
            <a:r>
              <a:rPr sz="1800" dirty="0">
                <a:latin typeface="Arial MT"/>
                <a:cs typeface="Arial MT"/>
              </a:rPr>
              <a:t>Palgrave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Macmillan,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2005.</a:t>
            </a:r>
            <a:endParaRPr sz="1800">
              <a:latin typeface="Arial MT"/>
              <a:cs typeface="Arial MT"/>
            </a:endParaRPr>
          </a:p>
          <a:p>
            <a:pPr marL="154940" marR="539115" indent="-142875">
              <a:lnSpc>
                <a:spcPct val="149300"/>
              </a:lnSpc>
              <a:buChar char="•"/>
              <a:tabLst>
                <a:tab pos="219075" algn="l"/>
              </a:tabLst>
            </a:pPr>
            <a:r>
              <a:rPr sz="1800" dirty="0">
                <a:latin typeface="Arial MT"/>
                <a:cs typeface="Arial MT"/>
              </a:rPr>
              <a:t>Sommerville,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Ian.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Software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Engineering: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Pearson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New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International 	</a:t>
            </a:r>
            <a:r>
              <a:rPr sz="1800" dirty="0">
                <a:latin typeface="Arial MT"/>
                <a:cs typeface="Arial MT"/>
              </a:rPr>
              <a:t>Edition.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Pearson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Education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Limited,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2013.</a:t>
            </a:r>
            <a:endParaRPr sz="1800">
              <a:latin typeface="Arial MT"/>
              <a:cs typeface="Arial MT"/>
            </a:endParaRPr>
          </a:p>
          <a:p>
            <a:pPr marL="154940" marR="5080" indent="-142875">
              <a:lnSpc>
                <a:spcPct val="149300"/>
              </a:lnSpc>
              <a:buChar char="•"/>
              <a:tabLst>
                <a:tab pos="219075" algn="l"/>
              </a:tabLst>
            </a:pPr>
            <a:r>
              <a:rPr sz="1800" dirty="0">
                <a:latin typeface="Arial MT"/>
                <a:cs typeface="Arial MT"/>
              </a:rPr>
              <a:t>Jalote,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Pankaj.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integrated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approach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software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engineering.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Springer 	</a:t>
            </a:r>
            <a:r>
              <a:rPr sz="1800" dirty="0">
                <a:latin typeface="Arial MT"/>
                <a:cs typeface="Arial MT"/>
              </a:rPr>
              <a:t>Science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&amp;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Business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Media,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2012.</a:t>
            </a:r>
            <a:endParaRPr sz="1800">
              <a:latin typeface="Arial MT"/>
              <a:cs typeface="Arial MT"/>
            </a:endParaRPr>
          </a:p>
          <a:p>
            <a:pPr marL="155575" indent="-142875">
              <a:lnSpc>
                <a:spcPct val="100000"/>
              </a:lnSpc>
              <a:spcBef>
                <a:spcPts val="1065"/>
              </a:spcBef>
              <a:buChar char="•"/>
              <a:tabLst>
                <a:tab pos="155575" algn="l"/>
              </a:tabLst>
            </a:pPr>
            <a:r>
              <a:rPr sz="1800" spc="-10" dirty="0">
                <a:latin typeface="Arial MT"/>
                <a:cs typeface="Arial MT"/>
                <a:hlinkClick r:id="rId2"/>
              </a:rPr>
              <a:t>www.google.com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361112"/>
            <a:ext cx="9144000" cy="497205"/>
          </a:xfrm>
          <a:custGeom>
            <a:avLst/>
            <a:gdLst/>
            <a:ahLst/>
            <a:cxnLst/>
            <a:rect l="l" t="t" r="r" b="b"/>
            <a:pathLst>
              <a:path w="9144000" h="497204">
                <a:moveTo>
                  <a:pt x="0" y="496886"/>
                </a:moveTo>
                <a:lnTo>
                  <a:pt x="9143999" y="496886"/>
                </a:lnTo>
                <a:lnTo>
                  <a:pt x="9143999" y="0"/>
                </a:lnTo>
                <a:lnTo>
                  <a:pt x="0" y="0"/>
                </a:lnTo>
                <a:lnTo>
                  <a:pt x="0" y="49688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361950"/>
            <a:ext cx="9144000" cy="5999480"/>
            <a:chOff x="0" y="361950"/>
            <a:chExt cx="9144000" cy="5999480"/>
          </a:xfrm>
        </p:grpSpPr>
        <p:sp>
          <p:nvSpPr>
            <p:cNvPr id="4" name="object 4"/>
            <p:cNvSpPr/>
            <p:nvPr/>
          </p:nvSpPr>
          <p:spPr>
            <a:xfrm>
              <a:off x="0" y="3214687"/>
              <a:ext cx="9144000" cy="2789555"/>
            </a:xfrm>
            <a:custGeom>
              <a:avLst/>
              <a:gdLst/>
              <a:ahLst/>
              <a:cxnLst/>
              <a:rect l="l" t="t" r="r" b="b"/>
              <a:pathLst>
                <a:path w="9144000" h="2789554">
                  <a:moveTo>
                    <a:pt x="0" y="2789236"/>
                  </a:moveTo>
                  <a:lnTo>
                    <a:pt x="9143999" y="2789236"/>
                  </a:lnTo>
                  <a:lnTo>
                    <a:pt x="9143999" y="0"/>
                  </a:lnTo>
                  <a:lnTo>
                    <a:pt x="0" y="0"/>
                  </a:lnTo>
                  <a:lnTo>
                    <a:pt x="0" y="27892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9200" y="361950"/>
              <a:ext cx="6705599" cy="28574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33638" y="4000500"/>
              <a:ext cx="4276725" cy="5714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38475" y="4946650"/>
              <a:ext cx="3067049" cy="26034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0" y="6003925"/>
              <a:ext cx="9144000" cy="357505"/>
            </a:xfrm>
            <a:custGeom>
              <a:avLst/>
              <a:gdLst/>
              <a:ahLst/>
              <a:cxnLst/>
              <a:rect l="l" t="t" r="r" b="b"/>
              <a:pathLst>
                <a:path w="9144000" h="357504">
                  <a:moveTo>
                    <a:pt x="9143999" y="357187"/>
                  </a:moveTo>
                  <a:lnTo>
                    <a:pt x="0" y="357187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3571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341681" y="6013831"/>
            <a:ext cx="2458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1F497D"/>
                </a:solidFill>
                <a:latin typeface="Calibri"/>
                <a:cs typeface="Calibri"/>
                <a:hlinkClick r:id="rId5"/>
              </a:rPr>
              <a:t>www.paruluniversity.ac.in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 Unit _ 6</Template>
  <TotalTime>206</TotalTime>
  <Words>4518</Words>
  <Application>Microsoft Office PowerPoint</Application>
  <PresentationFormat>On-screen Show (4:3)</PresentationFormat>
  <Paragraphs>484</Paragraphs>
  <Slides>66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3" baseType="lpstr">
      <vt:lpstr>Arial</vt:lpstr>
      <vt:lpstr>Arial MT</vt:lpstr>
      <vt:lpstr>Calibri</vt:lpstr>
      <vt:lpstr>Courier New</vt:lpstr>
      <vt:lpstr>Segoe UI Symbol</vt:lpstr>
      <vt:lpstr>Times New Roman</vt:lpstr>
      <vt:lpstr>Office Theme</vt:lpstr>
      <vt:lpstr>PowerPoint Presentation</vt:lpstr>
      <vt:lpstr>Contents- Software Testing</vt:lpstr>
      <vt:lpstr>Contents- Quality Assurance</vt:lpstr>
      <vt:lpstr>Software Testing Concepts</vt:lpstr>
      <vt:lpstr>Psychology of testing</vt:lpstr>
      <vt:lpstr>Software testing phases</vt:lpstr>
      <vt:lpstr>Testing process</vt:lpstr>
      <vt:lpstr>Test plan</vt:lpstr>
      <vt:lpstr>Test Planning Activities</vt:lpstr>
      <vt:lpstr>Test case design</vt:lpstr>
      <vt:lpstr>Test Execution</vt:lpstr>
      <vt:lpstr>Levels of testing</vt:lpstr>
      <vt:lpstr>Functional Testing</vt:lpstr>
      <vt:lpstr>Unit Testing</vt:lpstr>
      <vt:lpstr>Integration Testing</vt:lpstr>
      <vt:lpstr>System Testing</vt:lpstr>
      <vt:lpstr>Non-Functional Testing</vt:lpstr>
      <vt:lpstr>Black-Box testing</vt:lpstr>
      <vt:lpstr>Continue…</vt:lpstr>
      <vt:lpstr>Continue…</vt:lpstr>
      <vt:lpstr>Boundary value analysis</vt:lpstr>
      <vt:lpstr>Guidelines for BVA</vt:lpstr>
      <vt:lpstr>Pair wise testing</vt:lpstr>
      <vt:lpstr>Advantages of Pairwise Testing</vt:lpstr>
      <vt:lpstr>Disadvantages of Pairwise Testing</vt:lpstr>
      <vt:lpstr>State based testing</vt:lpstr>
      <vt:lpstr>Continue…</vt:lpstr>
      <vt:lpstr>Continue…</vt:lpstr>
      <vt:lpstr>Continue…</vt:lpstr>
      <vt:lpstr>Continue…</vt:lpstr>
      <vt:lpstr>Continue…</vt:lpstr>
      <vt:lpstr>White-Box testing</vt:lpstr>
      <vt:lpstr>Continue…</vt:lpstr>
      <vt:lpstr>Basis path testing</vt:lpstr>
      <vt:lpstr>Flow graph</vt:lpstr>
      <vt:lpstr>Flow Graph Notation</vt:lpstr>
      <vt:lpstr>Continue…</vt:lpstr>
      <vt:lpstr>Independent program paths or Cyclomatic complexity</vt:lpstr>
      <vt:lpstr>Continue…</vt:lpstr>
      <vt:lpstr>Deriving Test Cases</vt:lpstr>
      <vt:lpstr>Deriving Test Cases</vt:lpstr>
      <vt:lpstr>Continue…</vt:lpstr>
      <vt:lpstr>Continue…</vt:lpstr>
      <vt:lpstr>Graph Matrices</vt:lpstr>
      <vt:lpstr>Graph Matrices</vt:lpstr>
      <vt:lpstr>Continue…</vt:lpstr>
      <vt:lpstr>Connection matrix</vt:lpstr>
      <vt:lpstr>Connection matrix</vt:lpstr>
      <vt:lpstr>Quality Control - Quality</vt:lpstr>
      <vt:lpstr>Software Quality Assurance</vt:lpstr>
      <vt:lpstr>Role of an SQA group</vt:lpstr>
      <vt:lpstr>Continue…</vt:lpstr>
      <vt:lpstr>Software Reliability</vt:lpstr>
      <vt:lpstr>Quality Assurance</vt:lpstr>
      <vt:lpstr>Cost of Quality</vt:lpstr>
      <vt:lpstr>Continue…</vt:lpstr>
      <vt:lpstr>Continue…</vt:lpstr>
      <vt:lpstr>Continue…</vt:lpstr>
      <vt:lpstr>Software Reliability</vt:lpstr>
      <vt:lpstr>Measures of Reliability and Availability</vt:lpstr>
      <vt:lpstr>Continue…</vt:lpstr>
      <vt:lpstr>Quality Standards- ISO9000 And 9001</vt:lpstr>
      <vt:lpstr>Quality Management Standards</vt:lpstr>
      <vt:lpstr>ISO 9001 Certification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kedar pinniboyina</dc:creator>
  <cp:lastModifiedBy>kedar pinniboyina</cp:lastModifiedBy>
  <cp:revision>6</cp:revision>
  <dcterms:created xsi:type="dcterms:W3CDTF">2026-02-12T16:04:37Z</dcterms:created>
  <dcterms:modified xsi:type="dcterms:W3CDTF">2026-03-02T15:57:08Z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2025-11-20T00:00:00Z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2025-11-20T00:00:00Z</vt:filetime>
  </property>
</Properties>
</file>