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2"/>
  </p:notesMasterIdLst>
  <p:sldIdLst>
    <p:sldId id="257" r:id="rId2"/>
    <p:sldId id="357" r:id="rId3"/>
    <p:sldId id="356" r:id="rId4"/>
    <p:sldId id="377" r:id="rId5"/>
    <p:sldId id="361" r:id="rId6"/>
    <p:sldId id="362" r:id="rId7"/>
    <p:sldId id="375" r:id="rId8"/>
    <p:sldId id="381" r:id="rId9"/>
    <p:sldId id="382" r:id="rId10"/>
    <p:sldId id="376" r:id="rId11"/>
    <p:sldId id="383" r:id="rId12"/>
    <p:sldId id="384" r:id="rId13"/>
    <p:sldId id="261" r:id="rId14"/>
    <p:sldId id="359" r:id="rId15"/>
    <p:sldId id="372" r:id="rId16"/>
    <p:sldId id="335" r:id="rId17"/>
    <p:sldId id="373" r:id="rId18"/>
    <p:sldId id="378" r:id="rId19"/>
    <p:sldId id="379" r:id="rId20"/>
    <p:sldId id="380" r:id="rId21"/>
    <p:sldId id="374" r:id="rId22"/>
    <p:sldId id="336" r:id="rId23"/>
    <p:sldId id="337" r:id="rId24"/>
    <p:sldId id="363" r:id="rId25"/>
    <p:sldId id="364" r:id="rId26"/>
    <p:sldId id="366" r:id="rId27"/>
    <p:sldId id="367" r:id="rId28"/>
    <p:sldId id="338" r:id="rId29"/>
    <p:sldId id="365" r:id="rId30"/>
    <p:sldId id="368" r:id="rId31"/>
    <p:sldId id="369" r:id="rId32"/>
    <p:sldId id="334" r:id="rId33"/>
    <p:sldId id="262" r:id="rId34"/>
    <p:sldId id="263" r:id="rId35"/>
    <p:sldId id="322" r:id="rId36"/>
    <p:sldId id="360" r:id="rId37"/>
    <p:sldId id="323" r:id="rId38"/>
    <p:sldId id="370" r:id="rId39"/>
    <p:sldId id="371" r:id="rId40"/>
    <p:sldId id="321" r:id="rId41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7358" autoAdjust="0"/>
  </p:normalViewPr>
  <p:slideViewPr>
    <p:cSldViewPr>
      <p:cViewPr varScale="1">
        <p:scale>
          <a:sx n="74" d="100"/>
          <a:sy n="74" d="100"/>
        </p:scale>
        <p:origin x="1714" y="7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81B67A-04D4-4725-9E9B-AF9BEA2DB19A}" type="datetimeFigureOut">
              <a:rPr lang="en-IN" smtClean="0"/>
              <a:t>25-12-2025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527F48-7CFA-4648-8465-9CF5BE0D0A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69719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527F48-7CFA-4648-8465-9CF5BE0D0A0B}" type="slidenum">
              <a:rPr lang="en-IN" smtClean="0"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30883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object 10">
            <a:extLst>
              <a:ext uri="{FF2B5EF4-FFF2-40B4-BE49-F238E27FC236}">
                <a16:creationId xmlns:a16="http://schemas.microsoft.com/office/drawing/2014/main" id="{467A548B-2855-EE3C-9FDB-FA244E04F391}"/>
              </a:ext>
            </a:extLst>
          </p:cNvPr>
          <p:cNvGrpSpPr/>
          <p:nvPr userDrawn="1"/>
        </p:nvGrpSpPr>
        <p:grpSpPr>
          <a:xfrm>
            <a:off x="377036" y="1"/>
            <a:ext cx="8698811" cy="6857999"/>
            <a:chOff x="-4801433" y="-1782234"/>
            <a:chExt cx="18084927" cy="14257864"/>
          </a:xfrm>
        </p:grpSpPr>
        <p:sp>
          <p:nvSpPr>
            <p:cNvPr id="7" name="object 11">
              <a:extLst>
                <a:ext uri="{FF2B5EF4-FFF2-40B4-BE49-F238E27FC236}">
                  <a16:creationId xmlns:a16="http://schemas.microsoft.com/office/drawing/2014/main" id="{6B8C205A-7087-CF38-99F4-B0053CB4FE60}"/>
                </a:ext>
              </a:extLst>
            </p:cNvPr>
            <p:cNvSpPr/>
            <p:nvPr/>
          </p:nvSpPr>
          <p:spPr>
            <a:xfrm>
              <a:off x="-4801433" y="1790698"/>
              <a:ext cx="12600815" cy="983098"/>
            </a:xfrm>
            <a:custGeom>
              <a:avLst/>
              <a:gdLst/>
              <a:ahLst/>
              <a:cxnLst/>
              <a:rect l="l" t="t" r="r" b="b"/>
              <a:pathLst>
                <a:path w="4610100" h="660400">
                  <a:moveTo>
                    <a:pt x="0" y="660400"/>
                  </a:moveTo>
                  <a:lnTo>
                    <a:pt x="4610100" y="660400"/>
                  </a:lnTo>
                  <a:lnTo>
                    <a:pt x="4610100" y="0"/>
                  </a:lnTo>
                  <a:lnTo>
                    <a:pt x="0" y="0"/>
                  </a:lnTo>
                  <a:lnTo>
                    <a:pt x="0" y="660400"/>
                  </a:lnTo>
                  <a:close/>
                </a:path>
              </a:pathLst>
            </a:custGeom>
            <a:solidFill>
              <a:srgbClr val="646464"/>
            </a:solidFill>
          </p:spPr>
          <p:txBody>
            <a:bodyPr wrap="square" lIns="0" tIns="0" rIns="0" bIns="0" rtlCol="0"/>
            <a:lstStyle/>
            <a:p>
              <a:endParaRPr sz="865"/>
            </a:p>
          </p:txBody>
        </p:sp>
        <p:sp>
          <p:nvSpPr>
            <p:cNvPr id="8" name="object 12">
              <a:extLst>
                <a:ext uri="{FF2B5EF4-FFF2-40B4-BE49-F238E27FC236}">
                  <a16:creationId xmlns:a16="http://schemas.microsoft.com/office/drawing/2014/main" id="{98F51262-3750-3A6F-3A92-74D6791C62FB}"/>
                </a:ext>
              </a:extLst>
            </p:cNvPr>
            <p:cNvSpPr/>
            <p:nvPr/>
          </p:nvSpPr>
          <p:spPr>
            <a:xfrm>
              <a:off x="8339276" y="-1782234"/>
              <a:ext cx="4944218" cy="14257864"/>
            </a:xfrm>
            <a:custGeom>
              <a:avLst/>
              <a:gdLst/>
              <a:ahLst/>
              <a:cxnLst/>
              <a:rect l="l" t="t" r="r" b="b"/>
              <a:pathLst>
                <a:path w="2387600" h="10693400">
                  <a:moveTo>
                    <a:pt x="0" y="0"/>
                  </a:moveTo>
                  <a:lnTo>
                    <a:pt x="2387600" y="0"/>
                  </a:lnTo>
                  <a:lnTo>
                    <a:pt x="2387600" y="10693400"/>
                  </a:lnTo>
                  <a:lnTo>
                    <a:pt x="0" y="106934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487C"/>
            </a:solidFill>
          </p:spPr>
          <p:txBody>
            <a:bodyPr wrap="square" lIns="0" tIns="0" rIns="0" bIns="0" rtlCol="0"/>
            <a:lstStyle/>
            <a:p>
              <a:endParaRPr sz="865"/>
            </a:p>
          </p:txBody>
        </p:sp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8F0743AE-05B8-728F-CB92-2C0BA30CB3C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755" y="253736"/>
            <a:ext cx="4597617" cy="69180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6D257D0-4131-4888-983C-C92DFD3C1541}"/>
              </a:ext>
            </a:extLst>
          </p:cNvPr>
          <p:cNvSpPr txBox="1"/>
          <p:nvPr userDrawn="1"/>
        </p:nvSpPr>
        <p:spPr>
          <a:xfrm>
            <a:off x="6629400" y="293754"/>
            <a:ext cx="28014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CSE-AI &amp; ML</a:t>
            </a:r>
            <a:endParaRPr lang="en-IN" sz="32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DE14A5E2-5AF5-9BF9-6092-47DB459663EF}"/>
              </a:ext>
            </a:extLst>
          </p:cNvPr>
          <p:cNvGrpSpPr/>
          <p:nvPr userDrawn="1"/>
        </p:nvGrpSpPr>
        <p:grpSpPr>
          <a:xfrm>
            <a:off x="228065" y="208814"/>
            <a:ext cx="8832808" cy="695162"/>
            <a:chOff x="228065" y="208814"/>
            <a:chExt cx="8832808" cy="695162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63EA7D79-652A-AEA1-E147-CBFC2E4323BD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30914"/>
            <a:stretch/>
          </p:blipFill>
          <p:spPr>
            <a:xfrm>
              <a:off x="228065" y="208814"/>
              <a:ext cx="5829835" cy="695162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25A7A149-02A8-439C-10C9-7E409452798D}"/>
                </a:ext>
              </a:extLst>
            </p:cNvPr>
            <p:cNvSpPr txBox="1"/>
            <p:nvPr userDrawn="1"/>
          </p:nvSpPr>
          <p:spPr>
            <a:xfrm>
              <a:off x="5943600" y="264007"/>
              <a:ext cx="311727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b="1" dirty="0">
                  <a:solidFill>
                    <a:srgbClr val="1F487C"/>
                  </a:solidFill>
                </a:rPr>
                <a:t>CSE-</a:t>
              </a:r>
              <a:r>
                <a:rPr lang="en-US" sz="3200" b="1" baseline="0" dirty="0">
                  <a:solidFill>
                    <a:srgbClr val="1F487C"/>
                  </a:solidFill>
                </a:rPr>
                <a:t> AI &amp; ML</a:t>
              </a:r>
              <a:endParaRPr lang="en-US" sz="3200" b="1" dirty="0">
                <a:solidFill>
                  <a:srgbClr val="1F487C"/>
                </a:solidFill>
              </a:endParaRPr>
            </a:p>
          </p:txBody>
        </p:sp>
      </p:grpSp>
      <p:sp>
        <p:nvSpPr>
          <p:cNvPr id="12" name="object 3">
            <a:extLst>
              <a:ext uri="{FF2B5EF4-FFF2-40B4-BE49-F238E27FC236}">
                <a16:creationId xmlns:a16="http://schemas.microsoft.com/office/drawing/2014/main" id="{5FF3F8BA-A523-0489-D6A2-253B8AF63491}"/>
              </a:ext>
            </a:extLst>
          </p:cNvPr>
          <p:cNvSpPr/>
          <p:nvPr userDrawn="1"/>
        </p:nvSpPr>
        <p:spPr>
          <a:xfrm>
            <a:off x="1" y="6493764"/>
            <a:ext cx="9143999" cy="419100"/>
          </a:xfrm>
          <a:custGeom>
            <a:avLst/>
            <a:gdLst/>
            <a:ahLst/>
            <a:cxnLst/>
            <a:rect l="l" t="t" r="r" b="b"/>
            <a:pathLst>
              <a:path w="7556500" h="393700">
                <a:moveTo>
                  <a:pt x="7556500" y="0"/>
                </a:moveTo>
                <a:lnTo>
                  <a:pt x="0" y="0"/>
                </a:lnTo>
                <a:lnTo>
                  <a:pt x="0" y="393700"/>
                </a:lnTo>
                <a:lnTo>
                  <a:pt x="7556500" y="393700"/>
                </a:lnTo>
                <a:lnTo>
                  <a:pt x="7556500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 sz="865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15BA4F14-9FC3-AC8B-9550-50B04280F4AA}"/>
              </a:ext>
            </a:extLst>
          </p:cNvPr>
          <p:cNvGrpSpPr/>
          <p:nvPr userDrawn="1"/>
        </p:nvGrpSpPr>
        <p:grpSpPr>
          <a:xfrm>
            <a:off x="228065" y="208814"/>
            <a:ext cx="8832808" cy="695162"/>
            <a:chOff x="228065" y="208814"/>
            <a:chExt cx="8832808" cy="695162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A199DCD3-0FEE-4E49-04F8-35CE84D6F74D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30914"/>
            <a:stretch/>
          </p:blipFill>
          <p:spPr>
            <a:xfrm>
              <a:off x="228065" y="208814"/>
              <a:ext cx="5829835" cy="695162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BCA16294-4CE8-4244-82D5-06B2D4FFDDC4}"/>
                </a:ext>
              </a:extLst>
            </p:cNvPr>
            <p:cNvSpPr txBox="1"/>
            <p:nvPr userDrawn="1"/>
          </p:nvSpPr>
          <p:spPr>
            <a:xfrm>
              <a:off x="5943600" y="264007"/>
              <a:ext cx="311727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b="1" dirty="0">
                  <a:solidFill>
                    <a:srgbClr val="1F487C"/>
                  </a:solidFill>
                </a:rPr>
                <a:t>CSE-</a:t>
              </a:r>
              <a:r>
                <a:rPr lang="en-US" sz="3200" b="1" baseline="0" dirty="0">
                  <a:solidFill>
                    <a:srgbClr val="1F487C"/>
                  </a:solidFill>
                </a:rPr>
                <a:t> AI &amp; ML</a:t>
              </a:r>
              <a:endParaRPr lang="en-US" sz="3200" b="1" dirty="0">
                <a:solidFill>
                  <a:srgbClr val="1F487C"/>
                </a:solidFill>
              </a:endParaRPr>
            </a:p>
          </p:txBody>
        </p:sp>
      </p:grpSp>
      <p:sp>
        <p:nvSpPr>
          <p:cNvPr id="11" name="object 3">
            <a:extLst>
              <a:ext uri="{FF2B5EF4-FFF2-40B4-BE49-F238E27FC236}">
                <a16:creationId xmlns:a16="http://schemas.microsoft.com/office/drawing/2014/main" id="{84774D53-FAAF-2B9B-95DF-996373FF4AEA}"/>
              </a:ext>
            </a:extLst>
          </p:cNvPr>
          <p:cNvSpPr/>
          <p:nvPr userDrawn="1"/>
        </p:nvSpPr>
        <p:spPr>
          <a:xfrm>
            <a:off x="1" y="6493764"/>
            <a:ext cx="9143999" cy="419100"/>
          </a:xfrm>
          <a:custGeom>
            <a:avLst/>
            <a:gdLst/>
            <a:ahLst/>
            <a:cxnLst/>
            <a:rect l="l" t="t" r="r" b="b"/>
            <a:pathLst>
              <a:path w="7556500" h="393700">
                <a:moveTo>
                  <a:pt x="7556500" y="0"/>
                </a:moveTo>
                <a:lnTo>
                  <a:pt x="0" y="0"/>
                </a:lnTo>
                <a:lnTo>
                  <a:pt x="0" y="393700"/>
                </a:lnTo>
                <a:lnTo>
                  <a:pt x="7556500" y="393700"/>
                </a:lnTo>
                <a:lnTo>
                  <a:pt x="7556500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 sz="865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1556791"/>
            <a:ext cx="9144000" cy="643255"/>
          </a:xfrm>
          <a:custGeom>
            <a:avLst/>
            <a:gdLst/>
            <a:ahLst/>
            <a:cxnLst/>
            <a:rect l="l" t="t" r="r" b="b"/>
            <a:pathLst>
              <a:path w="9144000" h="643255">
                <a:moveTo>
                  <a:pt x="9143999" y="642936"/>
                </a:moveTo>
                <a:lnTo>
                  <a:pt x="0" y="642936"/>
                </a:lnTo>
                <a:lnTo>
                  <a:pt x="0" y="0"/>
                </a:lnTo>
                <a:lnTo>
                  <a:pt x="9143999" y="0"/>
                </a:lnTo>
                <a:lnTo>
                  <a:pt x="9143999" y="642936"/>
                </a:lnTo>
                <a:close/>
              </a:path>
            </a:pathLst>
          </a:custGeom>
          <a:solidFill>
            <a:srgbClr val="1F497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1C74AEB-179E-9522-FB80-3A6792901FEC}"/>
              </a:ext>
            </a:extLst>
          </p:cNvPr>
          <p:cNvGrpSpPr/>
          <p:nvPr userDrawn="1"/>
        </p:nvGrpSpPr>
        <p:grpSpPr>
          <a:xfrm>
            <a:off x="228065" y="208814"/>
            <a:ext cx="8832808" cy="695162"/>
            <a:chOff x="228065" y="208814"/>
            <a:chExt cx="8832808" cy="695162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784A9A1F-B994-071D-C394-B5D058AABCD1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30914"/>
            <a:stretch/>
          </p:blipFill>
          <p:spPr>
            <a:xfrm>
              <a:off x="228065" y="208814"/>
              <a:ext cx="5829835" cy="695162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EF60D1BA-7EFD-DEE0-21A9-EC5D9E9C57B8}"/>
                </a:ext>
              </a:extLst>
            </p:cNvPr>
            <p:cNvSpPr txBox="1"/>
            <p:nvPr userDrawn="1"/>
          </p:nvSpPr>
          <p:spPr>
            <a:xfrm>
              <a:off x="5943600" y="264007"/>
              <a:ext cx="311727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b="1" dirty="0">
                  <a:solidFill>
                    <a:srgbClr val="1F487C"/>
                  </a:solidFill>
                </a:rPr>
                <a:t>CSE-</a:t>
              </a:r>
              <a:r>
                <a:rPr lang="en-US" sz="3200" b="1" baseline="0" dirty="0">
                  <a:solidFill>
                    <a:srgbClr val="1F487C"/>
                  </a:solidFill>
                </a:rPr>
                <a:t> AI &amp; ML</a:t>
              </a:r>
              <a:endParaRPr lang="en-US" sz="3200" b="1" dirty="0">
                <a:solidFill>
                  <a:srgbClr val="1F487C"/>
                </a:solidFill>
              </a:endParaRPr>
            </a:p>
          </p:txBody>
        </p:sp>
      </p:grpSp>
      <p:sp>
        <p:nvSpPr>
          <p:cNvPr id="9" name="object 3">
            <a:extLst>
              <a:ext uri="{FF2B5EF4-FFF2-40B4-BE49-F238E27FC236}">
                <a16:creationId xmlns:a16="http://schemas.microsoft.com/office/drawing/2014/main" id="{1CB06AE4-BAFC-A241-85ED-2FFC67BE2812}"/>
              </a:ext>
            </a:extLst>
          </p:cNvPr>
          <p:cNvSpPr/>
          <p:nvPr userDrawn="1"/>
        </p:nvSpPr>
        <p:spPr>
          <a:xfrm>
            <a:off x="1" y="6493764"/>
            <a:ext cx="9143999" cy="419100"/>
          </a:xfrm>
          <a:custGeom>
            <a:avLst/>
            <a:gdLst/>
            <a:ahLst/>
            <a:cxnLst/>
            <a:rect l="l" t="t" r="r" b="b"/>
            <a:pathLst>
              <a:path w="7556500" h="393700">
                <a:moveTo>
                  <a:pt x="7556500" y="0"/>
                </a:moveTo>
                <a:lnTo>
                  <a:pt x="0" y="0"/>
                </a:lnTo>
                <a:lnTo>
                  <a:pt x="0" y="393700"/>
                </a:lnTo>
                <a:lnTo>
                  <a:pt x="7556500" y="393700"/>
                </a:lnTo>
                <a:lnTo>
                  <a:pt x="7556500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 sz="865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0418A933-E86D-8037-A701-758B86A1922D}"/>
              </a:ext>
            </a:extLst>
          </p:cNvPr>
          <p:cNvGrpSpPr/>
          <p:nvPr userDrawn="1"/>
        </p:nvGrpSpPr>
        <p:grpSpPr>
          <a:xfrm>
            <a:off x="228065" y="208814"/>
            <a:ext cx="8832808" cy="695162"/>
            <a:chOff x="228065" y="208814"/>
            <a:chExt cx="8832808" cy="695162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8794BEB2-FEC0-D51D-A7FB-9CCD45E6B948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30914"/>
            <a:stretch/>
          </p:blipFill>
          <p:spPr>
            <a:xfrm>
              <a:off x="228065" y="208814"/>
              <a:ext cx="5829835" cy="695162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ED6EBE41-B014-4F4C-1761-C88F5DA91ECC}"/>
                </a:ext>
              </a:extLst>
            </p:cNvPr>
            <p:cNvSpPr txBox="1"/>
            <p:nvPr userDrawn="1"/>
          </p:nvSpPr>
          <p:spPr>
            <a:xfrm>
              <a:off x="5943600" y="264007"/>
              <a:ext cx="311727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b="1" dirty="0">
                  <a:solidFill>
                    <a:srgbClr val="1F487C"/>
                  </a:solidFill>
                </a:rPr>
                <a:t>CSE-</a:t>
              </a:r>
              <a:r>
                <a:rPr lang="en-US" sz="3200" b="1" baseline="0" dirty="0">
                  <a:solidFill>
                    <a:srgbClr val="1F487C"/>
                  </a:solidFill>
                </a:rPr>
                <a:t> AI &amp; ML</a:t>
              </a:r>
              <a:endParaRPr lang="en-US" sz="3200" b="1" dirty="0">
                <a:solidFill>
                  <a:srgbClr val="1F487C"/>
                </a:solidFill>
              </a:endParaRPr>
            </a:p>
          </p:txBody>
        </p:sp>
      </p:grpSp>
      <p:sp>
        <p:nvSpPr>
          <p:cNvPr id="8" name="object 3">
            <a:extLst>
              <a:ext uri="{FF2B5EF4-FFF2-40B4-BE49-F238E27FC236}">
                <a16:creationId xmlns:a16="http://schemas.microsoft.com/office/drawing/2014/main" id="{55405AE3-DA08-8DE9-1C4C-750BDD0882BD}"/>
              </a:ext>
            </a:extLst>
          </p:cNvPr>
          <p:cNvSpPr/>
          <p:nvPr userDrawn="1"/>
        </p:nvSpPr>
        <p:spPr>
          <a:xfrm>
            <a:off x="1" y="6493764"/>
            <a:ext cx="9143999" cy="419100"/>
          </a:xfrm>
          <a:custGeom>
            <a:avLst/>
            <a:gdLst/>
            <a:ahLst/>
            <a:cxnLst/>
            <a:rect l="l" t="t" r="r" b="b"/>
            <a:pathLst>
              <a:path w="7556500" h="393700">
                <a:moveTo>
                  <a:pt x="7556500" y="0"/>
                </a:moveTo>
                <a:lnTo>
                  <a:pt x="0" y="0"/>
                </a:lnTo>
                <a:lnTo>
                  <a:pt x="0" y="393700"/>
                </a:lnTo>
                <a:lnTo>
                  <a:pt x="7556500" y="393700"/>
                </a:lnTo>
                <a:lnTo>
                  <a:pt x="7556500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 sz="865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857375" y="3071813"/>
            <a:ext cx="5430838" cy="280352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63525" y="1697673"/>
            <a:ext cx="8616950" cy="482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39710" y="2580144"/>
            <a:ext cx="7396480" cy="3683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Relationship Id="rId5" Type="http://schemas.openxmlformats.org/officeDocument/2006/relationships/hyperlink" Target="http://www.paruluniversity.ac.in/" TargetMode="External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95071" y="1905000"/>
            <a:ext cx="8865802" cy="2803524"/>
            <a:chOff x="0" y="2571750"/>
            <a:chExt cx="8865802" cy="2803524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57375" y="2571750"/>
              <a:ext cx="5430838" cy="2803524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0" y="3714750"/>
              <a:ext cx="8865802" cy="714375"/>
            </a:xfrm>
            <a:custGeom>
              <a:avLst/>
              <a:gdLst/>
              <a:ahLst/>
              <a:cxnLst/>
              <a:rect l="l" t="t" r="r" b="b"/>
              <a:pathLst>
                <a:path w="9144000" h="714375">
                  <a:moveTo>
                    <a:pt x="9143999" y="714374"/>
                  </a:moveTo>
                  <a:lnTo>
                    <a:pt x="0" y="714374"/>
                  </a:lnTo>
                  <a:lnTo>
                    <a:pt x="0" y="0"/>
                  </a:lnTo>
                  <a:lnTo>
                    <a:pt x="9143999" y="0"/>
                  </a:lnTo>
                  <a:lnTo>
                    <a:pt x="9143999" y="714374"/>
                  </a:lnTo>
                  <a:close/>
                </a:path>
              </a:pathLst>
            </a:custGeom>
            <a:solidFill>
              <a:srgbClr val="1F497D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066800" y="2343149"/>
            <a:ext cx="7312025" cy="1395895"/>
          </a:xfrm>
          <a:prstGeom prst="rect">
            <a:avLst/>
          </a:prstGeom>
        </p:spPr>
        <p:txBody>
          <a:bodyPr vert="horz" wrap="square" lIns="0" tIns="163195" rIns="0" bIns="0" rtlCol="0">
            <a:spAutoFit/>
          </a:bodyPr>
          <a:lstStyle/>
          <a:p>
            <a:pPr marR="22225" algn="ctr">
              <a:lnSpc>
                <a:spcPct val="100000"/>
              </a:lnSpc>
              <a:spcBef>
                <a:spcPts val="1285"/>
              </a:spcBef>
            </a:pPr>
            <a:r>
              <a:rPr sz="3500" b="1" spc="-25" dirty="0">
                <a:latin typeface="Calibri"/>
                <a:cs typeface="Calibri"/>
              </a:rPr>
              <a:t>Unit-</a:t>
            </a:r>
            <a:r>
              <a:rPr lang="en-US" sz="3500" b="1" spc="-50" dirty="0">
                <a:latin typeface="Calibri"/>
                <a:cs typeface="Calibri"/>
              </a:rPr>
              <a:t>3</a:t>
            </a:r>
            <a:endParaRPr sz="3500" dirty="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1190"/>
              </a:spcBef>
            </a:pPr>
            <a:r>
              <a:rPr lang="en-US" sz="3500" b="1" dirty="0">
                <a:solidFill>
                  <a:srgbClr val="FFFFFF"/>
                </a:solidFill>
                <a:latin typeface="Calibri"/>
                <a:cs typeface="Calibri"/>
              </a:rPr>
              <a:t>Requirements Engineering</a:t>
            </a:r>
            <a:endParaRPr sz="3500" dirty="0">
              <a:latin typeface="Calibri"/>
              <a:cs typeface="Calibri"/>
            </a:endParaRPr>
          </a:p>
        </p:txBody>
      </p:sp>
      <p:sp>
        <p:nvSpPr>
          <p:cNvPr id="8" name="object 3">
            <a:extLst>
              <a:ext uri="{FF2B5EF4-FFF2-40B4-BE49-F238E27FC236}">
                <a16:creationId xmlns:a16="http://schemas.microsoft.com/office/drawing/2014/main" id="{8D6D9783-4E44-6D64-4827-A4C0D1480D90}"/>
              </a:ext>
            </a:extLst>
          </p:cNvPr>
          <p:cNvSpPr/>
          <p:nvPr/>
        </p:nvSpPr>
        <p:spPr>
          <a:xfrm>
            <a:off x="1" y="6493764"/>
            <a:ext cx="9143999" cy="419100"/>
          </a:xfrm>
          <a:custGeom>
            <a:avLst/>
            <a:gdLst/>
            <a:ahLst/>
            <a:cxnLst/>
            <a:rect l="l" t="t" r="r" b="b"/>
            <a:pathLst>
              <a:path w="7556500" h="393700">
                <a:moveTo>
                  <a:pt x="7556500" y="0"/>
                </a:moveTo>
                <a:lnTo>
                  <a:pt x="0" y="0"/>
                </a:lnTo>
                <a:lnTo>
                  <a:pt x="0" y="393700"/>
                </a:lnTo>
                <a:lnTo>
                  <a:pt x="7556500" y="393700"/>
                </a:lnTo>
                <a:lnTo>
                  <a:pt x="7556500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 sz="865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7B39B6FF-EB1D-920B-8F1A-A74775DFC178}"/>
              </a:ext>
            </a:extLst>
          </p:cNvPr>
          <p:cNvGrpSpPr/>
          <p:nvPr/>
        </p:nvGrpSpPr>
        <p:grpSpPr>
          <a:xfrm>
            <a:off x="228065" y="208814"/>
            <a:ext cx="8832808" cy="695162"/>
            <a:chOff x="228065" y="208814"/>
            <a:chExt cx="8832808" cy="695162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665B30F-284D-8294-DE39-CDBE5C775923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30914"/>
            <a:stretch/>
          </p:blipFill>
          <p:spPr>
            <a:xfrm>
              <a:off x="228065" y="208814"/>
              <a:ext cx="5829835" cy="695162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C31DC6A8-A50F-CDDA-86F2-C3BB1AE43BC6}"/>
                </a:ext>
              </a:extLst>
            </p:cNvPr>
            <p:cNvSpPr txBox="1"/>
            <p:nvPr userDrawn="1"/>
          </p:nvSpPr>
          <p:spPr>
            <a:xfrm>
              <a:off x="6019800" y="264007"/>
              <a:ext cx="304107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b="1" dirty="0">
                  <a:solidFill>
                    <a:srgbClr val="1F487C"/>
                  </a:solidFill>
                </a:rPr>
                <a:t>CSE-</a:t>
              </a:r>
              <a:r>
                <a:rPr lang="en-US" sz="3200" b="1" baseline="0" dirty="0">
                  <a:solidFill>
                    <a:srgbClr val="1F487C"/>
                  </a:solidFill>
                </a:rPr>
                <a:t> AI &amp; ML</a:t>
              </a:r>
              <a:endParaRPr lang="en-US" sz="3200" b="1" dirty="0">
                <a:solidFill>
                  <a:srgbClr val="1F487C"/>
                </a:solidFill>
              </a:endParaRPr>
            </a:p>
          </p:txBody>
        </p:sp>
      </p:grpSp>
      <p:sp>
        <p:nvSpPr>
          <p:cNvPr id="3" name="object 6">
            <a:extLst>
              <a:ext uri="{FF2B5EF4-FFF2-40B4-BE49-F238E27FC236}">
                <a16:creationId xmlns:a16="http://schemas.microsoft.com/office/drawing/2014/main" id="{0AFC26B3-CD51-B0DA-9EFC-533637722915}"/>
              </a:ext>
            </a:extLst>
          </p:cNvPr>
          <p:cNvSpPr txBox="1"/>
          <p:nvPr/>
        </p:nvSpPr>
        <p:spPr>
          <a:xfrm>
            <a:off x="630810" y="5299327"/>
            <a:ext cx="2340990" cy="1549783"/>
          </a:xfrm>
          <a:prstGeom prst="rect">
            <a:avLst/>
          </a:prstGeom>
        </p:spPr>
        <p:txBody>
          <a:bodyPr vert="horz" wrap="square" lIns="0" tIns="163195" rIns="0" bIns="0" rtlCol="0">
            <a:spAutoFit/>
          </a:bodyPr>
          <a:lstStyle/>
          <a:p>
            <a:pPr algn="l">
              <a:lnSpc>
                <a:spcPct val="100000"/>
              </a:lnSpc>
              <a:spcBef>
                <a:spcPts val="1190"/>
              </a:spcBef>
            </a:pP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Kedar </a:t>
            </a:r>
            <a:r>
              <a:rPr lang="en-US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Pinniboyina</a:t>
            </a:r>
            <a:endParaRPr lang="en-US" sz="2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Assistant Professor</a:t>
            </a:r>
            <a:endParaRPr lang="en-US" sz="2000" dirty="0">
              <a:solidFill>
                <a:srgbClr val="FF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/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AI&amp;ML Department</a:t>
            </a:r>
            <a:endParaRPr lang="en-US" sz="2000" dirty="0">
              <a:solidFill>
                <a:srgbClr val="FF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>
              <a:lnSpc>
                <a:spcPct val="100000"/>
              </a:lnSpc>
              <a:spcBef>
                <a:spcPts val="1190"/>
              </a:spcBef>
            </a:pPr>
            <a:endParaRPr sz="2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130DC6-0A3E-D8C3-0C70-4A0DCE6828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4EE4505F-E3AD-4A1A-363C-D790C937C5C1}"/>
              </a:ext>
            </a:extLst>
          </p:cNvPr>
          <p:cNvSpPr/>
          <p:nvPr/>
        </p:nvSpPr>
        <p:spPr>
          <a:xfrm>
            <a:off x="0" y="1628799"/>
            <a:ext cx="9144000" cy="643255"/>
          </a:xfrm>
          <a:custGeom>
            <a:avLst/>
            <a:gdLst/>
            <a:ahLst/>
            <a:cxnLst/>
            <a:rect l="l" t="t" r="r" b="b"/>
            <a:pathLst>
              <a:path w="9144000" h="643255">
                <a:moveTo>
                  <a:pt x="9143999" y="642936"/>
                </a:moveTo>
                <a:lnTo>
                  <a:pt x="0" y="642936"/>
                </a:lnTo>
                <a:lnTo>
                  <a:pt x="0" y="0"/>
                </a:lnTo>
                <a:lnTo>
                  <a:pt x="9143999" y="0"/>
                </a:lnTo>
                <a:lnTo>
                  <a:pt x="9143999" y="642936"/>
                </a:lnTo>
                <a:close/>
              </a:path>
            </a:pathLst>
          </a:custGeom>
          <a:solidFill>
            <a:srgbClr val="1F497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7B18B88B-1BE8-24C4-DF8B-AD29087637F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200" y="1697673"/>
            <a:ext cx="8804275" cy="4744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/>
            <a:r>
              <a:rPr lang="en-US" dirty="0"/>
              <a:t>Problem Recognition</a:t>
            </a: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F0B9CC58-03C9-99B7-4730-56A02E6D08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2499" y="2824199"/>
            <a:ext cx="7239001" cy="26725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b="1" dirty="0"/>
              <a:t>Problem recognition</a:t>
            </a:r>
            <a:r>
              <a:rPr lang="en-US" dirty="0"/>
              <a:t> is the process of identifying and clearly understanding a problem in a system before designing or implementing a solution.</a:t>
            </a:r>
          </a:p>
          <a:p>
            <a:pPr algn="just"/>
            <a:endParaRPr lang="en-US" dirty="0"/>
          </a:p>
          <a:p>
            <a:pPr algn="just"/>
            <a:r>
              <a:rPr lang="en-US" b="1" dirty="0"/>
              <a:t>Why it Matters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To understand the actual problem before solving it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To avoid wrong or incomplete solutions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To save time, cost, and effort</a:t>
            </a:r>
          </a:p>
        </p:txBody>
      </p:sp>
    </p:spTree>
    <p:extLst>
      <p:ext uri="{BB962C8B-B14F-4D97-AF65-F5344CB8AC3E}">
        <p14:creationId xmlns:p14="http://schemas.microsoft.com/office/powerpoint/2010/main" val="21091819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F6827A-2E54-592B-F919-4A1077754C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353CACFF-2B1A-AECE-56FA-C73A1F25CA4C}"/>
              </a:ext>
            </a:extLst>
          </p:cNvPr>
          <p:cNvSpPr/>
          <p:nvPr/>
        </p:nvSpPr>
        <p:spPr>
          <a:xfrm>
            <a:off x="0" y="1628799"/>
            <a:ext cx="9144000" cy="643255"/>
          </a:xfrm>
          <a:custGeom>
            <a:avLst/>
            <a:gdLst/>
            <a:ahLst/>
            <a:cxnLst/>
            <a:rect l="l" t="t" r="r" b="b"/>
            <a:pathLst>
              <a:path w="9144000" h="643255">
                <a:moveTo>
                  <a:pt x="9143999" y="642936"/>
                </a:moveTo>
                <a:lnTo>
                  <a:pt x="0" y="642936"/>
                </a:lnTo>
                <a:lnTo>
                  <a:pt x="0" y="0"/>
                </a:lnTo>
                <a:lnTo>
                  <a:pt x="9143999" y="0"/>
                </a:lnTo>
                <a:lnTo>
                  <a:pt x="9143999" y="642936"/>
                </a:lnTo>
                <a:close/>
              </a:path>
            </a:pathLst>
          </a:custGeom>
          <a:solidFill>
            <a:srgbClr val="1F497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C9750A9F-E232-79A2-9CD3-4558456EEAE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200" y="1697673"/>
            <a:ext cx="8804275" cy="4744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/>
            <a:r>
              <a:rPr lang="en-IN" dirty="0"/>
              <a:t>What is Requirement?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D5CE29A-0F4A-38CB-FFD9-08C1E1738E2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736"/>
          <a:stretch>
            <a:fillRect/>
          </a:stretch>
        </p:blipFill>
        <p:spPr>
          <a:xfrm>
            <a:off x="0" y="2282445"/>
            <a:ext cx="9144000" cy="4206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01761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07107B-F5D6-E791-A520-B267EF0872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7D5CF0DE-273E-D20A-B25A-6BD5F7A4BF13}"/>
              </a:ext>
            </a:extLst>
          </p:cNvPr>
          <p:cNvSpPr/>
          <p:nvPr/>
        </p:nvSpPr>
        <p:spPr>
          <a:xfrm>
            <a:off x="0" y="1628799"/>
            <a:ext cx="9144000" cy="643255"/>
          </a:xfrm>
          <a:custGeom>
            <a:avLst/>
            <a:gdLst/>
            <a:ahLst/>
            <a:cxnLst/>
            <a:rect l="l" t="t" r="r" b="b"/>
            <a:pathLst>
              <a:path w="9144000" h="643255">
                <a:moveTo>
                  <a:pt x="9143999" y="642936"/>
                </a:moveTo>
                <a:lnTo>
                  <a:pt x="0" y="642936"/>
                </a:lnTo>
                <a:lnTo>
                  <a:pt x="0" y="0"/>
                </a:lnTo>
                <a:lnTo>
                  <a:pt x="9143999" y="0"/>
                </a:lnTo>
                <a:lnTo>
                  <a:pt x="9143999" y="642936"/>
                </a:lnTo>
                <a:close/>
              </a:path>
            </a:pathLst>
          </a:custGeom>
          <a:solidFill>
            <a:srgbClr val="1F497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3649A98D-26D4-9498-77AD-34CE6A55E52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200" y="1697673"/>
            <a:ext cx="8804275" cy="4744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/>
            <a:r>
              <a:rPr lang="en-IN" dirty="0"/>
              <a:t>What is Requirement?</a:t>
            </a:r>
            <a:endParaRPr lang="en-US" dirty="0"/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11C1A675-EAE1-1DF6-F558-416AECACA6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2499" y="3283301"/>
            <a:ext cx="7239001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A requirement is a clear and specific statement that defines a need or expectation that a system or product must satisfy. 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It describes what the system should do or the conditions it must meet to be considered complete and successful. 	</a:t>
            </a:r>
          </a:p>
        </p:txBody>
      </p:sp>
    </p:spTree>
    <p:extLst>
      <p:ext uri="{BB962C8B-B14F-4D97-AF65-F5344CB8AC3E}">
        <p14:creationId xmlns:p14="http://schemas.microsoft.com/office/powerpoint/2010/main" val="14888560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E2EE35-1E87-7F91-9FD9-D4AEA1A4D1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BAEE0A26-1C4E-EC0F-85E9-BC155AF48E40}"/>
              </a:ext>
            </a:extLst>
          </p:cNvPr>
          <p:cNvSpPr/>
          <p:nvPr/>
        </p:nvSpPr>
        <p:spPr>
          <a:xfrm>
            <a:off x="0" y="1628799"/>
            <a:ext cx="9144000" cy="643255"/>
          </a:xfrm>
          <a:custGeom>
            <a:avLst/>
            <a:gdLst/>
            <a:ahLst/>
            <a:cxnLst/>
            <a:rect l="l" t="t" r="r" b="b"/>
            <a:pathLst>
              <a:path w="9144000" h="643255">
                <a:moveTo>
                  <a:pt x="9143999" y="642936"/>
                </a:moveTo>
                <a:lnTo>
                  <a:pt x="0" y="642936"/>
                </a:lnTo>
                <a:lnTo>
                  <a:pt x="0" y="0"/>
                </a:lnTo>
                <a:lnTo>
                  <a:pt x="9143999" y="0"/>
                </a:lnTo>
                <a:lnTo>
                  <a:pt x="9143999" y="642936"/>
                </a:lnTo>
                <a:close/>
              </a:path>
            </a:pathLst>
          </a:custGeom>
          <a:solidFill>
            <a:srgbClr val="1F497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1CA47DDF-D0BE-6C83-41EB-BCAC2387961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200" y="1697673"/>
            <a:ext cx="8804275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/>
            <a:r>
              <a:rPr lang="en-IN" dirty="0"/>
              <a:t>What is Requirement </a:t>
            </a:r>
            <a:r>
              <a:rPr lang="en-US" sz="3200" dirty="0">
                <a:solidFill>
                  <a:srgbClr val="FFFFFF"/>
                </a:solidFill>
              </a:rPr>
              <a:t>Engineering</a:t>
            </a:r>
            <a:r>
              <a:rPr lang="en-IN" dirty="0"/>
              <a:t>?</a:t>
            </a:r>
            <a:endParaRPr lang="en-US" dirty="0"/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D86C584E-E4B2-56D2-94B2-8A58E4BD1C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2667337"/>
            <a:ext cx="7391400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process to gather the software requirements from client, analyze and document them is known as requirement engineering.</a:t>
            </a:r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goal of requirement engineering is to develop and maintain a sophisticated and descriptive System Requirements Specification document.</a:t>
            </a:r>
          </a:p>
        </p:txBody>
      </p:sp>
    </p:spTree>
    <p:extLst>
      <p:ext uri="{BB962C8B-B14F-4D97-AF65-F5344CB8AC3E}">
        <p14:creationId xmlns:p14="http://schemas.microsoft.com/office/powerpoint/2010/main" val="39629256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7CFAFC-DA4E-62B5-1776-8F1022CFA2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A66BBEBF-D8C5-D3AB-A92F-0ECE7F317101}"/>
              </a:ext>
            </a:extLst>
          </p:cNvPr>
          <p:cNvSpPr/>
          <p:nvPr/>
        </p:nvSpPr>
        <p:spPr>
          <a:xfrm>
            <a:off x="0" y="1628799"/>
            <a:ext cx="9144000" cy="643255"/>
          </a:xfrm>
          <a:custGeom>
            <a:avLst/>
            <a:gdLst/>
            <a:ahLst/>
            <a:cxnLst/>
            <a:rect l="l" t="t" r="r" b="b"/>
            <a:pathLst>
              <a:path w="9144000" h="643255">
                <a:moveTo>
                  <a:pt x="9143999" y="642936"/>
                </a:moveTo>
                <a:lnTo>
                  <a:pt x="0" y="642936"/>
                </a:lnTo>
                <a:lnTo>
                  <a:pt x="0" y="0"/>
                </a:lnTo>
                <a:lnTo>
                  <a:pt x="9143999" y="0"/>
                </a:lnTo>
                <a:lnTo>
                  <a:pt x="9143999" y="642936"/>
                </a:lnTo>
                <a:close/>
              </a:path>
            </a:pathLst>
          </a:custGeom>
          <a:solidFill>
            <a:srgbClr val="1F497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37B3D996-499B-46F7-4190-FFCC7D8C16A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200" y="1697673"/>
            <a:ext cx="8804275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/>
            <a:r>
              <a:rPr lang="en-IN" dirty="0"/>
              <a:t>Requirement </a:t>
            </a:r>
            <a:r>
              <a:rPr lang="en-US" sz="3200" dirty="0">
                <a:solidFill>
                  <a:srgbClr val="FFFFFF"/>
                </a:solidFill>
              </a:rPr>
              <a:t>Engineering</a:t>
            </a:r>
            <a:r>
              <a:rPr lang="en-IN" dirty="0"/>
              <a:t>?</a:t>
            </a:r>
            <a:endParaRPr lang="en-US" dirty="0"/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9B35C3B6-3E39-0AB3-3E94-F881594BD1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2852003"/>
            <a:ext cx="7391400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/>
              <a:t>It is a four-step process, which includes</a:t>
            </a:r>
          </a:p>
          <a:p>
            <a:endParaRPr lang="en-US" sz="2400" dirty="0"/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Feasibility Study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Requirement Gathering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Software Requirement Specification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Software Requirement Validation</a:t>
            </a:r>
          </a:p>
        </p:txBody>
      </p:sp>
    </p:spTree>
    <p:extLst>
      <p:ext uri="{BB962C8B-B14F-4D97-AF65-F5344CB8AC3E}">
        <p14:creationId xmlns:p14="http://schemas.microsoft.com/office/powerpoint/2010/main" val="27194503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948B9C-E742-1F81-13E2-D52F166842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6F994DEC-9115-B930-3BF1-065D2FA8E1AA}"/>
              </a:ext>
            </a:extLst>
          </p:cNvPr>
          <p:cNvSpPr/>
          <p:nvPr/>
        </p:nvSpPr>
        <p:spPr>
          <a:xfrm>
            <a:off x="0" y="1628799"/>
            <a:ext cx="9144000" cy="643255"/>
          </a:xfrm>
          <a:custGeom>
            <a:avLst/>
            <a:gdLst/>
            <a:ahLst/>
            <a:cxnLst/>
            <a:rect l="l" t="t" r="r" b="b"/>
            <a:pathLst>
              <a:path w="9144000" h="643255">
                <a:moveTo>
                  <a:pt x="9143999" y="642936"/>
                </a:moveTo>
                <a:lnTo>
                  <a:pt x="0" y="642936"/>
                </a:lnTo>
                <a:lnTo>
                  <a:pt x="0" y="0"/>
                </a:lnTo>
                <a:lnTo>
                  <a:pt x="9143999" y="0"/>
                </a:lnTo>
                <a:lnTo>
                  <a:pt x="9143999" y="642936"/>
                </a:lnTo>
                <a:close/>
              </a:path>
            </a:pathLst>
          </a:custGeom>
          <a:solidFill>
            <a:srgbClr val="1F497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F68FDE43-78D0-719D-C04E-9FD4ADA9830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200" y="1697673"/>
            <a:ext cx="8804275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/>
            <a:r>
              <a:rPr lang="en-US" sz="3200" dirty="0"/>
              <a:t>Feasibility Study</a:t>
            </a: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7B7FD2EA-424D-D15C-29C2-8EA0BAAA20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100" y="3200400"/>
            <a:ext cx="8305800" cy="17851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Feasibility Study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detailed study done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before starting a software project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find out whether the project is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possible, worth developing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within the available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time, money, and technology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helps management decide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whether to start the project or not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442697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656E0A-CAD3-8085-6210-D260A730CA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F7036931-E262-F36B-D080-2415FDB422AF}"/>
              </a:ext>
            </a:extLst>
          </p:cNvPr>
          <p:cNvSpPr/>
          <p:nvPr/>
        </p:nvSpPr>
        <p:spPr>
          <a:xfrm>
            <a:off x="0" y="1628799"/>
            <a:ext cx="9144000" cy="643255"/>
          </a:xfrm>
          <a:custGeom>
            <a:avLst/>
            <a:gdLst/>
            <a:ahLst/>
            <a:cxnLst/>
            <a:rect l="l" t="t" r="r" b="b"/>
            <a:pathLst>
              <a:path w="9144000" h="643255">
                <a:moveTo>
                  <a:pt x="9143999" y="642936"/>
                </a:moveTo>
                <a:lnTo>
                  <a:pt x="0" y="642936"/>
                </a:lnTo>
                <a:lnTo>
                  <a:pt x="0" y="0"/>
                </a:lnTo>
                <a:lnTo>
                  <a:pt x="9143999" y="0"/>
                </a:lnTo>
                <a:lnTo>
                  <a:pt x="9143999" y="642936"/>
                </a:lnTo>
                <a:close/>
              </a:path>
            </a:pathLst>
          </a:custGeom>
          <a:solidFill>
            <a:srgbClr val="1F497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512CCAE6-EA8F-8F4C-9011-826CCB097F1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200" y="1697673"/>
            <a:ext cx="8804275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/>
            <a:r>
              <a:rPr lang="en-US" sz="3200" dirty="0"/>
              <a:t>Feasibility Study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A27B1815-A10C-1D74-8DC0-4A1885E755B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674" r="24008"/>
          <a:stretch>
            <a:fillRect/>
          </a:stretch>
        </p:blipFill>
        <p:spPr bwMode="auto">
          <a:xfrm>
            <a:off x="1828800" y="2514600"/>
            <a:ext cx="5410200" cy="37697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309080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9DC1B5-71D9-6AE3-983A-B929037CCD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F8AD2CB0-F7A7-1EB4-65FC-71D52A4C26D1}"/>
              </a:ext>
            </a:extLst>
          </p:cNvPr>
          <p:cNvSpPr/>
          <p:nvPr/>
        </p:nvSpPr>
        <p:spPr>
          <a:xfrm>
            <a:off x="0" y="1628799"/>
            <a:ext cx="9144000" cy="643255"/>
          </a:xfrm>
          <a:custGeom>
            <a:avLst/>
            <a:gdLst/>
            <a:ahLst/>
            <a:cxnLst/>
            <a:rect l="l" t="t" r="r" b="b"/>
            <a:pathLst>
              <a:path w="9144000" h="643255">
                <a:moveTo>
                  <a:pt x="9143999" y="642936"/>
                </a:moveTo>
                <a:lnTo>
                  <a:pt x="0" y="642936"/>
                </a:lnTo>
                <a:lnTo>
                  <a:pt x="0" y="0"/>
                </a:lnTo>
                <a:lnTo>
                  <a:pt x="9143999" y="0"/>
                </a:lnTo>
                <a:lnTo>
                  <a:pt x="9143999" y="642936"/>
                </a:lnTo>
                <a:close/>
              </a:path>
            </a:pathLst>
          </a:custGeom>
          <a:solidFill>
            <a:srgbClr val="1F497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3D9B1A5A-0E0C-3A9B-D112-B3846DEFF25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200" y="1697673"/>
            <a:ext cx="8804275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/>
            <a:r>
              <a:rPr lang="en-US" sz="3200" dirty="0"/>
              <a:t>Feasibility Study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7BD2A48-CE0F-A9C8-FF9C-5DA168E8C16D}"/>
              </a:ext>
            </a:extLst>
          </p:cNvPr>
          <p:cNvSpPr txBox="1"/>
          <p:nvPr/>
        </p:nvSpPr>
        <p:spPr>
          <a:xfrm>
            <a:off x="381000" y="2514600"/>
            <a:ext cx="8382000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200" b="1" dirty="0"/>
              <a:t>Main Types:</a:t>
            </a:r>
          </a:p>
          <a:p>
            <a:pPr>
              <a:buNone/>
            </a:pPr>
            <a:endParaRPr lang="en-US" sz="2200" b="1" dirty="0"/>
          </a:p>
          <a:p>
            <a:pPr>
              <a:buFont typeface="+mj-lt"/>
              <a:buAutoNum type="arabicPeriod"/>
            </a:pPr>
            <a:r>
              <a:rPr lang="en-US" sz="2200" b="1" dirty="0"/>
              <a:t>Technical Feasibility</a:t>
            </a:r>
            <a:br>
              <a:rPr lang="en-US" sz="2200" dirty="0"/>
            </a:br>
            <a:r>
              <a:rPr lang="en-US" sz="2200" dirty="0"/>
              <a:t>	Checks if required </a:t>
            </a:r>
            <a:r>
              <a:rPr lang="en-US" sz="2200" b="1" dirty="0"/>
              <a:t>technology and skills</a:t>
            </a:r>
            <a:r>
              <a:rPr lang="en-US" sz="2200" dirty="0"/>
              <a:t> are available.</a:t>
            </a:r>
          </a:p>
          <a:p>
            <a:pPr>
              <a:buFont typeface="+mj-lt"/>
              <a:buAutoNum type="arabicPeriod"/>
            </a:pPr>
            <a:r>
              <a:rPr lang="en-US" sz="2200" b="1" dirty="0"/>
              <a:t>Economic Feasibility</a:t>
            </a:r>
            <a:br>
              <a:rPr lang="en-US" sz="2200" dirty="0"/>
            </a:br>
            <a:r>
              <a:rPr lang="en-US" sz="2200" dirty="0"/>
              <a:t>	Checks if the project is </a:t>
            </a:r>
            <a:r>
              <a:rPr lang="en-US" sz="2200" b="1" dirty="0"/>
              <a:t>worth the cost</a:t>
            </a:r>
            <a:r>
              <a:rPr lang="en-US" sz="2200" dirty="0"/>
              <a:t>.</a:t>
            </a:r>
          </a:p>
          <a:p>
            <a:pPr>
              <a:buFont typeface="+mj-lt"/>
              <a:buAutoNum type="arabicPeriod"/>
            </a:pPr>
            <a:r>
              <a:rPr lang="en-US" sz="2200" b="1" dirty="0"/>
              <a:t>Operational Feasibility</a:t>
            </a:r>
            <a:br>
              <a:rPr lang="en-US" sz="2200" dirty="0"/>
            </a:br>
            <a:r>
              <a:rPr lang="en-US" sz="2200" dirty="0"/>
              <a:t>	Checks if users will </a:t>
            </a:r>
            <a:r>
              <a:rPr lang="en-US" sz="2200" b="1" dirty="0"/>
              <a:t>accept and use</a:t>
            </a:r>
            <a:r>
              <a:rPr lang="en-US" sz="2200" dirty="0"/>
              <a:t> the system.</a:t>
            </a:r>
          </a:p>
          <a:p>
            <a:pPr>
              <a:buFont typeface="+mj-lt"/>
              <a:buAutoNum type="arabicPeriod"/>
            </a:pPr>
            <a:r>
              <a:rPr lang="en-US" sz="2200" b="1" dirty="0"/>
              <a:t>Schedule Feasibility</a:t>
            </a:r>
            <a:br>
              <a:rPr lang="en-US" sz="2200" dirty="0"/>
            </a:br>
            <a:r>
              <a:rPr lang="en-US" sz="2200" dirty="0"/>
              <a:t>	Checks if the project can be completed </a:t>
            </a:r>
            <a:r>
              <a:rPr lang="en-US" sz="2200" b="1" dirty="0"/>
              <a:t>on time</a:t>
            </a:r>
            <a:r>
              <a:rPr lang="en-US" sz="2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007243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79696C-C05E-6954-CB88-89E5D99A31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124B4480-D23B-ACE3-519B-A82B6867463B}"/>
              </a:ext>
            </a:extLst>
          </p:cNvPr>
          <p:cNvSpPr/>
          <p:nvPr/>
        </p:nvSpPr>
        <p:spPr>
          <a:xfrm>
            <a:off x="0" y="1628799"/>
            <a:ext cx="9144000" cy="643255"/>
          </a:xfrm>
          <a:custGeom>
            <a:avLst/>
            <a:gdLst/>
            <a:ahLst/>
            <a:cxnLst/>
            <a:rect l="l" t="t" r="r" b="b"/>
            <a:pathLst>
              <a:path w="9144000" h="643255">
                <a:moveTo>
                  <a:pt x="9143999" y="642936"/>
                </a:moveTo>
                <a:lnTo>
                  <a:pt x="0" y="642936"/>
                </a:lnTo>
                <a:lnTo>
                  <a:pt x="0" y="0"/>
                </a:lnTo>
                <a:lnTo>
                  <a:pt x="9143999" y="0"/>
                </a:lnTo>
                <a:lnTo>
                  <a:pt x="9143999" y="642936"/>
                </a:lnTo>
                <a:close/>
              </a:path>
            </a:pathLst>
          </a:custGeom>
          <a:solidFill>
            <a:srgbClr val="1F497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79A81CCA-65DB-635E-CC9A-807FCC08339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200" y="1697673"/>
            <a:ext cx="8804275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/>
            <a:r>
              <a:rPr lang="en-US" sz="3200" dirty="0"/>
              <a:t>Requirement Gathering</a:t>
            </a: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DE7739CB-CAE9-F3FE-6C9A-22729C723B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1999" y="3406000"/>
            <a:ext cx="8118475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/>
              <a:t>Requirement Gathering is the process of </a:t>
            </a:r>
            <a:r>
              <a:rPr lang="en-US" sz="2400" b="1" dirty="0"/>
              <a:t>collecting, understanding, and documenting what the users need</a:t>
            </a:r>
            <a:r>
              <a:rPr lang="en-US" sz="2400" dirty="0"/>
              <a:t> from a software system </a:t>
            </a:r>
            <a:r>
              <a:rPr lang="en-US" sz="2400" b="1" dirty="0"/>
              <a:t>before development starts</a:t>
            </a:r>
            <a:r>
              <a:rPr lang="en-US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140443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68D68B-2675-C447-0A0E-F9A9EBF2F0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EE1C4E7C-C50B-F357-BF54-B1788CD48C89}"/>
              </a:ext>
            </a:extLst>
          </p:cNvPr>
          <p:cNvSpPr/>
          <p:nvPr/>
        </p:nvSpPr>
        <p:spPr>
          <a:xfrm>
            <a:off x="0" y="1628799"/>
            <a:ext cx="9144000" cy="643255"/>
          </a:xfrm>
          <a:custGeom>
            <a:avLst/>
            <a:gdLst/>
            <a:ahLst/>
            <a:cxnLst/>
            <a:rect l="l" t="t" r="r" b="b"/>
            <a:pathLst>
              <a:path w="9144000" h="643255">
                <a:moveTo>
                  <a:pt x="9143999" y="642936"/>
                </a:moveTo>
                <a:lnTo>
                  <a:pt x="0" y="642936"/>
                </a:lnTo>
                <a:lnTo>
                  <a:pt x="0" y="0"/>
                </a:lnTo>
                <a:lnTo>
                  <a:pt x="9143999" y="0"/>
                </a:lnTo>
                <a:lnTo>
                  <a:pt x="9143999" y="642936"/>
                </a:lnTo>
                <a:close/>
              </a:path>
            </a:pathLst>
          </a:custGeom>
          <a:solidFill>
            <a:srgbClr val="1F497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A692D51D-E639-C367-6D10-546A255E52B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200" y="1697673"/>
            <a:ext cx="8804275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/>
            <a:r>
              <a:rPr lang="en-US" sz="3200" dirty="0"/>
              <a:t>Requirement Gathering</a:t>
            </a: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0E63D1BC-11CC-B22A-BA33-3D4EEB3529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1" y="2852003"/>
            <a:ext cx="8270874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/>
              <a:t>Why Requirement Gathering is Important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Avoids misunderstandings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Reduces rework and cost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Ensures user satisfaction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Helps in proper system design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6775006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59401C-AFD2-D8FC-AD94-0342F87943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F7D1DD9D-CE3A-7D48-68D0-39F336969D2E}"/>
              </a:ext>
            </a:extLst>
          </p:cNvPr>
          <p:cNvSpPr/>
          <p:nvPr/>
        </p:nvSpPr>
        <p:spPr>
          <a:xfrm>
            <a:off x="0" y="1628799"/>
            <a:ext cx="9144000" cy="643255"/>
          </a:xfrm>
          <a:custGeom>
            <a:avLst/>
            <a:gdLst/>
            <a:ahLst/>
            <a:cxnLst/>
            <a:rect l="l" t="t" r="r" b="b"/>
            <a:pathLst>
              <a:path w="9144000" h="643255">
                <a:moveTo>
                  <a:pt x="9143999" y="642936"/>
                </a:moveTo>
                <a:lnTo>
                  <a:pt x="0" y="642936"/>
                </a:lnTo>
                <a:lnTo>
                  <a:pt x="0" y="0"/>
                </a:lnTo>
                <a:lnTo>
                  <a:pt x="9143999" y="0"/>
                </a:lnTo>
                <a:lnTo>
                  <a:pt x="9143999" y="642936"/>
                </a:lnTo>
                <a:close/>
              </a:path>
            </a:pathLst>
          </a:custGeom>
          <a:solidFill>
            <a:srgbClr val="1F497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4EB64B30-4F2F-A1AC-87DD-AD9CCD7016C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200" y="1697673"/>
            <a:ext cx="8804275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/>
            <a:r>
              <a:rPr lang="en-US" sz="3200" dirty="0"/>
              <a:t>Requirement Gathering</a:t>
            </a: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19D369D0-8294-2F29-C10B-0C245CE70C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1" y="2323789"/>
            <a:ext cx="8270874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/>
              <a:t>Types of Requirements in Software Engineering</a:t>
            </a:r>
          </a:p>
          <a:p>
            <a:r>
              <a:rPr lang="en-US" sz="2400" b="1" dirty="0"/>
              <a:t>1. Functional Requirements</a:t>
            </a:r>
          </a:p>
          <a:p>
            <a:r>
              <a:rPr lang="en-US" sz="2400" dirty="0"/>
              <a:t>These describe </a:t>
            </a:r>
            <a:r>
              <a:rPr lang="en-US" sz="2400" b="1" dirty="0"/>
              <a:t>what the system should do</a:t>
            </a:r>
            <a:r>
              <a:rPr lang="en-US" sz="2400" dirty="0"/>
              <a:t>.</a:t>
            </a:r>
          </a:p>
          <a:p>
            <a:r>
              <a:rPr lang="en-US" sz="2400" b="1" dirty="0"/>
              <a:t>2. Non-Functional Requirements</a:t>
            </a:r>
          </a:p>
          <a:p>
            <a:r>
              <a:rPr lang="en-US" sz="2400" dirty="0"/>
              <a:t>These describe </a:t>
            </a:r>
            <a:r>
              <a:rPr lang="en-US" sz="2400" b="1" dirty="0"/>
              <a:t>how the system should work</a:t>
            </a:r>
            <a:r>
              <a:rPr lang="en-US" sz="2400" dirty="0"/>
              <a:t>.</a:t>
            </a:r>
          </a:p>
          <a:p>
            <a:r>
              <a:rPr lang="en-US" sz="2400" b="1" dirty="0"/>
              <a:t>3. User Requirements</a:t>
            </a:r>
          </a:p>
          <a:p>
            <a:r>
              <a:rPr lang="en-US" sz="2400" dirty="0"/>
              <a:t>These are requirements written in </a:t>
            </a:r>
            <a:r>
              <a:rPr lang="en-US" sz="2400" b="1" dirty="0"/>
              <a:t>simple language</a:t>
            </a:r>
            <a:r>
              <a:rPr lang="en-US" sz="2400" dirty="0"/>
              <a:t> for users.</a:t>
            </a:r>
          </a:p>
          <a:p>
            <a:r>
              <a:rPr lang="en-US" sz="2400" b="1" dirty="0"/>
              <a:t>4. System Requirements</a:t>
            </a:r>
          </a:p>
          <a:p>
            <a:r>
              <a:rPr lang="en-US" sz="2400" dirty="0"/>
              <a:t>These are detailed and technical requirements used by developers.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9050845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628799"/>
            <a:ext cx="9144000" cy="643255"/>
          </a:xfrm>
          <a:custGeom>
            <a:avLst/>
            <a:gdLst/>
            <a:ahLst/>
            <a:cxnLst/>
            <a:rect l="l" t="t" r="r" b="b"/>
            <a:pathLst>
              <a:path w="9144000" h="643255">
                <a:moveTo>
                  <a:pt x="9143999" y="642936"/>
                </a:moveTo>
                <a:lnTo>
                  <a:pt x="0" y="642936"/>
                </a:lnTo>
                <a:lnTo>
                  <a:pt x="0" y="0"/>
                </a:lnTo>
                <a:lnTo>
                  <a:pt x="9143999" y="0"/>
                </a:lnTo>
                <a:lnTo>
                  <a:pt x="9143999" y="642936"/>
                </a:lnTo>
                <a:close/>
              </a:path>
            </a:pathLst>
          </a:custGeom>
          <a:solidFill>
            <a:srgbClr val="1F497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6200" y="1697673"/>
            <a:ext cx="8804275" cy="4744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/>
            <a:r>
              <a:rPr lang="en-IN" dirty="0"/>
              <a:t>What is a Stakeholder?</a:t>
            </a:r>
            <a:endParaRPr lang="en-US" dirty="0"/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2B297351-E126-FC48-DD66-7E9F17B16B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1999" y="2821636"/>
            <a:ext cx="7086601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Stakeholders are the people or groups who get affected either </a:t>
            </a:r>
            <a:r>
              <a:rPr 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positively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 </a:t>
            </a: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negatively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by a company’s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decisions, performance, or business situation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someone gains or loses because of the company, they are a stakeholder.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AC5CF6-546E-5EBA-0D91-E54E2B8AD5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88633B74-BE02-72BA-9605-EEF6BEE381FA}"/>
              </a:ext>
            </a:extLst>
          </p:cNvPr>
          <p:cNvSpPr/>
          <p:nvPr/>
        </p:nvSpPr>
        <p:spPr>
          <a:xfrm>
            <a:off x="0" y="1628799"/>
            <a:ext cx="9144000" cy="643255"/>
          </a:xfrm>
          <a:custGeom>
            <a:avLst/>
            <a:gdLst/>
            <a:ahLst/>
            <a:cxnLst/>
            <a:rect l="l" t="t" r="r" b="b"/>
            <a:pathLst>
              <a:path w="9144000" h="643255">
                <a:moveTo>
                  <a:pt x="9143999" y="642936"/>
                </a:moveTo>
                <a:lnTo>
                  <a:pt x="0" y="642936"/>
                </a:lnTo>
                <a:lnTo>
                  <a:pt x="0" y="0"/>
                </a:lnTo>
                <a:lnTo>
                  <a:pt x="9143999" y="0"/>
                </a:lnTo>
                <a:lnTo>
                  <a:pt x="9143999" y="642936"/>
                </a:lnTo>
                <a:close/>
              </a:path>
            </a:pathLst>
          </a:custGeom>
          <a:solidFill>
            <a:srgbClr val="1F497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4A317980-B3E7-5DF1-3423-29CE3C28995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200" y="1697673"/>
            <a:ext cx="8804275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 of </a:t>
            </a:r>
            <a:r>
              <a:rPr lang="en-IN" dirty="0"/>
              <a:t>Stakeholder?</a:t>
            </a:r>
            <a:endParaRPr lang="en-US" dirty="0"/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D1DFC3B1-A967-59BD-5F64-67CB23698E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2762" y="2590800"/>
            <a:ext cx="8118476" cy="3268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Employees: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their jobs and working conditions depend on the organization.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Customers/clients: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they use the product or service.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Investors/shareholders: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they put money into the organization and want returns.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Suppliers: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they provide goods or services.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Communities:-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may be affected by company operations.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Government/regulators: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set rules and standards.</a:t>
            </a:r>
          </a:p>
        </p:txBody>
      </p:sp>
    </p:spTree>
    <p:extLst>
      <p:ext uri="{BB962C8B-B14F-4D97-AF65-F5344CB8AC3E}">
        <p14:creationId xmlns:p14="http://schemas.microsoft.com/office/powerpoint/2010/main" val="13376127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0D4A48-06F3-CC79-3276-EBD325347B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BA1799AB-BBA4-7651-61EA-3A0C2DBBED67}"/>
              </a:ext>
            </a:extLst>
          </p:cNvPr>
          <p:cNvSpPr/>
          <p:nvPr/>
        </p:nvSpPr>
        <p:spPr>
          <a:xfrm>
            <a:off x="0" y="1628799"/>
            <a:ext cx="9144000" cy="643255"/>
          </a:xfrm>
          <a:custGeom>
            <a:avLst/>
            <a:gdLst/>
            <a:ahLst/>
            <a:cxnLst/>
            <a:rect l="l" t="t" r="r" b="b"/>
            <a:pathLst>
              <a:path w="9144000" h="643255">
                <a:moveTo>
                  <a:pt x="9143999" y="642936"/>
                </a:moveTo>
                <a:lnTo>
                  <a:pt x="0" y="642936"/>
                </a:lnTo>
                <a:lnTo>
                  <a:pt x="0" y="0"/>
                </a:lnTo>
                <a:lnTo>
                  <a:pt x="9143999" y="0"/>
                </a:lnTo>
                <a:lnTo>
                  <a:pt x="9143999" y="642936"/>
                </a:lnTo>
                <a:close/>
              </a:path>
            </a:pathLst>
          </a:custGeom>
          <a:solidFill>
            <a:srgbClr val="1F497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10B8AFB9-3FFC-7514-B1A8-43FF4B4B07B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8600" y="1697673"/>
            <a:ext cx="8651875" cy="4744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34615" algn="l">
              <a:lnSpc>
                <a:spcPct val="100000"/>
              </a:lnSpc>
              <a:spcBef>
                <a:spcPts val="100"/>
              </a:spcBef>
            </a:pPr>
            <a:r>
              <a:rPr lang="en-IN" dirty="0"/>
              <a:t>Requirement Engineering Tasks </a:t>
            </a:r>
            <a:endParaRPr spc="-10" dirty="0"/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39664E60-126A-16AE-119C-6CE27D250C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2499" y="3091935"/>
            <a:ext cx="7239001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sz="2400" dirty="0"/>
              <a:t>Requirements Engineering is the systematic process of identifying, analyzing, documenting, validating, and managing the requirements of a software system.</a:t>
            </a:r>
          </a:p>
        </p:txBody>
      </p:sp>
    </p:spTree>
    <p:extLst>
      <p:ext uri="{BB962C8B-B14F-4D97-AF65-F5344CB8AC3E}">
        <p14:creationId xmlns:p14="http://schemas.microsoft.com/office/powerpoint/2010/main" val="27381904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130390-5310-9CCD-BC24-767127F835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A48523DE-19C3-DBC5-0B55-E08CED19187C}"/>
              </a:ext>
            </a:extLst>
          </p:cNvPr>
          <p:cNvSpPr/>
          <p:nvPr/>
        </p:nvSpPr>
        <p:spPr>
          <a:xfrm>
            <a:off x="0" y="1628799"/>
            <a:ext cx="9144000" cy="643255"/>
          </a:xfrm>
          <a:custGeom>
            <a:avLst/>
            <a:gdLst/>
            <a:ahLst/>
            <a:cxnLst/>
            <a:rect l="l" t="t" r="r" b="b"/>
            <a:pathLst>
              <a:path w="9144000" h="643255">
                <a:moveTo>
                  <a:pt x="9143999" y="642936"/>
                </a:moveTo>
                <a:lnTo>
                  <a:pt x="0" y="642936"/>
                </a:lnTo>
                <a:lnTo>
                  <a:pt x="0" y="0"/>
                </a:lnTo>
                <a:lnTo>
                  <a:pt x="9143999" y="0"/>
                </a:lnTo>
                <a:lnTo>
                  <a:pt x="9143999" y="642936"/>
                </a:lnTo>
                <a:close/>
              </a:path>
            </a:pathLst>
          </a:custGeom>
          <a:solidFill>
            <a:srgbClr val="1F497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F847FC88-66C4-70D8-60A3-BBE67DEBC4B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8600" y="1697673"/>
            <a:ext cx="8651875" cy="4744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34615" algn="l">
              <a:lnSpc>
                <a:spcPct val="100000"/>
              </a:lnSpc>
              <a:spcBef>
                <a:spcPts val="100"/>
              </a:spcBef>
            </a:pPr>
            <a:r>
              <a:rPr lang="en-IN" dirty="0"/>
              <a:t>Requirement Engineering Tasks </a:t>
            </a:r>
            <a:endParaRPr spc="-10" dirty="0"/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8CD49B7A-6FD0-58BB-9100-D439E6D318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5036" y="2252820"/>
            <a:ext cx="7239001" cy="42614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rtl="0"/>
            <a:r>
              <a:rPr lang="en-IN" sz="2200" dirty="0"/>
              <a:t>Seven distinct tasks</a:t>
            </a:r>
          </a:p>
          <a:p>
            <a:pPr rtl="0"/>
            <a:endParaRPr kumimoji="0" lang="en-IN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rtl="0">
              <a:lnSpc>
                <a:spcPct val="150000"/>
              </a:lnSpc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1. Inception</a:t>
            </a:r>
          </a:p>
          <a:p>
            <a:pPr rtl="0">
              <a:lnSpc>
                <a:spcPct val="150000"/>
              </a:lnSpc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2. Elicitation</a:t>
            </a:r>
          </a:p>
          <a:p>
            <a:pPr rtl="0">
              <a:lnSpc>
                <a:spcPct val="150000"/>
              </a:lnSpc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3. Elaboration</a:t>
            </a:r>
          </a:p>
          <a:p>
            <a:pPr rtl="0">
              <a:lnSpc>
                <a:spcPct val="150000"/>
              </a:lnSpc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4. Negotiation</a:t>
            </a:r>
          </a:p>
          <a:p>
            <a:pPr rtl="0">
              <a:lnSpc>
                <a:spcPct val="150000"/>
              </a:lnSpc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5. Specification</a:t>
            </a:r>
          </a:p>
          <a:p>
            <a:pPr rtl="0">
              <a:lnSpc>
                <a:spcPct val="150000"/>
              </a:lnSpc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6. Validation</a:t>
            </a:r>
          </a:p>
          <a:p>
            <a:pPr rtl="0">
              <a:lnSpc>
                <a:spcPct val="150000"/>
              </a:lnSpc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7. Requirements Management</a:t>
            </a:r>
          </a:p>
        </p:txBody>
      </p:sp>
    </p:spTree>
    <p:extLst>
      <p:ext uri="{BB962C8B-B14F-4D97-AF65-F5344CB8AC3E}">
        <p14:creationId xmlns:p14="http://schemas.microsoft.com/office/powerpoint/2010/main" val="21861342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22EE52-DD2D-073D-9117-CEA816051F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4D07D04A-4A65-4493-AB06-84D782AC8933}"/>
              </a:ext>
            </a:extLst>
          </p:cNvPr>
          <p:cNvSpPr/>
          <p:nvPr/>
        </p:nvSpPr>
        <p:spPr>
          <a:xfrm>
            <a:off x="0" y="1628799"/>
            <a:ext cx="9144000" cy="643255"/>
          </a:xfrm>
          <a:custGeom>
            <a:avLst/>
            <a:gdLst/>
            <a:ahLst/>
            <a:cxnLst/>
            <a:rect l="l" t="t" r="r" b="b"/>
            <a:pathLst>
              <a:path w="9144000" h="643255">
                <a:moveTo>
                  <a:pt x="9143999" y="642936"/>
                </a:moveTo>
                <a:lnTo>
                  <a:pt x="0" y="642936"/>
                </a:lnTo>
                <a:lnTo>
                  <a:pt x="0" y="0"/>
                </a:lnTo>
                <a:lnTo>
                  <a:pt x="9143999" y="0"/>
                </a:lnTo>
                <a:lnTo>
                  <a:pt x="9143999" y="642936"/>
                </a:lnTo>
                <a:close/>
              </a:path>
            </a:pathLst>
          </a:custGeom>
          <a:solidFill>
            <a:srgbClr val="1F497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BBDC9575-A04F-346E-5B72-F1D15927774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8600" y="1697673"/>
            <a:ext cx="8651875" cy="4744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34615" algn="l">
              <a:lnSpc>
                <a:spcPct val="100000"/>
              </a:lnSpc>
              <a:spcBef>
                <a:spcPts val="100"/>
              </a:spcBef>
            </a:pPr>
            <a:r>
              <a:rPr lang="en-IN" dirty="0"/>
              <a:t>Requirement Engineering Tasks </a:t>
            </a:r>
            <a:endParaRPr spc="-10" dirty="0"/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1E3BF508-3239-A94A-7D38-7B35361DE5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4662" y="2525594"/>
            <a:ext cx="8194675" cy="3631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sz="2400" dirty="0"/>
              <a:t>These tasks ensure that the </a:t>
            </a:r>
            <a:r>
              <a:rPr lang="en-US" sz="2400" b="1" dirty="0"/>
              <a:t>software accurately captures, documents, and manages </a:t>
            </a:r>
            <a:r>
              <a:rPr lang="en-US" sz="2400" dirty="0"/>
              <a:t>the client’s needs and expectations.</a:t>
            </a:r>
          </a:p>
          <a:p>
            <a:pPr algn="just"/>
            <a:endParaRPr lang="en-US" sz="2400" dirty="0"/>
          </a:p>
          <a:p>
            <a:pPr algn="just"/>
            <a:r>
              <a:rPr lang="en-US" sz="2100" dirty="0">
                <a:highlight>
                  <a:srgbClr val="FFFF00"/>
                </a:highlight>
              </a:rPr>
              <a:t>The tasks include:</a:t>
            </a:r>
          </a:p>
          <a:p>
            <a:pPr algn="just"/>
            <a:endParaRPr lang="en-US" sz="2100" dirty="0"/>
          </a:p>
          <a:p>
            <a:pPr algn="l"/>
            <a:r>
              <a:rPr lang="en-US" sz="2000" b="1" dirty="0"/>
              <a:t>Inception</a:t>
            </a:r>
            <a:br>
              <a:rPr lang="en-US" sz="2400" dirty="0"/>
            </a:br>
            <a:r>
              <a:rPr lang="en-US" sz="2400" dirty="0"/>
              <a:t>Identifying the problem, stakeholders, business goals, and system scope. </a:t>
            </a:r>
          </a:p>
          <a:p>
            <a:pPr algn="just"/>
            <a:r>
              <a:rPr lang="en-US" sz="2400" dirty="0"/>
              <a:t>It answers </a:t>
            </a:r>
            <a:r>
              <a:rPr lang="en-US" sz="2400" i="1" dirty="0"/>
              <a:t>why</a:t>
            </a:r>
            <a:r>
              <a:rPr lang="en-US" sz="2400" dirty="0"/>
              <a:t> the system is needed and </a:t>
            </a:r>
            <a:r>
              <a:rPr lang="en-US" sz="2400" i="1" dirty="0"/>
              <a:t>who</a:t>
            </a:r>
            <a:r>
              <a:rPr lang="en-US" sz="2400" dirty="0"/>
              <a:t> is involved.</a:t>
            </a:r>
            <a:endParaRPr lang="en-US" sz="2100" dirty="0"/>
          </a:p>
        </p:txBody>
      </p:sp>
    </p:spTree>
    <p:extLst>
      <p:ext uri="{BB962C8B-B14F-4D97-AF65-F5344CB8AC3E}">
        <p14:creationId xmlns:p14="http://schemas.microsoft.com/office/powerpoint/2010/main" val="6236306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8310A1-9D0B-B7BD-1C9D-B61AB91368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A7368DBC-C2FF-889D-C624-EA7F0A7D83CE}"/>
              </a:ext>
            </a:extLst>
          </p:cNvPr>
          <p:cNvSpPr/>
          <p:nvPr/>
        </p:nvSpPr>
        <p:spPr>
          <a:xfrm>
            <a:off x="0" y="1628799"/>
            <a:ext cx="9144000" cy="643255"/>
          </a:xfrm>
          <a:custGeom>
            <a:avLst/>
            <a:gdLst/>
            <a:ahLst/>
            <a:cxnLst/>
            <a:rect l="l" t="t" r="r" b="b"/>
            <a:pathLst>
              <a:path w="9144000" h="643255">
                <a:moveTo>
                  <a:pt x="9143999" y="642936"/>
                </a:moveTo>
                <a:lnTo>
                  <a:pt x="0" y="642936"/>
                </a:lnTo>
                <a:lnTo>
                  <a:pt x="0" y="0"/>
                </a:lnTo>
                <a:lnTo>
                  <a:pt x="9143999" y="0"/>
                </a:lnTo>
                <a:lnTo>
                  <a:pt x="9143999" y="642936"/>
                </a:lnTo>
                <a:close/>
              </a:path>
            </a:pathLst>
          </a:custGeom>
          <a:solidFill>
            <a:srgbClr val="1F497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F649942F-DDA9-8CD6-B9FE-9B3B3015BE9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8600" y="1697673"/>
            <a:ext cx="8651875" cy="4744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34615" algn="l">
              <a:lnSpc>
                <a:spcPct val="100000"/>
              </a:lnSpc>
              <a:spcBef>
                <a:spcPts val="100"/>
              </a:spcBef>
            </a:pPr>
            <a:r>
              <a:rPr lang="en-IN" dirty="0"/>
              <a:t>Requirement Engineering Tasks </a:t>
            </a:r>
            <a:endParaRPr spc="-10" dirty="0"/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4CCC30B0-9C0A-77D5-ABCF-88FAE36B1F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4662" y="2633317"/>
            <a:ext cx="8194675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IN" sz="2400" b="1" dirty="0"/>
              <a:t>Elicitation</a:t>
            </a:r>
          </a:p>
          <a:p>
            <a:pPr algn="just"/>
            <a:r>
              <a:rPr lang="en-US" sz="2400" dirty="0"/>
              <a:t>Gathering requirements from stakeholders through interviews, workshops, questionnaires, observation, etc. It focuses on understanding </a:t>
            </a:r>
            <a:r>
              <a:rPr lang="en-US" sz="2400" i="1" dirty="0"/>
              <a:t>what</a:t>
            </a:r>
            <a:r>
              <a:rPr lang="en-US" sz="2400" dirty="0"/>
              <a:t> users need.</a:t>
            </a:r>
          </a:p>
          <a:p>
            <a:pPr algn="just"/>
            <a:endParaRPr lang="en-US" sz="2400" dirty="0"/>
          </a:p>
          <a:p>
            <a:pPr algn="just"/>
            <a:r>
              <a:rPr lang="en-IN" sz="2400" b="1" dirty="0"/>
              <a:t>Elaboration</a:t>
            </a:r>
          </a:p>
          <a:p>
            <a:pPr algn="just"/>
            <a:r>
              <a:rPr lang="en-US" sz="2400" dirty="0"/>
              <a:t>Refining and expanding the gathered requirements into detailed, structured forms (use cases, user stories, models). Ambiguities are clarified here.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35051413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DC9837-D7DE-F756-0A4B-F1FB3A3000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E919FC83-7321-D89C-80A7-974E971CCF23}"/>
              </a:ext>
            </a:extLst>
          </p:cNvPr>
          <p:cNvSpPr/>
          <p:nvPr/>
        </p:nvSpPr>
        <p:spPr>
          <a:xfrm>
            <a:off x="0" y="1628799"/>
            <a:ext cx="9144000" cy="643255"/>
          </a:xfrm>
          <a:custGeom>
            <a:avLst/>
            <a:gdLst/>
            <a:ahLst/>
            <a:cxnLst/>
            <a:rect l="l" t="t" r="r" b="b"/>
            <a:pathLst>
              <a:path w="9144000" h="643255">
                <a:moveTo>
                  <a:pt x="9143999" y="642936"/>
                </a:moveTo>
                <a:lnTo>
                  <a:pt x="0" y="642936"/>
                </a:lnTo>
                <a:lnTo>
                  <a:pt x="0" y="0"/>
                </a:lnTo>
                <a:lnTo>
                  <a:pt x="9143999" y="0"/>
                </a:lnTo>
                <a:lnTo>
                  <a:pt x="9143999" y="642936"/>
                </a:lnTo>
                <a:close/>
              </a:path>
            </a:pathLst>
          </a:custGeom>
          <a:solidFill>
            <a:srgbClr val="1F497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51C8A2D2-2C11-78B1-8246-BC18217DCDB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8600" y="1697673"/>
            <a:ext cx="8651875" cy="4744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34615" algn="l">
              <a:lnSpc>
                <a:spcPct val="100000"/>
              </a:lnSpc>
              <a:spcBef>
                <a:spcPts val="100"/>
              </a:spcBef>
            </a:pPr>
            <a:r>
              <a:rPr lang="en-IN" dirty="0"/>
              <a:t>Requirement Engineering Tasks </a:t>
            </a:r>
            <a:endParaRPr spc="-10" dirty="0"/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B4CDD8D0-48D6-1973-99C5-3B4B5C94EA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4662" y="2633318"/>
            <a:ext cx="8194675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IN" sz="2400" b="1" dirty="0"/>
              <a:t>Negotiation</a:t>
            </a:r>
          </a:p>
          <a:p>
            <a:pPr algn="just"/>
            <a:r>
              <a:rPr lang="en-US" sz="2400" dirty="0"/>
              <a:t>Resolving conflicts among stakeholders’ requirements and prioritizing them based on constraints like </a:t>
            </a:r>
            <a:r>
              <a:rPr lang="en-US" sz="2400" b="1" dirty="0"/>
              <a:t>cost, time, and feasibility.</a:t>
            </a:r>
          </a:p>
          <a:p>
            <a:pPr algn="just"/>
            <a:endParaRPr lang="en-US" sz="2400" b="1" dirty="0"/>
          </a:p>
          <a:p>
            <a:pPr algn="just"/>
            <a:r>
              <a:rPr lang="en-IN" sz="2400" b="1" dirty="0"/>
              <a:t>Specification</a:t>
            </a:r>
          </a:p>
          <a:p>
            <a:pPr algn="just"/>
            <a:r>
              <a:rPr lang="en-US" sz="2400" dirty="0"/>
              <a:t>Documenting the agreed requirements formally and clearly, usually in a </a:t>
            </a:r>
            <a:r>
              <a:rPr lang="en-US" sz="2400" b="1" dirty="0"/>
              <a:t>Software Requirements Specification (SRS)</a:t>
            </a:r>
            <a:r>
              <a:rPr lang="en-US" sz="2400" dirty="0"/>
              <a:t> or equivalent artifact.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2798505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EDC651-431A-A12C-1861-9C274389F6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7F6705E9-F0CE-2136-1A7E-E37B425D3531}"/>
              </a:ext>
            </a:extLst>
          </p:cNvPr>
          <p:cNvSpPr/>
          <p:nvPr/>
        </p:nvSpPr>
        <p:spPr>
          <a:xfrm>
            <a:off x="0" y="1628799"/>
            <a:ext cx="9144000" cy="643255"/>
          </a:xfrm>
          <a:custGeom>
            <a:avLst/>
            <a:gdLst/>
            <a:ahLst/>
            <a:cxnLst/>
            <a:rect l="l" t="t" r="r" b="b"/>
            <a:pathLst>
              <a:path w="9144000" h="643255">
                <a:moveTo>
                  <a:pt x="9143999" y="642936"/>
                </a:moveTo>
                <a:lnTo>
                  <a:pt x="0" y="642936"/>
                </a:lnTo>
                <a:lnTo>
                  <a:pt x="0" y="0"/>
                </a:lnTo>
                <a:lnTo>
                  <a:pt x="9143999" y="0"/>
                </a:lnTo>
                <a:lnTo>
                  <a:pt x="9143999" y="642936"/>
                </a:lnTo>
                <a:close/>
              </a:path>
            </a:pathLst>
          </a:custGeom>
          <a:solidFill>
            <a:srgbClr val="1F497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F8158196-7099-3771-CCA4-09EC5DED661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8600" y="1697673"/>
            <a:ext cx="8651875" cy="4744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34615" algn="l">
              <a:lnSpc>
                <a:spcPct val="100000"/>
              </a:lnSpc>
              <a:spcBef>
                <a:spcPts val="100"/>
              </a:spcBef>
            </a:pPr>
            <a:r>
              <a:rPr lang="en-IN" dirty="0"/>
              <a:t>Requirement Engineering Tasks </a:t>
            </a:r>
            <a:endParaRPr spc="-10" dirty="0"/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7F158BB4-0D70-5A2B-375D-9EAD876557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4662" y="2633319"/>
            <a:ext cx="8194675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IN" sz="2400" b="1" dirty="0"/>
              <a:t>Validation</a:t>
            </a:r>
          </a:p>
          <a:p>
            <a:pPr algn="just"/>
            <a:r>
              <a:rPr lang="en-US" sz="2400" dirty="0"/>
              <a:t>Ensuring the requirements are </a:t>
            </a:r>
            <a:r>
              <a:rPr lang="en-US" sz="2400" b="1" dirty="0"/>
              <a:t>correct, complete, consistent, feasible</a:t>
            </a:r>
            <a:r>
              <a:rPr lang="en-US" sz="2400" dirty="0"/>
              <a:t>, and aligned with stakeholder needs, often through reviews, walkthroughs, and prototypes.</a:t>
            </a:r>
          </a:p>
          <a:p>
            <a:pPr algn="just"/>
            <a:endParaRPr lang="en-US" sz="2400" b="1" dirty="0"/>
          </a:p>
          <a:p>
            <a:pPr algn="just"/>
            <a:r>
              <a:rPr lang="en-IN" sz="2400" b="1" dirty="0"/>
              <a:t>Requirements Management</a:t>
            </a:r>
          </a:p>
          <a:p>
            <a:pPr algn="just"/>
            <a:r>
              <a:rPr lang="en-US" sz="2400" dirty="0"/>
              <a:t>Handling changes to requirements throughout the project lifecycle, maintaining traceability, version control, and impact analysis.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1945735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28D236-BC21-3BC2-A7B0-6A01A630C6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C9747462-4C1B-496C-540F-E18BBA4246C0}"/>
              </a:ext>
            </a:extLst>
          </p:cNvPr>
          <p:cNvSpPr/>
          <p:nvPr/>
        </p:nvSpPr>
        <p:spPr>
          <a:xfrm>
            <a:off x="0" y="1628799"/>
            <a:ext cx="9144000" cy="643255"/>
          </a:xfrm>
          <a:custGeom>
            <a:avLst/>
            <a:gdLst/>
            <a:ahLst/>
            <a:cxnLst/>
            <a:rect l="l" t="t" r="r" b="b"/>
            <a:pathLst>
              <a:path w="9144000" h="643255">
                <a:moveTo>
                  <a:pt x="9143999" y="642936"/>
                </a:moveTo>
                <a:lnTo>
                  <a:pt x="0" y="642936"/>
                </a:lnTo>
                <a:lnTo>
                  <a:pt x="0" y="0"/>
                </a:lnTo>
                <a:lnTo>
                  <a:pt x="9143999" y="0"/>
                </a:lnTo>
                <a:lnTo>
                  <a:pt x="9143999" y="642936"/>
                </a:lnTo>
                <a:close/>
              </a:path>
            </a:pathLst>
          </a:custGeom>
          <a:solidFill>
            <a:srgbClr val="1F497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BC7A1127-3CA9-C378-A6EE-4E8B93767F8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8600" y="1697673"/>
            <a:ext cx="8651875" cy="4744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34615" algn="l">
              <a:lnSpc>
                <a:spcPct val="100000"/>
              </a:lnSpc>
              <a:spcBef>
                <a:spcPts val="100"/>
              </a:spcBef>
            </a:pPr>
            <a:r>
              <a:rPr lang="en-IN" dirty="0"/>
              <a:t>Requirement Engineering Tasks </a:t>
            </a:r>
            <a:endParaRPr spc="-10" dirty="0"/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EFD0F894-B447-F231-B8E7-5D3AD2E69A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2860070"/>
            <a:ext cx="7772400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/>
            <a:br>
              <a:rPr lang="en-US" sz="2400" dirty="0"/>
            </a:br>
            <a:r>
              <a:rPr lang="en-US" sz="2400" dirty="0"/>
              <a:t>For an online shopping app, tasks include collecting features like </a:t>
            </a:r>
            <a:r>
              <a:rPr lang="en-US" sz="2400" b="1" dirty="0"/>
              <a:t>login, product search, cart</a:t>
            </a:r>
            <a:r>
              <a:rPr lang="en-US" sz="2400" dirty="0"/>
              <a:t> management, and analyzing overlaps with existing systems. </a:t>
            </a:r>
          </a:p>
          <a:p>
            <a:pPr algn="just"/>
            <a:endParaRPr lang="en-US" sz="2400" dirty="0"/>
          </a:p>
          <a:p>
            <a:pPr algn="just"/>
            <a:r>
              <a:rPr lang="en-US" sz="2400" dirty="0"/>
              <a:t>documenting them in SRS; validating with client approval, and updating requirements if the client adds new features.</a:t>
            </a:r>
            <a:endParaRPr lang="en-US" sz="21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E58A240-6761-13ED-51E6-CF5011293219}"/>
              </a:ext>
            </a:extLst>
          </p:cNvPr>
          <p:cNvSpPr txBox="1"/>
          <p:nvPr/>
        </p:nvSpPr>
        <p:spPr>
          <a:xfrm>
            <a:off x="723900" y="2675404"/>
            <a:ext cx="4572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dirty="0"/>
              <a:t>Example:</a:t>
            </a:r>
            <a:endParaRPr lang="en-IN" sz="2200" dirty="0"/>
          </a:p>
        </p:txBody>
      </p:sp>
    </p:spTree>
    <p:extLst>
      <p:ext uri="{BB962C8B-B14F-4D97-AF65-F5344CB8AC3E}">
        <p14:creationId xmlns:p14="http://schemas.microsoft.com/office/powerpoint/2010/main" val="150004782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720926-C222-883D-3AAA-76FCC1FB9A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1139333B-215A-2F05-AC8C-8867A559B4DE}"/>
              </a:ext>
            </a:extLst>
          </p:cNvPr>
          <p:cNvSpPr/>
          <p:nvPr/>
        </p:nvSpPr>
        <p:spPr>
          <a:xfrm>
            <a:off x="0" y="1628799"/>
            <a:ext cx="9144000" cy="643255"/>
          </a:xfrm>
          <a:custGeom>
            <a:avLst/>
            <a:gdLst/>
            <a:ahLst/>
            <a:cxnLst/>
            <a:rect l="l" t="t" r="r" b="b"/>
            <a:pathLst>
              <a:path w="9144000" h="643255">
                <a:moveTo>
                  <a:pt x="9143999" y="642936"/>
                </a:moveTo>
                <a:lnTo>
                  <a:pt x="0" y="642936"/>
                </a:lnTo>
                <a:lnTo>
                  <a:pt x="0" y="0"/>
                </a:lnTo>
                <a:lnTo>
                  <a:pt x="9143999" y="0"/>
                </a:lnTo>
                <a:lnTo>
                  <a:pt x="9143999" y="642936"/>
                </a:lnTo>
                <a:close/>
              </a:path>
            </a:pathLst>
          </a:custGeom>
          <a:solidFill>
            <a:srgbClr val="1F497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4E3F43F5-5BB3-1C02-D6BF-E76B5718FCA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-1600200" y="1697673"/>
            <a:ext cx="10480675" cy="4744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34615">
              <a:lnSpc>
                <a:spcPct val="100000"/>
              </a:lnSpc>
              <a:spcBef>
                <a:spcPts val="100"/>
              </a:spcBef>
            </a:pPr>
            <a:r>
              <a:rPr lang="en-IN" dirty="0"/>
              <a:t>Software Requirement Specification - SRS </a:t>
            </a:r>
            <a:endParaRPr spc="-10" dirty="0"/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088AABD8-3368-FA33-B452-84AAFADDD9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1" y="2913965"/>
            <a:ext cx="7581900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rtl="0"/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SRS is a detailed document that explains what a software system should do and how it should behave.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describes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the requirements,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both </a:t>
            </a: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functional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non-functional,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before the software is developed.</a:t>
            </a:r>
          </a:p>
          <a:p>
            <a:pPr algn="just"/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simple words:</a:t>
            </a:r>
          </a:p>
          <a:p>
            <a:pPr algn="just"/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SRS = A blueprint or contract between the client and the developers about what the software will do.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15912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13A9D5-553C-EF26-D3EF-44804B01BC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DCCABA36-F402-BAE1-2049-6EF4587DADF3}"/>
              </a:ext>
            </a:extLst>
          </p:cNvPr>
          <p:cNvSpPr/>
          <p:nvPr/>
        </p:nvSpPr>
        <p:spPr>
          <a:xfrm>
            <a:off x="0" y="1628799"/>
            <a:ext cx="9144000" cy="643255"/>
          </a:xfrm>
          <a:custGeom>
            <a:avLst/>
            <a:gdLst/>
            <a:ahLst/>
            <a:cxnLst/>
            <a:rect l="l" t="t" r="r" b="b"/>
            <a:pathLst>
              <a:path w="9144000" h="643255">
                <a:moveTo>
                  <a:pt x="9143999" y="642936"/>
                </a:moveTo>
                <a:lnTo>
                  <a:pt x="0" y="642936"/>
                </a:lnTo>
                <a:lnTo>
                  <a:pt x="0" y="0"/>
                </a:lnTo>
                <a:lnTo>
                  <a:pt x="9143999" y="0"/>
                </a:lnTo>
                <a:lnTo>
                  <a:pt x="9143999" y="642936"/>
                </a:lnTo>
                <a:close/>
              </a:path>
            </a:pathLst>
          </a:custGeom>
          <a:solidFill>
            <a:srgbClr val="1F497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98CC0109-0515-26E6-F715-4686ED9966A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-1600200" y="1697673"/>
            <a:ext cx="10480675" cy="4744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34615" algn="ctr">
              <a:lnSpc>
                <a:spcPct val="100000"/>
              </a:lnSpc>
              <a:spcBef>
                <a:spcPts val="100"/>
              </a:spcBef>
            </a:pPr>
            <a:r>
              <a:rPr lang="en-IN" dirty="0"/>
              <a:t>An Example of SRS</a:t>
            </a:r>
            <a:endParaRPr spc="-1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3EF8787-FF4D-881E-E79F-6986501AED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85909"/>
            <a:ext cx="9144000" cy="4572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727115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7DD7AF-EE3B-19CF-533B-00F2271550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422A7110-6233-E8F2-ADBF-F3B711391CB0}"/>
              </a:ext>
            </a:extLst>
          </p:cNvPr>
          <p:cNvSpPr/>
          <p:nvPr/>
        </p:nvSpPr>
        <p:spPr>
          <a:xfrm>
            <a:off x="0" y="1628799"/>
            <a:ext cx="9144000" cy="643255"/>
          </a:xfrm>
          <a:custGeom>
            <a:avLst/>
            <a:gdLst/>
            <a:ahLst/>
            <a:cxnLst/>
            <a:rect l="l" t="t" r="r" b="b"/>
            <a:pathLst>
              <a:path w="9144000" h="643255">
                <a:moveTo>
                  <a:pt x="9143999" y="642936"/>
                </a:moveTo>
                <a:lnTo>
                  <a:pt x="0" y="642936"/>
                </a:lnTo>
                <a:lnTo>
                  <a:pt x="0" y="0"/>
                </a:lnTo>
                <a:lnTo>
                  <a:pt x="9143999" y="0"/>
                </a:lnTo>
                <a:lnTo>
                  <a:pt x="9143999" y="642936"/>
                </a:lnTo>
                <a:close/>
              </a:path>
            </a:pathLst>
          </a:custGeom>
          <a:solidFill>
            <a:srgbClr val="1F497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205ED7A0-D94C-6011-A3A6-AB474A4D841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-1600200" y="1697673"/>
            <a:ext cx="10480675" cy="4744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34615" algn="ctr">
              <a:lnSpc>
                <a:spcPct val="100000"/>
              </a:lnSpc>
              <a:spcBef>
                <a:spcPts val="100"/>
              </a:spcBef>
            </a:pPr>
            <a:r>
              <a:rPr lang="en-IN" dirty="0"/>
              <a:t>An Example of SRS</a:t>
            </a:r>
            <a:endParaRPr spc="-1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9C62263-EB0D-ED55-6EE4-1D6AA2B75113}"/>
              </a:ext>
            </a:extLst>
          </p:cNvPr>
          <p:cNvSpPr txBox="1"/>
          <p:nvPr/>
        </p:nvSpPr>
        <p:spPr>
          <a:xfrm>
            <a:off x="685800" y="2743200"/>
            <a:ext cx="7848600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SRS serves as a reference for developers, testers, and stakeholders. It includes functional requirements (what the system does) and non-functional requirements (how the system behaves, like performance, security).</a:t>
            </a:r>
          </a:p>
          <a:p>
            <a:pPr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Functional: The system allows users to log in, view marks, and download assignments.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Non-Functional: The system should respond to requests within 2 seconds and be accessible on mobile devices.</a:t>
            </a:r>
          </a:p>
        </p:txBody>
      </p:sp>
    </p:spTree>
    <p:extLst>
      <p:ext uri="{BB962C8B-B14F-4D97-AF65-F5344CB8AC3E}">
        <p14:creationId xmlns:p14="http://schemas.microsoft.com/office/powerpoint/2010/main" val="30943968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0E5577-2F25-4644-DA02-82A154D87B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E625E3B7-023B-9E1F-0740-494B4DA95D70}"/>
              </a:ext>
            </a:extLst>
          </p:cNvPr>
          <p:cNvSpPr/>
          <p:nvPr/>
        </p:nvSpPr>
        <p:spPr>
          <a:xfrm>
            <a:off x="0" y="1628799"/>
            <a:ext cx="9144000" cy="643255"/>
          </a:xfrm>
          <a:custGeom>
            <a:avLst/>
            <a:gdLst/>
            <a:ahLst/>
            <a:cxnLst/>
            <a:rect l="l" t="t" r="r" b="b"/>
            <a:pathLst>
              <a:path w="9144000" h="643255">
                <a:moveTo>
                  <a:pt x="9143999" y="642936"/>
                </a:moveTo>
                <a:lnTo>
                  <a:pt x="0" y="642936"/>
                </a:lnTo>
                <a:lnTo>
                  <a:pt x="0" y="0"/>
                </a:lnTo>
                <a:lnTo>
                  <a:pt x="9143999" y="0"/>
                </a:lnTo>
                <a:lnTo>
                  <a:pt x="9143999" y="642936"/>
                </a:lnTo>
                <a:close/>
              </a:path>
            </a:pathLst>
          </a:custGeom>
          <a:solidFill>
            <a:srgbClr val="1F497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0EE69E23-7C6A-8C5E-34A9-69576F40F02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581400" y="1714608"/>
            <a:ext cx="4518992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IN" sz="2800" dirty="0"/>
              <a:t>Use Cases</a:t>
            </a:r>
            <a:endParaRPr lang="en-US" sz="28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4F49B5E-8711-6605-C516-C5752A7B5C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5192" y="2528501"/>
            <a:ext cx="7939708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A Use Case describes how a user interacts with the system to achieve a specific goal.</a:t>
            </a:r>
            <a:endParaRPr lang="en-US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75B0AB7-3933-8F12-1F7C-E4902BC36F78}"/>
              </a:ext>
            </a:extLst>
          </p:cNvPr>
          <p:cNvSpPr txBox="1"/>
          <p:nvPr/>
        </p:nvSpPr>
        <p:spPr>
          <a:xfrm>
            <a:off x="785192" y="3509511"/>
            <a:ext cx="73152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Use cases help understand the functional requirements from the user’s side. Each use case defines:</a:t>
            </a:r>
          </a:p>
          <a:p>
            <a:endParaRPr lang="en-US" dirty="0"/>
          </a:p>
          <a:p>
            <a:r>
              <a:rPr lang="en-US" b="1" dirty="0"/>
              <a:t>Actor:</a:t>
            </a:r>
            <a:r>
              <a:rPr lang="en-US" dirty="0"/>
              <a:t> Who is using the system.</a:t>
            </a:r>
          </a:p>
          <a:p>
            <a:r>
              <a:rPr lang="en-US" b="1" dirty="0"/>
              <a:t>Steps/Scenario:</a:t>
            </a:r>
            <a:r>
              <a:rPr lang="en-US" dirty="0"/>
              <a:t> How the interaction happens.</a:t>
            </a:r>
          </a:p>
          <a:p>
            <a:r>
              <a:rPr lang="en-US" b="1" dirty="0"/>
              <a:t>Goal:</a:t>
            </a:r>
            <a:r>
              <a:rPr lang="en-US" dirty="0"/>
              <a:t> What the user achieves.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1192585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FAB7A1-2C0C-2A56-9751-73A9EF20C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E9D9D9AC-CFA1-2A01-8C21-CD0F986D3937}"/>
              </a:ext>
            </a:extLst>
          </p:cNvPr>
          <p:cNvSpPr/>
          <p:nvPr/>
        </p:nvSpPr>
        <p:spPr>
          <a:xfrm>
            <a:off x="0" y="1628799"/>
            <a:ext cx="9144000" cy="643255"/>
          </a:xfrm>
          <a:custGeom>
            <a:avLst/>
            <a:gdLst/>
            <a:ahLst/>
            <a:cxnLst/>
            <a:rect l="l" t="t" r="r" b="b"/>
            <a:pathLst>
              <a:path w="9144000" h="643255">
                <a:moveTo>
                  <a:pt x="9143999" y="642936"/>
                </a:moveTo>
                <a:lnTo>
                  <a:pt x="0" y="642936"/>
                </a:lnTo>
                <a:lnTo>
                  <a:pt x="0" y="0"/>
                </a:lnTo>
                <a:lnTo>
                  <a:pt x="9143999" y="0"/>
                </a:lnTo>
                <a:lnTo>
                  <a:pt x="9143999" y="642936"/>
                </a:lnTo>
                <a:close/>
              </a:path>
            </a:pathLst>
          </a:custGeom>
          <a:solidFill>
            <a:srgbClr val="1F497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D88DAB27-3FC1-724D-41D2-1954AB71393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581400" y="1714608"/>
            <a:ext cx="4518992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IN" sz="2800" dirty="0"/>
              <a:t>Use cases - Actors</a:t>
            </a:r>
            <a:endParaRPr lang="en-US" sz="28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ECEE96A-B95B-B0DD-F292-AF08BF167E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2272054"/>
            <a:ext cx="8183117" cy="4128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885265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B4700F-4A6C-14D6-B1D9-F4C4FB0DC5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4030ECA4-EA00-7A55-464D-21202DAAAF0F}"/>
              </a:ext>
            </a:extLst>
          </p:cNvPr>
          <p:cNvSpPr/>
          <p:nvPr/>
        </p:nvSpPr>
        <p:spPr>
          <a:xfrm>
            <a:off x="0" y="1628799"/>
            <a:ext cx="9144000" cy="643255"/>
          </a:xfrm>
          <a:custGeom>
            <a:avLst/>
            <a:gdLst/>
            <a:ahLst/>
            <a:cxnLst/>
            <a:rect l="l" t="t" r="r" b="b"/>
            <a:pathLst>
              <a:path w="9144000" h="643255">
                <a:moveTo>
                  <a:pt x="9143999" y="642936"/>
                </a:moveTo>
                <a:lnTo>
                  <a:pt x="0" y="642936"/>
                </a:lnTo>
                <a:lnTo>
                  <a:pt x="0" y="0"/>
                </a:lnTo>
                <a:lnTo>
                  <a:pt x="9143999" y="0"/>
                </a:lnTo>
                <a:lnTo>
                  <a:pt x="9143999" y="642936"/>
                </a:lnTo>
                <a:close/>
              </a:path>
            </a:pathLst>
          </a:custGeom>
          <a:solidFill>
            <a:srgbClr val="1F497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C8CC41E7-7D35-CD2A-BE32-CE9831DA0DB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581400" y="1714608"/>
            <a:ext cx="4518992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IN" sz="2800" dirty="0"/>
              <a:t>Use cases - Relationships</a:t>
            </a:r>
            <a:endParaRPr lang="en-US" sz="2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6D945FB-DB2B-09C8-5E97-E2297DE51D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468" y="2272054"/>
            <a:ext cx="7983064" cy="4153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950601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4A6FE4-FF59-DA42-4590-E4BA9CF7CE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BAF1A4D7-3EF7-AC62-F843-5F79DECC6B47}"/>
              </a:ext>
            </a:extLst>
          </p:cNvPr>
          <p:cNvSpPr/>
          <p:nvPr/>
        </p:nvSpPr>
        <p:spPr>
          <a:xfrm>
            <a:off x="0" y="1628799"/>
            <a:ext cx="9144000" cy="643255"/>
          </a:xfrm>
          <a:custGeom>
            <a:avLst/>
            <a:gdLst/>
            <a:ahLst/>
            <a:cxnLst/>
            <a:rect l="l" t="t" r="r" b="b"/>
            <a:pathLst>
              <a:path w="9144000" h="643255">
                <a:moveTo>
                  <a:pt x="9143999" y="642936"/>
                </a:moveTo>
                <a:lnTo>
                  <a:pt x="0" y="642936"/>
                </a:lnTo>
                <a:lnTo>
                  <a:pt x="0" y="0"/>
                </a:lnTo>
                <a:lnTo>
                  <a:pt x="9143999" y="0"/>
                </a:lnTo>
                <a:lnTo>
                  <a:pt x="9143999" y="642936"/>
                </a:lnTo>
                <a:close/>
              </a:path>
            </a:pathLst>
          </a:custGeom>
          <a:solidFill>
            <a:srgbClr val="1F497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1154333D-16D0-8B50-EFDF-0E42274548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242E42A-8832-BA1C-C3B2-905124BC26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620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894692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BB6671-169B-A536-8A86-ED59DE58D5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1F3FBC25-BA9F-268D-A2A0-339BC4DABC05}"/>
              </a:ext>
            </a:extLst>
          </p:cNvPr>
          <p:cNvSpPr/>
          <p:nvPr/>
        </p:nvSpPr>
        <p:spPr>
          <a:xfrm>
            <a:off x="0" y="1628799"/>
            <a:ext cx="9144000" cy="643255"/>
          </a:xfrm>
          <a:custGeom>
            <a:avLst/>
            <a:gdLst/>
            <a:ahLst/>
            <a:cxnLst/>
            <a:rect l="l" t="t" r="r" b="b"/>
            <a:pathLst>
              <a:path w="9144000" h="643255">
                <a:moveTo>
                  <a:pt x="9143999" y="642936"/>
                </a:moveTo>
                <a:lnTo>
                  <a:pt x="0" y="642936"/>
                </a:lnTo>
                <a:lnTo>
                  <a:pt x="0" y="0"/>
                </a:lnTo>
                <a:lnTo>
                  <a:pt x="9143999" y="0"/>
                </a:lnTo>
                <a:lnTo>
                  <a:pt x="9143999" y="642936"/>
                </a:lnTo>
                <a:close/>
              </a:path>
            </a:pathLst>
          </a:custGeom>
          <a:solidFill>
            <a:srgbClr val="1F497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50057D8B-C6CF-A5BD-FF52-5CFB7700B08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581400" y="1714608"/>
            <a:ext cx="4518992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IN" sz="2800" dirty="0"/>
              <a:t>Use Cases</a:t>
            </a:r>
            <a:endParaRPr lang="en-US" sz="2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0E9763-9E6E-882F-9EDF-A48AAC1A6F62}"/>
              </a:ext>
            </a:extLst>
          </p:cNvPr>
          <p:cNvSpPr txBox="1"/>
          <p:nvPr/>
        </p:nvSpPr>
        <p:spPr>
          <a:xfrm>
            <a:off x="785192" y="3509511"/>
            <a:ext cx="73152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Example:</a:t>
            </a:r>
            <a:br>
              <a:rPr lang="en-US" dirty="0"/>
            </a:br>
            <a:r>
              <a:rPr lang="en-US" dirty="0"/>
              <a:t>Use case: </a:t>
            </a:r>
            <a:r>
              <a:rPr lang="en-US" b="1" dirty="0"/>
              <a:t>“Withdraw Money from ATM”</a:t>
            </a:r>
            <a:endParaRPr lang="en-US" dirty="0"/>
          </a:p>
          <a:p>
            <a:r>
              <a:rPr lang="en-US" dirty="0"/>
              <a:t>Actor: Bank customer</a:t>
            </a:r>
          </a:p>
          <a:p>
            <a:r>
              <a:rPr lang="en-US" dirty="0"/>
              <a:t>Steps: Insert card → Enter PIN → Select amount → Cash dispensed → End session</a:t>
            </a:r>
          </a:p>
          <a:p>
            <a:r>
              <a:rPr lang="en-US" dirty="0"/>
              <a:t>Goal: Customer successfully withdraws money</a:t>
            </a:r>
          </a:p>
        </p:txBody>
      </p:sp>
    </p:spTree>
    <p:extLst>
      <p:ext uri="{BB962C8B-B14F-4D97-AF65-F5344CB8AC3E}">
        <p14:creationId xmlns:p14="http://schemas.microsoft.com/office/powerpoint/2010/main" val="348627393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4AA788-F712-271E-75EE-2FF2109AE1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B9262A3B-A6AA-00FB-396E-B8BCFDA93968}"/>
              </a:ext>
            </a:extLst>
          </p:cNvPr>
          <p:cNvSpPr/>
          <p:nvPr/>
        </p:nvSpPr>
        <p:spPr>
          <a:xfrm>
            <a:off x="0" y="1628799"/>
            <a:ext cx="9144000" cy="643255"/>
          </a:xfrm>
          <a:custGeom>
            <a:avLst/>
            <a:gdLst/>
            <a:ahLst/>
            <a:cxnLst/>
            <a:rect l="l" t="t" r="r" b="b"/>
            <a:pathLst>
              <a:path w="9144000" h="643255">
                <a:moveTo>
                  <a:pt x="9143999" y="642936"/>
                </a:moveTo>
                <a:lnTo>
                  <a:pt x="0" y="642936"/>
                </a:lnTo>
                <a:lnTo>
                  <a:pt x="0" y="0"/>
                </a:lnTo>
                <a:lnTo>
                  <a:pt x="9143999" y="0"/>
                </a:lnTo>
                <a:lnTo>
                  <a:pt x="9143999" y="642936"/>
                </a:lnTo>
                <a:close/>
              </a:path>
            </a:pathLst>
          </a:custGeom>
          <a:solidFill>
            <a:srgbClr val="1F497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DE770ED1-2061-5A64-EEB1-BEBA65E5294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-1676400" y="1714608"/>
            <a:ext cx="9776792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93720" algn="ctr">
              <a:lnSpc>
                <a:spcPct val="100000"/>
              </a:lnSpc>
              <a:spcBef>
                <a:spcPts val="100"/>
              </a:spcBef>
            </a:pPr>
            <a:r>
              <a:rPr lang="en-IN" sz="2800" dirty="0"/>
              <a:t>Functional Specification</a:t>
            </a:r>
            <a:endParaRPr sz="2800" spc="-1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510C722-B507-FBCA-8603-10D392E746DA}"/>
              </a:ext>
            </a:extLst>
          </p:cNvPr>
          <p:cNvSpPr txBox="1"/>
          <p:nvPr/>
        </p:nvSpPr>
        <p:spPr>
          <a:xfrm>
            <a:off x="609600" y="2667000"/>
            <a:ext cx="79248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Functional specification is a detailed description of </a:t>
            </a:r>
            <a:r>
              <a:rPr lang="en-US" b="1" dirty="0"/>
              <a:t>all the functions and features</a:t>
            </a:r>
            <a:r>
              <a:rPr lang="en-US" dirty="0"/>
              <a:t> that the system must perform.</a:t>
            </a:r>
          </a:p>
          <a:p>
            <a:endParaRPr lang="en-US" dirty="0"/>
          </a:p>
          <a:p>
            <a:r>
              <a:rPr lang="en-US" b="1" dirty="0"/>
              <a:t>Explanation:</a:t>
            </a:r>
            <a:br>
              <a:rPr lang="en-US" dirty="0"/>
            </a:br>
            <a:r>
              <a:rPr lang="en-US" dirty="0"/>
              <a:t>It focuses on </a:t>
            </a:r>
            <a:r>
              <a:rPr lang="en-US" b="1" dirty="0"/>
              <a:t>“what the system should do”</a:t>
            </a:r>
            <a:r>
              <a:rPr lang="en-US" dirty="0"/>
              <a:t>. It guides developers in implementing the required functions.</a:t>
            </a:r>
          </a:p>
          <a:p>
            <a:endParaRPr lang="en-US" dirty="0"/>
          </a:p>
          <a:p>
            <a:r>
              <a:rPr lang="en-US" b="1" dirty="0"/>
              <a:t>Example:</a:t>
            </a:r>
            <a:br>
              <a:rPr lang="en-US" dirty="0"/>
            </a:br>
            <a:r>
              <a:rPr lang="en-US" dirty="0"/>
              <a:t>For an e-commerce website:</a:t>
            </a:r>
          </a:p>
          <a:p>
            <a:r>
              <a:rPr lang="en-US" dirty="0"/>
              <a:t>The system should allow users to browse products, add to cart, make payments, track orders, and generate invoices.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1077137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79A426-B09B-7159-45CD-0A6D88FCFA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612D45E8-EA84-6990-A9C0-31A6CFB6D601}"/>
              </a:ext>
            </a:extLst>
          </p:cNvPr>
          <p:cNvSpPr/>
          <p:nvPr/>
        </p:nvSpPr>
        <p:spPr>
          <a:xfrm>
            <a:off x="0" y="1628799"/>
            <a:ext cx="9144000" cy="643255"/>
          </a:xfrm>
          <a:custGeom>
            <a:avLst/>
            <a:gdLst/>
            <a:ahLst/>
            <a:cxnLst/>
            <a:rect l="l" t="t" r="r" b="b"/>
            <a:pathLst>
              <a:path w="9144000" h="643255">
                <a:moveTo>
                  <a:pt x="9143999" y="642936"/>
                </a:moveTo>
                <a:lnTo>
                  <a:pt x="0" y="642936"/>
                </a:lnTo>
                <a:lnTo>
                  <a:pt x="0" y="0"/>
                </a:lnTo>
                <a:lnTo>
                  <a:pt x="9143999" y="0"/>
                </a:lnTo>
                <a:lnTo>
                  <a:pt x="9143999" y="642936"/>
                </a:lnTo>
                <a:close/>
              </a:path>
            </a:pathLst>
          </a:custGeom>
          <a:solidFill>
            <a:srgbClr val="1F497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05476B35-3287-6ACB-DA9E-0AA2A752662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-1676400" y="1714608"/>
            <a:ext cx="9776792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93720" algn="ctr">
              <a:lnSpc>
                <a:spcPct val="100000"/>
              </a:lnSpc>
              <a:spcBef>
                <a:spcPts val="100"/>
              </a:spcBef>
            </a:pPr>
            <a:r>
              <a:rPr lang="en-IN" sz="2800" dirty="0"/>
              <a:t>Requirements Validation</a:t>
            </a:r>
            <a:endParaRPr sz="2800" spc="-1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FC504AA-AABA-803B-7482-7889BEB8FC50}"/>
              </a:ext>
            </a:extLst>
          </p:cNvPr>
          <p:cNvSpPr txBox="1"/>
          <p:nvPr/>
        </p:nvSpPr>
        <p:spPr>
          <a:xfrm>
            <a:off x="609600" y="2667000"/>
            <a:ext cx="79248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dirty="0"/>
              <a:t>Requirements Validation is the process of ensuring that the documented requirements are </a:t>
            </a:r>
            <a:r>
              <a:rPr lang="en-US" b="1" dirty="0"/>
              <a:t>correct, complete, consistent, and meet user expectations</a:t>
            </a:r>
            <a:r>
              <a:rPr lang="en-US" dirty="0"/>
              <a:t>.</a:t>
            </a:r>
          </a:p>
          <a:p>
            <a:pPr algn="just"/>
            <a:endParaRPr lang="en-US" dirty="0"/>
          </a:p>
          <a:p>
            <a:pPr algn="l"/>
            <a:r>
              <a:rPr lang="en-US" b="1" dirty="0"/>
              <a:t>Example:</a:t>
            </a:r>
            <a:br>
              <a:rPr lang="en-US" dirty="0"/>
            </a:br>
            <a:r>
              <a:rPr lang="en-US" dirty="0"/>
              <a:t>For an online booking system, validation ensures all requirements such as </a:t>
            </a:r>
            <a:r>
              <a:rPr lang="en-US" b="1" dirty="0"/>
              <a:t>login, seat selection, payment, and ticket generation </a:t>
            </a:r>
            <a:r>
              <a:rPr lang="en-US" dirty="0"/>
              <a:t>work as intended and meet client expectations.</a:t>
            </a:r>
          </a:p>
        </p:txBody>
      </p:sp>
    </p:spTree>
    <p:extLst>
      <p:ext uri="{BB962C8B-B14F-4D97-AF65-F5344CB8AC3E}">
        <p14:creationId xmlns:p14="http://schemas.microsoft.com/office/powerpoint/2010/main" val="183149855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9A03D4-A6B8-66E9-126C-99450875CE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C432CD12-B016-3D61-AA01-1515A0D523AA}"/>
              </a:ext>
            </a:extLst>
          </p:cNvPr>
          <p:cNvSpPr/>
          <p:nvPr/>
        </p:nvSpPr>
        <p:spPr>
          <a:xfrm>
            <a:off x="0" y="1628799"/>
            <a:ext cx="9144000" cy="643255"/>
          </a:xfrm>
          <a:custGeom>
            <a:avLst/>
            <a:gdLst/>
            <a:ahLst/>
            <a:cxnLst/>
            <a:rect l="l" t="t" r="r" b="b"/>
            <a:pathLst>
              <a:path w="9144000" h="643255">
                <a:moveTo>
                  <a:pt x="9143999" y="642936"/>
                </a:moveTo>
                <a:lnTo>
                  <a:pt x="0" y="642936"/>
                </a:lnTo>
                <a:lnTo>
                  <a:pt x="0" y="0"/>
                </a:lnTo>
                <a:lnTo>
                  <a:pt x="9143999" y="0"/>
                </a:lnTo>
                <a:lnTo>
                  <a:pt x="9143999" y="642936"/>
                </a:lnTo>
                <a:close/>
              </a:path>
            </a:pathLst>
          </a:custGeom>
          <a:solidFill>
            <a:srgbClr val="1F497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C04FCD8B-0644-0020-3A04-2D92DD3A483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-838199" y="1697673"/>
            <a:ext cx="9372600" cy="4744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34615" algn="l">
              <a:lnSpc>
                <a:spcPct val="100000"/>
              </a:lnSpc>
              <a:spcBef>
                <a:spcPts val="100"/>
              </a:spcBef>
            </a:pPr>
            <a:r>
              <a:rPr lang="en-IN" dirty="0"/>
              <a:t>Requirements Validation (Contd.)</a:t>
            </a:r>
            <a:endParaRPr spc="-10" dirty="0"/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15FA0474-21BF-7C0D-CA8E-F85B62C0C8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2971800"/>
            <a:ext cx="7810501" cy="24245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sz="2400" dirty="0"/>
              <a:t>Requirement checking can be done in following manner: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sz="2400" dirty="0"/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sz="2400" dirty="0"/>
              <a:t>1.Validity Checks 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sz="2400" dirty="0"/>
              <a:t>2.Consistency Checks 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sz="2400" dirty="0"/>
              <a:t>3.Completeness Checks</a:t>
            </a: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088935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/>
          <p:nvPr/>
        </p:nvSpPr>
        <p:spPr>
          <a:xfrm>
            <a:off x="14926" y="1567219"/>
            <a:ext cx="9144000" cy="643255"/>
          </a:xfrm>
          <a:custGeom>
            <a:avLst/>
            <a:gdLst/>
            <a:ahLst/>
            <a:cxnLst/>
            <a:rect l="l" t="t" r="r" b="b"/>
            <a:pathLst>
              <a:path w="9144000" h="643255">
                <a:moveTo>
                  <a:pt x="9143999" y="642936"/>
                </a:moveTo>
                <a:lnTo>
                  <a:pt x="0" y="642936"/>
                </a:lnTo>
                <a:lnTo>
                  <a:pt x="0" y="0"/>
                </a:lnTo>
                <a:lnTo>
                  <a:pt x="9143999" y="0"/>
                </a:lnTo>
                <a:lnTo>
                  <a:pt x="9143999" y="642936"/>
                </a:lnTo>
                <a:close/>
              </a:path>
            </a:pathLst>
          </a:custGeom>
          <a:solidFill>
            <a:srgbClr val="1F497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63525" y="1697673"/>
            <a:ext cx="6442075" cy="4744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635" algn="ctr">
              <a:lnSpc>
                <a:spcPct val="100000"/>
              </a:lnSpc>
              <a:spcBef>
                <a:spcPts val="100"/>
              </a:spcBef>
            </a:pPr>
            <a:r>
              <a:rPr lang="en-IN" dirty="0"/>
              <a:t>Validity Checks</a:t>
            </a:r>
            <a:endParaRPr spc="-10" dirty="0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DADDD373-E776-CD54-3999-D9081EE904A6}"/>
              </a:ext>
            </a:extLst>
          </p:cNvPr>
          <p:cNvGrpSpPr/>
          <p:nvPr/>
        </p:nvGrpSpPr>
        <p:grpSpPr>
          <a:xfrm>
            <a:off x="228065" y="208814"/>
            <a:ext cx="8832808" cy="695162"/>
            <a:chOff x="228065" y="208814"/>
            <a:chExt cx="8832808" cy="695162"/>
          </a:xfrm>
        </p:grpSpPr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3F30BEC6-8FAA-CD78-E264-A9B69092290A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30914"/>
            <a:stretch/>
          </p:blipFill>
          <p:spPr>
            <a:xfrm>
              <a:off x="228065" y="208814"/>
              <a:ext cx="5829835" cy="695162"/>
            </a:xfrm>
            <a:prstGeom prst="rect">
              <a:avLst/>
            </a:prstGeom>
          </p:spPr>
        </p:pic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82805262-991B-DA51-B782-2C3B0B5E4EF9}"/>
                </a:ext>
              </a:extLst>
            </p:cNvPr>
            <p:cNvSpPr txBox="1"/>
            <p:nvPr userDrawn="1"/>
          </p:nvSpPr>
          <p:spPr>
            <a:xfrm>
              <a:off x="5943600" y="264007"/>
              <a:ext cx="311727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b="1" dirty="0">
                  <a:solidFill>
                    <a:srgbClr val="1F487C"/>
                  </a:solidFill>
                </a:rPr>
                <a:t>CSE-</a:t>
              </a:r>
              <a:r>
                <a:rPr lang="en-US" sz="3200" b="1" baseline="0" dirty="0">
                  <a:solidFill>
                    <a:srgbClr val="1F487C"/>
                  </a:solidFill>
                </a:rPr>
                <a:t> AI &amp; ML</a:t>
              </a:r>
              <a:endParaRPr lang="en-US" sz="3200" b="1" dirty="0">
                <a:solidFill>
                  <a:srgbClr val="1F487C"/>
                </a:solidFill>
              </a:endParaRPr>
            </a:p>
          </p:txBody>
        </p:sp>
      </p:grpSp>
      <p:sp>
        <p:nvSpPr>
          <p:cNvPr id="31" name="object 3">
            <a:extLst>
              <a:ext uri="{FF2B5EF4-FFF2-40B4-BE49-F238E27FC236}">
                <a16:creationId xmlns:a16="http://schemas.microsoft.com/office/drawing/2014/main" id="{CB4B46D1-F8B0-63CA-01A9-F411BC93B722}"/>
              </a:ext>
            </a:extLst>
          </p:cNvPr>
          <p:cNvSpPr/>
          <p:nvPr/>
        </p:nvSpPr>
        <p:spPr>
          <a:xfrm>
            <a:off x="1" y="6477000"/>
            <a:ext cx="9143999" cy="419100"/>
          </a:xfrm>
          <a:custGeom>
            <a:avLst/>
            <a:gdLst/>
            <a:ahLst/>
            <a:cxnLst/>
            <a:rect l="l" t="t" r="r" b="b"/>
            <a:pathLst>
              <a:path w="7556500" h="393700">
                <a:moveTo>
                  <a:pt x="7556500" y="0"/>
                </a:moveTo>
                <a:lnTo>
                  <a:pt x="0" y="0"/>
                </a:lnTo>
                <a:lnTo>
                  <a:pt x="0" y="393700"/>
                </a:lnTo>
                <a:lnTo>
                  <a:pt x="7556500" y="393700"/>
                </a:lnTo>
                <a:lnTo>
                  <a:pt x="7556500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 sz="865"/>
          </a:p>
        </p:txBody>
      </p:sp>
      <p:sp>
        <p:nvSpPr>
          <p:cNvPr id="21" name="Rectangle 2">
            <a:extLst>
              <a:ext uri="{FF2B5EF4-FFF2-40B4-BE49-F238E27FC236}">
                <a16:creationId xmlns:a16="http://schemas.microsoft.com/office/drawing/2014/main" id="{7EE946A5-4DAD-C1BC-788D-D442A13000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2534195"/>
            <a:ext cx="8001000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Validity checks ensure that each requirement truly reflects the actual needs of stakeholders and aligns with the business goals. A requirement is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only if it solves the right problem.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validity checks look for: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Does this requirement satisfy a real user/business need?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the requirement relevant to the project scope?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Did the correct stakeholders approve this requirement?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628799"/>
            <a:ext cx="9144000" cy="643255"/>
          </a:xfrm>
          <a:custGeom>
            <a:avLst/>
            <a:gdLst/>
            <a:ahLst/>
            <a:cxnLst/>
            <a:rect l="l" t="t" r="r" b="b"/>
            <a:pathLst>
              <a:path w="9144000" h="643255">
                <a:moveTo>
                  <a:pt x="9143999" y="642936"/>
                </a:moveTo>
                <a:lnTo>
                  <a:pt x="0" y="642936"/>
                </a:lnTo>
                <a:lnTo>
                  <a:pt x="0" y="0"/>
                </a:lnTo>
                <a:lnTo>
                  <a:pt x="9143999" y="0"/>
                </a:lnTo>
                <a:lnTo>
                  <a:pt x="9143999" y="642936"/>
                </a:lnTo>
                <a:close/>
              </a:path>
            </a:pathLst>
          </a:custGeom>
          <a:solidFill>
            <a:srgbClr val="1F497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-1219200" y="1714608"/>
            <a:ext cx="9319592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93720" algn="ctr">
              <a:lnSpc>
                <a:spcPct val="100000"/>
              </a:lnSpc>
              <a:spcBef>
                <a:spcPts val="100"/>
              </a:spcBef>
            </a:pPr>
            <a:r>
              <a:rPr lang="en-IN" sz="2800" dirty="0"/>
              <a:t>Consistency Checks</a:t>
            </a:r>
            <a:endParaRPr sz="2500" spc="-1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6F461D7-C875-1281-9C0A-DC2FC4E8EE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2833669"/>
            <a:ext cx="8305800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Consistency checks ensure that no requirement contradicts another requirement. All terminology, constraints, and rules must be applied uniformly.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consistency checks look for: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 any two requirements conflict?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terminology used in a consistent way?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rules aligned across the document?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341CBE-53C7-58DF-1399-C8D6D947D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D3E3F1D8-1E35-082D-E50C-39D7AF86E615}"/>
              </a:ext>
            </a:extLst>
          </p:cNvPr>
          <p:cNvSpPr/>
          <p:nvPr/>
        </p:nvSpPr>
        <p:spPr>
          <a:xfrm>
            <a:off x="0" y="1628799"/>
            <a:ext cx="9144000" cy="643255"/>
          </a:xfrm>
          <a:custGeom>
            <a:avLst/>
            <a:gdLst/>
            <a:ahLst/>
            <a:cxnLst/>
            <a:rect l="l" t="t" r="r" b="b"/>
            <a:pathLst>
              <a:path w="9144000" h="643255">
                <a:moveTo>
                  <a:pt x="9143999" y="642936"/>
                </a:moveTo>
                <a:lnTo>
                  <a:pt x="0" y="642936"/>
                </a:lnTo>
                <a:lnTo>
                  <a:pt x="0" y="0"/>
                </a:lnTo>
                <a:lnTo>
                  <a:pt x="9143999" y="0"/>
                </a:lnTo>
                <a:lnTo>
                  <a:pt x="9143999" y="642936"/>
                </a:lnTo>
                <a:close/>
              </a:path>
            </a:pathLst>
          </a:custGeom>
          <a:solidFill>
            <a:srgbClr val="1F497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FE3A454D-DEF5-E19D-1B26-C241B0B3A36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-1752600" y="1714608"/>
            <a:ext cx="9852992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93720" algn="ctr">
              <a:lnSpc>
                <a:spcPct val="100000"/>
              </a:lnSpc>
              <a:spcBef>
                <a:spcPts val="100"/>
              </a:spcBef>
            </a:pPr>
            <a:r>
              <a:rPr lang="en-IN" sz="2800" dirty="0"/>
              <a:t>Completeness Checks</a:t>
            </a:r>
            <a:endParaRPr sz="2500" spc="-1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6E973D2-B498-C5F8-5366-06B094F4E6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2699266"/>
            <a:ext cx="8077200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Completeness checks usually focus ONLY on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missing information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missing scenarios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or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incomplete requirements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However, in requirement validation as a whole (not just completeness), we have additional checks such as: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Realism (Feasibility) Checks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Verifiability (Testability) Checks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003067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4163E2-62ED-F24E-0237-634E1D25D3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F8BCA970-663A-3353-BC91-DC2A3BCB4B4E}"/>
              </a:ext>
            </a:extLst>
          </p:cNvPr>
          <p:cNvSpPr/>
          <p:nvPr/>
        </p:nvSpPr>
        <p:spPr>
          <a:xfrm>
            <a:off x="0" y="1628799"/>
            <a:ext cx="9144000" cy="643255"/>
          </a:xfrm>
          <a:custGeom>
            <a:avLst/>
            <a:gdLst/>
            <a:ahLst/>
            <a:cxnLst/>
            <a:rect l="l" t="t" r="r" b="b"/>
            <a:pathLst>
              <a:path w="9144000" h="643255">
                <a:moveTo>
                  <a:pt x="9143999" y="642936"/>
                </a:moveTo>
                <a:lnTo>
                  <a:pt x="0" y="642936"/>
                </a:lnTo>
                <a:lnTo>
                  <a:pt x="0" y="0"/>
                </a:lnTo>
                <a:lnTo>
                  <a:pt x="9143999" y="0"/>
                </a:lnTo>
                <a:lnTo>
                  <a:pt x="9143999" y="642936"/>
                </a:lnTo>
                <a:close/>
              </a:path>
            </a:pathLst>
          </a:custGeom>
          <a:solidFill>
            <a:srgbClr val="1F497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E8477498-88A1-CA85-22DA-375A089F8BE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-1752600" y="1714608"/>
            <a:ext cx="9852992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93720" algn="ctr">
              <a:lnSpc>
                <a:spcPct val="100000"/>
              </a:lnSpc>
              <a:spcBef>
                <a:spcPts val="100"/>
              </a:spcBef>
            </a:pPr>
            <a:r>
              <a:rPr lang="en-IN" sz="2800" dirty="0"/>
              <a:t>Completeness Checks</a:t>
            </a:r>
            <a:endParaRPr sz="2500" spc="-1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E8EC316-82EA-49ED-6EB0-6827A622CD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2957899"/>
            <a:ext cx="8077200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AutoNum type="arabicPeriod"/>
            </a:pPr>
            <a:r>
              <a:rPr lang="en-US" dirty="0"/>
              <a:t>Using knowledge of existing technology, the wants should be checked to make sure that they can actually be implemented.</a:t>
            </a:r>
          </a:p>
          <a:p>
            <a:pPr marL="342900" indent="-342900">
              <a:buAutoNum type="arabicPeriod"/>
            </a:pPr>
            <a:endParaRPr lang="en-US" dirty="0"/>
          </a:p>
          <a:p>
            <a:r>
              <a:rPr lang="en-US" dirty="0"/>
              <a:t>2. These checks should also appreciate the budget and schedule</a:t>
            </a:r>
          </a:p>
          <a:p>
            <a:r>
              <a:rPr lang="en-US" dirty="0"/>
              <a:t>for the system development.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BDCC227-79F3-3F3B-1612-1A2B81CEEEE0}"/>
              </a:ext>
            </a:extLst>
          </p:cNvPr>
          <p:cNvSpPr txBox="1"/>
          <p:nvPr/>
        </p:nvSpPr>
        <p:spPr>
          <a:xfrm>
            <a:off x="448880" y="2588567"/>
            <a:ext cx="54500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• Realism checks</a:t>
            </a:r>
          </a:p>
        </p:txBody>
      </p:sp>
    </p:spTree>
    <p:extLst>
      <p:ext uri="{BB962C8B-B14F-4D97-AF65-F5344CB8AC3E}">
        <p14:creationId xmlns:p14="http://schemas.microsoft.com/office/powerpoint/2010/main" val="30879750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E1A225-4000-A917-7E46-292AD97086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E78F4A3A-0C08-715A-229F-BD1781E30CA3}"/>
              </a:ext>
            </a:extLst>
          </p:cNvPr>
          <p:cNvSpPr/>
          <p:nvPr/>
        </p:nvSpPr>
        <p:spPr>
          <a:xfrm>
            <a:off x="0" y="1628799"/>
            <a:ext cx="9144000" cy="643255"/>
          </a:xfrm>
          <a:custGeom>
            <a:avLst/>
            <a:gdLst/>
            <a:ahLst/>
            <a:cxnLst/>
            <a:rect l="l" t="t" r="r" b="b"/>
            <a:pathLst>
              <a:path w="9144000" h="643255">
                <a:moveTo>
                  <a:pt x="9143999" y="642936"/>
                </a:moveTo>
                <a:lnTo>
                  <a:pt x="0" y="642936"/>
                </a:lnTo>
                <a:lnTo>
                  <a:pt x="0" y="0"/>
                </a:lnTo>
                <a:lnTo>
                  <a:pt x="9143999" y="0"/>
                </a:lnTo>
                <a:lnTo>
                  <a:pt x="9143999" y="642936"/>
                </a:lnTo>
                <a:close/>
              </a:path>
            </a:pathLst>
          </a:custGeom>
          <a:solidFill>
            <a:srgbClr val="1F497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AE47966B-ED06-F6D5-1093-C1B3E61CAE2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-1676400" y="1714608"/>
            <a:ext cx="9776792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93720" algn="ctr">
              <a:lnSpc>
                <a:spcPct val="100000"/>
              </a:lnSpc>
              <a:spcBef>
                <a:spcPts val="100"/>
              </a:spcBef>
            </a:pPr>
            <a:r>
              <a:rPr lang="en-IN" sz="2800" dirty="0"/>
              <a:t>Completeness</a:t>
            </a:r>
            <a:r>
              <a:rPr lang="en-IN" sz="2400" dirty="0"/>
              <a:t> </a:t>
            </a:r>
            <a:r>
              <a:rPr lang="en-IN" sz="2800" dirty="0"/>
              <a:t>Checks</a:t>
            </a:r>
            <a:endParaRPr sz="2800" spc="-1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4A6DB57-2DCF-472E-77D3-23702E75CC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100" y="2667000"/>
            <a:ext cx="8305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Verifiability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30253D0-B5B1-867C-FB11-35F2D5B3B6B7}"/>
              </a:ext>
            </a:extLst>
          </p:cNvPr>
          <p:cNvSpPr txBox="1"/>
          <p:nvPr/>
        </p:nvSpPr>
        <p:spPr>
          <a:xfrm>
            <a:off x="914400" y="3276600"/>
            <a:ext cx="73152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3. To reduce the potential for dispute between the customer and the contractor </a:t>
            </a:r>
          </a:p>
          <a:p>
            <a:endParaRPr lang="en-US" dirty="0"/>
          </a:p>
          <a:p>
            <a:r>
              <a:rPr lang="en-US" dirty="0"/>
              <a:t>4. System requirements should even be written in order that you ought to be ready to write a group of tests that will demonstrate that the delivered system meets each specified requirement.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6149344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AB5952-22FB-0ACB-5890-647CDE0453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92E1F9B6-D257-B079-82EF-E226EEBACFC6}"/>
              </a:ext>
            </a:extLst>
          </p:cNvPr>
          <p:cNvSpPr/>
          <p:nvPr/>
        </p:nvSpPr>
        <p:spPr>
          <a:xfrm>
            <a:off x="0" y="1628799"/>
            <a:ext cx="9144000" cy="643255"/>
          </a:xfrm>
          <a:custGeom>
            <a:avLst/>
            <a:gdLst/>
            <a:ahLst/>
            <a:cxnLst/>
            <a:rect l="l" t="t" r="r" b="b"/>
            <a:pathLst>
              <a:path w="9144000" h="643255">
                <a:moveTo>
                  <a:pt x="9143999" y="642936"/>
                </a:moveTo>
                <a:lnTo>
                  <a:pt x="0" y="642936"/>
                </a:lnTo>
                <a:lnTo>
                  <a:pt x="0" y="0"/>
                </a:lnTo>
                <a:lnTo>
                  <a:pt x="9143999" y="0"/>
                </a:lnTo>
                <a:lnTo>
                  <a:pt x="9143999" y="642936"/>
                </a:lnTo>
                <a:close/>
              </a:path>
            </a:pathLst>
          </a:custGeom>
          <a:solidFill>
            <a:srgbClr val="1F497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A67D9579-7A4A-6FF7-011D-DFFE9DC6DF4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-1676400" y="1714608"/>
            <a:ext cx="9776792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93720" algn="ctr">
              <a:lnSpc>
                <a:spcPct val="100000"/>
              </a:lnSpc>
              <a:spcBef>
                <a:spcPts val="100"/>
              </a:spcBef>
            </a:pPr>
            <a:r>
              <a:rPr lang="en-IN" sz="2800" dirty="0"/>
              <a:t>Requirement Validation Techniques</a:t>
            </a:r>
            <a:endParaRPr sz="2800" spc="-1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8D0E917-AF69-5CA1-7E16-C904D2797B3C}"/>
              </a:ext>
            </a:extLst>
          </p:cNvPr>
          <p:cNvSpPr txBox="1"/>
          <p:nvPr/>
        </p:nvSpPr>
        <p:spPr>
          <a:xfrm>
            <a:off x="914400" y="2958993"/>
            <a:ext cx="7315200" cy="32778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+mj-lt"/>
              <a:buAutoNum type="arabicPeriod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both the customer and contractor staff should be involved in reviews. </a:t>
            </a:r>
          </a:p>
          <a:p>
            <a:pPr marL="342900" indent="-342900" algn="just">
              <a:buFont typeface="+mj-lt"/>
              <a:buAutoNum type="arabicPeriod"/>
            </a:pPr>
            <a:endParaRPr 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Reviews could also be formal (with completed documents) or informal. </a:t>
            </a:r>
          </a:p>
          <a:p>
            <a:pPr marL="342900" indent="-342900" algn="just">
              <a:buFont typeface="+mj-lt"/>
              <a:buAutoNum type="arabicPeriod"/>
            </a:pPr>
            <a:endParaRPr 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Good communication should happen between developers, customers and users. Such communication helps to resolve problems at an early stage. </a:t>
            </a:r>
            <a:endParaRPr lang="en-IN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AD74E77-B21B-1F5F-0FEB-0A79814007E6}"/>
              </a:ext>
            </a:extLst>
          </p:cNvPr>
          <p:cNvSpPr txBox="1"/>
          <p:nvPr/>
        </p:nvSpPr>
        <p:spPr>
          <a:xfrm>
            <a:off x="609600" y="2589661"/>
            <a:ext cx="54084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Requirements Reviews</a:t>
            </a:r>
          </a:p>
        </p:txBody>
      </p:sp>
    </p:spTree>
    <p:extLst>
      <p:ext uri="{BB962C8B-B14F-4D97-AF65-F5344CB8AC3E}">
        <p14:creationId xmlns:p14="http://schemas.microsoft.com/office/powerpoint/2010/main" val="60844523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0140D9-6AC7-A092-D18A-B74AC3DAA9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6B690581-3F05-8AAE-41CD-A3992BFEAEDB}"/>
              </a:ext>
            </a:extLst>
          </p:cNvPr>
          <p:cNvSpPr/>
          <p:nvPr/>
        </p:nvSpPr>
        <p:spPr>
          <a:xfrm>
            <a:off x="0" y="1628799"/>
            <a:ext cx="9144000" cy="643255"/>
          </a:xfrm>
          <a:custGeom>
            <a:avLst/>
            <a:gdLst/>
            <a:ahLst/>
            <a:cxnLst/>
            <a:rect l="l" t="t" r="r" b="b"/>
            <a:pathLst>
              <a:path w="9144000" h="643255">
                <a:moveTo>
                  <a:pt x="9143999" y="642936"/>
                </a:moveTo>
                <a:lnTo>
                  <a:pt x="0" y="642936"/>
                </a:lnTo>
                <a:lnTo>
                  <a:pt x="0" y="0"/>
                </a:lnTo>
                <a:lnTo>
                  <a:pt x="9143999" y="0"/>
                </a:lnTo>
                <a:lnTo>
                  <a:pt x="9143999" y="642936"/>
                </a:lnTo>
                <a:close/>
              </a:path>
            </a:pathLst>
          </a:custGeom>
          <a:solidFill>
            <a:srgbClr val="1F497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D54C3693-A488-D785-2462-B3DBCD36D9D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-1676400" y="1714608"/>
            <a:ext cx="9776792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93720" algn="ctr">
              <a:lnSpc>
                <a:spcPct val="100000"/>
              </a:lnSpc>
              <a:spcBef>
                <a:spcPts val="100"/>
              </a:spcBef>
            </a:pPr>
            <a:r>
              <a:rPr lang="en-IN" sz="2800" dirty="0"/>
              <a:t>Requirement Validation Techniques</a:t>
            </a:r>
            <a:endParaRPr sz="2800" spc="-1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AF6CEDE-51F7-C99A-858D-29C0E455A51A}"/>
              </a:ext>
            </a:extLst>
          </p:cNvPr>
          <p:cNvSpPr txBox="1"/>
          <p:nvPr/>
        </p:nvSpPr>
        <p:spPr>
          <a:xfrm>
            <a:off x="495300" y="2852144"/>
            <a:ext cx="8382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000" dirty="0"/>
              <a:t>The requirements can be examined through executable model of system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9A5744F-490F-B6D3-4B85-02F0F8AB925F}"/>
              </a:ext>
            </a:extLst>
          </p:cNvPr>
          <p:cNvSpPr txBox="1"/>
          <p:nvPr/>
        </p:nvSpPr>
        <p:spPr>
          <a:xfrm>
            <a:off x="76200" y="2430857"/>
            <a:ext cx="54084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/>
              <a:t>Prototyping:-</a:t>
            </a:r>
            <a:endParaRPr lang="en-IN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0E7B1CC-A3E9-4EEA-1641-78CAB4F2FEFC}"/>
              </a:ext>
            </a:extLst>
          </p:cNvPr>
          <p:cNvSpPr txBox="1"/>
          <p:nvPr/>
        </p:nvSpPr>
        <p:spPr>
          <a:xfrm>
            <a:off x="0" y="3380279"/>
            <a:ext cx="54084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Test Case Generation:-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FFEB4DD-6E9A-7672-7410-A847636FF0FA}"/>
              </a:ext>
            </a:extLst>
          </p:cNvPr>
          <p:cNvSpPr txBox="1"/>
          <p:nvPr/>
        </p:nvSpPr>
        <p:spPr>
          <a:xfrm>
            <a:off x="495300" y="3749611"/>
            <a:ext cx="826770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2000" dirty="0"/>
              <a:t>If the tests for the wants are devised as a part of the validation process, this often reveals requirements problems.</a:t>
            </a:r>
          </a:p>
          <a:p>
            <a:pPr marL="342900" indent="-342900">
              <a:buFont typeface="+mj-lt"/>
              <a:buAutoNum type="arabicPeriod"/>
            </a:pPr>
            <a:endParaRPr lang="en-US" sz="2000" dirty="0"/>
          </a:p>
          <a:p>
            <a:pPr marL="342900" indent="-342900">
              <a:buFont typeface="+mj-lt"/>
              <a:buAutoNum type="arabicPeriod"/>
            </a:pPr>
            <a:r>
              <a:rPr lang="en-US" sz="2000" dirty="0"/>
              <a:t>If a test is difficult or impossible to style , this usually means the wants are going to be difficult to implement and will be reconsidered.</a:t>
            </a:r>
          </a:p>
          <a:p>
            <a:pPr marL="342900" indent="-342900">
              <a:buFont typeface="+mj-lt"/>
              <a:buAutoNum type="arabicPeriod"/>
            </a:pPr>
            <a:endParaRPr lang="en-US" sz="2000" dirty="0"/>
          </a:p>
          <a:p>
            <a:pPr marL="342900" indent="-342900">
              <a:buFont typeface="+mj-lt"/>
              <a:buAutoNum type="arabicPeriod"/>
            </a:pPr>
            <a:r>
              <a:rPr lang="en-US" sz="2000" dirty="0"/>
              <a:t>Developing tests from the user requirements before any code is written is an integral a part of extreme programming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78573029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6361112"/>
            <a:ext cx="9144000" cy="497205"/>
          </a:xfrm>
          <a:custGeom>
            <a:avLst/>
            <a:gdLst/>
            <a:ahLst/>
            <a:cxnLst/>
            <a:rect l="l" t="t" r="r" b="b"/>
            <a:pathLst>
              <a:path w="9144000" h="497204">
                <a:moveTo>
                  <a:pt x="0" y="496886"/>
                </a:moveTo>
                <a:lnTo>
                  <a:pt x="9143999" y="496886"/>
                </a:lnTo>
                <a:lnTo>
                  <a:pt x="9143999" y="0"/>
                </a:lnTo>
                <a:lnTo>
                  <a:pt x="0" y="0"/>
                </a:lnTo>
                <a:lnTo>
                  <a:pt x="0" y="496886"/>
                </a:lnTo>
                <a:close/>
              </a:path>
            </a:pathLst>
          </a:custGeom>
          <a:solidFill>
            <a:srgbClr val="1F497D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0" y="361950"/>
            <a:ext cx="9144000" cy="5999480"/>
            <a:chOff x="0" y="361950"/>
            <a:chExt cx="9144000" cy="5999480"/>
          </a:xfrm>
        </p:grpSpPr>
        <p:sp>
          <p:nvSpPr>
            <p:cNvPr id="4" name="object 4"/>
            <p:cNvSpPr/>
            <p:nvPr/>
          </p:nvSpPr>
          <p:spPr>
            <a:xfrm>
              <a:off x="0" y="3214687"/>
              <a:ext cx="9144000" cy="2789555"/>
            </a:xfrm>
            <a:custGeom>
              <a:avLst/>
              <a:gdLst/>
              <a:ahLst/>
              <a:cxnLst/>
              <a:rect l="l" t="t" r="r" b="b"/>
              <a:pathLst>
                <a:path w="9144000" h="2789554">
                  <a:moveTo>
                    <a:pt x="0" y="2789236"/>
                  </a:moveTo>
                  <a:lnTo>
                    <a:pt x="9143999" y="2789236"/>
                  </a:lnTo>
                  <a:lnTo>
                    <a:pt x="9143999" y="0"/>
                  </a:lnTo>
                  <a:lnTo>
                    <a:pt x="0" y="0"/>
                  </a:lnTo>
                  <a:lnTo>
                    <a:pt x="0" y="2789236"/>
                  </a:lnTo>
                  <a:close/>
                </a:path>
              </a:pathLst>
            </a:custGeom>
            <a:solidFill>
              <a:srgbClr val="1F497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19200" y="361950"/>
              <a:ext cx="6705599" cy="285749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433638" y="4000500"/>
              <a:ext cx="4276725" cy="57149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038475" y="4946650"/>
              <a:ext cx="3067049" cy="260349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0" y="6003925"/>
              <a:ext cx="9144000" cy="357505"/>
            </a:xfrm>
            <a:custGeom>
              <a:avLst/>
              <a:gdLst/>
              <a:ahLst/>
              <a:cxnLst/>
              <a:rect l="l" t="t" r="r" b="b"/>
              <a:pathLst>
                <a:path w="9144000" h="357504">
                  <a:moveTo>
                    <a:pt x="9143999" y="357187"/>
                  </a:moveTo>
                  <a:lnTo>
                    <a:pt x="0" y="357187"/>
                  </a:lnTo>
                  <a:lnTo>
                    <a:pt x="0" y="0"/>
                  </a:lnTo>
                  <a:lnTo>
                    <a:pt x="9143999" y="0"/>
                  </a:lnTo>
                  <a:lnTo>
                    <a:pt x="9143999" y="35718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3341681" y="6013831"/>
            <a:ext cx="24587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1F497D"/>
                </a:solidFill>
                <a:latin typeface="Calibri"/>
                <a:cs typeface="Calibri"/>
                <a:hlinkClick r:id="rId5"/>
              </a:rPr>
              <a:t>www.paruluniversity.ac.in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1220</TotalTime>
  <Words>1646</Words>
  <Application>Microsoft Office PowerPoint</Application>
  <PresentationFormat>On-screen Show (4:3)</PresentationFormat>
  <Paragraphs>209</Paragraphs>
  <Slides>40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4" baseType="lpstr">
      <vt:lpstr>Arial</vt:lpstr>
      <vt:lpstr>Calibri</vt:lpstr>
      <vt:lpstr>Times New Roman</vt:lpstr>
      <vt:lpstr>Office Theme</vt:lpstr>
      <vt:lpstr>PowerPoint Presentation</vt:lpstr>
      <vt:lpstr>Problem Recognition</vt:lpstr>
      <vt:lpstr>What is Requirement?</vt:lpstr>
      <vt:lpstr>What is Requirement?</vt:lpstr>
      <vt:lpstr>What is Requirement Engineering?</vt:lpstr>
      <vt:lpstr>Requirement Engineering?</vt:lpstr>
      <vt:lpstr>Feasibility Study</vt:lpstr>
      <vt:lpstr>Feasibility Study</vt:lpstr>
      <vt:lpstr>Feasibility Study</vt:lpstr>
      <vt:lpstr>Requirement Gathering</vt:lpstr>
      <vt:lpstr>Requirement Gathering</vt:lpstr>
      <vt:lpstr>Requirement Gathering</vt:lpstr>
      <vt:lpstr>What is a Stakeholder?</vt:lpstr>
      <vt:lpstr>Examples of Stakeholder?</vt:lpstr>
      <vt:lpstr>Requirement Engineering Tasks </vt:lpstr>
      <vt:lpstr>Requirement Engineering Tasks </vt:lpstr>
      <vt:lpstr>Requirement Engineering Tasks </vt:lpstr>
      <vt:lpstr>Requirement Engineering Tasks </vt:lpstr>
      <vt:lpstr>Requirement Engineering Tasks </vt:lpstr>
      <vt:lpstr>Requirement Engineering Tasks </vt:lpstr>
      <vt:lpstr>Requirement Engineering Tasks </vt:lpstr>
      <vt:lpstr>Software Requirement Specification - SRS </vt:lpstr>
      <vt:lpstr>An Example of SRS</vt:lpstr>
      <vt:lpstr>An Example of SRS</vt:lpstr>
      <vt:lpstr>Use Cases</vt:lpstr>
      <vt:lpstr>Use cases - Actors</vt:lpstr>
      <vt:lpstr>Use cases - Relationships</vt:lpstr>
      <vt:lpstr>PowerPoint Presentation</vt:lpstr>
      <vt:lpstr>Use Cases</vt:lpstr>
      <vt:lpstr>Functional Specification</vt:lpstr>
      <vt:lpstr>Requirements Validation</vt:lpstr>
      <vt:lpstr>Requirements Validation (Contd.)</vt:lpstr>
      <vt:lpstr>Validity Checks</vt:lpstr>
      <vt:lpstr>Consistency Checks</vt:lpstr>
      <vt:lpstr>Completeness Checks</vt:lpstr>
      <vt:lpstr>Completeness Checks</vt:lpstr>
      <vt:lpstr>Completeness Checks</vt:lpstr>
      <vt:lpstr>Requirement Validation Techniques</vt:lpstr>
      <vt:lpstr>Requirement Validation Techniques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Kedar</dc:creator>
  <cp:lastModifiedBy>kedar pinniboyina</cp:lastModifiedBy>
  <cp:revision>50</cp:revision>
  <dcterms:created xsi:type="dcterms:W3CDTF">2025-11-20T17:08:26Z</dcterms:created>
  <dcterms:modified xsi:type="dcterms:W3CDTF">2025-12-25T08:30:51Z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2025-11-20T00:00:00Z</vt:filetime>
  </property>
  <property fmtid="{D5CDD505-2E9C-101B-9397-08002B2CF9AE}" pid="3" name="Creator">
    <vt:lpwstr>Google</vt:lpwstr>
  </property>
  <property fmtid="{D5CDD505-2E9C-101B-9397-08002B2CF9AE}" pid="4" name="LastSaved">
    <vt:filetime>2025-11-20T00:00:00Z</vt:filetime>
  </property>
</Properties>
</file>